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layfair Displ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layfairDisplay-bold.fntdata"/><Relationship Id="rId21" Type="http://schemas.openxmlformats.org/officeDocument/2006/relationships/font" Target="fonts/PlayfairDisplay-regular.fntdata"/><Relationship Id="rId24" Type="http://schemas.openxmlformats.org/officeDocument/2006/relationships/font" Target="fonts/PlayfairDisplay-boldItalic.fntdata"/><Relationship Id="rId23" Type="http://schemas.openxmlformats.org/officeDocument/2006/relationships/font" Target="fonts/PlayfairDispl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5d847590b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5d847590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cfd46d2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cfd46d2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1cfd46d26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1cfd46d26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1cfd46d26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1cfd46d26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1cfd46d26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1cfd46d26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cfd46d26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cfd46d26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15d847590b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15d847590b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cfd46d269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cfd46d26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cfd46d26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cfd46d26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cfd46d26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1cfd46d26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cfd46d269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cfd46d269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1cfd46d26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1cfd46d26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cfd46d26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cfd46d26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1cfd46d26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1cfd46d26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065425"/>
            <a:ext cx="2951400" cy="214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Applications of Retrieval- Augmented Generation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(RAG)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Yue Zhang &amp; Joseph Rissman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CS688 Fall 2024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400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Problem Statement (Limitations of Large Language Models)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Introduction to Retrieval-Augmented Generation (RAG)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 Application on Biological Q</a:t>
            </a:r>
            <a:r>
              <a:rPr lang="en"/>
              <a:t>uestion Reasoning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Rapid Growth of LLMs in Recent Years</a:t>
            </a:r>
            <a:endParaRPr/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8400" y="1121625"/>
            <a:ext cx="3590250" cy="339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677775"/>
            <a:ext cx="4817451" cy="41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</a:t>
            </a:r>
            <a:r>
              <a:rPr lang="en"/>
              <a:t>Challenges Facing LLMs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Computation</a:t>
            </a:r>
            <a:r>
              <a:rPr b="1" lang="en"/>
              <a:t> and Memory:</a:t>
            </a:r>
            <a:r>
              <a:rPr lang="en"/>
              <a:t>  Expensive to </a:t>
            </a:r>
            <a:r>
              <a:rPr lang="en"/>
              <a:t>compute</a:t>
            </a:r>
            <a:r>
              <a:rPr lang="en"/>
              <a:t> a large number of tokens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Difficult to fine-tune: </a:t>
            </a:r>
            <a:r>
              <a:rPr lang="en"/>
              <a:t>The size of a large language model (LLM) can range from 1–2 billion to over 1.75 trillion.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Contextual Understanding: </a:t>
            </a:r>
            <a:r>
              <a:rPr lang="en"/>
              <a:t>Knowledge for LLM is static. </a:t>
            </a:r>
            <a:r>
              <a:rPr lang="en"/>
              <a:t>95%  the world’s d</a:t>
            </a:r>
            <a:r>
              <a:rPr lang="en"/>
              <a:t>ata is “private”.  Require m</a:t>
            </a:r>
            <a:r>
              <a:rPr lang="en"/>
              <a:t>aintaining a comprehensive knowledge warehouse.  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0" y="4703900"/>
            <a:ext cx="85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https://medium.com/@InferenzTech/why-rag-still-matters-beyond-token-limits-in-llms-289d16a930af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F55E61"/>
                </a:solidFill>
              </a:rPr>
              <a:t>RAG: Retrieval-Augmented-Generation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Char char="●"/>
            </a:pPr>
            <a:r>
              <a:rPr b="1" lang="en">
                <a:solidFill>
                  <a:srgbClr val="5E696C"/>
                </a:solidFill>
              </a:rPr>
              <a:t>Retriever:</a:t>
            </a:r>
            <a:r>
              <a:rPr lang="en">
                <a:solidFill>
                  <a:srgbClr val="5E696C"/>
                </a:solidFill>
              </a:rPr>
              <a:t> Identifies and retrieves relevant documents</a:t>
            </a:r>
            <a:endParaRPr>
              <a:solidFill>
                <a:srgbClr val="5E696C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E696C"/>
              </a:buClr>
              <a:buSzPts val="1800"/>
              <a:buChar char="●"/>
            </a:pPr>
            <a:r>
              <a:rPr b="1" lang="en">
                <a:solidFill>
                  <a:srgbClr val="5E696C"/>
                </a:solidFill>
              </a:rPr>
              <a:t>Generator:</a:t>
            </a:r>
            <a:r>
              <a:rPr lang="en">
                <a:solidFill>
                  <a:srgbClr val="5E696C"/>
                </a:solidFill>
              </a:rPr>
              <a:t> Take </a:t>
            </a:r>
            <a:r>
              <a:rPr b="1" i="1" lang="en">
                <a:solidFill>
                  <a:srgbClr val="5E696C"/>
                </a:solidFill>
              </a:rPr>
              <a:t>retrieved docs </a:t>
            </a:r>
            <a:r>
              <a:rPr lang="en">
                <a:solidFill>
                  <a:srgbClr val="5E696C"/>
                </a:solidFill>
              </a:rPr>
              <a:t>and the </a:t>
            </a:r>
            <a:r>
              <a:rPr b="1" i="1" lang="en">
                <a:solidFill>
                  <a:srgbClr val="5E696C"/>
                </a:solidFill>
              </a:rPr>
              <a:t>input query </a:t>
            </a:r>
            <a:r>
              <a:rPr lang="en">
                <a:solidFill>
                  <a:srgbClr val="5E696C"/>
                </a:solidFill>
              </a:rPr>
              <a:t>to generate coherent and contextually relevant response  </a:t>
            </a:r>
            <a:endParaRPr>
              <a:solidFill>
                <a:srgbClr val="5E696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272523"/>
            <a:ext cx="9144001" cy="248175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0" y="4754275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https://github.com/langchain-ai/rag-from-scratch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874" l="0" r="0" t="884"/>
          <a:stretch/>
        </p:blipFill>
        <p:spPr>
          <a:xfrm>
            <a:off x="1738350" y="890250"/>
            <a:ext cx="5194526" cy="39712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0" y="4754275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https://github.com/langchain-ai/rag-from-scratch</a:t>
            </a:r>
            <a:endParaRPr sz="1200"/>
          </a:p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 Landscape Overview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Application on Biological Question Reasoning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200" y="1017450"/>
            <a:ext cx="6678349" cy="191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325" y="2830650"/>
            <a:ext cx="2652350" cy="218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(C1) The scarcity of high-quality domain-specific corpora.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(C2) The inherent complexity of biological knowledge systems.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(C3) The continual updating of knowledge.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architecture of BioRag framework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69850"/>
            <a:ext cx="8839204" cy="3487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Self-evaluated Information Retriever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0975" y="1017450"/>
            <a:ext cx="3760899" cy="3975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Customized Prompts Detail</a:t>
            </a:r>
            <a:endParaRPr/>
          </a:p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600"/>
              <a:t>Prompt # 1:</a:t>
            </a:r>
            <a:r>
              <a:rPr lang="en" sz="1600"/>
              <a:t> To provide the most helpful and accurate response to the following Question: {Question}. You have been given descriptions of several </a:t>
            </a:r>
            <a:r>
              <a:rPr b="1" lang="en" sz="1600" u="sng"/>
              <a:t>RETRIEVAL METHODS</a:t>
            </a:r>
            <a:r>
              <a:rPr lang="en" sz="1600"/>
              <a:t>: {Retrieval}. Please select the </a:t>
            </a:r>
            <a:r>
              <a:rPr b="1" lang="en" sz="1600" u="sng"/>
              <a:t>RETRIEVAL METHODS</a:t>
            </a:r>
            <a:r>
              <a:rPr lang="en" sz="1600"/>
              <a:t> you consider the most appropriate for addressing this question.</a:t>
            </a:r>
            <a:endParaRPr sz="160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600"/>
              <a:t>Prompt # 2: </a:t>
            </a:r>
            <a:r>
              <a:rPr lang="en" sz="1600"/>
              <a:t>Based on the </a:t>
            </a:r>
            <a:r>
              <a:rPr b="1" lang="en" sz="1600" u="sng"/>
              <a:t>RETRIEVAL METHODS</a:t>
            </a:r>
            <a:r>
              <a:rPr lang="en" sz="1600"/>
              <a:t> you selected, and considering the Question and the Input Requirements of the retrieval method, please </a:t>
            </a:r>
            <a:r>
              <a:rPr b="1" lang="en" sz="1600" u="sng"/>
              <a:t>REWRITE</a:t>
            </a:r>
            <a:r>
              <a:rPr lang="en" sz="1600"/>
              <a:t> the search query accordingly.</a:t>
            </a:r>
            <a:endParaRPr b="1" sz="160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600"/>
              <a:t>Prompt # 3: </a:t>
            </a:r>
            <a:r>
              <a:rPr lang="en" sz="1600"/>
              <a:t>Using the rewritten </a:t>
            </a:r>
            <a:r>
              <a:rPr b="1" lang="en" sz="1600" u="sng"/>
              <a:t>QUERY</a:t>
            </a:r>
            <a:r>
              <a:rPr lang="en" sz="1600"/>
              <a:t> and the retrieval </a:t>
            </a:r>
            <a:r>
              <a:rPr b="1" lang="en" sz="1600" u="sng"/>
              <a:t>FILTER</a:t>
            </a:r>
            <a:r>
              <a:rPr lang="en" sz="1600"/>
              <a:t> methods, perform a logical combination to execute the search effectively.</a:t>
            </a:r>
            <a:endParaRPr sz="160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600"/>
              <a:t>Prompt # 4: </a:t>
            </a:r>
            <a:r>
              <a:rPr lang="en" sz="1600"/>
              <a:t>Based on the </a:t>
            </a:r>
            <a:r>
              <a:rPr b="1" lang="en" sz="1600" u="sng"/>
              <a:t>RETRIEVAL RESULTS</a:t>
            </a:r>
            <a:r>
              <a:rPr lang="en" sz="1600"/>
              <a:t> from the above steps, please evaluate whether the </a:t>
            </a:r>
            <a:r>
              <a:rPr b="1" lang="en" sz="1600" u="sng"/>
              <a:t>RESULTS</a:t>
            </a:r>
            <a:r>
              <a:rPr lang="en" sz="1600"/>
              <a:t> support answering the original Question. If they do not support it, output "NO". If they do support it, output "YES".</a:t>
            </a:r>
            <a:endParaRPr sz="1600"/>
          </a:p>
          <a:p>
            <a:pPr indent="-31496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b="1" lang="en" sz="1600"/>
              <a:t>Prompt # 5: </a:t>
            </a:r>
            <a:r>
              <a:rPr lang="en" sz="1600"/>
              <a:t>Based on the </a:t>
            </a:r>
            <a:r>
              <a:rPr b="1" lang="en" sz="1600" u="sng"/>
              <a:t>RETRIEVAL RESULTS</a:t>
            </a:r>
            <a:r>
              <a:rPr lang="en" sz="1600"/>
              <a:t>, perform a comprehensive reasoning and provide an answer to the </a:t>
            </a:r>
            <a:r>
              <a:rPr b="1" lang="en" sz="1600" u="sng"/>
              <a:t>Question</a:t>
            </a:r>
            <a:r>
              <a:rPr lang="en" sz="1600"/>
              <a:t>.</a:t>
            </a:r>
            <a:endParaRPr b="1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6"/>
              <a:t>Performance comparison: BioRAG vs other RAG-LLMs</a:t>
            </a:r>
            <a:endParaRPr sz="28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9375" y="1362324"/>
            <a:ext cx="6965251" cy="32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66"/>
              <a:t>Performance comparison: BioRAG vs other RAG-LLMs</a:t>
            </a:r>
            <a:endParaRPr sz="2866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3950"/>
            <a:ext cx="8839200" cy="2657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 rotWithShape="1">
          <a:blip r:embed="rId3">
            <a:alphaModFix/>
          </a:blip>
          <a:srcRect b="77088" l="0" r="0" t="0"/>
          <a:stretch/>
        </p:blipFill>
        <p:spPr>
          <a:xfrm>
            <a:off x="764415" y="912750"/>
            <a:ext cx="3289573" cy="148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/>
          <p:nvPr/>
        </p:nvSpPr>
        <p:spPr>
          <a:xfrm>
            <a:off x="891137" y="2269141"/>
            <a:ext cx="596400" cy="38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6" name="Google Shape;146;p26"/>
          <p:cNvPicPr preferRelativeResize="0"/>
          <p:nvPr/>
        </p:nvPicPr>
        <p:blipFill rotWithShape="1">
          <a:blip r:embed="rId3">
            <a:alphaModFix/>
          </a:blip>
          <a:srcRect b="16835" l="0" r="0" t="54543"/>
          <a:stretch/>
        </p:blipFill>
        <p:spPr>
          <a:xfrm>
            <a:off x="3254687" y="2745743"/>
            <a:ext cx="3958913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 rotWithShape="1">
          <a:blip r:embed="rId3">
            <a:alphaModFix/>
          </a:blip>
          <a:srcRect b="45581" l="0" r="0" t="21034"/>
          <a:stretch/>
        </p:blipFill>
        <p:spPr>
          <a:xfrm>
            <a:off x="-197000" y="2481314"/>
            <a:ext cx="3815566" cy="2501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6"/>
          <p:cNvPicPr preferRelativeResize="0"/>
          <p:nvPr/>
        </p:nvPicPr>
        <p:blipFill rotWithShape="1">
          <a:blip r:embed="rId3">
            <a:alphaModFix/>
          </a:blip>
          <a:srcRect b="-1" l="0" r="0" t="83013"/>
          <a:stretch/>
        </p:blipFill>
        <p:spPr>
          <a:xfrm>
            <a:off x="5854425" y="1332898"/>
            <a:ext cx="3289575" cy="1097398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6"/>
          <p:cNvSpPr/>
          <p:nvPr/>
        </p:nvSpPr>
        <p:spPr>
          <a:xfrm>
            <a:off x="7149175" y="2571750"/>
            <a:ext cx="1189500" cy="1097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RAG Enhances LLM Performance:</a:t>
            </a:r>
            <a:r>
              <a:rPr lang="en"/>
              <a:t> Integrating Retrieval-Augmented Generation improves the ability of Large Language Models to address knowledge-specific questions effectively.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Impact of Query Engineering:</a:t>
            </a:r>
            <a:r>
              <a:rPr lang="en"/>
              <a:t> Customized query strategies and prompt design significantly boost performance and precision in retrieving relevant information.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Practical Benefits:</a:t>
            </a:r>
            <a:r>
              <a:rPr lang="en"/>
              <a:t> BIORAG demonstrates strong potential to improve efficiency for professionals and general users by streamlining access to accurate and current knowledge.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