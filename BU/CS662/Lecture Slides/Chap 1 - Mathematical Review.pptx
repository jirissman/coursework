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337" r:id="rId2"/>
    <p:sldId id="338" r:id="rId3"/>
    <p:sldId id="339" r:id="rId4"/>
    <p:sldId id="340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60" r:id="rId25"/>
    <p:sldId id="361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0" r:id="rId35"/>
    <p:sldId id="371" r:id="rId36"/>
    <p:sldId id="372" r:id="rId37"/>
    <p:sldId id="373" r:id="rId38"/>
    <p:sldId id="374" r:id="rId39"/>
    <p:sldId id="375" r:id="rId40"/>
    <p:sldId id="376" r:id="rId41"/>
    <p:sldId id="377" r:id="rId42"/>
    <p:sldId id="378" r:id="rId43"/>
    <p:sldId id="379" r:id="rId44"/>
    <p:sldId id="380" r:id="rId45"/>
    <p:sldId id="381" r:id="rId46"/>
    <p:sldId id="256" r:id="rId47"/>
    <p:sldId id="257" r:id="rId48"/>
    <p:sldId id="258" r:id="rId49"/>
    <p:sldId id="259" r:id="rId50"/>
    <p:sldId id="334" r:id="rId51"/>
    <p:sldId id="260" r:id="rId52"/>
    <p:sldId id="263" r:id="rId53"/>
    <p:sldId id="261" r:id="rId54"/>
    <p:sldId id="306" r:id="rId55"/>
    <p:sldId id="305" r:id="rId56"/>
    <p:sldId id="262" r:id="rId57"/>
    <p:sldId id="268" r:id="rId58"/>
    <p:sldId id="335" r:id="rId59"/>
    <p:sldId id="269" r:id="rId60"/>
    <p:sldId id="382" r:id="rId61"/>
    <p:sldId id="270" r:id="rId62"/>
    <p:sldId id="271" r:id="rId63"/>
    <p:sldId id="272" r:id="rId64"/>
    <p:sldId id="273" r:id="rId65"/>
    <p:sldId id="274" r:id="rId66"/>
    <p:sldId id="275" r:id="rId67"/>
    <p:sldId id="276" r:id="rId68"/>
    <p:sldId id="277" r:id="rId6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008000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67" autoAdjust="0"/>
    <p:restoredTop sz="90947" autoAdjust="0"/>
  </p:normalViewPr>
  <p:slideViewPr>
    <p:cSldViewPr>
      <p:cViewPr varScale="1">
        <p:scale>
          <a:sx n="88" d="100"/>
          <a:sy n="88" d="100"/>
        </p:scale>
        <p:origin x="-13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7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4" Type="http://schemas.openxmlformats.org/officeDocument/2006/relationships/image" Target="../media/image3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9.wmf"/><Relationship Id="rId6" Type="http://schemas.openxmlformats.org/officeDocument/2006/relationships/image" Target="../media/image24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4" Type="http://schemas.openxmlformats.org/officeDocument/2006/relationships/image" Target="../media/image4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4" Type="http://schemas.openxmlformats.org/officeDocument/2006/relationships/image" Target="../media/image5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7.wmf"/><Relationship Id="rId4" Type="http://schemas.openxmlformats.org/officeDocument/2006/relationships/image" Target="../media/image6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7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277E86C3-DD06-4685-867A-9A4213B842D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2B9C0949-0314-4A1F-8300-DF1581FDB6F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C2344A-4A37-4EE3-A614-7E204DC265CD}" type="slidenum">
              <a:rPr lang="en-US"/>
              <a:pPr/>
              <a:t>46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D768399-BFB8-4CF3-91BE-291CF1607A2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8711ECB-AF19-4B35-8530-AE052590534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8A8EE40-7CEF-4B40-8B13-2859ED2678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7E471EE-3320-4672-8D04-C6C72E26B30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591251C-3817-4B29-8021-4F67F580AE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817FA38-EFF5-452A-8031-1413D591E2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C819DAB-363E-46D7-A064-28BCA8A4953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CF2D28B-B8A4-4443-959A-F77FF3C67E0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3685415-6819-4CA6-AC0A-B003140738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1A522A5-5EAD-4CB4-ADCF-D9AF8E68CC5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52400"/>
            <a:ext cx="22098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770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EEDA7F2-5EE5-4F38-891B-1ED2A6ABA52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43B1A398-094E-483D-9A9F-7BA5919418E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6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4" Type="http://schemas.openxmlformats.org/officeDocument/2006/relationships/oleObject" Target="../embeddings/oleObject10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2.bin"/><Relationship Id="rId5" Type="http://schemas.openxmlformats.org/officeDocument/2006/relationships/oleObject" Target="../embeddings/oleObject21.bin"/><Relationship Id="rId4" Type="http://schemas.openxmlformats.org/officeDocument/2006/relationships/oleObject" Target="../embeddings/oleObject20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27.bin"/><Relationship Id="rId4" Type="http://schemas.openxmlformats.org/officeDocument/2006/relationships/oleObject" Target="../embeddings/oleObject26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29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31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33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7.bin"/><Relationship Id="rId5" Type="http://schemas.openxmlformats.org/officeDocument/2006/relationships/oleObject" Target="../embeddings/oleObject36.bin"/><Relationship Id="rId4" Type="http://schemas.openxmlformats.org/officeDocument/2006/relationships/oleObject" Target="../embeddings/oleObject35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1.bin"/><Relationship Id="rId5" Type="http://schemas.openxmlformats.org/officeDocument/2006/relationships/oleObject" Target="../embeddings/oleObject40.bin"/><Relationship Id="rId4" Type="http://schemas.openxmlformats.org/officeDocument/2006/relationships/oleObject" Target="../embeddings/oleObject39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oleObject" Target="../embeddings/oleObject44.bin"/><Relationship Id="rId4" Type="http://schemas.openxmlformats.org/officeDocument/2006/relationships/oleObject" Target="../embeddings/oleObject43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48.bin"/><Relationship Id="rId5" Type="http://schemas.openxmlformats.org/officeDocument/2006/relationships/oleObject" Target="../embeddings/oleObject47.bin"/><Relationship Id="rId4" Type="http://schemas.openxmlformats.org/officeDocument/2006/relationships/oleObject" Target="../embeddings/oleObject46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oleObject" Target="../embeddings/oleObject53.bin"/><Relationship Id="rId4" Type="http://schemas.openxmlformats.org/officeDocument/2006/relationships/oleObject" Target="../embeddings/oleObject52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57.bin"/><Relationship Id="rId5" Type="http://schemas.openxmlformats.org/officeDocument/2006/relationships/oleObject" Target="../embeddings/oleObject56.bin"/><Relationship Id="rId4" Type="http://schemas.openxmlformats.org/officeDocument/2006/relationships/oleObject" Target="../embeddings/oleObject55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61.bin"/><Relationship Id="rId5" Type="http://schemas.openxmlformats.org/officeDocument/2006/relationships/oleObject" Target="../embeddings/oleObject60.bin"/><Relationship Id="rId4" Type="http://schemas.openxmlformats.org/officeDocument/2006/relationships/oleObject" Target="../embeddings/oleObject59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oleObject" Target="../embeddings/oleObject64.bin"/><Relationship Id="rId4" Type="http://schemas.openxmlformats.org/officeDocument/2006/relationships/oleObject" Target="../embeddings/oleObject63.bin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oleObject" Target="../embeddings/oleObject67.bin"/><Relationship Id="rId4" Type="http://schemas.openxmlformats.org/officeDocument/2006/relationships/oleObject" Target="../embeddings/oleObject66.bin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oleObject" Target="../embeddings/oleObject69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73.bin"/><Relationship Id="rId5" Type="http://schemas.openxmlformats.org/officeDocument/2006/relationships/oleObject" Target="../embeddings/oleObject72.bin"/><Relationship Id="rId4" Type="http://schemas.openxmlformats.org/officeDocument/2006/relationships/oleObject" Target="../embeddings/oleObject71.bin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5" Type="http://schemas.openxmlformats.org/officeDocument/2006/relationships/oleObject" Target="../embeddings/oleObject76.bin"/><Relationship Id="rId4" Type="http://schemas.openxmlformats.org/officeDocument/2006/relationships/oleObject" Target="../embeddings/oleObject75.bin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5" Type="http://schemas.openxmlformats.org/officeDocument/2006/relationships/oleObject" Target="../embeddings/oleObject79.bin"/><Relationship Id="rId4" Type="http://schemas.openxmlformats.org/officeDocument/2006/relationships/oleObject" Target="../embeddings/oleObject78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oleObject" Target="../embeddings/oleObject8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D4735B1-62FC-4C7E-95EE-04879EBAD560}" type="slidenum">
              <a:rPr lang="en-US"/>
              <a:pPr/>
              <a:t>1</a:t>
            </a:fld>
            <a:endParaRPr lang="en-US"/>
          </a:p>
        </p:txBody>
      </p:sp>
      <p:sp>
        <p:nvSpPr>
          <p:cNvPr id="96258" name="Text Box 2"/>
          <p:cNvSpPr txBox="1">
            <a:spLocks noChangeArrowheads="1"/>
          </p:cNvSpPr>
          <p:nvPr/>
        </p:nvSpPr>
        <p:spPr bwMode="auto">
          <a:xfrm>
            <a:off x="990600" y="2362200"/>
            <a:ext cx="723423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>
                <a:solidFill>
                  <a:schemeClr val="tx1"/>
                </a:solidFill>
              </a:rPr>
              <a:t>Mathematical Preliminaries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C3BCDA-5CF9-4BAF-BF76-945AD7C0C872}" type="slidenum">
              <a:rPr lang="en-US"/>
              <a:pPr/>
              <a:t>2</a:t>
            </a:fld>
            <a:endParaRPr lang="en-US"/>
          </a:p>
        </p:txBody>
      </p:sp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152400" y="152400"/>
            <a:ext cx="8763000" cy="454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ctr">
              <a:spcBef>
                <a:spcPct val="50000"/>
              </a:spcBef>
              <a:buClr>
                <a:schemeClr val="tx1"/>
              </a:buClr>
            </a:pPr>
            <a:r>
              <a:rPr lang="en-US" sz="4000">
                <a:solidFill>
                  <a:schemeClr val="tx1"/>
                </a:solidFill>
              </a:rPr>
              <a:t>Mathematical Preliminaries</a:t>
            </a:r>
          </a:p>
          <a:p>
            <a:pPr marL="457200" indent="-457200">
              <a:spcBef>
                <a:spcPct val="50000"/>
              </a:spcBef>
              <a:buClr>
                <a:schemeClr val="tx1"/>
              </a:buClr>
              <a:buFontTx/>
              <a:buChar char="•"/>
            </a:pPr>
            <a:endParaRPr lang="en-US" sz="2800"/>
          </a:p>
          <a:p>
            <a:pPr marL="457200" indent="-457200">
              <a:spcBef>
                <a:spcPct val="50000"/>
              </a:spcBef>
              <a:buFontTx/>
              <a:buChar char="•"/>
            </a:pPr>
            <a:r>
              <a:rPr lang="en-US" sz="2800"/>
              <a:t>Sets </a:t>
            </a:r>
          </a:p>
          <a:p>
            <a:pPr marL="457200" indent="-457200">
              <a:spcBef>
                <a:spcPct val="50000"/>
              </a:spcBef>
              <a:buFontTx/>
              <a:buChar char="•"/>
            </a:pPr>
            <a:r>
              <a:rPr lang="en-US" sz="2800"/>
              <a:t>Functions</a:t>
            </a:r>
          </a:p>
          <a:p>
            <a:pPr marL="457200" indent="-457200">
              <a:spcBef>
                <a:spcPct val="50000"/>
              </a:spcBef>
              <a:buFontTx/>
              <a:buChar char="•"/>
            </a:pPr>
            <a:r>
              <a:rPr lang="en-US" sz="2800"/>
              <a:t>Relations</a:t>
            </a:r>
          </a:p>
          <a:p>
            <a:pPr marL="457200" indent="-457200">
              <a:spcBef>
                <a:spcPct val="50000"/>
              </a:spcBef>
              <a:buFontTx/>
              <a:buChar char="•"/>
            </a:pPr>
            <a:r>
              <a:rPr lang="en-US" sz="2800"/>
              <a:t>Graphs</a:t>
            </a:r>
          </a:p>
          <a:p>
            <a:pPr marL="457200" indent="-457200">
              <a:spcBef>
                <a:spcPct val="50000"/>
              </a:spcBef>
              <a:buFontTx/>
              <a:buChar char="•"/>
            </a:pPr>
            <a:r>
              <a:rPr lang="en-US" sz="2800"/>
              <a:t>Proof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51D557-F8C8-4B62-936D-B060903ED139}" type="slidenum">
              <a:rPr lang="en-US"/>
              <a:pPr/>
              <a:t>3</a:t>
            </a:fld>
            <a:endParaRPr lang="en-US"/>
          </a:p>
        </p:txBody>
      </p:sp>
      <p:sp>
        <p:nvSpPr>
          <p:cNvPr id="98306" name="Text Box 2"/>
          <p:cNvSpPr txBox="1">
            <a:spLocks noChangeArrowheads="1"/>
          </p:cNvSpPr>
          <p:nvPr/>
        </p:nvSpPr>
        <p:spPr bwMode="auto">
          <a:xfrm>
            <a:off x="593725" y="350838"/>
            <a:ext cx="100488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endParaRPr lang="en-US" sz="2400">
              <a:solidFill>
                <a:schemeClr val="tx1"/>
              </a:solidFill>
            </a:endParaRPr>
          </a:p>
          <a:p>
            <a:pPr algn="ctr">
              <a:spcBef>
                <a:spcPct val="0"/>
              </a:spcBef>
            </a:pPr>
            <a:endParaRPr lang="en-US" sz="2400">
              <a:solidFill>
                <a:schemeClr val="tx1"/>
              </a:solidFill>
            </a:endParaRPr>
          </a:p>
        </p:txBody>
      </p:sp>
      <p:graphicFrame>
        <p:nvGraphicFramePr>
          <p:cNvPr id="98307" name="Object 3"/>
          <p:cNvGraphicFramePr>
            <a:graphicFrameLocks noChangeAspect="1"/>
          </p:cNvGraphicFramePr>
          <p:nvPr/>
        </p:nvGraphicFramePr>
        <p:xfrm>
          <a:off x="1905000" y="1752600"/>
          <a:ext cx="2209800" cy="546100"/>
        </p:xfrm>
        <a:graphic>
          <a:graphicData uri="http://schemas.openxmlformats.org/presentationml/2006/ole">
            <p:oleObj spid="_x0000_s98307" name="Equation" r:id="rId3" imgW="2209680" imgH="545760" progId="Equation.3">
              <p:embed/>
            </p:oleObj>
          </a:graphicData>
        </a:graphic>
      </p:graphicFrame>
      <p:sp>
        <p:nvSpPr>
          <p:cNvPr id="98308" name="Text Box 4"/>
          <p:cNvSpPr txBox="1">
            <a:spLocks noChangeArrowheads="1"/>
          </p:cNvSpPr>
          <p:nvPr/>
        </p:nvSpPr>
        <p:spPr bwMode="auto">
          <a:xfrm>
            <a:off x="0" y="1019175"/>
            <a:ext cx="62769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 set is a collection of elements</a:t>
            </a:r>
          </a:p>
        </p:txBody>
      </p:sp>
      <p:sp>
        <p:nvSpPr>
          <p:cNvPr id="98309" name="Text Box 5"/>
          <p:cNvSpPr txBox="1">
            <a:spLocks noChangeArrowheads="1"/>
          </p:cNvSpPr>
          <p:nvPr/>
        </p:nvSpPr>
        <p:spPr bwMode="auto">
          <a:xfrm>
            <a:off x="3810000" y="-47625"/>
            <a:ext cx="15525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>
                <a:solidFill>
                  <a:schemeClr val="tx1"/>
                </a:solidFill>
              </a:rPr>
              <a:t>SETS</a:t>
            </a:r>
          </a:p>
        </p:txBody>
      </p:sp>
      <p:graphicFrame>
        <p:nvGraphicFramePr>
          <p:cNvPr id="98310" name="Object 6"/>
          <p:cNvGraphicFramePr>
            <a:graphicFrameLocks noChangeAspect="1"/>
          </p:cNvGraphicFramePr>
          <p:nvPr/>
        </p:nvGraphicFramePr>
        <p:xfrm>
          <a:off x="1828800" y="2514600"/>
          <a:ext cx="6578600" cy="533400"/>
        </p:xfrm>
        <a:graphic>
          <a:graphicData uri="http://schemas.openxmlformats.org/presentationml/2006/ole">
            <p:oleObj spid="_x0000_s98310" name="Equation" r:id="rId4" imgW="6578280" imgH="533160" progId="Equation.3">
              <p:embed/>
            </p:oleObj>
          </a:graphicData>
        </a:graphic>
      </p:graphicFrame>
      <p:sp>
        <p:nvSpPr>
          <p:cNvPr id="98311" name="Text Box 7"/>
          <p:cNvSpPr txBox="1">
            <a:spLocks noChangeArrowheads="1"/>
          </p:cNvSpPr>
          <p:nvPr/>
        </p:nvSpPr>
        <p:spPr bwMode="auto">
          <a:xfrm>
            <a:off x="0" y="3733800"/>
            <a:ext cx="19526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We write</a:t>
            </a:r>
          </a:p>
        </p:txBody>
      </p:sp>
      <p:graphicFrame>
        <p:nvGraphicFramePr>
          <p:cNvPr id="98312" name="Object 8"/>
          <p:cNvGraphicFramePr>
            <a:graphicFrameLocks noChangeAspect="1"/>
          </p:cNvGraphicFramePr>
          <p:nvPr/>
        </p:nvGraphicFramePr>
        <p:xfrm>
          <a:off x="1828800" y="4572000"/>
          <a:ext cx="1003300" cy="406400"/>
        </p:xfrm>
        <a:graphic>
          <a:graphicData uri="http://schemas.openxmlformats.org/presentationml/2006/ole">
            <p:oleObj spid="_x0000_s98312" name="Equation" r:id="rId5" imgW="1002960" imgH="406080" progId="Equation.3">
              <p:embed/>
            </p:oleObj>
          </a:graphicData>
        </a:graphic>
      </p:graphicFrame>
      <p:graphicFrame>
        <p:nvGraphicFramePr>
          <p:cNvPr id="98313" name="Object 9"/>
          <p:cNvGraphicFramePr>
            <a:graphicFrameLocks noChangeAspect="1"/>
          </p:cNvGraphicFramePr>
          <p:nvPr/>
        </p:nvGraphicFramePr>
        <p:xfrm>
          <a:off x="1752600" y="5410200"/>
          <a:ext cx="1714500" cy="533400"/>
        </p:xfrm>
        <a:graphic>
          <a:graphicData uri="http://schemas.openxmlformats.org/presentationml/2006/ole">
            <p:oleObj spid="_x0000_s98313" name="Equation" r:id="rId6" imgW="171432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5F48F3-7C26-4F1D-BEA9-0DAFEB8C6AC5}" type="slidenum">
              <a:rPr lang="en-US"/>
              <a:pPr/>
              <a:t>4</a:t>
            </a:fld>
            <a:endParaRPr lang="en-US"/>
          </a:p>
        </p:txBody>
      </p:sp>
      <p:sp>
        <p:nvSpPr>
          <p:cNvPr id="99330" name="Text Box 2"/>
          <p:cNvSpPr txBox="1">
            <a:spLocks noChangeArrowheads="1"/>
          </p:cNvSpPr>
          <p:nvPr/>
        </p:nvSpPr>
        <p:spPr bwMode="auto">
          <a:xfrm>
            <a:off x="228600" y="61913"/>
            <a:ext cx="8458200" cy="648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1"/>
                </a:solidFill>
              </a:rPr>
              <a:t>Set Representations</a:t>
            </a:r>
          </a:p>
          <a:p>
            <a:pPr lvl="1">
              <a:spcBef>
                <a:spcPct val="0"/>
              </a:spcBef>
            </a:pPr>
            <a:endParaRPr lang="en-US">
              <a:solidFill>
                <a:schemeClr val="tx1"/>
              </a:solidFill>
            </a:endParaRPr>
          </a:p>
          <a:p>
            <a:pPr lvl="1">
              <a:spcBef>
                <a:spcPct val="0"/>
              </a:spcBef>
            </a:pPr>
            <a:r>
              <a:rPr lang="en-US"/>
              <a:t>C = { a, b, c, d, e, f, g, h, i, j, k }</a:t>
            </a:r>
          </a:p>
          <a:p>
            <a:pPr lvl="1">
              <a:spcBef>
                <a:spcPct val="0"/>
              </a:spcBef>
            </a:pPr>
            <a:endParaRPr lang="en-US">
              <a:solidFill>
                <a:schemeClr val="tx1"/>
              </a:solidFill>
            </a:endParaRPr>
          </a:p>
          <a:p>
            <a:pPr lvl="1">
              <a:spcBef>
                <a:spcPct val="0"/>
              </a:spcBef>
            </a:pPr>
            <a:r>
              <a:rPr lang="en-US"/>
              <a:t>C = { a, b, …, k }</a:t>
            </a:r>
          </a:p>
          <a:p>
            <a:pPr lvl="1">
              <a:spcBef>
                <a:spcPct val="0"/>
              </a:spcBef>
            </a:pPr>
            <a:endParaRPr lang="en-US">
              <a:solidFill>
                <a:schemeClr val="tx1"/>
              </a:solidFill>
            </a:endParaRPr>
          </a:p>
          <a:p>
            <a:pPr lvl="1">
              <a:spcBef>
                <a:spcPct val="0"/>
              </a:spcBef>
            </a:pPr>
            <a:endParaRPr lang="en-US">
              <a:solidFill>
                <a:srgbClr val="FF0000"/>
              </a:solidFill>
            </a:endParaRPr>
          </a:p>
          <a:p>
            <a:pPr lvl="1">
              <a:spcBef>
                <a:spcPct val="0"/>
              </a:spcBef>
            </a:pPr>
            <a:r>
              <a:rPr lang="en-US">
                <a:solidFill>
                  <a:srgbClr val="FF0000"/>
                </a:solidFill>
              </a:rPr>
              <a:t>S = { 2, 4, 6, … }</a:t>
            </a:r>
          </a:p>
          <a:p>
            <a:pPr lvl="1">
              <a:spcBef>
                <a:spcPct val="0"/>
              </a:spcBef>
            </a:pPr>
            <a:endParaRPr lang="en-US">
              <a:solidFill>
                <a:schemeClr val="tx1"/>
              </a:solidFill>
            </a:endParaRPr>
          </a:p>
          <a:p>
            <a:pPr lvl="1">
              <a:spcBef>
                <a:spcPct val="0"/>
              </a:spcBef>
            </a:pPr>
            <a:r>
              <a:rPr lang="en-US">
                <a:solidFill>
                  <a:srgbClr val="FF0000"/>
                </a:solidFill>
              </a:rPr>
              <a:t>S = { j : j &gt; 0, and j = 2k for some k&gt;0 }</a:t>
            </a:r>
          </a:p>
          <a:p>
            <a:pPr lvl="1">
              <a:spcBef>
                <a:spcPct val="0"/>
              </a:spcBef>
            </a:pPr>
            <a:endParaRPr lang="en-US">
              <a:solidFill>
                <a:schemeClr val="tx1"/>
              </a:solidFill>
            </a:endParaRPr>
          </a:p>
          <a:p>
            <a:pPr lvl="1">
              <a:spcBef>
                <a:spcPct val="0"/>
              </a:spcBef>
            </a:pPr>
            <a:r>
              <a:rPr lang="en-US">
                <a:solidFill>
                  <a:srgbClr val="FF0000"/>
                </a:solidFill>
              </a:rPr>
              <a:t>S = { j : j is nonnegative and even }</a:t>
            </a:r>
          </a:p>
          <a:p>
            <a:pPr lvl="1">
              <a:spcBef>
                <a:spcPct val="0"/>
              </a:spcBef>
            </a:pPr>
            <a:endParaRPr lang="en-US">
              <a:solidFill>
                <a:srgbClr val="FF0000"/>
              </a:solidFill>
            </a:endParaRPr>
          </a:p>
        </p:txBody>
      </p:sp>
      <p:sp>
        <p:nvSpPr>
          <p:cNvPr id="99331" name="Line 3"/>
          <p:cNvSpPr>
            <a:spLocks noChangeShapeType="1"/>
          </p:cNvSpPr>
          <p:nvPr/>
        </p:nvSpPr>
        <p:spPr bwMode="auto">
          <a:xfrm>
            <a:off x="4038600" y="24384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5638800" y="2133600"/>
            <a:ext cx="1981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>
                <a:solidFill>
                  <a:schemeClr val="tx1"/>
                </a:solidFill>
              </a:rPr>
              <a:t>finite set</a:t>
            </a:r>
          </a:p>
        </p:txBody>
      </p:sp>
      <p:sp>
        <p:nvSpPr>
          <p:cNvPr id="99333" name="Line 5"/>
          <p:cNvSpPr>
            <a:spLocks noChangeShapeType="1"/>
          </p:cNvSpPr>
          <p:nvPr/>
        </p:nvSpPr>
        <p:spPr bwMode="auto">
          <a:xfrm flipV="1">
            <a:off x="3962400" y="3886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9334" name="Text Box 6"/>
          <p:cNvSpPr txBox="1">
            <a:spLocks noChangeArrowheads="1"/>
          </p:cNvSpPr>
          <p:nvPr/>
        </p:nvSpPr>
        <p:spPr bwMode="auto">
          <a:xfrm>
            <a:off x="5562600" y="3581400"/>
            <a:ext cx="23082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>
                <a:solidFill>
                  <a:schemeClr val="tx1"/>
                </a:solidFill>
              </a:rPr>
              <a:t>infinite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87A43D-3552-41E6-B092-162EA48FE3C0}" type="slidenum">
              <a:rPr lang="en-US"/>
              <a:pPr/>
              <a:t>5</a:t>
            </a:fld>
            <a:endParaRPr lang="en-US"/>
          </a:p>
        </p:txBody>
      </p:sp>
      <p:sp>
        <p:nvSpPr>
          <p:cNvPr id="100354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8229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 = { 1, 2, 3, 4, 5 }</a:t>
            </a:r>
          </a:p>
        </p:txBody>
      </p:sp>
      <p:sp>
        <p:nvSpPr>
          <p:cNvPr id="100355" name="Text Box 3"/>
          <p:cNvSpPr txBox="1">
            <a:spLocks noChangeArrowheads="1"/>
          </p:cNvSpPr>
          <p:nvPr/>
        </p:nvSpPr>
        <p:spPr bwMode="auto">
          <a:xfrm>
            <a:off x="212725" y="5026025"/>
            <a:ext cx="6499225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/>
              <a:t>Universal Set:    all possible elements</a:t>
            </a:r>
          </a:p>
          <a:p>
            <a:pPr lvl="2"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                          </a:t>
            </a:r>
          </a:p>
          <a:p>
            <a:pPr lvl="2"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                           U = { 1 , … , 10 }</a:t>
            </a:r>
          </a:p>
        </p:txBody>
      </p:sp>
      <p:grpSp>
        <p:nvGrpSpPr>
          <p:cNvPr id="100356" name="Group 4"/>
          <p:cNvGrpSpPr>
            <a:grpSpLocks/>
          </p:cNvGrpSpPr>
          <p:nvPr/>
        </p:nvGrpSpPr>
        <p:grpSpPr bwMode="auto">
          <a:xfrm>
            <a:off x="1828800" y="914400"/>
            <a:ext cx="6019800" cy="3657600"/>
            <a:chOff x="1152" y="576"/>
            <a:chExt cx="3792" cy="2304"/>
          </a:xfrm>
        </p:grpSpPr>
        <p:sp>
          <p:nvSpPr>
            <p:cNvPr id="100357" name="Oval 5"/>
            <p:cNvSpPr>
              <a:spLocks noChangeArrowheads="1"/>
            </p:cNvSpPr>
            <p:nvPr/>
          </p:nvSpPr>
          <p:spPr bwMode="auto">
            <a:xfrm>
              <a:off x="2304" y="1488"/>
              <a:ext cx="1536" cy="960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58" name="Text Box 6"/>
            <p:cNvSpPr txBox="1">
              <a:spLocks noChangeArrowheads="1"/>
            </p:cNvSpPr>
            <p:nvPr/>
          </p:nvSpPr>
          <p:spPr bwMode="auto">
            <a:xfrm>
              <a:off x="2496" y="1680"/>
              <a:ext cx="21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8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0359" name="Text Box 7"/>
            <p:cNvSpPr txBox="1">
              <a:spLocks noChangeArrowheads="1"/>
            </p:cNvSpPr>
            <p:nvPr/>
          </p:nvSpPr>
          <p:spPr bwMode="auto">
            <a:xfrm>
              <a:off x="3024" y="1584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8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0360" name="Text Box 8"/>
            <p:cNvSpPr txBox="1">
              <a:spLocks noChangeArrowheads="1"/>
            </p:cNvSpPr>
            <p:nvPr/>
          </p:nvSpPr>
          <p:spPr bwMode="auto">
            <a:xfrm>
              <a:off x="3408" y="1632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80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0361" name="Text Box 9"/>
            <p:cNvSpPr txBox="1">
              <a:spLocks noChangeArrowheads="1"/>
            </p:cNvSpPr>
            <p:nvPr/>
          </p:nvSpPr>
          <p:spPr bwMode="auto">
            <a:xfrm>
              <a:off x="2784" y="1968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8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0362" name="Text Box 10"/>
            <p:cNvSpPr txBox="1">
              <a:spLocks noChangeArrowheads="1"/>
            </p:cNvSpPr>
            <p:nvPr/>
          </p:nvSpPr>
          <p:spPr bwMode="auto">
            <a:xfrm>
              <a:off x="3264" y="2016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80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0363" name="Rectangle 11"/>
            <p:cNvSpPr>
              <a:spLocks noChangeArrowheads="1"/>
            </p:cNvSpPr>
            <p:nvPr/>
          </p:nvSpPr>
          <p:spPr bwMode="auto">
            <a:xfrm>
              <a:off x="1152" y="960"/>
              <a:ext cx="3792" cy="19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64" name="Text Box 12"/>
            <p:cNvSpPr txBox="1">
              <a:spLocks noChangeArrowheads="1"/>
            </p:cNvSpPr>
            <p:nvPr/>
          </p:nvSpPr>
          <p:spPr bwMode="auto">
            <a:xfrm>
              <a:off x="2928" y="1139"/>
              <a:ext cx="327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3600">
                  <a:solidFill>
                    <a:schemeClr val="tx1"/>
                  </a:solidFill>
                </a:rPr>
                <a:t>A</a:t>
              </a:r>
              <a:endParaRPr lang="en-US" sz="2800">
                <a:solidFill>
                  <a:schemeClr val="tx1"/>
                </a:solidFill>
              </a:endParaRPr>
            </a:p>
          </p:txBody>
        </p:sp>
        <p:sp>
          <p:nvSpPr>
            <p:cNvPr id="100365" name="Text Box 13"/>
            <p:cNvSpPr txBox="1">
              <a:spLocks noChangeArrowheads="1"/>
            </p:cNvSpPr>
            <p:nvPr/>
          </p:nvSpPr>
          <p:spPr bwMode="auto">
            <a:xfrm>
              <a:off x="4464" y="576"/>
              <a:ext cx="328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3600">
                  <a:solidFill>
                    <a:schemeClr val="tx1"/>
                  </a:solidFill>
                </a:rPr>
                <a:t>U</a:t>
              </a:r>
              <a:endParaRPr lang="en-US" sz="2800">
                <a:solidFill>
                  <a:schemeClr val="tx1"/>
                </a:solidFill>
              </a:endParaRPr>
            </a:p>
          </p:txBody>
        </p:sp>
        <p:sp>
          <p:nvSpPr>
            <p:cNvPr id="100366" name="Text Box 14"/>
            <p:cNvSpPr txBox="1">
              <a:spLocks noChangeArrowheads="1"/>
            </p:cNvSpPr>
            <p:nvPr/>
          </p:nvSpPr>
          <p:spPr bwMode="auto">
            <a:xfrm>
              <a:off x="1526" y="1198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80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00367" name="Text Box 15"/>
            <p:cNvSpPr txBox="1">
              <a:spLocks noChangeArrowheads="1"/>
            </p:cNvSpPr>
            <p:nvPr/>
          </p:nvSpPr>
          <p:spPr bwMode="auto">
            <a:xfrm>
              <a:off x="1622" y="1870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80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0368" name="Text Box 16"/>
            <p:cNvSpPr txBox="1">
              <a:spLocks noChangeArrowheads="1"/>
            </p:cNvSpPr>
            <p:nvPr/>
          </p:nvSpPr>
          <p:spPr bwMode="auto">
            <a:xfrm>
              <a:off x="4214" y="1534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80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00369" name="Text Box 17"/>
            <p:cNvSpPr txBox="1">
              <a:spLocks noChangeArrowheads="1"/>
            </p:cNvSpPr>
            <p:nvPr/>
          </p:nvSpPr>
          <p:spPr bwMode="auto">
            <a:xfrm>
              <a:off x="3974" y="2254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800">
                  <a:solidFill>
                    <a:schemeClr val="tx1"/>
                  </a:solidFill>
                </a:rPr>
                <a:t>9</a:t>
              </a:r>
            </a:p>
          </p:txBody>
        </p:sp>
        <p:sp>
          <p:nvSpPr>
            <p:cNvPr id="100370" name="Text Box 18"/>
            <p:cNvSpPr txBox="1">
              <a:spLocks noChangeArrowheads="1"/>
            </p:cNvSpPr>
            <p:nvPr/>
          </p:nvSpPr>
          <p:spPr bwMode="auto">
            <a:xfrm>
              <a:off x="1766" y="2494"/>
              <a:ext cx="35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800">
                  <a:solidFill>
                    <a:schemeClr val="tx1"/>
                  </a:solidFill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E6B281-18FF-4809-A979-6244C1DFB497}" type="slidenum">
              <a:rPr lang="en-US"/>
              <a:pPr/>
              <a:t>6</a:t>
            </a:fld>
            <a:endParaRPr lang="en-US"/>
          </a:p>
        </p:txBody>
      </p:sp>
      <p:sp>
        <p:nvSpPr>
          <p:cNvPr id="101378" name="Text Box 2"/>
          <p:cNvSpPr txBox="1">
            <a:spLocks noChangeArrowheads="1"/>
          </p:cNvSpPr>
          <p:nvPr/>
        </p:nvSpPr>
        <p:spPr bwMode="auto">
          <a:xfrm>
            <a:off x="152400" y="304800"/>
            <a:ext cx="8763000" cy="577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Set Operations</a:t>
            </a:r>
            <a:endParaRPr lang="en-US" sz="2800">
              <a:solidFill>
                <a:schemeClr val="tx1"/>
              </a:solidFill>
            </a:endParaRPr>
          </a:p>
          <a:p>
            <a:pPr algn="ctr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 = { 1, 2, 3 }           B = { 2, 3, 4, 5}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800"/>
              <a:t> Union</a:t>
            </a:r>
            <a:r>
              <a:rPr lang="en-US" sz="2800">
                <a:solidFill>
                  <a:schemeClr val="tx1"/>
                </a:solidFill>
              </a:rPr>
              <a:t>         </a:t>
            </a: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        A U B = { 1, 2, 3, 4, 5 }     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800"/>
              <a:t> Intersection</a:t>
            </a:r>
          </a:p>
          <a:p>
            <a:pPr lvl="2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     B = { 2, 3 }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800"/>
              <a:t> Difference</a:t>
            </a:r>
            <a:r>
              <a:rPr lang="en-US" sz="2800">
                <a:solidFill>
                  <a:schemeClr val="tx1"/>
                </a:solidFill>
              </a:rPr>
              <a:t> </a:t>
            </a:r>
          </a:p>
          <a:p>
            <a:pPr lvl="2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 - B = { 1 }</a:t>
            </a:r>
          </a:p>
          <a:p>
            <a:pPr lvl="2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B - A = { 4, 5 }</a:t>
            </a:r>
          </a:p>
        </p:txBody>
      </p:sp>
      <p:sp>
        <p:nvSpPr>
          <p:cNvPr id="101379" name="Text Box 3"/>
          <p:cNvSpPr txBox="1">
            <a:spLocks noChangeArrowheads="1"/>
          </p:cNvSpPr>
          <p:nvPr/>
        </p:nvSpPr>
        <p:spPr bwMode="auto">
          <a:xfrm rot="-10800000">
            <a:off x="1447800" y="3581400"/>
            <a:ext cx="45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U</a:t>
            </a:r>
          </a:p>
        </p:txBody>
      </p:sp>
      <p:grpSp>
        <p:nvGrpSpPr>
          <p:cNvPr id="101380" name="Group 4"/>
          <p:cNvGrpSpPr>
            <a:grpSpLocks/>
          </p:cNvGrpSpPr>
          <p:nvPr/>
        </p:nvGrpSpPr>
        <p:grpSpPr bwMode="auto">
          <a:xfrm>
            <a:off x="5638800" y="1524000"/>
            <a:ext cx="2286000" cy="1447800"/>
            <a:chOff x="3552" y="960"/>
            <a:chExt cx="1440" cy="912"/>
          </a:xfrm>
        </p:grpSpPr>
        <p:sp>
          <p:nvSpPr>
            <p:cNvPr id="101381" name="Oval 5"/>
            <p:cNvSpPr>
              <a:spLocks noChangeArrowheads="1"/>
            </p:cNvSpPr>
            <p:nvPr/>
          </p:nvSpPr>
          <p:spPr bwMode="auto">
            <a:xfrm>
              <a:off x="3552" y="1248"/>
              <a:ext cx="768" cy="576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382" name="Oval 6"/>
            <p:cNvSpPr>
              <a:spLocks noChangeArrowheads="1"/>
            </p:cNvSpPr>
            <p:nvPr/>
          </p:nvSpPr>
          <p:spPr bwMode="auto">
            <a:xfrm>
              <a:off x="4032" y="1200"/>
              <a:ext cx="960" cy="672"/>
            </a:xfrm>
            <a:prstGeom prst="ellipse">
              <a:avLst/>
            </a:prstGeom>
            <a:solidFill>
              <a:srgbClr val="C0C0C0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383" name="Text Box 7"/>
            <p:cNvSpPr txBox="1">
              <a:spLocks noChangeArrowheads="1"/>
            </p:cNvSpPr>
            <p:nvPr/>
          </p:nvSpPr>
          <p:spPr bwMode="auto">
            <a:xfrm>
              <a:off x="3744" y="1008"/>
              <a:ext cx="2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400">
                  <a:solidFill>
                    <a:schemeClr val="tx1"/>
                  </a:solidFill>
                </a:rPr>
                <a:t>A</a:t>
              </a:r>
              <a:endParaRPr lang="en-US" sz="2800">
                <a:solidFill>
                  <a:schemeClr val="tx1"/>
                </a:solidFill>
              </a:endParaRPr>
            </a:p>
          </p:txBody>
        </p:sp>
        <p:sp>
          <p:nvSpPr>
            <p:cNvPr id="101384" name="Text Box 8"/>
            <p:cNvSpPr txBox="1">
              <a:spLocks noChangeArrowheads="1"/>
            </p:cNvSpPr>
            <p:nvPr/>
          </p:nvSpPr>
          <p:spPr bwMode="auto">
            <a:xfrm>
              <a:off x="4464" y="960"/>
              <a:ext cx="23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400">
                  <a:solidFill>
                    <a:schemeClr val="tx1"/>
                  </a:solidFill>
                </a:rPr>
                <a:t>B</a:t>
              </a:r>
              <a:endParaRPr lang="en-US" sz="2800">
                <a:solidFill>
                  <a:schemeClr val="tx1"/>
                </a:solidFill>
              </a:endParaRPr>
            </a:p>
          </p:txBody>
        </p:sp>
      </p:grpSp>
      <p:sp>
        <p:nvSpPr>
          <p:cNvPr id="101385" name="Oval 9"/>
          <p:cNvSpPr>
            <a:spLocks noChangeArrowheads="1"/>
          </p:cNvSpPr>
          <p:nvPr/>
        </p:nvSpPr>
        <p:spPr bwMode="auto">
          <a:xfrm>
            <a:off x="5715000" y="5181600"/>
            <a:ext cx="1219200" cy="914400"/>
          </a:xfrm>
          <a:prstGeom prst="ellipse">
            <a:avLst/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1386" name="Oval 10"/>
          <p:cNvSpPr>
            <a:spLocks noChangeArrowheads="1"/>
          </p:cNvSpPr>
          <p:nvPr/>
        </p:nvSpPr>
        <p:spPr bwMode="auto">
          <a:xfrm>
            <a:off x="6477000" y="5105400"/>
            <a:ext cx="1524000" cy="1066800"/>
          </a:xfrm>
          <a:prstGeom prst="ellipse">
            <a:avLst/>
          </a:prstGeom>
          <a:solidFill>
            <a:schemeClr val="bg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1387" name="Oval 11"/>
          <p:cNvSpPr>
            <a:spLocks noChangeArrowheads="1"/>
          </p:cNvSpPr>
          <p:nvPr/>
        </p:nvSpPr>
        <p:spPr bwMode="auto">
          <a:xfrm>
            <a:off x="5715000" y="3657600"/>
            <a:ext cx="12192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1388" name="Oval 12"/>
          <p:cNvSpPr>
            <a:spLocks noChangeArrowheads="1"/>
          </p:cNvSpPr>
          <p:nvPr/>
        </p:nvSpPr>
        <p:spPr bwMode="auto">
          <a:xfrm>
            <a:off x="6477000" y="3581400"/>
            <a:ext cx="1524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1389" name="Oval 13"/>
          <p:cNvSpPr>
            <a:spLocks noChangeArrowheads="1"/>
          </p:cNvSpPr>
          <p:nvPr/>
        </p:nvSpPr>
        <p:spPr bwMode="auto">
          <a:xfrm>
            <a:off x="6477000" y="3733800"/>
            <a:ext cx="457200" cy="7620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1390" name="Text Box 14"/>
          <p:cNvSpPr txBox="1">
            <a:spLocks noChangeArrowheads="1"/>
          </p:cNvSpPr>
          <p:nvPr/>
        </p:nvSpPr>
        <p:spPr bwMode="auto">
          <a:xfrm>
            <a:off x="6477000" y="2057400"/>
            <a:ext cx="307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</a:t>
            </a:r>
          </a:p>
        </p:txBody>
      </p:sp>
      <p:sp>
        <p:nvSpPr>
          <p:cNvPr id="101391" name="Text Box 15"/>
          <p:cNvSpPr txBox="1">
            <a:spLocks noChangeArrowheads="1"/>
          </p:cNvSpPr>
          <p:nvPr/>
        </p:nvSpPr>
        <p:spPr bwMode="auto">
          <a:xfrm>
            <a:off x="6477000" y="2362200"/>
            <a:ext cx="307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3</a:t>
            </a:r>
          </a:p>
        </p:txBody>
      </p:sp>
      <p:sp>
        <p:nvSpPr>
          <p:cNvPr id="101392" name="Text Box 16"/>
          <p:cNvSpPr txBox="1">
            <a:spLocks noChangeArrowheads="1"/>
          </p:cNvSpPr>
          <p:nvPr/>
        </p:nvSpPr>
        <p:spPr bwMode="auto">
          <a:xfrm>
            <a:off x="5943600" y="2209800"/>
            <a:ext cx="2762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</a:t>
            </a:r>
          </a:p>
        </p:txBody>
      </p:sp>
      <p:sp>
        <p:nvSpPr>
          <p:cNvPr id="101393" name="Text Box 17"/>
          <p:cNvSpPr txBox="1">
            <a:spLocks noChangeArrowheads="1"/>
          </p:cNvSpPr>
          <p:nvPr/>
        </p:nvSpPr>
        <p:spPr bwMode="auto">
          <a:xfrm>
            <a:off x="7162800" y="2057400"/>
            <a:ext cx="307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4</a:t>
            </a:r>
          </a:p>
        </p:txBody>
      </p:sp>
      <p:sp>
        <p:nvSpPr>
          <p:cNvPr id="101394" name="Text Box 18"/>
          <p:cNvSpPr txBox="1">
            <a:spLocks noChangeArrowheads="1"/>
          </p:cNvSpPr>
          <p:nvPr/>
        </p:nvSpPr>
        <p:spPr bwMode="auto">
          <a:xfrm>
            <a:off x="7315200" y="2438400"/>
            <a:ext cx="307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5</a:t>
            </a:r>
          </a:p>
        </p:txBody>
      </p:sp>
      <p:sp>
        <p:nvSpPr>
          <p:cNvPr id="101395" name="Text Box 19"/>
          <p:cNvSpPr txBox="1">
            <a:spLocks noChangeArrowheads="1"/>
          </p:cNvSpPr>
          <p:nvPr/>
        </p:nvSpPr>
        <p:spPr bwMode="auto">
          <a:xfrm>
            <a:off x="6553200" y="3810000"/>
            <a:ext cx="307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2</a:t>
            </a:r>
          </a:p>
        </p:txBody>
      </p:sp>
      <p:sp>
        <p:nvSpPr>
          <p:cNvPr id="101396" name="Text Box 20"/>
          <p:cNvSpPr txBox="1">
            <a:spLocks noChangeArrowheads="1"/>
          </p:cNvSpPr>
          <p:nvPr/>
        </p:nvSpPr>
        <p:spPr bwMode="auto">
          <a:xfrm>
            <a:off x="6553200" y="4114800"/>
            <a:ext cx="3079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3</a:t>
            </a:r>
          </a:p>
        </p:txBody>
      </p:sp>
      <p:sp>
        <p:nvSpPr>
          <p:cNvPr id="101397" name="Text Box 21"/>
          <p:cNvSpPr txBox="1">
            <a:spLocks noChangeArrowheads="1"/>
          </p:cNvSpPr>
          <p:nvPr/>
        </p:nvSpPr>
        <p:spPr bwMode="auto">
          <a:xfrm>
            <a:off x="6096000" y="5410200"/>
            <a:ext cx="2762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1</a:t>
            </a:r>
          </a:p>
        </p:txBody>
      </p:sp>
      <p:sp>
        <p:nvSpPr>
          <p:cNvPr id="101398" name="Text Box 22"/>
          <p:cNvSpPr txBox="1">
            <a:spLocks noChangeArrowheads="1"/>
          </p:cNvSpPr>
          <p:nvPr/>
        </p:nvSpPr>
        <p:spPr bwMode="auto">
          <a:xfrm>
            <a:off x="5943600" y="6248400"/>
            <a:ext cx="1717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Venn diagrams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1D4C0C-5606-4547-9ED8-935416D7314E}" type="slidenum">
              <a:rPr lang="en-US"/>
              <a:pPr/>
              <a:t>7</a:t>
            </a:fld>
            <a:endParaRPr lang="en-US"/>
          </a:p>
        </p:txBody>
      </p:sp>
      <p:sp>
        <p:nvSpPr>
          <p:cNvPr id="102402" name="Rectangle 2"/>
          <p:cNvSpPr>
            <a:spLocks noChangeArrowheads="1"/>
          </p:cNvSpPr>
          <p:nvPr/>
        </p:nvSpPr>
        <p:spPr bwMode="auto">
          <a:xfrm>
            <a:off x="1676400" y="2667000"/>
            <a:ext cx="6019800" cy="25146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02403" name="Rectangle 3"/>
          <p:cNvSpPr>
            <a:spLocks noChangeArrowheads="1"/>
          </p:cNvSpPr>
          <p:nvPr/>
        </p:nvSpPr>
        <p:spPr bwMode="auto">
          <a:xfrm>
            <a:off x="2971800" y="2971800"/>
            <a:ext cx="5191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152400" y="381000"/>
            <a:ext cx="8839200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2800"/>
              <a:t> Complement</a:t>
            </a:r>
          </a:p>
          <a:p>
            <a:pPr lvl="3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Universal set = {1, …, 7} </a:t>
            </a:r>
          </a:p>
          <a:p>
            <a:pPr lvl="3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 = { 1, 2, 3 }              A = { 4, 5, 6, 7}</a:t>
            </a:r>
          </a:p>
        </p:txBody>
      </p:sp>
      <p:sp>
        <p:nvSpPr>
          <p:cNvPr id="102405" name="Line 5"/>
          <p:cNvSpPr>
            <a:spLocks noChangeShapeType="1"/>
          </p:cNvSpPr>
          <p:nvPr/>
        </p:nvSpPr>
        <p:spPr bwMode="auto">
          <a:xfrm>
            <a:off x="5257800" y="167640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06" name="AutoShape 6"/>
          <p:cNvSpPr>
            <a:spLocks noChangeArrowheads="1"/>
          </p:cNvSpPr>
          <p:nvPr/>
        </p:nvSpPr>
        <p:spPr bwMode="auto">
          <a:xfrm>
            <a:off x="4038600" y="16764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07" name="Oval 7"/>
          <p:cNvSpPr>
            <a:spLocks noChangeArrowheads="1"/>
          </p:cNvSpPr>
          <p:nvPr/>
        </p:nvSpPr>
        <p:spPr bwMode="auto">
          <a:xfrm>
            <a:off x="3505200" y="3314700"/>
            <a:ext cx="2438400" cy="152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08" name="Text Box 8"/>
          <p:cNvSpPr txBox="1">
            <a:spLocks noChangeArrowheads="1"/>
          </p:cNvSpPr>
          <p:nvPr/>
        </p:nvSpPr>
        <p:spPr bwMode="auto">
          <a:xfrm>
            <a:off x="3810000" y="3619500"/>
            <a:ext cx="3444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2409" name="Text Box 9"/>
          <p:cNvSpPr txBox="1">
            <a:spLocks noChangeArrowheads="1"/>
          </p:cNvSpPr>
          <p:nvPr/>
        </p:nvSpPr>
        <p:spPr bwMode="auto">
          <a:xfrm>
            <a:off x="4572000" y="39243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2410" name="Text Box 10"/>
          <p:cNvSpPr txBox="1">
            <a:spLocks noChangeArrowheads="1"/>
          </p:cNvSpPr>
          <p:nvPr/>
        </p:nvSpPr>
        <p:spPr bwMode="auto">
          <a:xfrm>
            <a:off x="5257800" y="35433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2411" name="Text Box 11"/>
          <p:cNvSpPr txBox="1">
            <a:spLocks noChangeArrowheads="1"/>
          </p:cNvSpPr>
          <p:nvPr/>
        </p:nvSpPr>
        <p:spPr bwMode="auto">
          <a:xfrm>
            <a:off x="2270125" y="2854325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2412" name="Text Box 12"/>
          <p:cNvSpPr txBox="1">
            <a:spLocks noChangeArrowheads="1"/>
          </p:cNvSpPr>
          <p:nvPr/>
        </p:nvSpPr>
        <p:spPr bwMode="auto">
          <a:xfrm>
            <a:off x="2514600" y="43815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2413" name="Text Box 13"/>
          <p:cNvSpPr txBox="1">
            <a:spLocks noChangeArrowheads="1"/>
          </p:cNvSpPr>
          <p:nvPr/>
        </p:nvSpPr>
        <p:spPr bwMode="auto">
          <a:xfrm>
            <a:off x="6537325" y="3387725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2414" name="Text Box 14"/>
          <p:cNvSpPr txBox="1">
            <a:spLocks noChangeArrowheads="1"/>
          </p:cNvSpPr>
          <p:nvPr/>
        </p:nvSpPr>
        <p:spPr bwMode="auto">
          <a:xfrm>
            <a:off x="6156325" y="4530725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2415" name="Line 15"/>
          <p:cNvSpPr>
            <a:spLocks noChangeShapeType="1"/>
          </p:cNvSpPr>
          <p:nvPr/>
        </p:nvSpPr>
        <p:spPr bwMode="auto">
          <a:xfrm>
            <a:off x="3048000" y="297180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16" name="Text Box 16"/>
          <p:cNvSpPr txBox="1">
            <a:spLocks noChangeArrowheads="1"/>
          </p:cNvSpPr>
          <p:nvPr/>
        </p:nvSpPr>
        <p:spPr bwMode="auto">
          <a:xfrm>
            <a:off x="4495800" y="3238500"/>
            <a:ext cx="5191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rgbClr val="FF0000"/>
                </a:solidFill>
              </a:rPr>
              <a:t>A</a:t>
            </a: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102417" name="Text Box 17"/>
          <p:cNvSpPr txBox="1">
            <a:spLocks noChangeArrowheads="1"/>
          </p:cNvSpPr>
          <p:nvPr/>
        </p:nvSpPr>
        <p:spPr bwMode="auto">
          <a:xfrm>
            <a:off x="4114800" y="5715000"/>
            <a:ext cx="1098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A = A</a:t>
            </a:r>
          </a:p>
        </p:txBody>
      </p:sp>
      <p:sp>
        <p:nvSpPr>
          <p:cNvPr id="102418" name="Line 18"/>
          <p:cNvSpPr>
            <a:spLocks noChangeShapeType="1"/>
          </p:cNvSpPr>
          <p:nvPr/>
        </p:nvSpPr>
        <p:spPr bwMode="auto">
          <a:xfrm>
            <a:off x="4206875" y="5718175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19" name="Line 19"/>
          <p:cNvSpPr>
            <a:spLocks noChangeShapeType="1"/>
          </p:cNvSpPr>
          <p:nvPr/>
        </p:nvSpPr>
        <p:spPr bwMode="auto">
          <a:xfrm>
            <a:off x="4206875" y="5565775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74A3C6-2DBB-41A0-ACB4-4EEF48BA1527}" type="slidenum">
              <a:rPr lang="en-US"/>
              <a:pPr/>
              <a:t>8</a:t>
            </a:fld>
            <a:endParaRPr lang="en-US"/>
          </a:p>
        </p:txBody>
      </p:sp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1676400" y="3124200"/>
            <a:ext cx="6019800" cy="3048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03427" name="Oval 3"/>
          <p:cNvSpPr>
            <a:spLocks noChangeArrowheads="1"/>
          </p:cNvSpPr>
          <p:nvPr/>
        </p:nvSpPr>
        <p:spPr bwMode="auto">
          <a:xfrm>
            <a:off x="3505200" y="3962400"/>
            <a:ext cx="2438400" cy="152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3810000" y="42672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4876800" y="48006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3430" name="Text Box 6"/>
          <p:cNvSpPr txBox="1">
            <a:spLocks noChangeArrowheads="1"/>
          </p:cNvSpPr>
          <p:nvPr/>
        </p:nvSpPr>
        <p:spPr bwMode="auto">
          <a:xfrm>
            <a:off x="5257800" y="41910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3431" name="Text Box 7"/>
          <p:cNvSpPr txBox="1">
            <a:spLocks noChangeArrowheads="1"/>
          </p:cNvSpPr>
          <p:nvPr/>
        </p:nvSpPr>
        <p:spPr bwMode="auto">
          <a:xfrm>
            <a:off x="4495800" y="268763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03432" name="Text Box 8"/>
          <p:cNvSpPr txBox="1">
            <a:spLocks noChangeArrowheads="1"/>
          </p:cNvSpPr>
          <p:nvPr/>
        </p:nvSpPr>
        <p:spPr bwMode="auto">
          <a:xfrm>
            <a:off x="2270125" y="3502025"/>
            <a:ext cx="3444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3433" name="Text Box 9"/>
          <p:cNvSpPr txBox="1">
            <a:spLocks noChangeArrowheads="1"/>
          </p:cNvSpPr>
          <p:nvPr/>
        </p:nvSpPr>
        <p:spPr bwMode="auto">
          <a:xfrm>
            <a:off x="2514600" y="50292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3434" name="Text Box 10"/>
          <p:cNvSpPr txBox="1">
            <a:spLocks noChangeArrowheads="1"/>
          </p:cNvSpPr>
          <p:nvPr/>
        </p:nvSpPr>
        <p:spPr bwMode="auto">
          <a:xfrm>
            <a:off x="6537325" y="4035425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3435" name="Text Box 11"/>
          <p:cNvSpPr txBox="1">
            <a:spLocks noChangeArrowheads="1"/>
          </p:cNvSpPr>
          <p:nvPr/>
        </p:nvSpPr>
        <p:spPr bwMode="auto">
          <a:xfrm>
            <a:off x="6156325" y="5178425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3436" name="Rectangle 12"/>
          <p:cNvSpPr>
            <a:spLocks noChangeArrowheads="1"/>
          </p:cNvSpPr>
          <p:nvPr/>
        </p:nvSpPr>
        <p:spPr bwMode="auto">
          <a:xfrm>
            <a:off x="5400675" y="2476500"/>
            <a:ext cx="184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endParaRPr lang="en-US" sz="3600">
              <a:solidFill>
                <a:schemeClr val="tx1"/>
              </a:solidFill>
            </a:endParaRPr>
          </a:p>
        </p:txBody>
      </p:sp>
      <p:sp>
        <p:nvSpPr>
          <p:cNvPr id="103437" name="Text Box 13"/>
          <p:cNvSpPr txBox="1">
            <a:spLocks noChangeArrowheads="1"/>
          </p:cNvSpPr>
          <p:nvPr/>
        </p:nvSpPr>
        <p:spPr bwMode="auto">
          <a:xfrm>
            <a:off x="4267200" y="4038600"/>
            <a:ext cx="825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rgbClr val="FF0000"/>
                </a:solidFill>
              </a:rPr>
              <a:t>even</a:t>
            </a: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103438" name="Text Box 14"/>
          <p:cNvSpPr txBox="1">
            <a:spLocks noChangeArrowheads="1"/>
          </p:cNvSpPr>
          <p:nvPr/>
        </p:nvSpPr>
        <p:spPr bwMode="auto">
          <a:xfrm>
            <a:off x="990600" y="1371600"/>
            <a:ext cx="7162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     { even integers }   =  { odd integers }</a:t>
            </a:r>
          </a:p>
        </p:txBody>
      </p:sp>
      <p:sp>
        <p:nvSpPr>
          <p:cNvPr id="103439" name="Line 15"/>
          <p:cNvSpPr>
            <a:spLocks noChangeShapeType="1"/>
          </p:cNvSpPr>
          <p:nvPr/>
        </p:nvSpPr>
        <p:spPr bwMode="auto">
          <a:xfrm>
            <a:off x="1524000" y="1295400"/>
            <a:ext cx="2819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40" name="Text Box 16"/>
          <p:cNvSpPr txBox="1">
            <a:spLocks noChangeArrowheads="1"/>
          </p:cNvSpPr>
          <p:nvPr/>
        </p:nvSpPr>
        <p:spPr bwMode="auto">
          <a:xfrm>
            <a:off x="3076575" y="3505200"/>
            <a:ext cx="703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rgbClr val="FF0000"/>
                </a:solidFill>
              </a:rPr>
              <a:t>odd</a:t>
            </a: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103441" name="Text Box 17"/>
          <p:cNvSpPr txBox="1">
            <a:spLocks noChangeArrowheads="1"/>
          </p:cNvSpPr>
          <p:nvPr/>
        </p:nvSpPr>
        <p:spPr bwMode="auto">
          <a:xfrm>
            <a:off x="3810000" y="2590800"/>
            <a:ext cx="16557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Integers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46E87E5-AFE1-456B-99C3-80368F9CC89E}" type="slidenum">
              <a:rPr lang="en-US"/>
              <a:pPr/>
              <a:t>9</a:t>
            </a:fld>
            <a:endParaRPr lang="en-US"/>
          </a:p>
        </p:txBody>
      </p:sp>
      <p:sp>
        <p:nvSpPr>
          <p:cNvPr id="104450" name="Text Box 2"/>
          <p:cNvSpPr txBox="1">
            <a:spLocks noChangeArrowheads="1"/>
          </p:cNvSpPr>
          <p:nvPr/>
        </p:nvSpPr>
        <p:spPr bwMode="auto">
          <a:xfrm>
            <a:off x="2743200" y="228600"/>
            <a:ext cx="38052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3600">
                <a:solidFill>
                  <a:schemeClr val="tx1"/>
                </a:solidFill>
              </a:rPr>
              <a:t>DeMorgan’s Laws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04451" name="Text Box 3"/>
          <p:cNvSpPr txBox="1">
            <a:spLocks noChangeArrowheads="1"/>
          </p:cNvSpPr>
          <p:nvPr/>
        </p:nvSpPr>
        <p:spPr bwMode="auto">
          <a:xfrm>
            <a:off x="3200400" y="1828800"/>
            <a:ext cx="24463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A U B = A    B</a:t>
            </a:r>
          </a:p>
        </p:txBody>
      </p:sp>
      <p:sp>
        <p:nvSpPr>
          <p:cNvPr id="104452" name="Line 4"/>
          <p:cNvSpPr>
            <a:spLocks noChangeShapeType="1"/>
          </p:cNvSpPr>
          <p:nvPr/>
        </p:nvSpPr>
        <p:spPr bwMode="auto">
          <a:xfrm>
            <a:off x="3292475" y="1831975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4453" name="Text Box 5"/>
          <p:cNvSpPr txBox="1">
            <a:spLocks noChangeArrowheads="1"/>
          </p:cNvSpPr>
          <p:nvPr/>
        </p:nvSpPr>
        <p:spPr bwMode="auto">
          <a:xfrm rot="-10800000">
            <a:off x="4892675" y="1831975"/>
            <a:ext cx="45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104454" name="Line 6"/>
          <p:cNvSpPr>
            <a:spLocks noChangeShapeType="1"/>
          </p:cNvSpPr>
          <p:nvPr/>
        </p:nvSpPr>
        <p:spPr bwMode="auto">
          <a:xfrm>
            <a:off x="4572000" y="31242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4455" name="Line 7"/>
          <p:cNvSpPr>
            <a:spLocks noChangeShapeType="1"/>
          </p:cNvSpPr>
          <p:nvPr/>
        </p:nvSpPr>
        <p:spPr bwMode="auto">
          <a:xfrm>
            <a:off x="5349875" y="1831975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4456" name="Text Box 8"/>
          <p:cNvSpPr txBox="1">
            <a:spLocks noChangeArrowheads="1"/>
          </p:cNvSpPr>
          <p:nvPr/>
        </p:nvSpPr>
        <p:spPr bwMode="auto">
          <a:xfrm>
            <a:off x="3184525" y="3121025"/>
            <a:ext cx="24463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A    B = A U B</a:t>
            </a:r>
          </a:p>
        </p:txBody>
      </p:sp>
      <p:sp>
        <p:nvSpPr>
          <p:cNvPr id="104457" name="Text Box 9"/>
          <p:cNvSpPr txBox="1">
            <a:spLocks noChangeArrowheads="1"/>
          </p:cNvSpPr>
          <p:nvPr/>
        </p:nvSpPr>
        <p:spPr bwMode="auto">
          <a:xfrm rot="-10800000">
            <a:off x="3505200" y="3124200"/>
            <a:ext cx="45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104458" name="Line 10"/>
          <p:cNvSpPr>
            <a:spLocks noChangeShapeType="1"/>
          </p:cNvSpPr>
          <p:nvPr/>
        </p:nvSpPr>
        <p:spPr bwMode="auto">
          <a:xfrm>
            <a:off x="3276600" y="31242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4459" name="Line 11"/>
          <p:cNvSpPr>
            <a:spLocks noChangeShapeType="1"/>
          </p:cNvSpPr>
          <p:nvPr/>
        </p:nvSpPr>
        <p:spPr bwMode="auto">
          <a:xfrm>
            <a:off x="4664075" y="1831975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4460" name="Line 12"/>
          <p:cNvSpPr>
            <a:spLocks noChangeShapeType="1"/>
          </p:cNvSpPr>
          <p:nvPr/>
        </p:nvSpPr>
        <p:spPr bwMode="auto">
          <a:xfrm>
            <a:off x="5334000" y="312420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C398F-789F-4A47-9028-7B0653B42383}" type="slidenum">
              <a:rPr lang="en-US"/>
              <a:pPr/>
              <a:t>10</a:t>
            </a:fld>
            <a:endParaRPr lang="en-US"/>
          </a:p>
        </p:txBody>
      </p:sp>
      <p:sp>
        <p:nvSpPr>
          <p:cNvPr id="105474" name="Text Box 2"/>
          <p:cNvSpPr txBox="1">
            <a:spLocks noChangeArrowheads="1"/>
          </p:cNvSpPr>
          <p:nvPr/>
        </p:nvSpPr>
        <p:spPr bwMode="auto">
          <a:xfrm>
            <a:off x="2209800" y="228600"/>
            <a:ext cx="36988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3600">
                <a:solidFill>
                  <a:schemeClr val="tx1"/>
                </a:solidFill>
              </a:rPr>
              <a:t>Empty, Null Set:</a:t>
            </a:r>
          </a:p>
        </p:txBody>
      </p:sp>
      <p:sp>
        <p:nvSpPr>
          <p:cNvPr id="105475" name="Oval 3"/>
          <p:cNvSpPr>
            <a:spLocks noChangeArrowheads="1"/>
          </p:cNvSpPr>
          <p:nvPr/>
        </p:nvSpPr>
        <p:spPr bwMode="auto">
          <a:xfrm>
            <a:off x="-457200" y="4724400"/>
            <a:ext cx="914400" cy="914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105476" name="Group 4"/>
          <p:cNvGrpSpPr>
            <a:grpSpLocks/>
          </p:cNvGrpSpPr>
          <p:nvPr/>
        </p:nvGrpSpPr>
        <p:grpSpPr bwMode="auto">
          <a:xfrm>
            <a:off x="6172200" y="381000"/>
            <a:ext cx="228600" cy="381000"/>
            <a:chOff x="816" y="816"/>
            <a:chExt cx="144" cy="240"/>
          </a:xfrm>
        </p:grpSpPr>
        <p:sp>
          <p:nvSpPr>
            <p:cNvPr id="105477" name="Oval 5"/>
            <p:cNvSpPr>
              <a:spLocks noChangeArrowheads="1"/>
            </p:cNvSpPr>
            <p:nvPr/>
          </p:nvSpPr>
          <p:spPr bwMode="auto">
            <a:xfrm>
              <a:off x="816" y="864"/>
              <a:ext cx="144" cy="144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5478" name="Line 6"/>
            <p:cNvSpPr>
              <a:spLocks noChangeShapeType="1"/>
            </p:cNvSpPr>
            <p:nvPr/>
          </p:nvSpPr>
          <p:spPr bwMode="auto">
            <a:xfrm flipH="1">
              <a:off x="816" y="816"/>
              <a:ext cx="144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05479" name="Group 7"/>
          <p:cNvGrpSpPr>
            <a:grpSpLocks/>
          </p:cNvGrpSpPr>
          <p:nvPr/>
        </p:nvGrpSpPr>
        <p:grpSpPr bwMode="auto">
          <a:xfrm>
            <a:off x="762000" y="1066800"/>
            <a:ext cx="228600" cy="381000"/>
            <a:chOff x="816" y="816"/>
            <a:chExt cx="144" cy="240"/>
          </a:xfrm>
        </p:grpSpPr>
        <p:sp>
          <p:nvSpPr>
            <p:cNvPr id="105480" name="Oval 8"/>
            <p:cNvSpPr>
              <a:spLocks noChangeArrowheads="1"/>
            </p:cNvSpPr>
            <p:nvPr/>
          </p:nvSpPr>
          <p:spPr bwMode="auto">
            <a:xfrm>
              <a:off x="816" y="864"/>
              <a:ext cx="144" cy="144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5481" name="Line 9"/>
            <p:cNvSpPr>
              <a:spLocks noChangeShapeType="1"/>
            </p:cNvSpPr>
            <p:nvPr/>
          </p:nvSpPr>
          <p:spPr bwMode="auto">
            <a:xfrm flipH="1">
              <a:off x="816" y="816"/>
              <a:ext cx="144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05482" name="Text Box 10"/>
          <p:cNvSpPr txBox="1">
            <a:spLocks noChangeArrowheads="1"/>
          </p:cNvSpPr>
          <p:nvPr/>
        </p:nvSpPr>
        <p:spPr bwMode="auto">
          <a:xfrm>
            <a:off x="1143000" y="990600"/>
            <a:ext cx="838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= { }</a:t>
            </a:r>
          </a:p>
        </p:txBody>
      </p:sp>
      <p:sp>
        <p:nvSpPr>
          <p:cNvPr id="105483" name="Text Box 11"/>
          <p:cNvSpPr txBox="1">
            <a:spLocks noChangeArrowheads="1"/>
          </p:cNvSpPr>
          <p:nvPr/>
        </p:nvSpPr>
        <p:spPr bwMode="auto">
          <a:xfrm>
            <a:off x="593725" y="2054225"/>
            <a:ext cx="1993900" cy="308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S U      = S</a:t>
            </a:r>
          </a:p>
          <a:p>
            <a:pPr>
              <a:spcBef>
                <a:spcPct val="0"/>
              </a:spcBef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S         =    </a:t>
            </a:r>
          </a:p>
          <a:p>
            <a:pPr>
              <a:spcBef>
                <a:spcPct val="0"/>
              </a:spcBef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S -      = S</a:t>
            </a:r>
          </a:p>
          <a:p>
            <a:pPr>
              <a:spcBef>
                <a:spcPct val="0"/>
              </a:spcBef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     - S =</a:t>
            </a:r>
          </a:p>
        </p:txBody>
      </p:sp>
      <p:grpSp>
        <p:nvGrpSpPr>
          <p:cNvPr id="105484" name="Group 12"/>
          <p:cNvGrpSpPr>
            <a:grpSpLocks/>
          </p:cNvGrpSpPr>
          <p:nvPr/>
        </p:nvGrpSpPr>
        <p:grpSpPr bwMode="auto">
          <a:xfrm>
            <a:off x="1447800" y="2133600"/>
            <a:ext cx="228600" cy="381000"/>
            <a:chOff x="816" y="816"/>
            <a:chExt cx="144" cy="240"/>
          </a:xfrm>
        </p:grpSpPr>
        <p:sp>
          <p:nvSpPr>
            <p:cNvPr id="105485" name="Oval 13"/>
            <p:cNvSpPr>
              <a:spLocks noChangeArrowheads="1"/>
            </p:cNvSpPr>
            <p:nvPr/>
          </p:nvSpPr>
          <p:spPr bwMode="auto">
            <a:xfrm>
              <a:off x="816" y="864"/>
              <a:ext cx="144" cy="144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5486" name="Line 14"/>
            <p:cNvSpPr>
              <a:spLocks noChangeShapeType="1"/>
            </p:cNvSpPr>
            <p:nvPr/>
          </p:nvSpPr>
          <p:spPr bwMode="auto">
            <a:xfrm flipH="1">
              <a:off x="816" y="816"/>
              <a:ext cx="144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05487" name="Group 15"/>
          <p:cNvGrpSpPr>
            <a:grpSpLocks/>
          </p:cNvGrpSpPr>
          <p:nvPr/>
        </p:nvGrpSpPr>
        <p:grpSpPr bwMode="auto">
          <a:xfrm>
            <a:off x="1447800" y="2971800"/>
            <a:ext cx="228600" cy="381000"/>
            <a:chOff x="816" y="816"/>
            <a:chExt cx="144" cy="240"/>
          </a:xfrm>
        </p:grpSpPr>
        <p:sp>
          <p:nvSpPr>
            <p:cNvPr id="105488" name="Oval 16"/>
            <p:cNvSpPr>
              <a:spLocks noChangeArrowheads="1"/>
            </p:cNvSpPr>
            <p:nvPr/>
          </p:nvSpPr>
          <p:spPr bwMode="auto">
            <a:xfrm>
              <a:off x="816" y="864"/>
              <a:ext cx="144" cy="144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5489" name="Line 17"/>
            <p:cNvSpPr>
              <a:spLocks noChangeShapeType="1"/>
            </p:cNvSpPr>
            <p:nvPr/>
          </p:nvSpPr>
          <p:spPr bwMode="auto">
            <a:xfrm flipH="1">
              <a:off x="816" y="816"/>
              <a:ext cx="144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05490" name="Group 18"/>
          <p:cNvGrpSpPr>
            <a:grpSpLocks/>
          </p:cNvGrpSpPr>
          <p:nvPr/>
        </p:nvGrpSpPr>
        <p:grpSpPr bwMode="auto">
          <a:xfrm>
            <a:off x="2209800" y="2971800"/>
            <a:ext cx="228600" cy="381000"/>
            <a:chOff x="816" y="816"/>
            <a:chExt cx="144" cy="240"/>
          </a:xfrm>
        </p:grpSpPr>
        <p:sp>
          <p:nvSpPr>
            <p:cNvPr id="105491" name="Oval 19"/>
            <p:cNvSpPr>
              <a:spLocks noChangeArrowheads="1"/>
            </p:cNvSpPr>
            <p:nvPr/>
          </p:nvSpPr>
          <p:spPr bwMode="auto">
            <a:xfrm>
              <a:off x="816" y="864"/>
              <a:ext cx="144" cy="144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5492" name="Line 20"/>
            <p:cNvSpPr>
              <a:spLocks noChangeShapeType="1"/>
            </p:cNvSpPr>
            <p:nvPr/>
          </p:nvSpPr>
          <p:spPr bwMode="auto">
            <a:xfrm flipH="1">
              <a:off x="816" y="816"/>
              <a:ext cx="144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05493" name="Text Box 21"/>
          <p:cNvSpPr txBox="1">
            <a:spLocks noChangeArrowheads="1"/>
          </p:cNvSpPr>
          <p:nvPr/>
        </p:nvSpPr>
        <p:spPr bwMode="auto">
          <a:xfrm rot="-10800000">
            <a:off x="914400" y="2895600"/>
            <a:ext cx="45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U</a:t>
            </a:r>
          </a:p>
        </p:txBody>
      </p:sp>
      <p:grpSp>
        <p:nvGrpSpPr>
          <p:cNvPr id="105494" name="Group 22"/>
          <p:cNvGrpSpPr>
            <a:grpSpLocks/>
          </p:cNvGrpSpPr>
          <p:nvPr/>
        </p:nvGrpSpPr>
        <p:grpSpPr bwMode="auto">
          <a:xfrm>
            <a:off x="1371600" y="3810000"/>
            <a:ext cx="228600" cy="381000"/>
            <a:chOff x="816" y="816"/>
            <a:chExt cx="144" cy="240"/>
          </a:xfrm>
        </p:grpSpPr>
        <p:sp>
          <p:nvSpPr>
            <p:cNvPr id="105495" name="Oval 23"/>
            <p:cNvSpPr>
              <a:spLocks noChangeArrowheads="1"/>
            </p:cNvSpPr>
            <p:nvPr/>
          </p:nvSpPr>
          <p:spPr bwMode="auto">
            <a:xfrm>
              <a:off x="816" y="864"/>
              <a:ext cx="144" cy="144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5496" name="Line 24"/>
            <p:cNvSpPr>
              <a:spLocks noChangeShapeType="1"/>
            </p:cNvSpPr>
            <p:nvPr/>
          </p:nvSpPr>
          <p:spPr bwMode="auto">
            <a:xfrm flipH="1">
              <a:off x="816" y="816"/>
              <a:ext cx="144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05497" name="Group 25"/>
          <p:cNvGrpSpPr>
            <a:grpSpLocks/>
          </p:cNvGrpSpPr>
          <p:nvPr/>
        </p:nvGrpSpPr>
        <p:grpSpPr bwMode="auto">
          <a:xfrm>
            <a:off x="762000" y="4648200"/>
            <a:ext cx="228600" cy="381000"/>
            <a:chOff x="816" y="816"/>
            <a:chExt cx="144" cy="240"/>
          </a:xfrm>
        </p:grpSpPr>
        <p:sp>
          <p:nvSpPr>
            <p:cNvPr id="105498" name="Oval 26"/>
            <p:cNvSpPr>
              <a:spLocks noChangeArrowheads="1"/>
            </p:cNvSpPr>
            <p:nvPr/>
          </p:nvSpPr>
          <p:spPr bwMode="auto">
            <a:xfrm>
              <a:off x="816" y="864"/>
              <a:ext cx="144" cy="144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5499" name="Line 27"/>
            <p:cNvSpPr>
              <a:spLocks noChangeShapeType="1"/>
            </p:cNvSpPr>
            <p:nvPr/>
          </p:nvSpPr>
          <p:spPr bwMode="auto">
            <a:xfrm flipH="1">
              <a:off x="816" y="816"/>
              <a:ext cx="144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05500" name="Group 28"/>
          <p:cNvGrpSpPr>
            <a:grpSpLocks/>
          </p:cNvGrpSpPr>
          <p:nvPr/>
        </p:nvGrpSpPr>
        <p:grpSpPr bwMode="auto">
          <a:xfrm>
            <a:off x="2133600" y="4648200"/>
            <a:ext cx="228600" cy="381000"/>
            <a:chOff x="816" y="816"/>
            <a:chExt cx="144" cy="240"/>
          </a:xfrm>
        </p:grpSpPr>
        <p:sp>
          <p:nvSpPr>
            <p:cNvPr id="105501" name="Oval 29"/>
            <p:cNvSpPr>
              <a:spLocks noChangeArrowheads="1"/>
            </p:cNvSpPr>
            <p:nvPr/>
          </p:nvSpPr>
          <p:spPr bwMode="auto">
            <a:xfrm>
              <a:off x="816" y="864"/>
              <a:ext cx="144" cy="144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5502" name="Line 30"/>
            <p:cNvSpPr>
              <a:spLocks noChangeShapeType="1"/>
            </p:cNvSpPr>
            <p:nvPr/>
          </p:nvSpPr>
          <p:spPr bwMode="auto">
            <a:xfrm flipH="1">
              <a:off x="816" y="816"/>
              <a:ext cx="144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05503" name="Text Box 31"/>
          <p:cNvSpPr txBox="1">
            <a:spLocks noChangeArrowheads="1"/>
          </p:cNvSpPr>
          <p:nvPr/>
        </p:nvSpPr>
        <p:spPr bwMode="auto">
          <a:xfrm>
            <a:off x="5715000" y="2971800"/>
            <a:ext cx="2727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solidFill>
                  <a:schemeClr val="tx1"/>
                </a:solidFill>
              </a:rPr>
              <a:t>= Universal Set</a:t>
            </a:r>
          </a:p>
        </p:txBody>
      </p:sp>
      <p:grpSp>
        <p:nvGrpSpPr>
          <p:cNvPr id="105504" name="Group 32"/>
          <p:cNvGrpSpPr>
            <a:grpSpLocks/>
          </p:cNvGrpSpPr>
          <p:nvPr/>
        </p:nvGrpSpPr>
        <p:grpSpPr bwMode="auto">
          <a:xfrm>
            <a:off x="5334000" y="3048000"/>
            <a:ext cx="228600" cy="381000"/>
            <a:chOff x="816" y="816"/>
            <a:chExt cx="144" cy="240"/>
          </a:xfrm>
        </p:grpSpPr>
        <p:sp>
          <p:nvSpPr>
            <p:cNvPr id="105505" name="Oval 33"/>
            <p:cNvSpPr>
              <a:spLocks noChangeArrowheads="1"/>
            </p:cNvSpPr>
            <p:nvPr/>
          </p:nvSpPr>
          <p:spPr bwMode="auto">
            <a:xfrm>
              <a:off x="816" y="864"/>
              <a:ext cx="144" cy="144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5506" name="Line 34"/>
            <p:cNvSpPr>
              <a:spLocks noChangeShapeType="1"/>
            </p:cNvSpPr>
            <p:nvPr/>
          </p:nvSpPr>
          <p:spPr bwMode="auto">
            <a:xfrm flipH="1">
              <a:off x="816" y="816"/>
              <a:ext cx="144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05507" name="Line 35"/>
          <p:cNvSpPr>
            <a:spLocks noChangeShapeType="1"/>
          </p:cNvSpPr>
          <p:nvPr/>
        </p:nvSpPr>
        <p:spPr bwMode="auto">
          <a:xfrm>
            <a:off x="5181600" y="29718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1A6FDF-30FB-498C-9CC3-99C93E02A21E}" type="slidenum">
              <a:rPr lang="en-US"/>
              <a:pPr/>
              <a:t>11</a:t>
            </a:fld>
            <a:endParaRPr lang="en-US"/>
          </a:p>
        </p:txBody>
      </p:sp>
      <p:sp>
        <p:nvSpPr>
          <p:cNvPr id="106498" name="Text Box 2"/>
          <p:cNvSpPr txBox="1">
            <a:spLocks noChangeArrowheads="1"/>
          </p:cNvSpPr>
          <p:nvPr/>
        </p:nvSpPr>
        <p:spPr bwMode="auto">
          <a:xfrm>
            <a:off x="3344863" y="290513"/>
            <a:ext cx="1700212" cy="6413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Subset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06499" name="Text Box 3"/>
          <p:cNvSpPr txBox="1">
            <a:spLocks noChangeArrowheads="1"/>
          </p:cNvSpPr>
          <p:nvPr/>
        </p:nvSpPr>
        <p:spPr bwMode="auto">
          <a:xfrm>
            <a:off x="1066800" y="1066800"/>
            <a:ext cx="7064375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 = { 1, 2, 3}                  B = { 1, 2, 3, 4, 5 }</a:t>
            </a:r>
          </a:p>
        </p:txBody>
      </p:sp>
      <p:grpSp>
        <p:nvGrpSpPr>
          <p:cNvPr id="106500" name="Group 4"/>
          <p:cNvGrpSpPr>
            <a:grpSpLocks/>
          </p:cNvGrpSpPr>
          <p:nvPr/>
        </p:nvGrpSpPr>
        <p:grpSpPr bwMode="auto">
          <a:xfrm>
            <a:off x="3505200" y="1600200"/>
            <a:ext cx="1412875" cy="519113"/>
            <a:chOff x="422" y="1198"/>
            <a:chExt cx="890" cy="327"/>
          </a:xfrm>
        </p:grpSpPr>
        <p:sp>
          <p:nvSpPr>
            <p:cNvPr id="106501" name="Text Box 5"/>
            <p:cNvSpPr txBox="1">
              <a:spLocks noChangeArrowheads="1"/>
            </p:cNvSpPr>
            <p:nvPr/>
          </p:nvSpPr>
          <p:spPr bwMode="auto">
            <a:xfrm>
              <a:off x="422" y="1198"/>
              <a:ext cx="890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chemeClr val="tx1"/>
                  </a:solidFill>
                </a:rPr>
                <a:t>A       B</a:t>
              </a:r>
            </a:p>
          </p:txBody>
        </p:sp>
        <p:sp>
          <p:nvSpPr>
            <p:cNvPr id="106502" name="Text Box 6"/>
            <p:cNvSpPr txBox="1">
              <a:spLocks noChangeArrowheads="1"/>
            </p:cNvSpPr>
            <p:nvPr/>
          </p:nvSpPr>
          <p:spPr bwMode="auto">
            <a:xfrm rot="5400000">
              <a:off x="743" y="1177"/>
              <a:ext cx="281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chemeClr val="tx1"/>
                  </a:solidFill>
                </a:rPr>
                <a:t>U</a:t>
              </a:r>
            </a:p>
          </p:txBody>
        </p:sp>
        <p:sp>
          <p:nvSpPr>
            <p:cNvPr id="106503" name="Line 7"/>
            <p:cNvSpPr>
              <a:spLocks noChangeShapeType="1"/>
            </p:cNvSpPr>
            <p:nvPr/>
          </p:nvSpPr>
          <p:spPr bwMode="auto">
            <a:xfrm>
              <a:off x="816" y="1440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06504" name="Text Box 8"/>
          <p:cNvSpPr txBox="1">
            <a:spLocks noChangeArrowheads="1"/>
          </p:cNvSpPr>
          <p:nvPr/>
        </p:nvSpPr>
        <p:spPr bwMode="auto">
          <a:xfrm>
            <a:off x="762000" y="3048000"/>
            <a:ext cx="2676525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Proper Subset:</a:t>
            </a:r>
          </a:p>
        </p:txBody>
      </p:sp>
      <p:grpSp>
        <p:nvGrpSpPr>
          <p:cNvPr id="106505" name="Group 9"/>
          <p:cNvGrpSpPr>
            <a:grpSpLocks/>
          </p:cNvGrpSpPr>
          <p:nvPr/>
        </p:nvGrpSpPr>
        <p:grpSpPr bwMode="auto">
          <a:xfrm>
            <a:off x="3581400" y="3048000"/>
            <a:ext cx="1412875" cy="519113"/>
            <a:chOff x="2256" y="2784"/>
            <a:chExt cx="890" cy="285"/>
          </a:xfrm>
        </p:grpSpPr>
        <p:sp>
          <p:nvSpPr>
            <p:cNvPr id="106506" name="Text Box 10"/>
            <p:cNvSpPr txBox="1">
              <a:spLocks noChangeArrowheads="1"/>
            </p:cNvSpPr>
            <p:nvPr/>
          </p:nvSpPr>
          <p:spPr bwMode="auto">
            <a:xfrm>
              <a:off x="2256" y="2784"/>
              <a:ext cx="890" cy="28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chemeClr val="tx1"/>
                  </a:solidFill>
                </a:rPr>
                <a:t>A       B</a:t>
              </a:r>
            </a:p>
          </p:txBody>
        </p:sp>
        <p:sp>
          <p:nvSpPr>
            <p:cNvPr id="106507" name="Text Box 11"/>
            <p:cNvSpPr txBox="1">
              <a:spLocks noChangeArrowheads="1"/>
            </p:cNvSpPr>
            <p:nvPr/>
          </p:nvSpPr>
          <p:spPr bwMode="auto">
            <a:xfrm rot="5400000">
              <a:off x="2594" y="2745"/>
              <a:ext cx="24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chemeClr val="tx1"/>
                  </a:solidFill>
                </a:rPr>
                <a:t>U</a:t>
              </a:r>
            </a:p>
          </p:txBody>
        </p:sp>
      </p:grpSp>
      <p:sp>
        <p:nvSpPr>
          <p:cNvPr id="106508" name="Oval 12"/>
          <p:cNvSpPr>
            <a:spLocks noChangeArrowheads="1"/>
          </p:cNvSpPr>
          <p:nvPr/>
        </p:nvSpPr>
        <p:spPr bwMode="auto">
          <a:xfrm>
            <a:off x="3962400" y="4800600"/>
            <a:ext cx="12954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6509" name="Oval 13"/>
          <p:cNvSpPr>
            <a:spLocks noChangeArrowheads="1"/>
          </p:cNvSpPr>
          <p:nvPr/>
        </p:nvSpPr>
        <p:spPr bwMode="auto">
          <a:xfrm>
            <a:off x="3429000" y="4267200"/>
            <a:ext cx="2360613" cy="1828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6510" name="Text Box 14"/>
          <p:cNvSpPr txBox="1">
            <a:spLocks noChangeArrowheads="1"/>
          </p:cNvSpPr>
          <p:nvPr/>
        </p:nvSpPr>
        <p:spPr bwMode="auto">
          <a:xfrm>
            <a:off x="4419600" y="4953000"/>
            <a:ext cx="4445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6511" name="Text Box 15"/>
          <p:cNvSpPr txBox="1">
            <a:spLocks noChangeArrowheads="1"/>
          </p:cNvSpPr>
          <p:nvPr/>
        </p:nvSpPr>
        <p:spPr bwMode="auto">
          <a:xfrm>
            <a:off x="4556125" y="4264025"/>
            <a:ext cx="4079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A7FCC9-DDD8-420E-904B-B90E0BBE2201}" type="slidenum">
              <a:rPr lang="en-US"/>
              <a:pPr/>
              <a:t>12</a:t>
            </a:fld>
            <a:endParaRPr lang="en-US"/>
          </a:p>
        </p:txBody>
      </p:sp>
      <p:sp>
        <p:nvSpPr>
          <p:cNvPr id="107522" name="Text Box 2"/>
          <p:cNvSpPr txBox="1">
            <a:spLocks noChangeArrowheads="1"/>
          </p:cNvSpPr>
          <p:nvPr/>
        </p:nvSpPr>
        <p:spPr bwMode="auto">
          <a:xfrm>
            <a:off x="2971800" y="131763"/>
            <a:ext cx="30162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Disjoint Sets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1889125" y="911225"/>
            <a:ext cx="5003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 = { 1, 2, 3 }         B = { 5, 6} </a:t>
            </a:r>
          </a:p>
        </p:txBody>
      </p:sp>
      <p:grpSp>
        <p:nvGrpSpPr>
          <p:cNvPr id="107524" name="Group 4"/>
          <p:cNvGrpSpPr>
            <a:grpSpLocks/>
          </p:cNvGrpSpPr>
          <p:nvPr/>
        </p:nvGrpSpPr>
        <p:grpSpPr bwMode="auto">
          <a:xfrm>
            <a:off x="3352800" y="1981200"/>
            <a:ext cx="1700213" cy="522288"/>
            <a:chOff x="1382" y="1246"/>
            <a:chExt cx="1071" cy="329"/>
          </a:xfrm>
        </p:grpSpPr>
        <p:sp>
          <p:nvSpPr>
            <p:cNvPr id="107525" name="Text Box 5"/>
            <p:cNvSpPr txBox="1">
              <a:spLocks noChangeArrowheads="1"/>
            </p:cNvSpPr>
            <p:nvPr/>
          </p:nvSpPr>
          <p:spPr bwMode="auto">
            <a:xfrm>
              <a:off x="1382" y="1246"/>
              <a:ext cx="107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chemeClr val="tx1"/>
                  </a:solidFill>
                </a:rPr>
                <a:t>A    B =   </a:t>
              </a:r>
            </a:p>
          </p:txBody>
        </p:sp>
        <p:sp>
          <p:nvSpPr>
            <p:cNvPr id="107526" name="Text Box 6"/>
            <p:cNvSpPr txBox="1">
              <a:spLocks noChangeArrowheads="1"/>
            </p:cNvSpPr>
            <p:nvPr/>
          </p:nvSpPr>
          <p:spPr bwMode="auto">
            <a:xfrm rot="-10800000">
              <a:off x="1584" y="1248"/>
              <a:ext cx="28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chemeClr val="tx1"/>
                  </a:solidFill>
                </a:rPr>
                <a:t>U</a:t>
              </a:r>
            </a:p>
          </p:txBody>
        </p:sp>
        <p:grpSp>
          <p:nvGrpSpPr>
            <p:cNvPr id="107527" name="Group 7"/>
            <p:cNvGrpSpPr>
              <a:grpSpLocks/>
            </p:cNvGrpSpPr>
            <p:nvPr/>
          </p:nvGrpSpPr>
          <p:grpSpPr bwMode="auto">
            <a:xfrm>
              <a:off x="2256" y="1296"/>
              <a:ext cx="144" cy="240"/>
              <a:chOff x="816" y="816"/>
              <a:chExt cx="144" cy="240"/>
            </a:xfrm>
          </p:grpSpPr>
          <p:sp>
            <p:nvSpPr>
              <p:cNvPr id="107528" name="Oval 8"/>
              <p:cNvSpPr>
                <a:spLocks noChangeArrowheads="1"/>
              </p:cNvSpPr>
              <p:nvPr/>
            </p:nvSpPr>
            <p:spPr bwMode="auto">
              <a:xfrm>
                <a:off x="816" y="864"/>
                <a:ext cx="144" cy="144"/>
              </a:xfrm>
              <a:prstGeom prst="ellips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07529" name="Line 9"/>
              <p:cNvSpPr>
                <a:spLocks noChangeShapeType="1"/>
              </p:cNvSpPr>
              <p:nvPr/>
            </p:nvSpPr>
            <p:spPr bwMode="auto">
              <a:xfrm flipH="1">
                <a:off x="816" y="816"/>
                <a:ext cx="144" cy="24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107530" name="Oval 10"/>
          <p:cNvSpPr>
            <a:spLocks noChangeArrowheads="1"/>
          </p:cNvSpPr>
          <p:nvPr/>
        </p:nvSpPr>
        <p:spPr bwMode="auto">
          <a:xfrm>
            <a:off x="2667000" y="3810000"/>
            <a:ext cx="1524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7531" name="Oval 11"/>
          <p:cNvSpPr>
            <a:spLocks noChangeArrowheads="1"/>
          </p:cNvSpPr>
          <p:nvPr/>
        </p:nvSpPr>
        <p:spPr bwMode="auto">
          <a:xfrm>
            <a:off x="4648200" y="4038600"/>
            <a:ext cx="12954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7532" name="Text Box 12"/>
          <p:cNvSpPr txBox="1">
            <a:spLocks noChangeArrowheads="1"/>
          </p:cNvSpPr>
          <p:nvPr/>
        </p:nvSpPr>
        <p:spPr bwMode="auto">
          <a:xfrm>
            <a:off x="3260725" y="4111625"/>
            <a:ext cx="4445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7533" name="Text Box 13"/>
          <p:cNvSpPr txBox="1">
            <a:spLocks noChangeArrowheads="1"/>
          </p:cNvSpPr>
          <p:nvPr/>
        </p:nvSpPr>
        <p:spPr bwMode="auto">
          <a:xfrm>
            <a:off x="5165725" y="4111625"/>
            <a:ext cx="4079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30E48D-DDC7-4A63-BE9D-4B0037D00EFF}" type="slidenum">
              <a:rPr lang="en-US"/>
              <a:pPr/>
              <a:t>13</a:t>
            </a:fld>
            <a:endParaRPr lang="en-US"/>
          </a:p>
        </p:txBody>
      </p:sp>
      <p:sp>
        <p:nvSpPr>
          <p:cNvPr id="108546" name="Text Box 2"/>
          <p:cNvSpPr txBox="1">
            <a:spLocks noChangeArrowheads="1"/>
          </p:cNvSpPr>
          <p:nvPr/>
        </p:nvSpPr>
        <p:spPr bwMode="auto">
          <a:xfrm>
            <a:off x="3200400" y="207963"/>
            <a:ext cx="34115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Set Cardinality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517525" y="1063625"/>
            <a:ext cx="28559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For finite sets</a:t>
            </a:r>
          </a:p>
        </p:txBody>
      </p:sp>
      <p:sp>
        <p:nvSpPr>
          <p:cNvPr id="108548" name="Text Box 4"/>
          <p:cNvSpPr txBox="1">
            <a:spLocks noChangeArrowheads="1"/>
          </p:cNvSpPr>
          <p:nvPr/>
        </p:nvSpPr>
        <p:spPr bwMode="auto">
          <a:xfrm>
            <a:off x="746125" y="1749425"/>
            <a:ext cx="2373313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 = { 2, 5, 7 }</a:t>
            </a:r>
          </a:p>
          <a:p>
            <a:pPr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|A| = 3</a:t>
            </a:r>
          </a:p>
        </p:txBody>
      </p:sp>
      <p:sp>
        <p:nvSpPr>
          <p:cNvPr id="108549" name="Text Box 5"/>
          <p:cNvSpPr txBox="1">
            <a:spLocks noChangeArrowheads="1"/>
          </p:cNvSpPr>
          <p:nvPr/>
        </p:nvSpPr>
        <p:spPr bwMode="auto">
          <a:xfrm>
            <a:off x="838200" y="4267200"/>
            <a:ext cx="19716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(set size)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3D5122-C1BC-4590-971D-0D28E40CF6A7}" type="slidenum">
              <a:rPr lang="en-US"/>
              <a:pPr/>
              <a:t>14</a:t>
            </a:fld>
            <a:endParaRPr lang="en-US"/>
          </a:p>
        </p:txBody>
      </p:sp>
      <p:sp>
        <p:nvSpPr>
          <p:cNvPr id="109570" name="Text Box 2"/>
          <p:cNvSpPr txBox="1">
            <a:spLocks noChangeArrowheads="1"/>
          </p:cNvSpPr>
          <p:nvPr/>
        </p:nvSpPr>
        <p:spPr bwMode="auto">
          <a:xfrm>
            <a:off x="3124200" y="228600"/>
            <a:ext cx="23558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Powersets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533400" y="1066800"/>
            <a:ext cx="46767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A powerset is a set of sets</a:t>
            </a:r>
          </a:p>
        </p:txBody>
      </p:sp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381000" y="3124200"/>
            <a:ext cx="79787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Powerset of S = the set of all the subsets of S</a:t>
            </a:r>
          </a:p>
        </p:txBody>
      </p:sp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517525" y="1978025"/>
            <a:ext cx="22828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S = { a, b, c }</a:t>
            </a:r>
          </a:p>
        </p:txBody>
      </p:sp>
      <p:sp>
        <p:nvSpPr>
          <p:cNvPr id="109574" name="Text Box 6"/>
          <p:cNvSpPr txBox="1">
            <a:spLocks noChangeArrowheads="1"/>
          </p:cNvSpPr>
          <p:nvPr/>
        </p:nvSpPr>
        <p:spPr bwMode="auto">
          <a:xfrm>
            <a:off x="517525" y="4111625"/>
            <a:ext cx="83391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2</a:t>
            </a:r>
            <a:r>
              <a:rPr lang="en-US" sz="2800" baseline="30000">
                <a:solidFill>
                  <a:schemeClr val="tx1"/>
                </a:solidFill>
              </a:rPr>
              <a:t>S</a:t>
            </a:r>
            <a:r>
              <a:rPr lang="en-US" sz="2800">
                <a:solidFill>
                  <a:schemeClr val="tx1"/>
                </a:solidFill>
              </a:rPr>
              <a:t> = {    , {a}, {b}, {c}, {a, b}, {a, c}, {b, c}, {a, b, c} }</a:t>
            </a:r>
          </a:p>
        </p:txBody>
      </p:sp>
      <p:grpSp>
        <p:nvGrpSpPr>
          <p:cNvPr id="109575" name="Group 7"/>
          <p:cNvGrpSpPr>
            <a:grpSpLocks/>
          </p:cNvGrpSpPr>
          <p:nvPr/>
        </p:nvGrpSpPr>
        <p:grpSpPr bwMode="auto">
          <a:xfrm>
            <a:off x="1676400" y="4191000"/>
            <a:ext cx="228600" cy="381000"/>
            <a:chOff x="816" y="816"/>
            <a:chExt cx="144" cy="240"/>
          </a:xfrm>
        </p:grpSpPr>
        <p:sp>
          <p:nvSpPr>
            <p:cNvPr id="109576" name="Oval 8"/>
            <p:cNvSpPr>
              <a:spLocks noChangeArrowheads="1"/>
            </p:cNvSpPr>
            <p:nvPr/>
          </p:nvSpPr>
          <p:spPr bwMode="auto">
            <a:xfrm>
              <a:off x="816" y="864"/>
              <a:ext cx="144" cy="144"/>
            </a:xfrm>
            <a:prstGeom prst="ellips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9577" name="Line 9"/>
            <p:cNvSpPr>
              <a:spLocks noChangeShapeType="1"/>
            </p:cNvSpPr>
            <p:nvPr/>
          </p:nvSpPr>
          <p:spPr bwMode="auto">
            <a:xfrm flipH="1">
              <a:off x="816" y="816"/>
              <a:ext cx="144" cy="24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09578" name="Text Box 10"/>
          <p:cNvSpPr txBox="1">
            <a:spLocks noChangeArrowheads="1"/>
          </p:cNvSpPr>
          <p:nvPr/>
        </p:nvSpPr>
        <p:spPr bwMode="auto">
          <a:xfrm>
            <a:off x="457200" y="5334000"/>
            <a:ext cx="66770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Observation:</a:t>
            </a:r>
            <a:r>
              <a:rPr lang="en-US" sz="2800">
                <a:solidFill>
                  <a:schemeClr val="tx1"/>
                </a:solidFill>
              </a:rPr>
              <a:t> | 2</a:t>
            </a:r>
            <a:r>
              <a:rPr lang="en-US" sz="2800" baseline="30000">
                <a:solidFill>
                  <a:schemeClr val="tx1"/>
                </a:solidFill>
              </a:rPr>
              <a:t>S</a:t>
            </a:r>
            <a:r>
              <a:rPr lang="en-US" sz="2800">
                <a:solidFill>
                  <a:schemeClr val="tx1"/>
                </a:solidFill>
              </a:rPr>
              <a:t> | = 2</a:t>
            </a:r>
            <a:r>
              <a:rPr lang="en-US" sz="2800" baseline="30000">
                <a:solidFill>
                  <a:schemeClr val="tx1"/>
                </a:solidFill>
              </a:rPr>
              <a:t>|S|</a:t>
            </a:r>
            <a:r>
              <a:rPr lang="en-US" sz="2800">
                <a:solidFill>
                  <a:schemeClr val="tx1"/>
                </a:solidFill>
              </a:rPr>
              <a:t>         ( 8 = 2</a:t>
            </a:r>
            <a:r>
              <a:rPr lang="en-US" sz="2800" baseline="30000">
                <a:solidFill>
                  <a:schemeClr val="tx1"/>
                </a:solidFill>
              </a:rPr>
              <a:t>3 </a:t>
            </a:r>
            <a:r>
              <a:rPr lang="en-US" sz="2800">
                <a:solidFill>
                  <a:schemeClr val="tx1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B2A088-4AEC-4FE3-A007-05155A236477}" type="slidenum">
              <a:rPr lang="en-US"/>
              <a:pPr/>
              <a:t>15</a:t>
            </a:fld>
            <a:endParaRPr lang="en-US"/>
          </a:p>
        </p:txBody>
      </p:sp>
      <p:sp>
        <p:nvSpPr>
          <p:cNvPr id="110594" name="Text Box 2"/>
          <p:cNvSpPr txBox="1">
            <a:spLocks noChangeArrowheads="1"/>
          </p:cNvSpPr>
          <p:nvPr/>
        </p:nvSpPr>
        <p:spPr bwMode="auto">
          <a:xfrm>
            <a:off x="2743200" y="0"/>
            <a:ext cx="3994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Cartesian Product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10595" name="Text Box 3"/>
          <p:cNvSpPr txBox="1">
            <a:spLocks noChangeArrowheads="1"/>
          </p:cNvSpPr>
          <p:nvPr/>
        </p:nvSpPr>
        <p:spPr bwMode="auto">
          <a:xfrm>
            <a:off x="228600" y="762000"/>
            <a:ext cx="8535988" cy="564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 = { 2, 4 }                  B = { 2, 3, 5 }</a:t>
            </a:r>
          </a:p>
          <a:p>
            <a:pPr algn="ctr"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 algn="ctr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 X B = { (2, 2), (2, 3), (2, 5), ( 4, 2), (4, 3), (4, 5) }</a:t>
            </a:r>
          </a:p>
          <a:p>
            <a:pPr algn="ctr"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 algn="ctr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|A X B| = |A| |B|</a:t>
            </a:r>
          </a:p>
          <a:p>
            <a:pPr algn="ctr"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 algn="ctr">
              <a:spcBef>
                <a:spcPct val="50000"/>
              </a:spcBef>
            </a:pPr>
            <a:r>
              <a:rPr lang="en-US" sz="2800"/>
              <a:t>Generalizes to more than two sets</a:t>
            </a:r>
          </a:p>
          <a:p>
            <a:pPr algn="ctr">
              <a:spcBef>
                <a:spcPct val="50000"/>
              </a:spcBef>
            </a:pPr>
            <a:endParaRPr lang="en-US" sz="2800"/>
          </a:p>
          <a:p>
            <a:pPr algn="ctr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 X B X … X Z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961BAF-8345-4000-B9E6-3DEFBFDD5F70}" type="slidenum">
              <a:rPr lang="en-US"/>
              <a:pPr/>
              <a:t>16</a:t>
            </a:fld>
            <a:endParaRPr lang="en-US"/>
          </a:p>
        </p:txBody>
      </p:sp>
      <p:sp>
        <p:nvSpPr>
          <p:cNvPr id="111618" name="Text Box 2"/>
          <p:cNvSpPr txBox="1">
            <a:spLocks noChangeArrowheads="1"/>
          </p:cNvSpPr>
          <p:nvPr/>
        </p:nvSpPr>
        <p:spPr bwMode="auto">
          <a:xfrm>
            <a:off x="3200400" y="228600"/>
            <a:ext cx="3048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FUNCTIONS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11619" name="Oval 3"/>
          <p:cNvSpPr>
            <a:spLocks noChangeArrowheads="1"/>
          </p:cNvSpPr>
          <p:nvPr/>
        </p:nvSpPr>
        <p:spPr bwMode="auto">
          <a:xfrm>
            <a:off x="2590800" y="1981200"/>
            <a:ext cx="1447800" cy="1752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1620" name="Oval 4"/>
          <p:cNvSpPr>
            <a:spLocks noChangeArrowheads="1"/>
          </p:cNvSpPr>
          <p:nvPr/>
        </p:nvSpPr>
        <p:spPr bwMode="auto">
          <a:xfrm>
            <a:off x="5791200" y="1981200"/>
            <a:ext cx="1295400" cy="1828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1621" name="Line 5"/>
          <p:cNvSpPr>
            <a:spLocks noChangeShapeType="1"/>
          </p:cNvSpPr>
          <p:nvPr/>
        </p:nvSpPr>
        <p:spPr bwMode="auto">
          <a:xfrm flipV="1">
            <a:off x="3276600" y="2362200"/>
            <a:ext cx="3048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1622" name="Text Box 6"/>
          <p:cNvSpPr txBox="1">
            <a:spLocks noChangeArrowheads="1"/>
          </p:cNvSpPr>
          <p:nvPr/>
        </p:nvSpPr>
        <p:spPr bwMode="auto">
          <a:xfrm>
            <a:off x="2590800" y="914400"/>
            <a:ext cx="13255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domain</a:t>
            </a:r>
          </a:p>
        </p:txBody>
      </p:sp>
      <p:sp>
        <p:nvSpPr>
          <p:cNvPr id="111623" name="Line 7"/>
          <p:cNvSpPr>
            <a:spLocks noChangeShapeType="1"/>
          </p:cNvSpPr>
          <p:nvPr/>
        </p:nvSpPr>
        <p:spPr bwMode="auto">
          <a:xfrm>
            <a:off x="3276600" y="2895600"/>
            <a:ext cx="2895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1624" name="Line 8"/>
          <p:cNvSpPr>
            <a:spLocks noChangeShapeType="1"/>
          </p:cNvSpPr>
          <p:nvPr/>
        </p:nvSpPr>
        <p:spPr bwMode="auto">
          <a:xfrm flipV="1">
            <a:off x="3429000" y="3352800"/>
            <a:ext cx="3124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1625" name="Text Box 9"/>
          <p:cNvSpPr txBox="1">
            <a:spLocks noChangeArrowheads="1"/>
          </p:cNvSpPr>
          <p:nvPr/>
        </p:nvSpPr>
        <p:spPr bwMode="auto">
          <a:xfrm>
            <a:off x="2955925" y="2130425"/>
            <a:ext cx="3444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1626" name="Text Box 10"/>
          <p:cNvSpPr txBox="1">
            <a:spLocks noChangeArrowheads="1"/>
          </p:cNvSpPr>
          <p:nvPr/>
        </p:nvSpPr>
        <p:spPr bwMode="auto">
          <a:xfrm>
            <a:off x="2955925" y="2587625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1627" name="Text Box 11"/>
          <p:cNvSpPr txBox="1">
            <a:spLocks noChangeArrowheads="1"/>
          </p:cNvSpPr>
          <p:nvPr/>
        </p:nvSpPr>
        <p:spPr bwMode="auto">
          <a:xfrm>
            <a:off x="3108325" y="3121025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1628" name="Text Box 12"/>
          <p:cNvSpPr txBox="1">
            <a:spLocks noChangeArrowheads="1"/>
          </p:cNvSpPr>
          <p:nvPr/>
        </p:nvSpPr>
        <p:spPr bwMode="auto">
          <a:xfrm>
            <a:off x="6384925" y="2054225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1629" name="Text Box 13"/>
          <p:cNvSpPr txBox="1">
            <a:spLocks noChangeArrowheads="1"/>
          </p:cNvSpPr>
          <p:nvPr/>
        </p:nvSpPr>
        <p:spPr bwMode="auto">
          <a:xfrm>
            <a:off x="6156325" y="2740025"/>
            <a:ext cx="3952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1630" name="Text Box 14"/>
          <p:cNvSpPr txBox="1">
            <a:spLocks noChangeArrowheads="1"/>
          </p:cNvSpPr>
          <p:nvPr/>
        </p:nvSpPr>
        <p:spPr bwMode="auto">
          <a:xfrm>
            <a:off x="6553200" y="30480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1631" name="Text Box 15"/>
          <p:cNvSpPr txBox="1">
            <a:spLocks noChangeArrowheads="1"/>
          </p:cNvSpPr>
          <p:nvPr/>
        </p:nvSpPr>
        <p:spPr bwMode="auto">
          <a:xfrm>
            <a:off x="6019800" y="914400"/>
            <a:ext cx="11080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range</a:t>
            </a:r>
          </a:p>
        </p:txBody>
      </p:sp>
      <p:sp>
        <p:nvSpPr>
          <p:cNvPr id="111632" name="Text Box 16"/>
          <p:cNvSpPr txBox="1">
            <a:spLocks noChangeArrowheads="1"/>
          </p:cNvSpPr>
          <p:nvPr/>
        </p:nvSpPr>
        <p:spPr bwMode="auto">
          <a:xfrm>
            <a:off x="3962400" y="4114800"/>
            <a:ext cx="18764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f : A -&gt; B </a:t>
            </a:r>
          </a:p>
        </p:txBody>
      </p:sp>
      <p:sp>
        <p:nvSpPr>
          <p:cNvPr id="111633" name="Text Box 17"/>
          <p:cNvSpPr txBox="1">
            <a:spLocks noChangeArrowheads="1"/>
          </p:cNvSpPr>
          <p:nvPr/>
        </p:nvSpPr>
        <p:spPr bwMode="auto">
          <a:xfrm>
            <a:off x="3124200" y="1524000"/>
            <a:ext cx="4445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A</a:t>
            </a:r>
          </a:p>
        </p:txBody>
      </p:sp>
      <p:sp>
        <p:nvSpPr>
          <p:cNvPr id="111634" name="Text Box 18"/>
          <p:cNvSpPr txBox="1">
            <a:spLocks noChangeArrowheads="1"/>
          </p:cNvSpPr>
          <p:nvPr/>
        </p:nvSpPr>
        <p:spPr bwMode="auto">
          <a:xfrm>
            <a:off x="6384925" y="1520825"/>
            <a:ext cx="4079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B</a:t>
            </a:r>
          </a:p>
        </p:txBody>
      </p:sp>
      <p:sp>
        <p:nvSpPr>
          <p:cNvPr id="111635" name="Rectangle 19"/>
          <p:cNvSpPr>
            <a:spLocks noChangeArrowheads="1"/>
          </p:cNvSpPr>
          <p:nvPr/>
        </p:nvSpPr>
        <p:spPr bwMode="auto">
          <a:xfrm>
            <a:off x="2286000" y="1447800"/>
            <a:ext cx="1828800" cy="251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1636" name="Rectangle 20"/>
          <p:cNvSpPr>
            <a:spLocks noChangeArrowheads="1"/>
          </p:cNvSpPr>
          <p:nvPr/>
        </p:nvSpPr>
        <p:spPr bwMode="auto">
          <a:xfrm>
            <a:off x="5715000" y="1447800"/>
            <a:ext cx="1600200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1637" name="Text Box 21"/>
          <p:cNvSpPr txBox="1">
            <a:spLocks noChangeArrowheads="1"/>
          </p:cNvSpPr>
          <p:nvPr/>
        </p:nvSpPr>
        <p:spPr bwMode="auto">
          <a:xfrm>
            <a:off x="762000" y="4572000"/>
            <a:ext cx="6096000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If A = domain </a:t>
            </a:r>
          </a:p>
          <a:p>
            <a:pPr>
              <a:spcBef>
                <a:spcPct val="50000"/>
              </a:spcBef>
            </a:pPr>
            <a:r>
              <a:rPr lang="en-US" sz="2800"/>
              <a:t>     then f is a total function</a:t>
            </a:r>
          </a:p>
          <a:p>
            <a:pPr>
              <a:spcBef>
                <a:spcPct val="50000"/>
              </a:spcBef>
            </a:pPr>
            <a:r>
              <a:rPr lang="en-US" sz="2800"/>
              <a:t>     otherwise f is a partial function</a:t>
            </a:r>
            <a:r>
              <a:rPr lang="en-US" sz="28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11638" name="Text Box 22"/>
          <p:cNvSpPr txBox="1">
            <a:spLocks noChangeArrowheads="1"/>
          </p:cNvSpPr>
          <p:nvPr/>
        </p:nvSpPr>
        <p:spPr bwMode="auto">
          <a:xfrm>
            <a:off x="4191000" y="1905000"/>
            <a:ext cx="14684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f(1) = a</a:t>
            </a:r>
          </a:p>
        </p:txBody>
      </p:sp>
      <p:sp>
        <p:nvSpPr>
          <p:cNvPr id="111639" name="Text Box 23"/>
          <p:cNvSpPr txBox="1">
            <a:spLocks noChangeArrowheads="1"/>
          </p:cNvSpPr>
          <p:nvPr/>
        </p:nvSpPr>
        <p:spPr bwMode="auto">
          <a:xfrm>
            <a:off x="2438400" y="15240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1640" name="Text Box 24"/>
          <p:cNvSpPr txBox="1">
            <a:spLocks noChangeArrowheads="1"/>
          </p:cNvSpPr>
          <p:nvPr/>
        </p:nvSpPr>
        <p:spPr bwMode="auto">
          <a:xfrm>
            <a:off x="2362200" y="34290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3BCD50-DD87-48E6-B05D-143ED310D7F9}" type="slidenum">
              <a:rPr lang="en-US"/>
              <a:pPr/>
              <a:t>17</a:t>
            </a:fld>
            <a:endParaRPr lang="en-US"/>
          </a:p>
        </p:txBody>
      </p:sp>
      <p:sp>
        <p:nvSpPr>
          <p:cNvPr id="112642" name="Text Box 2"/>
          <p:cNvSpPr txBox="1">
            <a:spLocks noChangeArrowheads="1"/>
          </p:cNvSpPr>
          <p:nvPr/>
        </p:nvSpPr>
        <p:spPr bwMode="auto">
          <a:xfrm>
            <a:off x="3352800" y="152400"/>
            <a:ext cx="2952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RELATIONS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12643" name="Text Box 3"/>
          <p:cNvSpPr txBox="1">
            <a:spLocks noChangeArrowheads="1"/>
          </p:cNvSpPr>
          <p:nvPr/>
        </p:nvSpPr>
        <p:spPr bwMode="auto">
          <a:xfrm>
            <a:off x="136525" y="911225"/>
            <a:ext cx="6357938" cy="308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       R = {(x</a:t>
            </a:r>
            <a:r>
              <a:rPr lang="en-US" sz="2800" baseline="-25000">
                <a:solidFill>
                  <a:schemeClr val="tx1"/>
                </a:solidFill>
              </a:rPr>
              <a:t>1</a:t>
            </a:r>
            <a:r>
              <a:rPr lang="en-US" sz="2800">
                <a:solidFill>
                  <a:schemeClr val="tx1"/>
                </a:solidFill>
              </a:rPr>
              <a:t>, y</a:t>
            </a:r>
            <a:r>
              <a:rPr lang="en-US" sz="2800" baseline="-25000">
                <a:solidFill>
                  <a:schemeClr val="tx1"/>
                </a:solidFill>
              </a:rPr>
              <a:t>1</a:t>
            </a:r>
            <a:r>
              <a:rPr lang="en-US" sz="2800">
                <a:solidFill>
                  <a:schemeClr val="tx1"/>
                </a:solidFill>
              </a:rPr>
              <a:t>), (x</a:t>
            </a:r>
            <a:r>
              <a:rPr lang="en-US" sz="2800" baseline="-25000">
                <a:solidFill>
                  <a:schemeClr val="tx1"/>
                </a:solidFill>
              </a:rPr>
              <a:t>2</a:t>
            </a:r>
            <a:r>
              <a:rPr lang="en-US" sz="2800">
                <a:solidFill>
                  <a:schemeClr val="tx1"/>
                </a:solidFill>
              </a:rPr>
              <a:t>, y</a:t>
            </a:r>
            <a:r>
              <a:rPr lang="en-US" sz="2800" baseline="-25000">
                <a:solidFill>
                  <a:schemeClr val="tx1"/>
                </a:solidFill>
              </a:rPr>
              <a:t>2</a:t>
            </a:r>
            <a:r>
              <a:rPr lang="en-US" sz="2800">
                <a:solidFill>
                  <a:schemeClr val="tx1"/>
                </a:solidFill>
              </a:rPr>
              <a:t>), (x</a:t>
            </a:r>
            <a:r>
              <a:rPr lang="en-US" sz="2800" baseline="-25000">
                <a:solidFill>
                  <a:schemeClr val="tx1"/>
                </a:solidFill>
              </a:rPr>
              <a:t>3</a:t>
            </a:r>
            <a:r>
              <a:rPr lang="en-US" sz="2800">
                <a:solidFill>
                  <a:schemeClr val="tx1"/>
                </a:solidFill>
              </a:rPr>
              <a:t>, y</a:t>
            </a:r>
            <a:r>
              <a:rPr lang="en-US" sz="2800" baseline="-25000">
                <a:solidFill>
                  <a:schemeClr val="tx1"/>
                </a:solidFill>
              </a:rPr>
              <a:t>3</a:t>
            </a:r>
            <a:r>
              <a:rPr lang="en-US" sz="2800">
                <a:solidFill>
                  <a:schemeClr val="tx1"/>
                </a:solidFill>
              </a:rPr>
              <a:t>), …}</a:t>
            </a:r>
          </a:p>
          <a:p>
            <a:pPr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      x</a:t>
            </a:r>
            <a:r>
              <a:rPr lang="en-US" sz="2800" baseline="-25000">
                <a:solidFill>
                  <a:schemeClr val="tx1"/>
                </a:solidFill>
              </a:rPr>
              <a:t>i</a:t>
            </a:r>
            <a:r>
              <a:rPr lang="en-US" sz="2800">
                <a:solidFill>
                  <a:schemeClr val="tx1"/>
                </a:solidFill>
              </a:rPr>
              <a:t> R y</a:t>
            </a:r>
            <a:r>
              <a:rPr lang="en-US" sz="2800" baseline="-25000">
                <a:solidFill>
                  <a:schemeClr val="tx1"/>
                </a:solidFill>
              </a:rPr>
              <a:t>i</a:t>
            </a:r>
            <a:r>
              <a:rPr lang="en-US" sz="2800">
                <a:solidFill>
                  <a:schemeClr val="tx1"/>
                </a:solidFill>
              </a:rPr>
              <a:t> </a:t>
            </a:r>
          </a:p>
          <a:p>
            <a:pPr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      </a:t>
            </a:r>
            <a:r>
              <a:rPr lang="en-US" sz="2800"/>
              <a:t>e. g. if</a:t>
            </a:r>
            <a:r>
              <a:rPr lang="en-US" sz="2800">
                <a:solidFill>
                  <a:schemeClr val="tx1"/>
                </a:solidFill>
              </a:rPr>
              <a:t> R = ‘&gt;’:   2 &gt; 1,   3 &gt; 2,  3 &gt; 1</a:t>
            </a:r>
            <a:endParaRPr lang="en-US"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5E2057-59CD-4214-B9AB-26368AAA0EAC}" type="slidenum">
              <a:rPr lang="en-US"/>
              <a:pPr/>
              <a:t>18</a:t>
            </a:fld>
            <a:endParaRPr lang="en-US"/>
          </a:p>
        </p:txBody>
      </p:sp>
      <p:sp>
        <p:nvSpPr>
          <p:cNvPr id="113666" name="Text Box 2"/>
          <p:cNvSpPr txBox="1">
            <a:spLocks noChangeArrowheads="1"/>
          </p:cNvSpPr>
          <p:nvPr/>
        </p:nvSpPr>
        <p:spPr bwMode="auto">
          <a:xfrm>
            <a:off x="2438400" y="152400"/>
            <a:ext cx="47117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Equivalence Relations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13667" name="Text Box 3"/>
          <p:cNvSpPr txBox="1">
            <a:spLocks noChangeArrowheads="1"/>
          </p:cNvSpPr>
          <p:nvPr/>
        </p:nvSpPr>
        <p:spPr bwMode="auto">
          <a:xfrm>
            <a:off x="228600" y="990600"/>
            <a:ext cx="7986713" cy="500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2800"/>
              <a:t> Reflexive:</a:t>
            </a:r>
            <a:r>
              <a:rPr lang="en-US" sz="2800">
                <a:solidFill>
                  <a:schemeClr val="tx1"/>
                </a:solidFill>
              </a:rPr>
              <a:t>      x R x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800"/>
              <a:t> Symmetric:</a:t>
            </a:r>
            <a:r>
              <a:rPr lang="en-US" sz="2800">
                <a:solidFill>
                  <a:schemeClr val="tx1"/>
                </a:solidFill>
              </a:rPr>
              <a:t>    x R y             y R x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800"/>
              <a:t> Transitive:</a:t>
            </a:r>
            <a:r>
              <a:rPr lang="en-US" sz="2800">
                <a:solidFill>
                  <a:schemeClr val="tx1"/>
                </a:solidFill>
              </a:rPr>
              <a:t>     x R y  </a:t>
            </a:r>
            <a:r>
              <a:rPr lang="en-US" sz="2800"/>
              <a:t>and</a:t>
            </a:r>
            <a:r>
              <a:rPr lang="en-US" sz="2800">
                <a:solidFill>
                  <a:schemeClr val="tx1"/>
                </a:solidFill>
              </a:rPr>
              <a:t>   y R z              x R z </a:t>
            </a:r>
          </a:p>
          <a:p>
            <a:pPr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800"/>
              <a:t>Example:</a:t>
            </a:r>
            <a:r>
              <a:rPr lang="en-US" sz="2800">
                <a:solidFill>
                  <a:schemeClr val="tx1"/>
                </a:solidFill>
              </a:rPr>
              <a:t> R = ‘=‘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x = x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x = y               y = x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x = y </a:t>
            </a:r>
            <a:r>
              <a:rPr lang="en-US" sz="2800"/>
              <a:t>and</a:t>
            </a:r>
            <a:r>
              <a:rPr lang="en-US" sz="2800">
                <a:solidFill>
                  <a:schemeClr val="tx1"/>
                </a:solidFill>
              </a:rPr>
              <a:t> y = z               x = z</a:t>
            </a:r>
          </a:p>
        </p:txBody>
      </p:sp>
      <p:sp>
        <p:nvSpPr>
          <p:cNvPr id="113668" name="AutoShape 4"/>
          <p:cNvSpPr>
            <a:spLocks noChangeArrowheads="1"/>
          </p:cNvSpPr>
          <p:nvPr/>
        </p:nvSpPr>
        <p:spPr bwMode="auto">
          <a:xfrm>
            <a:off x="3962400" y="16764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3669" name="AutoShape 5"/>
          <p:cNvSpPr>
            <a:spLocks noChangeArrowheads="1"/>
          </p:cNvSpPr>
          <p:nvPr/>
        </p:nvSpPr>
        <p:spPr bwMode="auto">
          <a:xfrm>
            <a:off x="5943600" y="22860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3670" name="AutoShape 6"/>
          <p:cNvSpPr>
            <a:spLocks noChangeArrowheads="1"/>
          </p:cNvSpPr>
          <p:nvPr/>
        </p:nvSpPr>
        <p:spPr bwMode="auto">
          <a:xfrm>
            <a:off x="3200400" y="54864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3671" name="AutoShape 7"/>
          <p:cNvSpPr>
            <a:spLocks noChangeArrowheads="1"/>
          </p:cNvSpPr>
          <p:nvPr/>
        </p:nvSpPr>
        <p:spPr bwMode="auto">
          <a:xfrm>
            <a:off x="1600200" y="48768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148591-4479-4471-A9A1-89CAB6CCB1ED}" type="slidenum">
              <a:rPr lang="en-US"/>
              <a:pPr/>
              <a:t>19</a:t>
            </a:fld>
            <a:endParaRPr lang="en-US"/>
          </a:p>
        </p:txBody>
      </p:sp>
      <p:sp>
        <p:nvSpPr>
          <p:cNvPr id="114690" name="Text Box 2"/>
          <p:cNvSpPr txBox="1">
            <a:spLocks noChangeArrowheads="1"/>
          </p:cNvSpPr>
          <p:nvPr/>
        </p:nvSpPr>
        <p:spPr bwMode="auto">
          <a:xfrm>
            <a:off x="2667000" y="152400"/>
            <a:ext cx="43211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Equivalence Classes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14691" name="Text Box 3"/>
          <p:cNvSpPr txBox="1">
            <a:spLocks noChangeArrowheads="1"/>
          </p:cNvSpPr>
          <p:nvPr/>
        </p:nvSpPr>
        <p:spPr bwMode="auto">
          <a:xfrm>
            <a:off x="365125" y="835025"/>
            <a:ext cx="6818313" cy="564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For equivalence relation</a:t>
            </a:r>
            <a:r>
              <a:rPr lang="en-US" sz="2800">
                <a:solidFill>
                  <a:schemeClr val="tx1"/>
                </a:solidFill>
              </a:rPr>
              <a:t> R</a:t>
            </a: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        </a:t>
            </a:r>
            <a:r>
              <a:rPr lang="en-US" sz="2800"/>
              <a:t>equivalence class of</a:t>
            </a:r>
            <a:r>
              <a:rPr lang="en-US" sz="2800">
                <a:solidFill>
                  <a:schemeClr val="tx1"/>
                </a:solidFill>
              </a:rPr>
              <a:t> x = {y : x R y} </a:t>
            </a:r>
          </a:p>
          <a:p>
            <a:pPr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800"/>
              <a:t>Example:</a:t>
            </a:r>
            <a:r>
              <a:rPr lang="en-US" sz="2800">
                <a:solidFill>
                  <a:schemeClr val="tx1"/>
                </a:solidFill>
              </a:rPr>
              <a:t>               </a:t>
            </a: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     R = { (1, 1), (2, 2), (1, 2), (2, 1),</a:t>
            </a: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              (3, 3), (4, 4), (3, 4), (4, 3) }</a:t>
            </a:r>
          </a:p>
          <a:p>
            <a:pPr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800"/>
              <a:t>Equivalence class of</a:t>
            </a:r>
            <a:r>
              <a:rPr lang="en-US" sz="2800">
                <a:solidFill>
                  <a:schemeClr val="tx1"/>
                </a:solidFill>
              </a:rPr>
              <a:t> 1 = {1, 2}</a:t>
            </a:r>
          </a:p>
          <a:p>
            <a:pPr>
              <a:spcBef>
                <a:spcPct val="50000"/>
              </a:spcBef>
            </a:pPr>
            <a:r>
              <a:rPr lang="en-US" sz="2800"/>
              <a:t>Equivalence class of</a:t>
            </a:r>
            <a:r>
              <a:rPr lang="en-US" sz="2800">
                <a:solidFill>
                  <a:schemeClr val="tx1"/>
                </a:solidFill>
              </a:rPr>
              <a:t> 3 = {3, 4}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80E4E4E-2503-4B59-82E5-395AE48785DE}" type="slidenum">
              <a:rPr lang="en-US"/>
              <a:pPr/>
              <a:t>20</a:t>
            </a:fld>
            <a:endParaRPr lang="en-US"/>
          </a:p>
        </p:txBody>
      </p:sp>
      <p:sp>
        <p:nvSpPr>
          <p:cNvPr id="115714" name="Text Box 2"/>
          <p:cNvSpPr txBox="1">
            <a:spLocks noChangeArrowheads="1"/>
          </p:cNvSpPr>
          <p:nvPr/>
        </p:nvSpPr>
        <p:spPr bwMode="auto">
          <a:xfrm>
            <a:off x="3657600" y="152400"/>
            <a:ext cx="20240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GRAPHS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15715" name="Text Box 3"/>
          <p:cNvSpPr txBox="1">
            <a:spLocks noChangeArrowheads="1"/>
          </p:cNvSpPr>
          <p:nvPr/>
        </p:nvSpPr>
        <p:spPr bwMode="auto">
          <a:xfrm>
            <a:off x="228600" y="838200"/>
            <a:ext cx="30273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A directed graph</a:t>
            </a:r>
          </a:p>
        </p:txBody>
      </p:sp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0" y="4038600"/>
            <a:ext cx="9142413" cy="244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/>
              <a:t>Nodes (Vertices)</a:t>
            </a:r>
            <a:r>
              <a:rPr lang="en-US" sz="2800">
                <a:solidFill>
                  <a:schemeClr val="tx1"/>
                </a:solidFill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                    V = { a, b, c, d, e }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/>
              <a:t>Edges </a:t>
            </a: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    E = { (a,b), (b,c), (b,e),(c,a), (c,e), (d,c), (e,b), (e,d) }</a:t>
            </a:r>
          </a:p>
        </p:txBody>
      </p:sp>
      <p:sp>
        <p:nvSpPr>
          <p:cNvPr id="115717" name="Text Box 5"/>
          <p:cNvSpPr txBox="1">
            <a:spLocks noChangeArrowheads="1"/>
          </p:cNvSpPr>
          <p:nvPr/>
        </p:nvSpPr>
        <p:spPr bwMode="auto">
          <a:xfrm>
            <a:off x="1828800" y="2362200"/>
            <a:ext cx="850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solidFill>
                  <a:srgbClr val="FF0000"/>
                </a:solidFill>
              </a:rPr>
              <a:t>node</a:t>
            </a:r>
          </a:p>
        </p:txBody>
      </p:sp>
      <p:sp>
        <p:nvSpPr>
          <p:cNvPr id="115718" name="Text Box 6"/>
          <p:cNvSpPr txBox="1">
            <a:spLocks noChangeArrowheads="1"/>
          </p:cNvSpPr>
          <p:nvPr/>
        </p:nvSpPr>
        <p:spPr bwMode="auto">
          <a:xfrm rot="740671">
            <a:off x="3200400" y="3429000"/>
            <a:ext cx="858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solidFill>
                  <a:srgbClr val="FF0000"/>
                </a:solidFill>
              </a:rPr>
              <a:t>edge</a:t>
            </a:r>
          </a:p>
        </p:txBody>
      </p:sp>
      <p:sp>
        <p:nvSpPr>
          <p:cNvPr id="115719" name="Oval 7"/>
          <p:cNvSpPr>
            <a:spLocks noChangeArrowheads="1"/>
          </p:cNvSpPr>
          <p:nvPr/>
        </p:nvSpPr>
        <p:spPr bwMode="auto">
          <a:xfrm>
            <a:off x="4876800" y="3505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20" name="Oval 8"/>
          <p:cNvSpPr>
            <a:spLocks noChangeArrowheads="1"/>
          </p:cNvSpPr>
          <p:nvPr/>
        </p:nvSpPr>
        <p:spPr bwMode="auto">
          <a:xfrm>
            <a:off x="3886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21" name="Oval 9"/>
          <p:cNvSpPr>
            <a:spLocks noChangeArrowheads="1"/>
          </p:cNvSpPr>
          <p:nvPr/>
        </p:nvSpPr>
        <p:spPr bwMode="auto">
          <a:xfrm>
            <a:off x="6705600" y="2667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22" name="Oval 10"/>
          <p:cNvSpPr>
            <a:spLocks noChangeArrowheads="1"/>
          </p:cNvSpPr>
          <p:nvPr/>
        </p:nvSpPr>
        <p:spPr bwMode="auto">
          <a:xfrm>
            <a:off x="2057400" y="2819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23" name="Line 11"/>
          <p:cNvSpPr>
            <a:spLocks noChangeShapeType="1"/>
          </p:cNvSpPr>
          <p:nvPr/>
        </p:nvSpPr>
        <p:spPr bwMode="auto">
          <a:xfrm flipV="1">
            <a:off x="2514600" y="2438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24" name="Line 12"/>
          <p:cNvSpPr>
            <a:spLocks noChangeShapeType="1"/>
          </p:cNvSpPr>
          <p:nvPr/>
        </p:nvSpPr>
        <p:spPr bwMode="auto">
          <a:xfrm>
            <a:off x="4267200" y="2514600"/>
            <a:ext cx="685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25" name="Line 13"/>
          <p:cNvSpPr>
            <a:spLocks noChangeShapeType="1"/>
          </p:cNvSpPr>
          <p:nvPr/>
        </p:nvSpPr>
        <p:spPr bwMode="auto">
          <a:xfrm flipV="1">
            <a:off x="5105400" y="1981200"/>
            <a:ext cx="8382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26" name="Line 14"/>
          <p:cNvSpPr>
            <a:spLocks noChangeShapeType="1"/>
          </p:cNvSpPr>
          <p:nvPr/>
        </p:nvSpPr>
        <p:spPr bwMode="auto">
          <a:xfrm flipH="1">
            <a:off x="5334000" y="2971800"/>
            <a:ext cx="1371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27" name="Line 15"/>
          <p:cNvSpPr>
            <a:spLocks noChangeShapeType="1"/>
          </p:cNvSpPr>
          <p:nvPr/>
        </p:nvSpPr>
        <p:spPr bwMode="auto">
          <a:xfrm flipH="1" flipV="1">
            <a:off x="2514600" y="3124200"/>
            <a:ext cx="2362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28" name="Text Box 16"/>
          <p:cNvSpPr txBox="1">
            <a:spLocks noChangeArrowheads="1"/>
          </p:cNvSpPr>
          <p:nvPr/>
        </p:nvSpPr>
        <p:spPr bwMode="auto">
          <a:xfrm>
            <a:off x="2133600" y="27432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5729" name="Text Box 17"/>
          <p:cNvSpPr txBox="1">
            <a:spLocks noChangeArrowheads="1"/>
          </p:cNvSpPr>
          <p:nvPr/>
        </p:nvSpPr>
        <p:spPr bwMode="auto">
          <a:xfrm>
            <a:off x="3962400" y="2057400"/>
            <a:ext cx="3952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5730" name="Text Box 18"/>
          <p:cNvSpPr txBox="1">
            <a:spLocks noChangeArrowheads="1"/>
          </p:cNvSpPr>
          <p:nvPr/>
        </p:nvSpPr>
        <p:spPr bwMode="auto">
          <a:xfrm>
            <a:off x="4953000" y="34290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5731" name="Text Box 19"/>
          <p:cNvSpPr txBox="1">
            <a:spLocks noChangeArrowheads="1"/>
          </p:cNvSpPr>
          <p:nvPr/>
        </p:nvSpPr>
        <p:spPr bwMode="auto">
          <a:xfrm>
            <a:off x="6705600" y="2667000"/>
            <a:ext cx="393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5732" name="Oval 20"/>
          <p:cNvSpPr>
            <a:spLocks noChangeArrowheads="1"/>
          </p:cNvSpPr>
          <p:nvPr/>
        </p:nvSpPr>
        <p:spPr bwMode="auto">
          <a:xfrm>
            <a:off x="5867400" y="1600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33" name="Line 21"/>
          <p:cNvSpPr>
            <a:spLocks noChangeShapeType="1"/>
          </p:cNvSpPr>
          <p:nvPr/>
        </p:nvSpPr>
        <p:spPr bwMode="auto">
          <a:xfrm>
            <a:off x="6248400" y="19812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5734" name="Text Box 22"/>
          <p:cNvSpPr txBox="1">
            <a:spLocks noChangeArrowheads="1"/>
          </p:cNvSpPr>
          <p:nvPr/>
        </p:nvSpPr>
        <p:spPr bwMode="auto">
          <a:xfrm>
            <a:off x="5943600" y="1524000"/>
            <a:ext cx="379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15735" name="Line 23"/>
          <p:cNvSpPr>
            <a:spLocks noChangeShapeType="1"/>
          </p:cNvSpPr>
          <p:nvPr/>
        </p:nvSpPr>
        <p:spPr bwMode="auto">
          <a:xfrm flipH="1">
            <a:off x="4343400" y="1828800"/>
            <a:ext cx="1524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5736" name="Freeform 24"/>
          <p:cNvSpPr>
            <a:spLocks/>
          </p:cNvSpPr>
          <p:nvPr/>
        </p:nvSpPr>
        <p:spPr bwMode="auto">
          <a:xfrm>
            <a:off x="4191000" y="1447800"/>
            <a:ext cx="17526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432" y="48"/>
              </a:cxn>
              <a:cxn ang="0">
                <a:pos x="1104" y="144"/>
              </a:cxn>
            </a:cxnLst>
            <a:rect l="0" t="0" r="r" b="b"/>
            <a:pathLst>
              <a:path w="1104" h="432">
                <a:moveTo>
                  <a:pt x="0" y="432"/>
                </a:moveTo>
                <a:cubicBezTo>
                  <a:pt x="124" y="264"/>
                  <a:pt x="248" y="96"/>
                  <a:pt x="432" y="48"/>
                </a:cubicBezTo>
                <a:cubicBezTo>
                  <a:pt x="616" y="0"/>
                  <a:pt x="968" y="120"/>
                  <a:pt x="1104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2D3402-EA75-497C-93A8-69E48CA41F28}" type="slidenum">
              <a:rPr lang="en-US"/>
              <a:pPr/>
              <a:t>21</a:t>
            </a:fld>
            <a:endParaRPr lang="en-US"/>
          </a:p>
        </p:txBody>
      </p:sp>
      <p:sp>
        <p:nvSpPr>
          <p:cNvPr id="116738" name="Text Box 2"/>
          <p:cNvSpPr txBox="1">
            <a:spLocks noChangeArrowheads="1"/>
          </p:cNvSpPr>
          <p:nvPr/>
        </p:nvSpPr>
        <p:spPr bwMode="auto">
          <a:xfrm>
            <a:off x="2971800" y="131763"/>
            <a:ext cx="32448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Labeled Graph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16739" name="Oval 3"/>
          <p:cNvSpPr>
            <a:spLocks noChangeArrowheads="1"/>
          </p:cNvSpPr>
          <p:nvPr/>
        </p:nvSpPr>
        <p:spPr bwMode="auto">
          <a:xfrm>
            <a:off x="4876800" y="3505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740" name="Oval 4"/>
          <p:cNvSpPr>
            <a:spLocks noChangeArrowheads="1"/>
          </p:cNvSpPr>
          <p:nvPr/>
        </p:nvSpPr>
        <p:spPr bwMode="auto">
          <a:xfrm>
            <a:off x="3886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741" name="Oval 5"/>
          <p:cNvSpPr>
            <a:spLocks noChangeArrowheads="1"/>
          </p:cNvSpPr>
          <p:nvPr/>
        </p:nvSpPr>
        <p:spPr bwMode="auto">
          <a:xfrm>
            <a:off x="6705600" y="2667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6742" name="Oval 6"/>
          <p:cNvSpPr>
            <a:spLocks noChangeArrowheads="1"/>
          </p:cNvSpPr>
          <p:nvPr/>
        </p:nvSpPr>
        <p:spPr bwMode="auto">
          <a:xfrm>
            <a:off x="2057400" y="2819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auto">
          <a:xfrm flipV="1">
            <a:off x="2514600" y="2438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744" name="Line 8"/>
          <p:cNvSpPr>
            <a:spLocks noChangeShapeType="1"/>
          </p:cNvSpPr>
          <p:nvPr/>
        </p:nvSpPr>
        <p:spPr bwMode="auto">
          <a:xfrm>
            <a:off x="4267200" y="2514600"/>
            <a:ext cx="685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6745" name="Line 9"/>
          <p:cNvSpPr>
            <a:spLocks noChangeShapeType="1"/>
          </p:cNvSpPr>
          <p:nvPr/>
        </p:nvSpPr>
        <p:spPr bwMode="auto">
          <a:xfrm flipV="1">
            <a:off x="5105400" y="1981200"/>
            <a:ext cx="8382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6746" name="Line 10"/>
          <p:cNvSpPr>
            <a:spLocks noChangeShapeType="1"/>
          </p:cNvSpPr>
          <p:nvPr/>
        </p:nvSpPr>
        <p:spPr bwMode="auto">
          <a:xfrm flipH="1">
            <a:off x="5334000" y="2971800"/>
            <a:ext cx="1371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6747" name="Line 11"/>
          <p:cNvSpPr>
            <a:spLocks noChangeShapeType="1"/>
          </p:cNvSpPr>
          <p:nvPr/>
        </p:nvSpPr>
        <p:spPr bwMode="auto">
          <a:xfrm flipH="1" flipV="1">
            <a:off x="2514600" y="3124200"/>
            <a:ext cx="2362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748" name="Text Box 12"/>
          <p:cNvSpPr txBox="1">
            <a:spLocks noChangeArrowheads="1"/>
          </p:cNvSpPr>
          <p:nvPr/>
        </p:nvSpPr>
        <p:spPr bwMode="auto">
          <a:xfrm>
            <a:off x="2133600" y="27432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6749" name="Text Box 13"/>
          <p:cNvSpPr txBox="1">
            <a:spLocks noChangeArrowheads="1"/>
          </p:cNvSpPr>
          <p:nvPr/>
        </p:nvSpPr>
        <p:spPr bwMode="auto">
          <a:xfrm>
            <a:off x="3962400" y="2057400"/>
            <a:ext cx="3952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6750" name="Text Box 14"/>
          <p:cNvSpPr txBox="1">
            <a:spLocks noChangeArrowheads="1"/>
          </p:cNvSpPr>
          <p:nvPr/>
        </p:nvSpPr>
        <p:spPr bwMode="auto">
          <a:xfrm>
            <a:off x="4953000" y="34290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6751" name="Text Box 15"/>
          <p:cNvSpPr txBox="1">
            <a:spLocks noChangeArrowheads="1"/>
          </p:cNvSpPr>
          <p:nvPr/>
        </p:nvSpPr>
        <p:spPr bwMode="auto">
          <a:xfrm>
            <a:off x="6705600" y="2667000"/>
            <a:ext cx="393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6752" name="Oval 16"/>
          <p:cNvSpPr>
            <a:spLocks noChangeArrowheads="1"/>
          </p:cNvSpPr>
          <p:nvPr/>
        </p:nvSpPr>
        <p:spPr bwMode="auto">
          <a:xfrm>
            <a:off x="5867400" y="1600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753" name="Line 17"/>
          <p:cNvSpPr>
            <a:spLocks noChangeShapeType="1"/>
          </p:cNvSpPr>
          <p:nvPr/>
        </p:nvSpPr>
        <p:spPr bwMode="auto">
          <a:xfrm>
            <a:off x="6248400" y="19812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6754" name="Text Box 18"/>
          <p:cNvSpPr txBox="1">
            <a:spLocks noChangeArrowheads="1"/>
          </p:cNvSpPr>
          <p:nvPr/>
        </p:nvSpPr>
        <p:spPr bwMode="auto">
          <a:xfrm>
            <a:off x="5943600" y="1524000"/>
            <a:ext cx="379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16755" name="Text Box 19"/>
          <p:cNvSpPr txBox="1">
            <a:spLocks noChangeArrowheads="1"/>
          </p:cNvSpPr>
          <p:nvPr/>
        </p:nvSpPr>
        <p:spPr bwMode="auto">
          <a:xfrm>
            <a:off x="3032125" y="2282825"/>
            <a:ext cx="3444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6756" name="Text Box 20"/>
          <p:cNvSpPr txBox="1">
            <a:spLocks noChangeArrowheads="1"/>
          </p:cNvSpPr>
          <p:nvPr/>
        </p:nvSpPr>
        <p:spPr bwMode="auto">
          <a:xfrm>
            <a:off x="5181600" y="24384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6757" name="Text Box 21"/>
          <p:cNvSpPr txBox="1">
            <a:spLocks noChangeArrowheads="1"/>
          </p:cNvSpPr>
          <p:nvPr/>
        </p:nvSpPr>
        <p:spPr bwMode="auto">
          <a:xfrm>
            <a:off x="3733800" y="30480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6758" name="Text Box 22"/>
          <p:cNvSpPr txBox="1">
            <a:spLocks noChangeArrowheads="1"/>
          </p:cNvSpPr>
          <p:nvPr/>
        </p:nvSpPr>
        <p:spPr bwMode="auto">
          <a:xfrm>
            <a:off x="5791200" y="28194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6759" name="Text Box 23"/>
          <p:cNvSpPr txBox="1">
            <a:spLocks noChangeArrowheads="1"/>
          </p:cNvSpPr>
          <p:nvPr/>
        </p:nvSpPr>
        <p:spPr bwMode="auto">
          <a:xfrm>
            <a:off x="6400800" y="19050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6760" name="Line 24"/>
          <p:cNvSpPr>
            <a:spLocks noChangeShapeType="1"/>
          </p:cNvSpPr>
          <p:nvPr/>
        </p:nvSpPr>
        <p:spPr bwMode="auto">
          <a:xfrm flipH="1">
            <a:off x="4343400" y="1828800"/>
            <a:ext cx="1524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761" name="Text Box 25"/>
          <p:cNvSpPr txBox="1">
            <a:spLocks noChangeArrowheads="1"/>
          </p:cNvSpPr>
          <p:nvPr/>
        </p:nvSpPr>
        <p:spPr bwMode="auto">
          <a:xfrm>
            <a:off x="5013325" y="1520825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6762" name="Freeform 26"/>
          <p:cNvSpPr>
            <a:spLocks/>
          </p:cNvSpPr>
          <p:nvPr/>
        </p:nvSpPr>
        <p:spPr bwMode="auto">
          <a:xfrm>
            <a:off x="4191000" y="1447800"/>
            <a:ext cx="17526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432" y="48"/>
              </a:cxn>
              <a:cxn ang="0">
                <a:pos x="1104" y="144"/>
              </a:cxn>
            </a:cxnLst>
            <a:rect l="0" t="0" r="r" b="b"/>
            <a:pathLst>
              <a:path w="1104" h="432">
                <a:moveTo>
                  <a:pt x="0" y="432"/>
                </a:moveTo>
                <a:cubicBezTo>
                  <a:pt x="124" y="264"/>
                  <a:pt x="248" y="96"/>
                  <a:pt x="432" y="48"/>
                </a:cubicBezTo>
                <a:cubicBezTo>
                  <a:pt x="616" y="0"/>
                  <a:pt x="968" y="120"/>
                  <a:pt x="1104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6763" name="Text Box 27"/>
          <p:cNvSpPr txBox="1">
            <a:spLocks noChangeArrowheads="1"/>
          </p:cNvSpPr>
          <p:nvPr/>
        </p:nvSpPr>
        <p:spPr bwMode="auto">
          <a:xfrm>
            <a:off x="4648200" y="9906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389F0E-7A58-4683-B7C6-A3C95D332601}" type="slidenum">
              <a:rPr lang="en-US"/>
              <a:pPr/>
              <a:t>22</a:t>
            </a:fld>
            <a:endParaRPr lang="en-US"/>
          </a:p>
        </p:txBody>
      </p:sp>
      <p:sp>
        <p:nvSpPr>
          <p:cNvPr id="117762" name="Text Box 2"/>
          <p:cNvSpPr txBox="1">
            <a:spLocks noChangeArrowheads="1"/>
          </p:cNvSpPr>
          <p:nvPr/>
        </p:nvSpPr>
        <p:spPr bwMode="auto">
          <a:xfrm>
            <a:off x="4267200" y="228600"/>
            <a:ext cx="12652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Walk</a:t>
            </a:r>
            <a:endParaRPr lang="en-US" sz="2800">
              <a:solidFill>
                <a:schemeClr val="tx1"/>
              </a:solidFill>
            </a:endParaRPr>
          </a:p>
        </p:txBody>
      </p:sp>
      <p:grpSp>
        <p:nvGrpSpPr>
          <p:cNvPr id="117763" name="Group 3"/>
          <p:cNvGrpSpPr>
            <a:grpSpLocks/>
          </p:cNvGrpSpPr>
          <p:nvPr/>
        </p:nvGrpSpPr>
        <p:grpSpPr bwMode="auto">
          <a:xfrm>
            <a:off x="2057400" y="1524000"/>
            <a:ext cx="5105400" cy="2438400"/>
            <a:chOff x="1152" y="962"/>
            <a:chExt cx="3216" cy="1536"/>
          </a:xfrm>
        </p:grpSpPr>
        <p:sp>
          <p:nvSpPr>
            <p:cNvPr id="117764" name="Oval 4"/>
            <p:cNvSpPr>
              <a:spLocks noChangeArrowheads="1"/>
            </p:cNvSpPr>
            <p:nvPr/>
          </p:nvSpPr>
          <p:spPr bwMode="auto">
            <a:xfrm>
              <a:off x="2928" y="221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7765" name="Oval 5"/>
            <p:cNvSpPr>
              <a:spLocks noChangeArrowheads="1"/>
            </p:cNvSpPr>
            <p:nvPr/>
          </p:nvSpPr>
          <p:spPr bwMode="auto">
            <a:xfrm>
              <a:off x="2304" y="134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7766" name="Oval 6"/>
            <p:cNvSpPr>
              <a:spLocks noChangeArrowheads="1"/>
            </p:cNvSpPr>
            <p:nvPr/>
          </p:nvSpPr>
          <p:spPr bwMode="auto">
            <a:xfrm>
              <a:off x="4080" y="168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7767" name="Oval 7"/>
            <p:cNvSpPr>
              <a:spLocks noChangeArrowheads="1"/>
            </p:cNvSpPr>
            <p:nvPr/>
          </p:nvSpPr>
          <p:spPr bwMode="auto">
            <a:xfrm>
              <a:off x="1152" y="177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7768" name="Line 8"/>
            <p:cNvSpPr>
              <a:spLocks noChangeShapeType="1"/>
            </p:cNvSpPr>
            <p:nvPr/>
          </p:nvSpPr>
          <p:spPr bwMode="auto">
            <a:xfrm flipV="1">
              <a:off x="1440" y="1538"/>
              <a:ext cx="86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7769" name="Line 9"/>
            <p:cNvSpPr>
              <a:spLocks noChangeShapeType="1"/>
            </p:cNvSpPr>
            <p:nvPr/>
          </p:nvSpPr>
          <p:spPr bwMode="auto">
            <a:xfrm>
              <a:off x="2544" y="1632"/>
              <a:ext cx="432" cy="5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7770" name="Line 10"/>
            <p:cNvSpPr>
              <a:spLocks noChangeShapeType="1"/>
            </p:cNvSpPr>
            <p:nvPr/>
          </p:nvSpPr>
          <p:spPr bwMode="auto">
            <a:xfrm flipV="1">
              <a:off x="3072" y="1250"/>
              <a:ext cx="52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7771" name="Line 11"/>
            <p:cNvSpPr>
              <a:spLocks noChangeShapeType="1"/>
            </p:cNvSpPr>
            <p:nvPr/>
          </p:nvSpPr>
          <p:spPr bwMode="auto">
            <a:xfrm flipH="1">
              <a:off x="3216" y="1874"/>
              <a:ext cx="864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7772" name="Line 12"/>
            <p:cNvSpPr>
              <a:spLocks noChangeShapeType="1"/>
            </p:cNvSpPr>
            <p:nvPr/>
          </p:nvSpPr>
          <p:spPr bwMode="auto">
            <a:xfrm flipH="1" flipV="1">
              <a:off x="1440" y="1970"/>
              <a:ext cx="1488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7773" name="Text Box 13"/>
            <p:cNvSpPr txBox="1">
              <a:spLocks noChangeArrowheads="1"/>
            </p:cNvSpPr>
            <p:nvPr/>
          </p:nvSpPr>
          <p:spPr bwMode="auto">
            <a:xfrm>
              <a:off x="1200" y="1730"/>
              <a:ext cx="23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17774" name="Text Box 14"/>
            <p:cNvSpPr txBox="1">
              <a:spLocks noChangeArrowheads="1"/>
            </p:cNvSpPr>
            <p:nvPr/>
          </p:nvSpPr>
          <p:spPr bwMode="auto">
            <a:xfrm>
              <a:off x="2352" y="1298"/>
              <a:ext cx="24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17775" name="Text Box 15"/>
            <p:cNvSpPr txBox="1">
              <a:spLocks noChangeArrowheads="1"/>
            </p:cNvSpPr>
            <p:nvPr/>
          </p:nvSpPr>
          <p:spPr bwMode="auto">
            <a:xfrm>
              <a:off x="2976" y="2162"/>
              <a:ext cx="23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17776" name="Text Box 16"/>
            <p:cNvSpPr txBox="1">
              <a:spLocks noChangeArrowheads="1"/>
            </p:cNvSpPr>
            <p:nvPr/>
          </p:nvSpPr>
          <p:spPr bwMode="auto">
            <a:xfrm>
              <a:off x="4080" y="1682"/>
              <a:ext cx="24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17777" name="Oval 17"/>
            <p:cNvSpPr>
              <a:spLocks noChangeArrowheads="1"/>
            </p:cNvSpPr>
            <p:nvPr/>
          </p:nvSpPr>
          <p:spPr bwMode="auto">
            <a:xfrm>
              <a:off x="3552" y="101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7778" name="Line 18"/>
            <p:cNvSpPr>
              <a:spLocks noChangeShapeType="1"/>
            </p:cNvSpPr>
            <p:nvPr/>
          </p:nvSpPr>
          <p:spPr bwMode="auto">
            <a:xfrm>
              <a:off x="3792" y="1250"/>
              <a:ext cx="384" cy="43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7779" name="Text Box 19"/>
            <p:cNvSpPr txBox="1">
              <a:spLocks noChangeArrowheads="1"/>
            </p:cNvSpPr>
            <p:nvPr/>
          </p:nvSpPr>
          <p:spPr bwMode="auto">
            <a:xfrm>
              <a:off x="3600" y="962"/>
              <a:ext cx="23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17780" name="Line 20"/>
            <p:cNvSpPr>
              <a:spLocks noChangeShapeType="1"/>
            </p:cNvSpPr>
            <p:nvPr/>
          </p:nvSpPr>
          <p:spPr bwMode="auto">
            <a:xfrm flipH="1">
              <a:off x="2592" y="1154"/>
              <a:ext cx="96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17781" name="Text Box 21"/>
          <p:cNvSpPr txBox="1">
            <a:spLocks noChangeArrowheads="1"/>
          </p:cNvSpPr>
          <p:nvPr/>
        </p:nvSpPr>
        <p:spPr bwMode="auto">
          <a:xfrm>
            <a:off x="1371600" y="4572000"/>
            <a:ext cx="6394450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Walk is a sequence of adjacent edges</a:t>
            </a: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              (e, d), (d, c), (c, a)</a:t>
            </a:r>
          </a:p>
        </p:txBody>
      </p:sp>
      <p:sp>
        <p:nvSpPr>
          <p:cNvPr id="117782" name="Freeform 22"/>
          <p:cNvSpPr>
            <a:spLocks/>
          </p:cNvSpPr>
          <p:nvPr/>
        </p:nvSpPr>
        <p:spPr bwMode="auto">
          <a:xfrm>
            <a:off x="4191000" y="1447800"/>
            <a:ext cx="17526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432" y="48"/>
              </a:cxn>
              <a:cxn ang="0">
                <a:pos x="1104" y="144"/>
              </a:cxn>
            </a:cxnLst>
            <a:rect l="0" t="0" r="r" b="b"/>
            <a:pathLst>
              <a:path w="1104" h="432">
                <a:moveTo>
                  <a:pt x="0" y="432"/>
                </a:moveTo>
                <a:cubicBezTo>
                  <a:pt x="124" y="264"/>
                  <a:pt x="248" y="96"/>
                  <a:pt x="432" y="48"/>
                </a:cubicBezTo>
                <a:cubicBezTo>
                  <a:pt x="616" y="0"/>
                  <a:pt x="968" y="120"/>
                  <a:pt x="1104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9C1AD0-B30C-4D7F-80B8-DB84342DB0A1}" type="slidenum">
              <a:rPr lang="en-US"/>
              <a:pPr/>
              <a:t>23</a:t>
            </a:fld>
            <a:endParaRPr lang="en-US"/>
          </a:p>
        </p:txBody>
      </p:sp>
      <p:sp>
        <p:nvSpPr>
          <p:cNvPr id="118786" name="Text Box 2"/>
          <p:cNvSpPr txBox="1">
            <a:spLocks noChangeArrowheads="1"/>
          </p:cNvSpPr>
          <p:nvPr/>
        </p:nvSpPr>
        <p:spPr bwMode="auto">
          <a:xfrm>
            <a:off x="3946525" y="128588"/>
            <a:ext cx="11350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Path</a:t>
            </a:r>
            <a:endParaRPr lang="en-US" sz="2800">
              <a:solidFill>
                <a:schemeClr val="tx1"/>
              </a:solidFill>
            </a:endParaRPr>
          </a:p>
        </p:txBody>
      </p:sp>
      <p:grpSp>
        <p:nvGrpSpPr>
          <p:cNvPr id="118787" name="Group 3"/>
          <p:cNvGrpSpPr>
            <a:grpSpLocks/>
          </p:cNvGrpSpPr>
          <p:nvPr/>
        </p:nvGrpSpPr>
        <p:grpSpPr bwMode="auto">
          <a:xfrm>
            <a:off x="2057400" y="1524000"/>
            <a:ext cx="5105400" cy="2438400"/>
            <a:chOff x="1152" y="962"/>
            <a:chExt cx="3216" cy="1536"/>
          </a:xfrm>
        </p:grpSpPr>
        <p:sp>
          <p:nvSpPr>
            <p:cNvPr id="118788" name="Oval 4"/>
            <p:cNvSpPr>
              <a:spLocks noChangeArrowheads="1"/>
            </p:cNvSpPr>
            <p:nvPr/>
          </p:nvSpPr>
          <p:spPr bwMode="auto">
            <a:xfrm>
              <a:off x="2928" y="221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8789" name="Oval 5"/>
            <p:cNvSpPr>
              <a:spLocks noChangeArrowheads="1"/>
            </p:cNvSpPr>
            <p:nvPr/>
          </p:nvSpPr>
          <p:spPr bwMode="auto">
            <a:xfrm>
              <a:off x="2304" y="134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8790" name="Oval 6"/>
            <p:cNvSpPr>
              <a:spLocks noChangeArrowheads="1"/>
            </p:cNvSpPr>
            <p:nvPr/>
          </p:nvSpPr>
          <p:spPr bwMode="auto">
            <a:xfrm>
              <a:off x="4080" y="168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8791" name="Oval 7"/>
            <p:cNvSpPr>
              <a:spLocks noChangeArrowheads="1"/>
            </p:cNvSpPr>
            <p:nvPr/>
          </p:nvSpPr>
          <p:spPr bwMode="auto">
            <a:xfrm>
              <a:off x="1152" y="1778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8792" name="Line 8"/>
            <p:cNvSpPr>
              <a:spLocks noChangeShapeType="1"/>
            </p:cNvSpPr>
            <p:nvPr/>
          </p:nvSpPr>
          <p:spPr bwMode="auto">
            <a:xfrm flipV="1">
              <a:off x="1440" y="1538"/>
              <a:ext cx="86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8793" name="Line 9"/>
            <p:cNvSpPr>
              <a:spLocks noChangeShapeType="1"/>
            </p:cNvSpPr>
            <p:nvPr/>
          </p:nvSpPr>
          <p:spPr bwMode="auto">
            <a:xfrm>
              <a:off x="2544" y="1632"/>
              <a:ext cx="432" cy="5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8794" name="Line 10"/>
            <p:cNvSpPr>
              <a:spLocks noChangeShapeType="1"/>
            </p:cNvSpPr>
            <p:nvPr/>
          </p:nvSpPr>
          <p:spPr bwMode="auto">
            <a:xfrm flipV="1">
              <a:off x="3072" y="1250"/>
              <a:ext cx="528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8795" name="Line 11"/>
            <p:cNvSpPr>
              <a:spLocks noChangeShapeType="1"/>
            </p:cNvSpPr>
            <p:nvPr/>
          </p:nvSpPr>
          <p:spPr bwMode="auto">
            <a:xfrm flipH="1">
              <a:off x="3216" y="1874"/>
              <a:ext cx="864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8796" name="Line 12"/>
            <p:cNvSpPr>
              <a:spLocks noChangeShapeType="1"/>
            </p:cNvSpPr>
            <p:nvPr/>
          </p:nvSpPr>
          <p:spPr bwMode="auto">
            <a:xfrm flipH="1" flipV="1">
              <a:off x="1440" y="1970"/>
              <a:ext cx="1488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8797" name="Text Box 13"/>
            <p:cNvSpPr txBox="1">
              <a:spLocks noChangeArrowheads="1"/>
            </p:cNvSpPr>
            <p:nvPr/>
          </p:nvSpPr>
          <p:spPr bwMode="auto">
            <a:xfrm>
              <a:off x="1200" y="1730"/>
              <a:ext cx="23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18798" name="Text Box 14"/>
            <p:cNvSpPr txBox="1">
              <a:spLocks noChangeArrowheads="1"/>
            </p:cNvSpPr>
            <p:nvPr/>
          </p:nvSpPr>
          <p:spPr bwMode="auto">
            <a:xfrm>
              <a:off x="2352" y="1298"/>
              <a:ext cx="24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18799" name="Text Box 15"/>
            <p:cNvSpPr txBox="1">
              <a:spLocks noChangeArrowheads="1"/>
            </p:cNvSpPr>
            <p:nvPr/>
          </p:nvSpPr>
          <p:spPr bwMode="auto">
            <a:xfrm>
              <a:off x="2976" y="2162"/>
              <a:ext cx="23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18800" name="Text Box 16"/>
            <p:cNvSpPr txBox="1">
              <a:spLocks noChangeArrowheads="1"/>
            </p:cNvSpPr>
            <p:nvPr/>
          </p:nvSpPr>
          <p:spPr bwMode="auto">
            <a:xfrm>
              <a:off x="4080" y="1682"/>
              <a:ext cx="24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18801" name="Oval 17"/>
            <p:cNvSpPr>
              <a:spLocks noChangeArrowheads="1"/>
            </p:cNvSpPr>
            <p:nvPr/>
          </p:nvSpPr>
          <p:spPr bwMode="auto">
            <a:xfrm>
              <a:off x="3552" y="101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18802" name="Line 18"/>
            <p:cNvSpPr>
              <a:spLocks noChangeShapeType="1"/>
            </p:cNvSpPr>
            <p:nvPr/>
          </p:nvSpPr>
          <p:spPr bwMode="auto">
            <a:xfrm>
              <a:off x="3792" y="1250"/>
              <a:ext cx="384" cy="43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18803" name="Text Box 19"/>
            <p:cNvSpPr txBox="1">
              <a:spLocks noChangeArrowheads="1"/>
            </p:cNvSpPr>
            <p:nvPr/>
          </p:nvSpPr>
          <p:spPr bwMode="auto">
            <a:xfrm>
              <a:off x="3600" y="962"/>
              <a:ext cx="23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18804" name="Line 20"/>
            <p:cNvSpPr>
              <a:spLocks noChangeShapeType="1"/>
            </p:cNvSpPr>
            <p:nvPr/>
          </p:nvSpPr>
          <p:spPr bwMode="auto">
            <a:xfrm flipH="1">
              <a:off x="2592" y="1154"/>
              <a:ext cx="96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18805" name="Text Box 21"/>
          <p:cNvSpPr txBox="1">
            <a:spLocks noChangeArrowheads="1"/>
          </p:cNvSpPr>
          <p:nvPr/>
        </p:nvSpPr>
        <p:spPr bwMode="auto">
          <a:xfrm>
            <a:off x="1066800" y="4495800"/>
            <a:ext cx="6899275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Path is a walk where no edge is repeated</a:t>
            </a:r>
          </a:p>
          <a:p>
            <a:pPr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800"/>
              <a:t>Simple path: no node is repeated</a:t>
            </a:r>
          </a:p>
        </p:txBody>
      </p:sp>
      <p:sp>
        <p:nvSpPr>
          <p:cNvPr id="118806" name="Freeform 22"/>
          <p:cNvSpPr>
            <a:spLocks/>
          </p:cNvSpPr>
          <p:nvPr/>
        </p:nvSpPr>
        <p:spPr bwMode="auto">
          <a:xfrm>
            <a:off x="4191000" y="1447800"/>
            <a:ext cx="17526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432" y="48"/>
              </a:cxn>
              <a:cxn ang="0">
                <a:pos x="1104" y="144"/>
              </a:cxn>
            </a:cxnLst>
            <a:rect l="0" t="0" r="r" b="b"/>
            <a:pathLst>
              <a:path w="1104" h="432">
                <a:moveTo>
                  <a:pt x="0" y="432"/>
                </a:moveTo>
                <a:cubicBezTo>
                  <a:pt x="124" y="264"/>
                  <a:pt x="248" y="96"/>
                  <a:pt x="432" y="48"/>
                </a:cubicBezTo>
                <a:cubicBezTo>
                  <a:pt x="616" y="0"/>
                  <a:pt x="968" y="120"/>
                  <a:pt x="1104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A36592-321C-4C29-B9E7-227BE2EB3521}" type="slidenum">
              <a:rPr lang="en-US"/>
              <a:pPr/>
              <a:t>24</a:t>
            </a:fld>
            <a:endParaRPr lang="en-US"/>
          </a:p>
        </p:txBody>
      </p:sp>
      <p:sp>
        <p:nvSpPr>
          <p:cNvPr id="119810" name="Text Box 2"/>
          <p:cNvSpPr txBox="1">
            <a:spLocks noChangeArrowheads="1"/>
          </p:cNvSpPr>
          <p:nvPr/>
        </p:nvSpPr>
        <p:spPr bwMode="auto">
          <a:xfrm>
            <a:off x="4038600" y="76200"/>
            <a:ext cx="13096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Cycle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19811" name="Oval 3"/>
          <p:cNvSpPr>
            <a:spLocks noChangeArrowheads="1"/>
          </p:cNvSpPr>
          <p:nvPr/>
        </p:nvSpPr>
        <p:spPr bwMode="auto">
          <a:xfrm>
            <a:off x="4876800" y="3505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9812" name="Oval 4"/>
          <p:cNvSpPr>
            <a:spLocks noChangeArrowheads="1"/>
          </p:cNvSpPr>
          <p:nvPr/>
        </p:nvSpPr>
        <p:spPr bwMode="auto">
          <a:xfrm>
            <a:off x="3886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9813" name="Oval 5"/>
          <p:cNvSpPr>
            <a:spLocks noChangeArrowheads="1"/>
          </p:cNvSpPr>
          <p:nvPr/>
        </p:nvSpPr>
        <p:spPr bwMode="auto">
          <a:xfrm>
            <a:off x="6705600" y="2667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9814" name="Oval 6"/>
          <p:cNvSpPr>
            <a:spLocks noChangeArrowheads="1"/>
          </p:cNvSpPr>
          <p:nvPr/>
        </p:nvSpPr>
        <p:spPr bwMode="auto">
          <a:xfrm>
            <a:off x="2057400" y="2819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9815" name="Line 7"/>
          <p:cNvSpPr>
            <a:spLocks noChangeShapeType="1"/>
          </p:cNvSpPr>
          <p:nvPr/>
        </p:nvSpPr>
        <p:spPr bwMode="auto">
          <a:xfrm flipV="1">
            <a:off x="2514600" y="2438400"/>
            <a:ext cx="13716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9816" name="Line 8"/>
          <p:cNvSpPr>
            <a:spLocks noChangeShapeType="1"/>
          </p:cNvSpPr>
          <p:nvPr/>
        </p:nvSpPr>
        <p:spPr bwMode="auto">
          <a:xfrm>
            <a:off x="4267200" y="2587625"/>
            <a:ext cx="685800" cy="9175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9817" name="Line 9"/>
          <p:cNvSpPr>
            <a:spLocks noChangeShapeType="1"/>
          </p:cNvSpPr>
          <p:nvPr/>
        </p:nvSpPr>
        <p:spPr bwMode="auto">
          <a:xfrm flipV="1">
            <a:off x="5105400" y="1981200"/>
            <a:ext cx="8382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9818" name="Line 10"/>
          <p:cNvSpPr>
            <a:spLocks noChangeShapeType="1"/>
          </p:cNvSpPr>
          <p:nvPr/>
        </p:nvSpPr>
        <p:spPr bwMode="auto">
          <a:xfrm flipH="1">
            <a:off x="5334000" y="2971800"/>
            <a:ext cx="1371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9819" name="Line 11"/>
          <p:cNvSpPr>
            <a:spLocks noChangeShapeType="1"/>
          </p:cNvSpPr>
          <p:nvPr/>
        </p:nvSpPr>
        <p:spPr bwMode="auto">
          <a:xfrm flipH="1" flipV="1">
            <a:off x="2514600" y="3124200"/>
            <a:ext cx="236220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9820" name="Text Box 12"/>
          <p:cNvSpPr txBox="1">
            <a:spLocks noChangeArrowheads="1"/>
          </p:cNvSpPr>
          <p:nvPr/>
        </p:nvSpPr>
        <p:spPr bwMode="auto">
          <a:xfrm>
            <a:off x="2133600" y="27432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9821" name="Text Box 13"/>
          <p:cNvSpPr txBox="1">
            <a:spLocks noChangeArrowheads="1"/>
          </p:cNvSpPr>
          <p:nvPr/>
        </p:nvSpPr>
        <p:spPr bwMode="auto">
          <a:xfrm>
            <a:off x="3962400" y="2057400"/>
            <a:ext cx="3952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9822" name="Text Box 14"/>
          <p:cNvSpPr txBox="1">
            <a:spLocks noChangeArrowheads="1"/>
          </p:cNvSpPr>
          <p:nvPr/>
        </p:nvSpPr>
        <p:spPr bwMode="auto">
          <a:xfrm>
            <a:off x="4953000" y="34290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9823" name="Text Box 15"/>
          <p:cNvSpPr txBox="1">
            <a:spLocks noChangeArrowheads="1"/>
          </p:cNvSpPr>
          <p:nvPr/>
        </p:nvSpPr>
        <p:spPr bwMode="auto">
          <a:xfrm>
            <a:off x="6705600" y="2667000"/>
            <a:ext cx="393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9824" name="Oval 16"/>
          <p:cNvSpPr>
            <a:spLocks noChangeArrowheads="1"/>
          </p:cNvSpPr>
          <p:nvPr/>
        </p:nvSpPr>
        <p:spPr bwMode="auto">
          <a:xfrm>
            <a:off x="5867400" y="1600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9825" name="Line 17"/>
          <p:cNvSpPr>
            <a:spLocks noChangeShapeType="1"/>
          </p:cNvSpPr>
          <p:nvPr/>
        </p:nvSpPr>
        <p:spPr bwMode="auto">
          <a:xfrm>
            <a:off x="6248400" y="1981200"/>
            <a:ext cx="609600" cy="682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9826" name="Text Box 18"/>
          <p:cNvSpPr txBox="1">
            <a:spLocks noChangeArrowheads="1"/>
          </p:cNvSpPr>
          <p:nvPr/>
        </p:nvSpPr>
        <p:spPr bwMode="auto">
          <a:xfrm>
            <a:off x="5943600" y="1524000"/>
            <a:ext cx="379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19827" name="Line 19"/>
          <p:cNvSpPr>
            <a:spLocks noChangeShapeType="1"/>
          </p:cNvSpPr>
          <p:nvPr/>
        </p:nvSpPr>
        <p:spPr bwMode="auto">
          <a:xfrm flipH="1">
            <a:off x="4343400" y="1828800"/>
            <a:ext cx="1524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9828" name="Text Box 20"/>
          <p:cNvSpPr txBox="1">
            <a:spLocks noChangeArrowheads="1"/>
          </p:cNvSpPr>
          <p:nvPr/>
        </p:nvSpPr>
        <p:spPr bwMode="auto">
          <a:xfrm>
            <a:off x="4495800" y="2590800"/>
            <a:ext cx="3444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9829" name="Text Box 21"/>
          <p:cNvSpPr txBox="1">
            <a:spLocks noChangeArrowheads="1"/>
          </p:cNvSpPr>
          <p:nvPr/>
        </p:nvSpPr>
        <p:spPr bwMode="auto">
          <a:xfrm>
            <a:off x="3657600" y="29718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9830" name="Text Box 22"/>
          <p:cNvSpPr txBox="1">
            <a:spLocks noChangeArrowheads="1"/>
          </p:cNvSpPr>
          <p:nvPr/>
        </p:nvSpPr>
        <p:spPr bwMode="auto">
          <a:xfrm>
            <a:off x="2895600" y="22860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9831" name="Text Box 23"/>
          <p:cNvSpPr txBox="1">
            <a:spLocks noChangeArrowheads="1"/>
          </p:cNvSpPr>
          <p:nvPr/>
        </p:nvSpPr>
        <p:spPr bwMode="auto">
          <a:xfrm>
            <a:off x="669925" y="4340225"/>
            <a:ext cx="7634288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Cycle: a walk from a node (base) to itself</a:t>
            </a:r>
          </a:p>
          <a:p>
            <a:pPr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800"/>
              <a:t>Simple cycle: only the base node is repeated</a:t>
            </a:r>
            <a:r>
              <a:rPr lang="en-US" sz="28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19832" name="Text Box 24"/>
          <p:cNvSpPr txBox="1">
            <a:spLocks noChangeArrowheads="1"/>
          </p:cNvSpPr>
          <p:nvPr/>
        </p:nvSpPr>
        <p:spPr bwMode="auto">
          <a:xfrm>
            <a:off x="3124200" y="1676400"/>
            <a:ext cx="946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base</a:t>
            </a:r>
          </a:p>
        </p:txBody>
      </p:sp>
      <p:sp>
        <p:nvSpPr>
          <p:cNvPr id="119833" name="Freeform 25"/>
          <p:cNvSpPr>
            <a:spLocks/>
          </p:cNvSpPr>
          <p:nvPr/>
        </p:nvSpPr>
        <p:spPr bwMode="auto">
          <a:xfrm>
            <a:off x="4191000" y="1447800"/>
            <a:ext cx="17526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432" y="48"/>
              </a:cxn>
              <a:cxn ang="0">
                <a:pos x="1104" y="144"/>
              </a:cxn>
            </a:cxnLst>
            <a:rect l="0" t="0" r="r" b="b"/>
            <a:pathLst>
              <a:path w="1104" h="432">
                <a:moveTo>
                  <a:pt x="0" y="432"/>
                </a:moveTo>
                <a:cubicBezTo>
                  <a:pt x="124" y="264"/>
                  <a:pt x="248" y="96"/>
                  <a:pt x="432" y="48"/>
                </a:cubicBezTo>
                <a:cubicBezTo>
                  <a:pt x="616" y="0"/>
                  <a:pt x="968" y="120"/>
                  <a:pt x="1104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C93C03-0F7F-4723-820A-17D9E17533DC}" type="slidenum">
              <a:rPr lang="en-US"/>
              <a:pPr/>
              <a:t>25</a:t>
            </a:fld>
            <a:endParaRPr lang="en-US"/>
          </a:p>
        </p:txBody>
      </p:sp>
      <p:sp>
        <p:nvSpPr>
          <p:cNvPr id="120834" name="Text Box 2"/>
          <p:cNvSpPr txBox="1">
            <a:spLocks noChangeArrowheads="1"/>
          </p:cNvSpPr>
          <p:nvPr/>
        </p:nvSpPr>
        <p:spPr bwMode="auto">
          <a:xfrm>
            <a:off x="2514600" y="30480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20835" name="Text Box 3"/>
          <p:cNvSpPr txBox="1">
            <a:spLocks noChangeArrowheads="1"/>
          </p:cNvSpPr>
          <p:nvPr/>
        </p:nvSpPr>
        <p:spPr bwMode="auto">
          <a:xfrm>
            <a:off x="3429000" y="55563"/>
            <a:ext cx="24479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Euler Tour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20836" name="Oval 4"/>
          <p:cNvSpPr>
            <a:spLocks noChangeArrowheads="1"/>
          </p:cNvSpPr>
          <p:nvPr/>
        </p:nvSpPr>
        <p:spPr bwMode="auto">
          <a:xfrm>
            <a:off x="4876800" y="3505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0837" name="Oval 5"/>
          <p:cNvSpPr>
            <a:spLocks noChangeArrowheads="1"/>
          </p:cNvSpPr>
          <p:nvPr/>
        </p:nvSpPr>
        <p:spPr bwMode="auto">
          <a:xfrm>
            <a:off x="3886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0838" name="Oval 6"/>
          <p:cNvSpPr>
            <a:spLocks noChangeArrowheads="1"/>
          </p:cNvSpPr>
          <p:nvPr/>
        </p:nvSpPr>
        <p:spPr bwMode="auto">
          <a:xfrm>
            <a:off x="6705600" y="2667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0839" name="Oval 7"/>
          <p:cNvSpPr>
            <a:spLocks noChangeArrowheads="1"/>
          </p:cNvSpPr>
          <p:nvPr/>
        </p:nvSpPr>
        <p:spPr bwMode="auto">
          <a:xfrm>
            <a:off x="2057400" y="2819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0840" name="Line 8"/>
          <p:cNvSpPr>
            <a:spLocks noChangeShapeType="1"/>
          </p:cNvSpPr>
          <p:nvPr/>
        </p:nvSpPr>
        <p:spPr bwMode="auto">
          <a:xfrm flipV="1">
            <a:off x="2514600" y="2438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0841" name="Line 9"/>
          <p:cNvSpPr>
            <a:spLocks noChangeShapeType="1"/>
          </p:cNvSpPr>
          <p:nvPr/>
        </p:nvSpPr>
        <p:spPr bwMode="auto">
          <a:xfrm>
            <a:off x="4267200" y="2587625"/>
            <a:ext cx="685800" cy="917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0842" name="Line 10"/>
          <p:cNvSpPr>
            <a:spLocks noChangeShapeType="1"/>
          </p:cNvSpPr>
          <p:nvPr/>
        </p:nvSpPr>
        <p:spPr bwMode="auto">
          <a:xfrm flipV="1">
            <a:off x="5105400" y="1981200"/>
            <a:ext cx="8382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0843" name="Line 11"/>
          <p:cNvSpPr>
            <a:spLocks noChangeShapeType="1"/>
          </p:cNvSpPr>
          <p:nvPr/>
        </p:nvSpPr>
        <p:spPr bwMode="auto">
          <a:xfrm flipH="1">
            <a:off x="5334000" y="2971800"/>
            <a:ext cx="1371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0844" name="Line 12"/>
          <p:cNvSpPr>
            <a:spLocks noChangeShapeType="1"/>
          </p:cNvSpPr>
          <p:nvPr/>
        </p:nvSpPr>
        <p:spPr bwMode="auto">
          <a:xfrm flipH="1" flipV="1">
            <a:off x="2514600" y="3124200"/>
            <a:ext cx="2362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0845" name="Text Box 13"/>
          <p:cNvSpPr txBox="1">
            <a:spLocks noChangeArrowheads="1"/>
          </p:cNvSpPr>
          <p:nvPr/>
        </p:nvSpPr>
        <p:spPr bwMode="auto">
          <a:xfrm>
            <a:off x="2133600" y="27432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0846" name="Text Box 14"/>
          <p:cNvSpPr txBox="1">
            <a:spLocks noChangeArrowheads="1"/>
          </p:cNvSpPr>
          <p:nvPr/>
        </p:nvSpPr>
        <p:spPr bwMode="auto">
          <a:xfrm>
            <a:off x="3962400" y="2057400"/>
            <a:ext cx="3952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0847" name="Text Box 15"/>
          <p:cNvSpPr txBox="1">
            <a:spLocks noChangeArrowheads="1"/>
          </p:cNvSpPr>
          <p:nvPr/>
        </p:nvSpPr>
        <p:spPr bwMode="auto">
          <a:xfrm>
            <a:off x="4953000" y="34290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0848" name="Text Box 16"/>
          <p:cNvSpPr txBox="1">
            <a:spLocks noChangeArrowheads="1"/>
          </p:cNvSpPr>
          <p:nvPr/>
        </p:nvSpPr>
        <p:spPr bwMode="auto">
          <a:xfrm>
            <a:off x="6705600" y="2667000"/>
            <a:ext cx="393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20849" name="Oval 17"/>
          <p:cNvSpPr>
            <a:spLocks noChangeArrowheads="1"/>
          </p:cNvSpPr>
          <p:nvPr/>
        </p:nvSpPr>
        <p:spPr bwMode="auto">
          <a:xfrm>
            <a:off x="5867400" y="1600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0850" name="Line 18"/>
          <p:cNvSpPr>
            <a:spLocks noChangeShapeType="1"/>
          </p:cNvSpPr>
          <p:nvPr/>
        </p:nvSpPr>
        <p:spPr bwMode="auto">
          <a:xfrm>
            <a:off x="6248400" y="1981200"/>
            <a:ext cx="609600" cy="682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0851" name="Text Box 19"/>
          <p:cNvSpPr txBox="1">
            <a:spLocks noChangeArrowheads="1"/>
          </p:cNvSpPr>
          <p:nvPr/>
        </p:nvSpPr>
        <p:spPr bwMode="auto">
          <a:xfrm>
            <a:off x="5943600" y="1524000"/>
            <a:ext cx="379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20852" name="Line 20"/>
          <p:cNvSpPr>
            <a:spLocks noChangeShapeType="1"/>
          </p:cNvSpPr>
          <p:nvPr/>
        </p:nvSpPr>
        <p:spPr bwMode="auto">
          <a:xfrm flipH="1">
            <a:off x="4343400" y="1828800"/>
            <a:ext cx="1524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0853" name="Text Box 21"/>
          <p:cNvSpPr txBox="1">
            <a:spLocks noChangeArrowheads="1"/>
          </p:cNvSpPr>
          <p:nvPr/>
        </p:nvSpPr>
        <p:spPr bwMode="auto">
          <a:xfrm>
            <a:off x="6553200" y="1981200"/>
            <a:ext cx="3444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0854" name="Text Box 22"/>
          <p:cNvSpPr txBox="1">
            <a:spLocks noChangeArrowheads="1"/>
          </p:cNvSpPr>
          <p:nvPr/>
        </p:nvSpPr>
        <p:spPr bwMode="auto">
          <a:xfrm>
            <a:off x="6019800" y="27432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0855" name="Text Box 23"/>
          <p:cNvSpPr txBox="1">
            <a:spLocks noChangeArrowheads="1"/>
          </p:cNvSpPr>
          <p:nvPr/>
        </p:nvSpPr>
        <p:spPr bwMode="auto">
          <a:xfrm>
            <a:off x="3581400" y="30480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0856" name="Text Box 24"/>
          <p:cNvSpPr txBox="1">
            <a:spLocks noChangeArrowheads="1"/>
          </p:cNvSpPr>
          <p:nvPr/>
        </p:nvSpPr>
        <p:spPr bwMode="auto">
          <a:xfrm>
            <a:off x="3108325" y="2206625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0857" name="Text Box 25"/>
          <p:cNvSpPr txBox="1">
            <a:spLocks noChangeArrowheads="1"/>
          </p:cNvSpPr>
          <p:nvPr/>
        </p:nvSpPr>
        <p:spPr bwMode="auto">
          <a:xfrm>
            <a:off x="4495800" y="25908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0858" name="Text Box 26"/>
          <p:cNvSpPr txBox="1">
            <a:spLocks noChangeArrowheads="1"/>
          </p:cNvSpPr>
          <p:nvPr/>
        </p:nvSpPr>
        <p:spPr bwMode="auto">
          <a:xfrm>
            <a:off x="5181600" y="23622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0859" name="Freeform 27"/>
          <p:cNvSpPr>
            <a:spLocks/>
          </p:cNvSpPr>
          <p:nvPr/>
        </p:nvSpPr>
        <p:spPr bwMode="auto">
          <a:xfrm>
            <a:off x="4191000" y="1447800"/>
            <a:ext cx="17526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432" y="48"/>
              </a:cxn>
              <a:cxn ang="0">
                <a:pos x="1104" y="144"/>
              </a:cxn>
            </a:cxnLst>
            <a:rect l="0" t="0" r="r" b="b"/>
            <a:pathLst>
              <a:path w="1104" h="432">
                <a:moveTo>
                  <a:pt x="0" y="432"/>
                </a:moveTo>
                <a:cubicBezTo>
                  <a:pt x="124" y="264"/>
                  <a:pt x="248" y="96"/>
                  <a:pt x="432" y="48"/>
                </a:cubicBezTo>
                <a:cubicBezTo>
                  <a:pt x="616" y="0"/>
                  <a:pt x="968" y="120"/>
                  <a:pt x="1104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0860" name="Text Box 28"/>
          <p:cNvSpPr txBox="1">
            <a:spLocks noChangeArrowheads="1"/>
          </p:cNvSpPr>
          <p:nvPr/>
        </p:nvSpPr>
        <p:spPr bwMode="auto">
          <a:xfrm>
            <a:off x="4876800" y="16002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20861" name="Text Box 29"/>
          <p:cNvSpPr txBox="1">
            <a:spLocks noChangeArrowheads="1"/>
          </p:cNvSpPr>
          <p:nvPr/>
        </p:nvSpPr>
        <p:spPr bwMode="auto">
          <a:xfrm>
            <a:off x="4860925" y="987425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20862" name="Text Box 30"/>
          <p:cNvSpPr txBox="1">
            <a:spLocks noChangeArrowheads="1"/>
          </p:cNvSpPr>
          <p:nvPr/>
        </p:nvSpPr>
        <p:spPr bwMode="auto">
          <a:xfrm>
            <a:off x="5867400" y="1143000"/>
            <a:ext cx="946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base</a:t>
            </a:r>
          </a:p>
        </p:txBody>
      </p:sp>
      <p:sp>
        <p:nvSpPr>
          <p:cNvPr id="120863" name="Text Box 31"/>
          <p:cNvSpPr txBox="1">
            <a:spLocks noChangeArrowheads="1"/>
          </p:cNvSpPr>
          <p:nvPr/>
        </p:nvSpPr>
        <p:spPr bwMode="auto">
          <a:xfrm>
            <a:off x="1524000" y="4648200"/>
            <a:ext cx="63198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A cycle that contains each edge once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1D630B-90CE-42C3-A0A4-F492A0B073EA}" type="slidenum">
              <a:rPr lang="en-US"/>
              <a:pPr/>
              <a:t>26</a:t>
            </a:fld>
            <a:endParaRPr lang="en-US"/>
          </a:p>
        </p:txBody>
      </p:sp>
      <p:sp>
        <p:nvSpPr>
          <p:cNvPr id="121858" name="Text Box 2"/>
          <p:cNvSpPr txBox="1">
            <a:spLocks noChangeArrowheads="1"/>
          </p:cNvSpPr>
          <p:nvPr/>
        </p:nvSpPr>
        <p:spPr bwMode="auto">
          <a:xfrm>
            <a:off x="2590800" y="0"/>
            <a:ext cx="3937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Hamiltonian Cycle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21859" name="Oval 3"/>
          <p:cNvSpPr>
            <a:spLocks noChangeArrowheads="1"/>
          </p:cNvSpPr>
          <p:nvPr/>
        </p:nvSpPr>
        <p:spPr bwMode="auto">
          <a:xfrm>
            <a:off x="4876800" y="3505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1860" name="Oval 4"/>
          <p:cNvSpPr>
            <a:spLocks noChangeArrowheads="1"/>
          </p:cNvSpPr>
          <p:nvPr/>
        </p:nvSpPr>
        <p:spPr bwMode="auto">
          <a:xfrm>
            <a:off x="3886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1861" name="Oval 5"/>
          <p:cNvSpPr>
            <a:spLocks noChangeArrowheads="1"/>
          </p:cNvSpPr>
          <p:nvPr/>
        </p:nvSpPr>
        <p:spPr bwMode="auto">
          <a:xfrm>
            <a:off x="6705600" y="2667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1862" name="Oval 6"/>
          <p:cNvSpPr>
            <a:spLocks noChangeArrowheads="1"/>
          </p:cNvSpPr>
          <p:nvPr/>
        </p:nvSpPr>
        <p:spPr bwMode="auto">
          <a:xfrm>
            <a:off x="2057400" y="2819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1863" name="Line 7"/>
          <p:cNvSpPr>
            <a:spLocks noChangeShapeType="1"/>
          </p:cNvSpPr>
          <p:nvPr/>
        </p:nvSpPr>
        <p:spPr bwMode="auto">
          <a:xfrm flipV="1">
            <a:off x="2514600" y="2438400"/>
            <a:ext cx="13716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1864" name="Line 8"/>
          <p:cNvSpPr>
            <a:spLocks noChangeShapeType="1"/>
          </p:cNvSpPr>
          <p:nvPr/>
        </p:nvSpPr>
        <p:spPr bwMode="auto">
          <a:xfrm>
            <a:off x="4267200" y="2587625"/>
            <a:ext cx="685800" cy="917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1865" name="Line 9"/>
          <p:cNvSpPr>
            <a:spLocks noChangeShapeType="1"/>
          </p:cNvSpPr>
          <p:nvPr/>
        </p:nvSpPr>
        <p:spPr bwMode="auto">
          <a:xfrm flipV="1">
            <a:off x="5105400" y="1981200"/>
            <a:ext cx="8382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1866" name="Line 10"/>
          <p:cNvSpPr>
            <a:spLocks noChangeShapeType="1"/>
          </p:cNvSpPr>
          <p:nvPr/>
        </p:nvSpPr>
        <p:spPr bwMode="auto">
          <a:xfrm flipH="1">
            <a:off x="5334000" y="2971800"/>
            <a:ext cx="137160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1867" name="Line 11"/>
          <p:cNvSpPr>
            <a:spLocks noChangeShapeType="1"/>
          </p:cNvSpPr>
          <p:nvPr/>
        </p:nvSpPr>
        <p:spPr bwMode="auto">
          <a:xfrm flipH="1" flipV="1">
            <a:off x="2514600" y="3124200"/>
            <a:ext cx="236220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1868" name="Text Box 12"/>
          <p:cNvSpPr txBox="1">
            <a:spLocks noChangeArrowheads="1"/>
          </p:cNvSpPr>
          <p:nvPr/>
        </p:nvSpPr>
        <p:spPr bwMode="auto">
          <a:xfrm>
            <a:off x="2133600" y="27432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1869" name="Text Box 13"/>
          <p:cNvSpPr txBox="1">
            <a:spLocks noChangeArrowheads="1"/>
          </p:cNvSpPr>
          <p:nvPr/>
        </p:nvSpPr>
        <p:spPr bwMode="auto">
          <a:xfrm>
            <a:off x="3962400" y="2057400"/>
            <a:ext cx="3952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1870" name="Text Box 14"/>
          <p:cNvSpPr txBox="1">
            <a:spLocks noChangeArrowheads="1"/>
          </p:cNvSpPr>
          <p:nvPr/>
        </p:nvSpPr>
        <p:spPr bwMode="auto">
          <a:xfrm>
            <a:off x="4953000" y="34290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1871" name="Text Box 15"/>
          <p:cNvSpPr txBox="1">
            <a:spLocks noChangeArrowheads="1"/>
          </p:cNvSpPr>
          <p:nvPr/>
        </p:nvSpPr>
        <p:spPr bwMode="auto">
          <a:xfrm>
            <a:off x="6705600" y="2667000"/>
            <a:ext cx="393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21872" name="Oval 16"/>
          <p:cNvSpPr>
            <a:spLocks noChangeArrowheads="1"/>
          </p:cNvSpPr>
          <p:nvPr/>
        </p:nvSpPr>
        <p:spPr bwMode="auto">
          <a:xfrm>
            <a:off x="5867400" y="1600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1873" name="Line 17"/>
          <p:cNvSpPr>
            <a:spLocks noChangeShapeType="1"/>
          </p:cNvSpPr>
          <p:nvPr/>
        </p:nvSpPr>
        <p:spPr bwMode="auto">
          <a:xfrm>
            <a:off x="6248400" y="1981200"/>
            <a:ext cx="609600" cy="6826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1874" name="Text Box 18"/>
          <p:cNvSpPr txBox="1">
            <a:spLocks noChangeArrowheads="1"/>
          </p:cNvSpPr>
          <p:nvPr/>
        </p:nvSpPr>
        <p:spPr bwMode="auto">
          <a:xfrm>
            <a:off x="5943600" y="1524000"/>
            <a:ext cx="379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21875" name="Line 19"/>
          <p:cNvSpPr>
            <a:spLocks noChangeShapeType="1"/>
          </p:cNvSpPr>
          <p:nvPr/>
        </p:nvSpPr>
        <p:spPr bwMode="auto">
          <a:xfrm flipH="1">
            <a:off x="4343400" y="1828800"/>
            <a:ext cx="1524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1876" name="Text Box 20"/>
          <p:cNvSpPr txBox="1">
            <a:spLocks noChangeArrowheads="1"/>
          </p:cNvSpPr>
          <p:nvPr/>
        </p:nvSpPr>
        <p:spPr bwMode="auto">
          <a:xfrm>
            <a:off x="6553200" y="1981200"/>
            <a:ext cx="3444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1877" name="Text Box 21"/>
          <p:cNvSpPr txBox="1">
            <a:spLocks noChangeArrowheads="1"/>
          </p:cNvSpPr>
          <p:nvPr/>
        </p:nvSpPr>
        <p:spPr bwMode="auto">
          <a:xfrm>
            <a:off x="6019800" y="27432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1878" name="Text Box 22"/>
          <p:cNvSpPr txBox="1">
            <a:spLocks noChangeArrowheads="1"/>
          </p:cNvSpPr>
          <p:nvPr/>
        </p:nvSpPr>
        <p:spPr bwMode="auto">
          <a:xfrm>
            <a:off x="3581400" y="3048000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1879" name="Text Box 23"/>
          <p:cNvSpPr txBox="1">
            <a:spLocks noChangeArrowheads="1"/>
          </p:cNvSpPr>
          <p:nvPr/>
        </p:nvSpPr>
        <p:spPr bwMode="auto">
          <a:xfrm>
            <a:off x="3108325" y="2206625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1880" name="Freeform 24"/>
          <p:cNvSpPr>
            <a:spLocks/>
          </p:cNvSpPr>
          <p:nvPr/>
        </p:nvSpPr>
        <p:spPr bwMode="auto">
          <a:xfrm>
            <a:off x="4191000" y="1447800"/>
            <a:ext cx="17526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432" y="48"/>
              </a:cxn>
              <a:cxn ang="0">
                <a:pos x="1104" y="144"/>
              </a:cxn>
            </a:cxnLst>
            <a:rect l="0" t="0" r="r" b="b"/>
            <a:pathLst>
              <a:path w="1104" h="432">
                <a:moveTo>
                  <a:pt x="0" y="432"/>
                </a:moveTo>
                <a:cubicBezTo>
                  <a:pt x="124" y="264"/>
                  <a:pt x="248" y="96"/>
                  <a:pt x="432" y="48"/>
                </a:cubicBezTo>
                <a:cubicBezTo>
                  <a:pt x="616" y="0"/>
                  <a:pt x="968" y="120"/>
                  <a:pt x="1104" y="144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1881" name="Text Box 25"/>
          <p:cNvSpPr txBox="1">
            <a:spLocks noChangeArrowheads="1"/>
          </p:cNvSpPr>
          <p:nvPr/>
        </p:nvSpPr>
        <p:spPr bwMode="auto">
          <a:xfrm>
            <a:off x="4876800" y="160020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21882" name="Text Box 26"/>
          <p:cNvSpPr txBox="1">
            <a:spLocks noChangeArrowheads="1"/>
          </p:cNvSpPr>
          <p:nvPr/>
        </p:nvSpPr>
        <p:spPr bwMode="auto">
          <a:xfrm>
            <a:off x="4860925" y="987425"/>
            <a:ext cx="401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1883" name="Text Box 27"/>
          <p:cNvSpPr txBox="1">
            <a:spLocks noChangeArrowheads="1"/>
          </p:cNvSpPr>
          <p:nvPr/>
        </p:nvSpPr>
        <p:spPr bwMode="auto">
          <a:xfrm>
            <a:off x="5867400" y="1143000"/>
            <a:ext cx="946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base</a:t>
            </a:r>
          </a:p>
        </p:txBody>
      </p:sp>
      <p:sp>
        <p:nvSpPr>
          <p:cNvPr id="121884" name="Text Box 28"/>
          <p:cNvSpPr txBox="1">
            <a:spLocks noChangeArrowheads="1"/>
          </p:cNvSpPr>
          <p:nvPr/>
        </p:nvSpPr>
        <p:spPr bwMode="auto">
          <a:xfrm>
            <a:off x="1219200" y="4953000"/>
            <a:ext cx="63738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A simple cycle that contains all nodes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2CE823-14E2-4BDB-A064-01819ADDA71F}" type="slidenum">
              <a:rPr lang="en-US"/>
              <a:pPr/>
              <a:t>27</a:t>
            </a:fld>
            <a:endParaRPr lang="en-US"/>
          </a:p>
        </p:txBody>
      </p:sp>
      <p:sp>
        <p:nvSpPr>
          <p:cNvPr id="122882" name="Text Box 2"/>
          <p:cNvSpPr txBox="1">
            <a:spLocks noChangeArrowheads="1"/>
          </p:cNvSpPr>
          <p:nvPr/>
        </p:nvSpPr>
        <p:spPr bwMode="auto">
          <a:xfrm>
            <a:off x="2057400" y="228600"/>
            <a:ext cx="53006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Finding All Simple Paths</a:t>
            </a:r>
          </a:p>
        </p:txBody>
      </p:sp>
      <p:sp>
        <p:nvSpPr>
          <p:cNvPr id="122883" name="Oval 3"/>
          <p:cNvSpPr>
            <a:spLocks noChangeArrowheads="1"/>
          </p:cNvSpPr>
          <p:nvPr/>
        </p:nvSpPr>
        <p:spPr bwMode="auto">
          <a:xfrm>
            <a:off x="4876800" y="3505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2884" name="Oval 4"/>
          <p:cNvSpPr>
            <a:spLocks noChangeArrowheads="1"/>
          </p:cNvSpPr>
          <p:nvPr/>
        </p:nvSpPr>
        <p:spPr bwMode="auto">
          <a:xfrm>
            <a:off x="3886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2885" name="Oval 5"/>
          <p:cNvSpPr>
            <a:spLocks noChangeArrowheads="1"/>
          </p:cNvSpPr>
          <p:nvPr/>
        </p:nvSpPr>
        <p:spPr bwMode="auto">
          <a:xfrm>
            <a:off x="6705600" y="2667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2886" name="Oval 6"/>
          <p:cNvSpPr>
            <a:spLocks noChangeArrowheads="1"/>
          </p:cNvSpPr>
          <p:nvPr/>
        </p:nvSpPr>
        <p:spPr bwMode="auto">
          <a:xfrm>
            <a:off x="2057400" y="2819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2887" name="Line 7"/>
          <p:cNvSpPr>
            <a:spLocks noChangeShapeType="1"/>
          </p:cNvSpPr>
          <p:nvPr/>
        </p:nvSpPr>
        <p:spPr bwMode="auto">
          <a:xfrm flipV="1">
            <a:off x="2514600" y="2438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2888" name="Line 8"/>
          <p:cNvSpPr>
            <a:spLocks noChangeShapeType="1"/>
          </p:cNvSpPr>
          <p:nvPr/>
        </p:nvSpPr>
        <p:spPr bwMode="auto">
          <a:xfrm>
            <a:off x="4267200" y="2514600"/>
            <a:ext cx="685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2889" name="Line 9"/>
          <p:cNvSpPr>
            <a:spLocks noChangeShapeType="1"/>
          </p:cNvSpPr>
          <p:nvPr/>
        </p:nvSpPr>
        <p:spPr bwMode="auto">
          <a:xfrm flipV="1">
            <a:off x="5105400" y="1981200"/>
            <a:ext cx="8382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2890" name="Line 10"/>
          <p:cNvSpPr>
            <a:spLocks noChangeShapeType="1"/>
          </p:cNvSpPr>
          <p:nvPr/>
        </p:nvSpPr>
        <p:spPr bwMode="auto">
          <a:xfrm flipH="1">
            <a:off x="5334000" y="2971800"/>
            <a:ext cx="1371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2891" name="Line 11"/>
          <p:cNvSpPr>
            <a:spLocks noChangeShapeType="1"/>
          </p:cNvSpPr>
          <p:nvPr/>
        </p:nvSpPr>
        <p:spPr bwMode="auto">
          <a:xfrm flipH="1" flipV="1">
            <a:off x="2514600" y="3124200"/>
            <a:ext cx="2362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2892" name="Text Box 12"/>
          <p:cNvSpPr txBox="1">
            <a:spLocks noChangeArrowheads="1"/>
          </p:cNvSpPr>
          <p:nvPr/>
        </p:nvSpPr>
        <p:spPr bwMode="auto">
          <a:xfrm>
            <a:off x="2133600" y="27432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2893" name="Text Box 13"/>
          <p:cNvSpPr txBox="1">
            <a:spLocks noChangeArrowheads="1"/>
          </p:cNvSpPr>
          <p:nvPr/>
        </p:nvSpPr>
        <p:spPr bwMode="auto">
          <a:xfrm>
            <a:off x="3962400" y="2057400"/>
            <a:ext cx="3952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2894" name="Text Box 14"/>
          <p:cNvSpPr txBox="1">
            <a:spLocks noChangeArrowheads="1"/>
          </p:cNvSpPr>
          <p:nvPr/>
        </p:nvSpPr>
        <p:spPr bwMode="auto">
          <a:xfrm>
            <a:off x="4953000" y="34290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2895" name="Text Box 15"/>
          <p:cNvSpPr txBox="1">
            <a:spLocks noChangeArrowheads="1"/>
          </p:cNvSpPr>
          <p:nvPr/>
        </p:nvSpPr>
        <p:spPr bwMode="auto">
          <a:xfrm>
            <a:off x="6705600" y="2667000"/>
            <a:ext cx="393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22896" name="Oval 16"/>
          <p:cNvSpPr>
            <a:spLocks noChangeArrowheads="1"/>
          </p:cNvSpPr>
          <p:nvPr/>
        </p:nvSpPr>
        <p:spPr bwMode="auto">
          <a:xfrm>
            <a:off x="5867400" y="1600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2897" name="Line 17"/>
          <p:cNvSpPr>
            <a:spLocks noChangeShapeType="1"/>
          </p:cNvSpPr>
          <p:nvPr/>
        </p:nvSpPr>
        <p:spPr bwMode="auto">
          <a:xfrm>
            <a:off x="6248400" y="19812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2898" name="Text Box 18"/>
          <p:cNvSpPr txBox="1">
            <a:spLocks noChangeArrowheads="1"/>
          </p:cNvSpPr>
          <p:nvPr/>
        </p:nvSpPr>
        <p:spPr bwMode="auto">
          <a:xfrm>
            <a:off x="5943600" y="1524000"/>
            <a:ext cx="379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22899" name="Line 19"/>
          <p:cNvSpPr>
            <a:spLocks noChangeShapeType="1"/>
          </p:cNvSpPr>
          <p:nvPr/>
        </p:nvSpPr>
        <p:spPr bwMode="auto">
          <a:xfrm flipH="1">
            <a:off x="4343400" y="1828800"/>
            <a:ext cx="1524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2900" name="Freeform 20"/>
          <p:cNvSpPr>
            <a:spLocks/>
          </p:cNvSpPr>
          <p:nvPr/>
        </p:nvSpPr>
        <p:spPr bwMode="auto">
          <a:xfrm>
            <a:off x="4191000" y="1447800"/>
            <a:ext cx="17526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432" y="48"/>
              </a:cxn>
              <a:cxn ang="0">
                <a:pos x="1104" y="144"/>
              </a:cxn>
            </a:cxnLst>
            <a:rect l="0" t="0" r="r" b="b"/>
            <a:pathLst>
              <a:path w="1104" h="432">
                <a:moveTo>
                  <a:pt x="0" y="432"/>
                </a:moveTo>
                <a:cubicBezTo>
                  <a:pt x="124" y="264"/>
                  <a:pt x="248" y="96"/>
                  <a:pt x="432" y="48"/>
                </a:cubicBezTo>
                <a:cubicBezTo>
                  <a:pt x="616" y="0"/>
                  <a:pt x="968" y="120"/>
                  <a:pt x="1104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2901" name="Text Box 21"/>
          <p:cNvSpPr txBox="1">
            <a:spLocks noChangeArrowheads="1"/>
          </p:cNvSpPr>
          <p:nvPr/>
        </p:nvSpPr>
        <p:spPr bwMode="auto">
          <a:xfrm>
            <a:off x="5257800" y="3733800"/>
            <a:ext cx="1117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origin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7B8984-1FD0-41A5-810B-7ECCF4C4CF1A}" type="slidenum">
              <a:rPr lang="en-US"/>
              <a:pPr/>
              <a:t>28</a:t>
            </a:fld>
            <a:endParaRPr lang="en-US"/>
          </a:p>
        </p:txBody>
      </p:sp>
      <p:sp>
        <p:nvSpPr>
          <p:cNvPr id="123906" name="Text Box 2"/>
          <p:cNvSpPr txBox="1">
            <a:spLocks noChangeArrowheads="1"/>
          </p:cNvSpPr>
          <p:nvPr/>
        </p:nvSpPr>
        <p:spPr bwMode="auto">
          <a:xfrm>
            <a:off x="1143000" y="4191000"/>
            <a:ext cx="1027113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(c, a)</a:t>
            </a: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(c, e)</a:t>
            </a:r>
          </a:p>
        </p:txBody>
      </p:sp>
      <p:sp>
        <p:nvSpPr>
          <p:cNvPr id="123907" name="Text Box 3"/>
          <p:cNvSpPr txBox="1">
            <a:spLocks noChangeArrowheads="1"/>
          </p:cNvSpPr>
          <p:nvPr/>
        </p:nvSpPr>
        <p:spPr bwMode="auto">
          <a:xfrm>
            <a:off x="4251325" y="52388"/>
            <a:ext cx="1555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Step 1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23908" name="Oval 4"/>
          <p:cNvSpPr>
            <a:spLocks noChangeArrowheads="1"/>
          </p:cNvSpPr>
          <p:nvPr/>
        </p:nvSpPr>
        <p:spPr bwMode="auto">
          <a:xfrm>
            <a:off x="4876800" y="3505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3909" name="Oval 5"/>
          <p:cNvSpPr>
            <a:spLocks noChangeArrowheads="1"/>
          </p:cNvSpPr>
          <p:nvPr/>
        </p:nvSpPr>
        <p:spPr bwMode="auto">
          <a:xfrm>
            <a:off x="3886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3910" name="Oval 6"/>
          <p:cNvSpPr>
            <a:spLocks noChangeArrowheads="1"/>
          </p:cNvSpPr>
          <p:nvPr/>
        </p:nvSpPr>
        <p:spPr bwMode="auto">
          <a:xfrm>
            <a:off x="6705600" y="2667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3911" name="Oval 7"/>
          <p:cNvSpPr>
            <a:spLocks noChangeArrowheads="1"/>
          </p:cNvSpPr>
          <p:nvPr/>
        </p:nvSpPr>
        <p:spPr bwMode="auto">
          <a:xfrm>
            <a:off x="2057400" y="2819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3912" name="Line 8"/>
          <p:cNvSpPr>
            <a:spLocks noChangeShapeType="1"/>
          </p:cNvSpPr>
          <p:nvPr/>
        </p:nvSpPr>
        <p:spPr bwMode="auto">
          <a:xfrm flipV="1">
            <a:off x="2514600" y="2438400"/>
            <a:ext cx="1371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3913" name="Line 9"/>
          <p:cNvSpPr>
            <a:spLocks noChangeShapeType="1"/>
          </p:cNvSpPr>
          <p:nvPr/>
        </p:nvSpPr>
        <p:spPr bwMode="auto">
          <a:xfrm>
            <a:off x="4267200" y="2514600"/>
            <a:ext cx="685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3914" name="Line 10"/>
          <p:cNvSpPr>
            <a:spLocks noChangeShapeType="1"/>
          </p:cNvSpPr>
          <p:nvPr/>
        </p:nvSpPr>
        <p:spPr bwMode="auto">
          <a:xfrm flipV="1">
            <a:off x="5105400" y="1981200"/>
            <a:ext cx="838200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3915" name="Line 11"/>
          <p:cNvSpPr>
            <a:spLocks noChangeShapeType="1"/>
          </p:cNvSpPr>
          <p:nvPr/>
        </p:nvSpPr>
        <p:spPr bwMode="auto">
          <a:xfrm flipH="1">
            <a:off x="5334000" y="2971800"/>
            <a:ext cx="1371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3916" name="Line 12"/>
          <p:cNvSpPr>
            <a:spLocks noChangeShapeType="1"/>
          </p:cNvSpPr>
          <p:nvPr/>
        </p:nvSpPr>
        <p:spPr bwMode="auto">
          <a:xfrm flipH="1" flipV="1">
            <a:off x="2514600" y="3124200"/>
            <a:ext cx="23622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3917" name="Text Box 13"/>
          <p:cNvSpPr txBox="1">
            <a:spLocks noChangeArrowheads="1"/>
          </p:cNvSpPr>
          <p:nvPr/>
        </p:nvSpPr>
        <p:spPr bwMode="auto">
          <a:xfrm>
            <a:off x="2133600" y="27432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3918" name="Text Box 14"/>
          <p:cNvSpPr txBox="1">
            <a:spLocks noChangeArrowheads="1"/>
          </p:cNvSpPr>
          <p:nvPr/>
        </p:nvSpPr>
        <p:spPr bwMode="auto">
          <a:xfrm>
            <a:off x="3962400" y="2057400"/>
            <a:ext cx="3952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3919" name="Text Box 15"/>
          <p:cNvSpPr txBox="1">
            <a:spLocks noChangeArrowheads="1"/>
          </p:cNvSpPr>
          <p:nvPr/>
        </p:nvSpPr>
        <p:spPr bwMode="auto">
          <a:xfrm>
            <a:off x="4953000" y="34290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3920" name="Text Box 16"/>
          <p:cNvSpPr txBox="1">
            <a:spLocks noChangeArrowheads="1"/>
          </p:cNvSpPr>
          <p:nvPr/>
        </p:nvSpPr>
        <p:spPr bwMode="auto">
          <a:xfrm>
            <a:off x="6705600" y="2667000"/>
            <a:ext cx="393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23921" name="Oval 17"/>
          <p:cNvSpPr>
            <a:spLocks noChangeArrowheads="1"/>
          </p:cNvSpPr>
          <p:nvPr/>
        </p:nvSpPr>
        <p:spPr bwMode="auto">
          <a:xfrm>
            <a:off x="5867400" y="1600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3922" name="Line 18"/>
          <p:cNvSpPr>
            <a:spLocks noChangeShapeType="1"/>
          </p:cNvSpPr>
          <p:nvPr/>
        </p:nvSpPr>
        <p:spPr bwMode="auto">
          <a:xfrm>
            <a:off x="6248400" y="19812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3923" name="Text Box 19"/>
          <p:cNvSpPr txBox="1">
            <a:spLocks noChangeArrowheads="1"/>
          </p:cNvSpPr>
          <p:nvPr/>
        </p:nvSpPr>
        <p:spPr bwMode="auto">
          <a:xfrm>
            <a:off x="5943600" y="1524000"/>
            <a:ext cx="379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23924" name="Line 20"/>
          <p:cNvSpPr>
            <a:spLocks noChangeShapeType="1"/>
          </p:cNvSpPr>
          <p:nvPr/>
        </p:nvSpPr>
        <p:spPr bwMode="auto">
          <a:xfrm flipH="1">
            <a:off x="4343400" y="1828800"/>
            <a:ext cx="1524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3925" name="Freeform 21"/>
          <p:cNvSpPr>
            <a:spLocks/>
          </p:cNvSpPr>
          <p:nvPr/>
        </p:nvSpPr>
        <p:spPr bwMode="auto">
          <a:xfrm>
            <a:off x="4191000" y="1447800"/>
            <a:ext cx="17526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432" y="48"/>
              </a:cxn>
              <a:cxn ang="0">
                <a:pos x="1104" y="144"/>
              </a:cxn>
            </a:cxnLst>
            <a:rect l="0" t="0" r="r" b="b"/>
            <a:pathLst>
              <a:path w="1104" h="432">
                <a:moveTo>
                  <a:pt x="0" y="432"/>
                </a:moveTo>
                <a:cubicBezTo>
                  <a:pt x="124" y="264"/>
                  <a:pt x="248" y="96"/>
                  <a:pt x="432" y="48"/>
                </a:cubicBezTo>
                <a:cubicBezTo>
                  <a:pt x="616" y="0"/>
                  <a:pt x="968" y="120"/>
                  <a:pt x="1104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3926" name="Text Box 22"/>
          <p:cNvSpPr txBox="1">
            <a:spLocks noChangeArrowheads="1"/>
          </p:cNvSpPr>
          <p:nvPr/>
        </p:nvSpPr>
        <p:spPr bwMode="auto">
          <a:xfrm>
            <a:off x="5257800" y="3733800"/>
            <a:ext cx="1117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origin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EDDBFA-2544-45D2-8326-B67017EE6A7F}" type="slidenum">
              <a:rPr lang="en-US"/>
              <a:pPr/>
              <a:t>29</a:t>
            </a:fld>
            <a:endParaRPr lang="en-US"/>
          </a:p>
        </p:txBody>
      </p:sp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228600" y="3429000"/>
            <a:ext cx="2103438" cy="308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(c, a)</a:t>
            </a: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(c, a), (a, b)</a:t>
            </a: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(c, e)</a:t>
            </a: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(c, e), (e, b)</a:t>
            </a: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(c, e), (e, d)</a:t>
            </a:r>
          </a:p>
        </p:txBody>
      </p:sp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4191000" y="152400"/>
            <a:ext cx="16287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Step 2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24932" name="Oval 4"/>
          <p:cNvSpPr>
            <a:spLocks noChangeArrowheads="1"/>
          </p:cNvSpPr>
          <p:nvPr/>
        </p:nvSpPr>
        <p:spPr bwMode="auto">
          <a:xfrm>
            <a:off x="4876800" y="3505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4933" name="Oval 5"/>
          <p:cNvSpPr>
            <a:spLocks noChangeArrowheads="1"/>
          </p:cNvSpPr>
          <p:nvPr/>
        </p:nvSpPr>
        <p:spPr bwMode="auto">
          <a:xfrm>
            <a:off x="3886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4934" name="Oval 6"/>
          <p:cNvSpPr>
            <a:spLocks noChangeArrowheads="1"/>
          </p:cNvSpPr>
          <p:nvPr/>
        </p:nvSpPr>
        <p:spPr bwMode="auto">
          <a:xfrm>
            <a:off x="6705600" y="2667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4935" name="Oval 7"/>
          <p:cNvSpPr>
            <a:spLocks noChangeArrowheads="1"/>
          </p:cNvSpPr>
          <p:nvPr/>
        </p:nvSpPr>
        <p:spPr bwMode="auto">
          <a:xfrm>
            <a:off x="2057400" y="2819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4936" name="Line 8"/>
          <p:cNvSpPr>
            <a:spLocks noChangeShapeType="1"/>
          </p:cNvSpPr>
          <p:nvPr/>
        </p:nvSpPr>
        <p:spPr bwMode="auto">
          <a:xfrm flipV="1">
            <a:off x="2514600" y="2438400"/>
            <a:ext cx="13716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4937" name="Line 9"/>
          <p:cNvSpPr>
            <a:spLocks noChangeShapeType="1"/>
          </p:cNvSpPr>
          <p:nvPr/>
        </p:nvSpPr>
        <p:spPr bwMode="auto">
          <a:xfrm>
            <a:off x="4267200" y="2514600"/>
            <a:ext cx="685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4938" name="Line 10"/>
          <p:cNvSpPr>
            <a:spLocks noChangeShapeType="1"/>
          </p:cNvSpPr>
          <p:nvPr/>
        </p:nvSpPr>
        <p:spPr bwMode="auto">
          <a:xfrm flipV="1">
            <a:off x="5105400" y="1981200"/>
            <a:ext cx="838200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4939" name="Line 11"/>
          <p:cNvSpPr>
            <a:spLocks noChangeShapeType="1"/>
          </p:cNvSpPr>
          <p:nvPr/>
        </p:nvSpPr>
        <p:spPr bwMode="auto">
          <a:xfrm flipH="1">
            <a:off x="5334000" y="2971800"/>
            <a:ext cx="1371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4940" name="Line 12"/>
          <p:cNvSpPr>
            <a:spLocks noChangeShapeType="1"/>
          </p:cNvSpPr>
          <p:nvPr/>
        </p:nvSpPr>
        <p:spPr bwMode="auto">
          <a:xfrm flipH="1" flipV="1">
            <a:off x="2514600" y="3124200"/>
            <a:ext cx="23622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4941" name="Text Box 13"/>
          <p:cNvSpPr txBox="1">
            <a:spLocks noChangeArrowheads="1"/>
          </p:cNvSpPr>
          <p:nvPr/>
        </p:nvSpPr>
        <p:spPr bwMode="auto">
          <a:xfrm>
            <a:off x="2133600" y="27432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4942" name="Text Box 14"/>
          <p:cNvSpPr txBox="1">
            <a:spLocks noChangeArrowheads="1"/>
          </p:cNvSpPr>
          <p:nvPr/>
        </p:nvSpPr>
        <p:spPr bwMode="auto">
          <a:xfrm>
            <a:off x="3962400" y="2057400"/>
            <a:ext cx="3952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4943" name="Text Box 15"/>
          <p:cNvSpPr txBox="1">
            <a:spLocks noChangeArrowheads="1"/>
          </p:cNvSpPr>
          <p:nvPr/>
        </p:nvSpPr>
        <p:spPr bwMode="auto">
          <a:xfrm>
            <a:off x="4953000" y="34290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4944" name="Text Box 16"/>
          <p:cNvSpPr txBox="1">
            <a:spLocks noChangeArrowheads="1"/>
          </p:cNvSpPr>
          <p:nvPr/>
        </p:nvSpPr>
        <p:spPr bwMode="auto">
          <a:xfrm>
            <a:off x="6705600" y="2667000"/>
            <a:ext cx="393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24945" name="Oval 17"/>
          <p:cNvSpPr>
            <a:spLocks noChangeArrowheads="1"/>
          </p:cNvSpPr>
          <p:nvPr/>
        </p:nvSpPr>
        <p:spPr bwMode="auto">
          <a:xfrm>
            <a:off x="5867400" y="1600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4946" name="Line 18"/>
          <p:cNvSpPr>
            <a:spLocks noChangeShapeType="1"/>
          </p:cNvSpPr>
          <p:nvPr/>
        </p:nvSpPr>
        <p:spPr bwMode="auto">
          <a:xfrm>
            <a:off x="6248400" y="1981200"/>
            <a:ext cx="609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4947" name="Text Box 19"/>
          <p:cNvSpPr txBox="1">
            <a:spLocks noChangeArrowheads="1"/>
          </p:cNvSpPr>
          <p:nvPr/>
        </p:nvSpPr>
        <p:spPr bwMode="auto">
          <a:xfrm>
            <a:off x="5943600" y="1524000"/>
            <a:ext cx="379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24948" name="Line 20"/>
          <p:cNvSpPr>
            <a:spLocks noChangeShapeType="1"/>
          </p:cNvSpPr>
          <p:nvPr/>
        </p:nvSpPr>
        <p:spPr bwMode="auto">
          <a:xfrm flipH="1">
            <a:off x="4343400" y="1828800"/>
            <a:ext cx="1524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4949" name="Freeform 21"/>
          <p:cNvSpPr>
            <a:spLocks/>
          </p:cNvSpPr>
          <p:nvPr/>
        </p:nvSpPr>
        <p:spPr bwMode="auto">
          <a:xfrm>
            <a:off x="4191000" y="1447800"/>
            <a:ext cx="17526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432" y="48"/>
              </a:cxn>
              <a:cxn ang="0">
                <a:pos x="1104" y="144"/>
              </a:cxn>
            </a:cxnLst>
            <a:rect l="0" t="0" r="r" b="b"/>
            <a:pathLst>
              <a:path w="1104" h="432">
                <a:moveTo>
                  <a:pt x="0" y="432"/>
                </a:moveTo>
                <a:cubicBezTo>
                  <a:pt x="124" y="264"/>
                  <a:pt x="248" y="96"/>
                  <a:pt x="432" y="48"/>
                </a:cubicBezTo>
                <a:cubicBezTo>
                  <a:pt x="616" y="0"/>
                  <a:pt x="968" y="120"/>
                  <a:pt x="1104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4950" name="Text Box 22"/>
          <p:cNvSpPr txBox="1">
            <a:spLocks noChangeArrowheads="1"/>
          </p:cNvSpPr>
          <p:nvPr/>
        </p:nvSpPr>
        <p:spPr bwMode="auto">
          <a:xfrm>
            <a:off x="5257800" y="3733800"/>
            <a:ext cx="1117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origin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96AD8E-7DC1-4DCB-AFE7-B7F8450B37D6}" type="slidenum">
              <a:rPr lang="en-US"/>
              <a:pPr/>
              <a:t>30</a:t>
            </a:fld>
            <a:endParaRPr lang="en-US"/>
          </a:p>
        </p:txBody>
      </p:sp>
      <p:sp>
        <p:nvSpPr>
          <p:cNvPr id="125954" name="Text Box 2"/>
          <p:cNvSpPr txBox="1">
            <a:spLocks noChangeArrowheads="1"/>
          </p:cNvSpPr>
          <p:nvPr/>
        </p:nvSpPr>
        <p:spPr bwMode="auto">
          <a:xfrm>
            <a:off x="3962400" y="152400"/>
            <a:ext cx="16287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Step 3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25955" name="Oval 3"/>
          <p:cNvSpPr>
            <a:spLocks noChangeArrowheads="1"/>
          </p:cNvSpPr>
          <p:nvPr/>
        </p:nvSpPr>
        <p:spPr bwMode="auto">
          <a:xfrm>
            <a:off x="4876800" y="3505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5956" name="Oval 4"/>
          <p:cNvSpPr>
            <a:spLocks noChangeArrowheads="1"/>
          </p:cNvSpPr>
          <p:nvPr/>
        </p:nvSpPr>
        <p:spPr bwMode="auto">
          <a:xfrm>
            <a:off x="3886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5957" name="Oval 5"/>
          <p:cNvSpPr>
            <a:spLocks noChangeArrowheads="1"/>
          </p:cNvSpPr>
          <p:nvPr/>
        </p:nvSpPr>
        <p:spPr bwMode="auto">
          <a:xfrm>
            <a:off x="6705600" y="2667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5958" name="Oval 6"/>
          <p:cNvSpPr>
            <a:spLocks noChangeArrowheads="1"/>
          </p:cNvSpPr>
          <p:nvPr/>
        </p:nvSpPr>
        <p:spPr bwMode="auto">
          <a:xfrm>
            <a:off x="2057400" y="2819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5959" name="Line 7"/>
          <p:cNvSpPr>
            <a:spLocks noChangeShapeType="1"/>
          </p:cNvSpPr>
          <p:nvPr/>
        </p:nvSpPr>
        <p:spPr bwMode="auto">
          <a:xfrm flipV="1">
            <a:off x="2514600" y="2438400"/>
            <a:ext cx="13716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5960" name="Line 8"/>
          <p:cNvSpPr>
            <a:spLocks noChangeShapeType="1"/>
          </p:cNvSpPr>
          <p:nvPr/>
        </p:nvSpPr>
        <p:spPr bwMode="auto">
          <a:xfrm>
            <a:off x="4267200" y="2514600"/>
            <a:ext cx="685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5961" name="Line 9"/>
          <p:cNvSpPr>
            <a:spLocks noChangeShapeType="1"/>
          </p:cNvSpPr>
          <p:nvPr/>
        </p:nvSpPr>
        <p:spPr bwMode="auto">
          <a:xfrm flipV="1">
            <a:off x="5105400" y="1981200"/>
            <a:ext cx="838200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5962" name="Line 10"/>
          <p:cNvSpPr>
            <a:spLocks noChangeShapeType="1"/>
          </p:cNvSpPr>
          <p:nvPr/>
        </p:nvSpPr>
        <p:spPr bwMode="auto">
          <a:xfrm flipH="1">
            <a:off x="5334000" y="2971800"/>
            <a:ext cx="1371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5963" name="Line 11"/>
          <p:cNvSpPr>
            <a:spLocks noChangeShapeType="1"/>
          </p:cNvSpPr>
          <p:nvPr/>
        </p:nvSpPr>
        <p:spPr bwMode="auto">
          <a:xfrm flipH="1" flipV="1">
            <a:off x="2514600" y="3124200"/>
            <a:ext cx="23622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5964" name="Text Box 12"/>
          <p:cNvSpPr txBox="1">
            <a:spLocks noChangeArrowheads="1"/>
          </p:cNvSpPr>
          <p:nvPr/>
        </p:nvSpPr>
        <p:spPr bwMode="auto">
          <a:xfrm>
            <a:off x="2133600" y="27432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5965" name="Text Box 13"/>
          <p:cNvSpPr txBox="1">
            <a:spLocks noChangeArrowheads="1"/>
          </p:cNvSpPr>
          <p:nvPr/>
        </p:nvSpPr>
        <p:spPr bwMode="auto">
          <a:xfrm>
            <a:off x="3962400" y="2057400"/>
            <a:ext cx="3952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5966" name="Text Box 14"/>
          <p:cNvSpPr txBox="1">
            <a:spLocks noChangeArrowheads="1"/>
          </p:cNvSpPr>
          <p:nvPr/>
        </p:nvSpPr>
        <p:spPr bwMode="auto">
          <a:xfrm>
            <a:off x="4953000" y="34290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5967" name="Text Box 15"/>
          <p:cNvSpPr txBox="1">
            <a:spLocks noChangeArrowheads="1"/>
          </p:cNvSpPr>
          <p:nvPr/>
        </p:nvSpPr>
        <p:spPr bwMode="auto">
          <a:xfrm>
            <a:off x="6705600" y="2667000"/>
            <a:ext cx="393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25968" name="Oval 16"/>
          <p:cNvSpPr>
            <a:spLocks noChangeArrowheads="1"/>
          </p:cNvSpPr>
          <p:nvPr/>
        </p:nvSpPr>
        <p:spPr bwMode="auto">
          <a:xfrm>
            <a:off x="5867400" y="1600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5969" name="Line 17"/>
          <p:cNvSpPr>
            <a:spLocks noChangeShapeType="1"/>
          </p:cNvSpPr>
          <p:nvPr/>
        </p:nvSpPr>
        <p:spPr bwMode="auto">
          <a:xfrm>
            <a:off x="6248400" y="1981200"/>
            <a:ext cx="609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5970" name="Text Box 18"/>
          <p:cNvSpPr txBox="1">
            <a:spLocks noChangeArrowheads="1"/>
          </p:cNvSpPr>
          <p:nvPr/>
        </p:nvSpPr>
        <p:spPr bwMode="auto">
          <a:xfrm>
            <a:off x="5943600" y="1524000"/>
            <a:ext cx="379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25971" name="Line 19"/>
          <p:cNvSpPr>
            <a:spLocks noChangeShapeType="1"/>
          </p:cNvSpPr>
          <p:nvPr/>
        </p:nvSpPr>
        <p:spPr bwMode="auto">
          <a:xfrm flipH="1">
            <a:off x="4343400" y="1828800"/>
            <a:ext cx="1524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5972" name="Freeform 20"/>
          <p:cNvSpPr>
            <a:spLocks/>
          </p:cNvSpPr>
          <p:nvPr/>
        </p:nvSpPr>
        <p:spPr bwMode="auto">
          <a:xfrm>
            <a:off x="4191000" y="1447800"/>
            <a:ext cx="17526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432" y="48"/>
              </a:cxn>
              <a:cxn ang="0">
                <a:pos x="1104" y="144"/>
              </a:cxn>
            </a:cxnLst>
            <a:rect l="0" t="0" r="r" b="b"/>
            <a:pathLst>
              <a:path w="1104" h="432">
                <a:moveTo>
                  <a:pt x="0" y="432"/>
                </a:moveTo>
                <a:cubicBezTo>
                  <a:pt x="124" y="264"/>
                  <a:pt x="248" y="96"/>
                  <a:pt x="432" y="48"/>
                </a:cubicBezTo>
                <a:cubicBezTo>
                  <a:pt x="616" y="0"/>
                  <a:pt x="968" y="120"/>
                  <a:pt x="1104" y="144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5973" name="Text Box 21"/>
          <p:cNvSpPr txBox="1">
            <a:spLocks noChangeArrowheads="1"/>
          </p:cNvSpPr>
          <p:nvPr/>
        </p:nvSpPr>
        <p:spPr bwMode="auto">
          <a:xfrm>
            <a:off x="5257800" y="3733800"/>
            <a:ext cx="1117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origin</a:t>
            </a:r>
          </a:p>
        </p:txBody>
      </p:sp>
      <p:sp>
        <p:nvSpPr>
          <p:cNvPr id="125974" name="Text Box 22"/>
          <p:cNvSpPr txBox="1">
            <a:spLocks noChangeArrowheads="1"/>
          </p:cNvSpPr>
          <p:nvPr/>
        </p:nvSpPr>
        <p:spPr bwMode="auto">
          <a:xfrm>
            <a:off x="228600" y="3478213"/>
            <a:ext cx="2720975" cy="319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(c, a)</a:t>
            </a:r>
          </a:p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(c, a), (a, b)</a:t>
            </a:r>
          </a:p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(c, a), (a, b), (b, e)</a:t>
            </a:r>
          </a:p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(c, e)</a:t>
            </a:r>
          </a:p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(c, e), (e, b)</a:t>
            </a:r>
          </a:p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(c, e), (e, d)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3123E7-9913-4A33-8BE6-E6CC7BEF4A21}" type="slidenum">
              <a:rPr lang="en-US"/>
              <a:pPr/>
              <a:t>31</a:t>
            </a:fld>
            <a:endParaRPr lang="en-US"/>
          </a:p>
        </p:txBody>
      </p:sp>
      <p:sp>
        <p:nvSpPr>
          <p:cNvPr id="126978" name="Text Box 2"/>
          <p:cNvSpPr txBox="1">
            <a:spLocks noChangeArrowheads="1"/>
          </p:cNvSpPr>
          <p:nvPr/>
        </p:nvSpPr>
        <p:spPr bwMode="auto">
          <a:xfrm>
            <a:off x="3962400" y="152400"/>
            <a:ext cx="16287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Step 4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26979" name="Oval 3"/>
          <p:cNvSpPr>
            <a:spLocks noChangeArrowheads="1"/>
          </p:cNvSpPr>
          <p:nvPr/>
        </p:nvSpPr>
        <p:spPr bwMode="auto">
          <a:xfrm>
            <a:off x="4876800" y="3505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6980" name="Oval 4"/>
          <p:cNvSpPr>
            <a:spLocks noChangeArrowheads="1"/>
          </p:cNvSpPr>
          <p:nvPr/>
        </p:nvSpPr>
        <p:spPr bwMode="auto">
          <a:xfrm>
            <a:off x="3886200" y="2133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6981" name="Oval 5"/>
          <p:cNvSpPr>
            <a:spLocks noChangeArrowheads="1"/>
          </p:cNvSpPr>
          <p:nvPr/>
        </p:nvSpPr>
        <p:spPr bwMode="auto">
          <a:xfrm>
            <a:off x="6705600" y="2667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6982" name="Oval 6"/>
          <p:cNvSpPr>
            <a:spLocks noChangeArrowheads="1"/>
          </p:cNvSpPr>
          <p:nvPr/>
        </p:nvSpPr>
        <p:spPr bwMode="auto">
          <a:xfrm>
            <a:off x="2057400" y="2819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6983" name="Line 7"/>
          <p:cNvSpPr>
            <a:spLocks noChangeShapeType="1"/>
          </p:cNvSpPr>
          <p:nvPr/>
        </p:nvSpPr>
        <p:spPr bwMode="auto">
          <a:xfrm flipV="1">
            <a:off x="2514600" y="2438400"/>
            <a:ext cx="13716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6984" name="Line 8"/>
          <p:cNvSpPr>
            <a:spLocks noChangeShapeType="1"/>
          </p:cNvSpPr>
          <p:nvPr/>
        </p:nvSpPr>
        <p:spPr bwMode="auto">
          <a:xfrm>
            <a:off x="4267200" y="2514600"/>
            <a:ext cx="685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6985" name="Line 9"/>
          <p:cNvSpPr>
            <a:spLocks noChangeShapeType="1"/>
          </p:cNvSpPr>
          <p:nvPr/>
        </p:nvSpPr>
        <p:spPr bwMode="auto">
          <a:xfrm flipV="1">
            <a:off x="5105400" y="1981200"/>
            <a:ext cx="838200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6986" name="Line 10"/>
          <p:cNvSpPr>
            <a:spLocks noChangeShapeType="1"/>
          </p:cNvSpPr>
          <p:nvPr/>
        </p:nvSpPr>
        <p:spPr bwMode="auto">
          <a:xfrm flipH="1">
            <a:off x="5334000" y="2971800"/>
            <a:ext cx="1371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6987" name="Line 11"/>
          <p:cNvSpPr>
            <a:spLocks noChangeShapeType="1"/>
          </p:cNvSpPr>
          <p:nvPr/>
        </p:nvSpPr>
        <p:spPr bwMode="auto">
          <a:xfrm flipH="1" flipV="1">
            <a:off x="2514600" y="3124200"/>
            <a:ext cx="23622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6988" name="Text Box 12"/>
          <p:cNvSpPr txBox="1">
            <a:spLocks noChangeArrowheads="1"/>
          </p:cNvSpPr>
          <p:nvPr/>
        </p:nvSpPr>
        <p:spPr bwMode="auto">
          <a:xfrm>
            <a:off x="2133600" y="27432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6989" name="Text Box 13"/>
          <p:cNvSpPr txBox="1">
            <a:spLocks noChangeArrowheads="1"/>
          </p:cNvSpPr>
          <p:nvPr/>
        </p:nvSpPr>
        <p:spPr bwMode="auto">
          <a:xfrm>
            <a:off x="3962400" y="2057400"/>
            <a:ext cx="3952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6990" name="Text Box 14"/>
          <p:cNvSpPr txBox="1">
            <a:spLocks noChangeArrowheads="1"/>
          </p:cNvSpPr>
          <p:nvPr/>
        </p:nvSpPr>
        <p:spPr bwMode="auto">
          <a:xfrm>
            <a:off x="4953000" y="3429000"/>
            <a:ext cx="366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26991" name="Text Box 15"/>
          <p:cNvSpPr txBox="1">
            <a:spLocks noChangeArrowheads="1"/>
          </p:cNvSpPr>
          <p:nvPr/>
        </p:nvSpPr>
        <p:spPr bwMode="auto">
          <a:xfrm>
            <a:off x="6705600" y="2667000"/>
            <a:ext cx="393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26992" name="Oval 16"/>
          <p:cNvSpPr>
            <a:spLocks noChangeArrowheads="1"/>
          </p:cNvSpPr>
          <p:nvPr/>
        </p:nvSpPr>
        <p:spPr bwMode="auto">
          <a:xfrm>
            <a:off x="5867400" y="1600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6993" name="Line 17"/>
          <p:cNvSpPr>
            <a:spLocks noChangeShapeType="1"/>
          </p:cNvSpPr>
          <p:nvPr/>
        </p:nvSpPr>
        <p:spPr bwMode="auto">
          <a:xfrm>
            <a:off x="6248400" y="1981200"/>
            <a:ext cx="6096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6994" name="Text Box 18"/>
          <p:cNvSpPr txBox="1">
            <a:spLocks noChangeArrowheads="1"/>
          </p:cNvSpPr>
          <p:nvPr/>
        </p:nvSpPr>
        <p:spPr bwMode="auto">
          <a:xfrm>
            <a:off x="5943600" y="1524000"/>
            <a:ext cx="379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26995" name="Line 19"/>
          <p:cNvSpPr>
            <a:spLocks noChangeShapeType="1"/>
          </p:cNvSpPr>
          <p:nvPr/>
        </p:nvSpPr>
        <p:spPr bwMode="auto">
          <a:xfrm flipH="1">
            <a:off x="4343400" y="1828800"/>
            <a:ext cx="15240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6996" name="Freeform 20"/>
          <p:cNvSpPr>
            <a:spLocks/>
          </p:cNvSpPr>
          <p:nvPr/>
        </p:nvSpPr>
        <p:spPr bwMode="auto">
          <a:xfrm>
            <a:off x="4191000" y="1447800"/>
            <a:ext cx="17526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432" y="48"/>
              </a:cxn>
              <a:cxn ang="0">
                <a:pos x="1104" y="144"/>
              </a:cxn>
            </a:cxnLst>
            <a:rect l="0" t="0" r="r" b="b"/>
            <a:pathLst>
              <a:path w="1104" h="432">
                <a:moveTo>
                  <a:pt x="0" y="432"/>
                </a:moveTo>
                <a:cubicBezTo>
                  <a:pt x="124" y="264"/>
                  <a:pt x="248" y="96"/>
                  <a:pt x="432" y="48"/>
                </a:cubicBezTo>
                <a:cubicBezTo>
                  <a:pt x="616" y="0"/>
                  <a:pt x="968" y="120"/>
                  <a:pt x="1104" y="144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6997" name="Text Box 21"/>
          <p:cNvSpPr txBox="1">
            <a:spLocks noChangeArrowheads="1"/>
          </p:cNvSpPr>
          <p:nvPr/>
        </p:nvSpPr>
        <p:spPr bwMode="auto">
          <a:xfrm>
            <a:off x="5257800" y="3733800"/>
            <a:ext cx="1117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origin</a:t>
            </a:r>
          </a:p>
        </p:txBody>
      </p:sp>
      <p:sp>
        <p:nvSpPr>
          <p:cNvPr id="126998" name="Text Box 22"/>
          <p:cNvSpPr txBox="1">
            <a:spLocks noChangeArrowheads="1"/>
          </p:cNvSpPr>
          <p:nvPr/>
        </p:nvSpPr>
        <p:spPr bwMode="auto">
          <a:xfrm>
            <a:off x="228600" y="2895600"/>
            <a:ext cx="3548063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(c, a)</a:t>
            </a:r>
          </a:p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(c, a), (a, b)</a:t>
            </a:r>
          </a:p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(c, a), (a, b), (b, e)</a:t>
            </a:r>
          </a:p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(c, a), (a, b), (b, e), (e,d)</a:t>
            </a:r>
          </a:p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(c, e)</a:t>
            </a:r>
          </a:p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(c, e), (e, b)</a:t>
            </a:r>
          </a:p>
          <a:p>
            <a:pPr>
              <a:spcBef>
                <a:spcPct val="50000"/>
              </a:spcBef>
            </a:pPr>
            <a:r>
              <a:rPr lang="en-US" sz="2400">
                <a:solidFill>
                  <a:schemeClr val="tx1"/>
                </a:solidFill>
              </a:rPr>
              <a:t>(c, e), (e, d)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CCE1BD-BEA8-433F-B471-E7DDBAAE791B}" type="slidenum">
              <a:rPr lang="en-US"/>
              <a:pPr/>
              <a:t>32</a:t>
            </a:fld>
            <a:endParaRPr lang="en-US"/>
          </a:p>
        </p:txBody>
      </p:sp>
      <p:sp>
        <p:nvSpPr>
          <p:cNvPr id="128002" name="Text Box 2"/>
          <p:cNvSpPr txBox="1">
            <a:spLocks noChangeArrowheads="1"/>
          </p:cNvSpPr>
          <p:nvPr/>
        </p:nvSpPr>
        <p:spPr bwMode="auto">
          <a:xfrm>
            <a:off x="4267200" y="0"/>
            <a:ext cx="14382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Trees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28003" name="Oval 3"/>
          <p:cNvSpPr>
            <a:spLocks noChangeArrowheads="1"/>
          </p:cNvSpPr>
          <p:nvPr/>
        </p:nvSpPr>
        <p:spPr bwMode="auto">
          <a:xfrm>
            <a:off x="3276600" y="2514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8004" name="Oval 4"/>
          <p:cNvSpPr>
            <a:spLocks noChangeArrowheads="1"/>
          </p:cNvSpPr>
          <p:nvPr/>
        </p:nvSpPr>
        <p:spPr bwMode="auto">
          <a:xfrm>
            <a:off x="1905000" y="2514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8005" name="Oval 5"/>
          <p:cNvSpPr>
            <a:spLocks noChangeArrowheads="1"/>
          </p:cNvSpPr>
          <p:nvPr/>
        </p:nvSpPr>
        <p:spPr bwMode="auto">
          <a:xfrm>
            <a:off x="4648200" y="2514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8006" name="Oval 6"/>
          <p:cNvSpPr>
            <a:spLocks noChangeArrowheads="1"/>
          </p:cNvSpPr>
          <p:nvPr/>
        </p:nvSpPr>
        <p:spPr bwMode="auto">
          <a:xfrm>
            <a:off x="3276600" y="914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8007" name="Oval 7"/>
          <p:cNvSpPr>
            <a:spLocks noChangeArrowheads="1"/>
          </p:cNvSpPr>
          <p:nvPr/>
        </p:nvSpPr>
        <p:spPr bwMode="auto">
          <a:xfrm>
            <a:off x="3962400" y="3962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8008" name="Oval 8"/>
          <p:cNvSpPr>
            <a:spLocks noChangeArrowheads="1"/>
          </p:cNvSpPr>
          <p:nvPr/>
        </p:nvSpPr>
        <p:spPr bwMode="auto">
          <a:xfrm>
            <a:off x="5410200" y="3962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8009" name="Oval 9"/>
          <p:cNvSpPr>
            <a:spLocks noChangeArrowheads="1"/>
          </p:cNvSpPr>
          <p:nvPr/>
        </p:nvSpPr>
        <p:spPr bwMode="auto">
          <a:xfrm>
            <a:off x="5410200" y="5486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8010" name="Line 10"/>
          <p:cNvSpPr>
            <a:spLocks noChangeShapeType="1"/>
          </p:cNvSpPr>
          <p:nvPr/>
        </p:nvSpPr>
        <p:spPr bwMode="auto">
          <a:xfrm flipH="1">
            <a:off x="2286000" y="12954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8011" name="Line 11"/>
          <p:cNvSpPr>
            <a:spLocks noChangeShapeType="1"/>
          </p:cNvSpPr>
          <p:nvPr/>
        </p:nvSpPr>
        <p:spPr bwMode="auto">
          <a:xfrm>
            <a:off x="3505200" y="1371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8012" name="Line 12"/>
          <p:cNvSpPr>
            <a:spLocks noChangeShapeType="1"/>
          </p:cNvSpPr>
          <p:nvPr/>
        </p:nvSpPr>
        <p:spPr bwMode="auto">
          <a:xfrm>
            <a:off x="3733800" y="12954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8013" name="Line 13"/>
          <p:cNvSpPr>
            <a:spLocks noChangeShapeType="1"/>
          </p:cNvSpPr>
          <p:nvPr/>
        </p:nvSpPr>
        <p:spPr bwMode="auto">
          <a:xfrm flipH="1">
            <a:off x="4267200" y="2971800"/>
            <a:ext cx="4572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8014" name="Line 14"/>
          <p:cNvSpPr>
            <a:spLocks noChangeShapeType="1"/>
          </p:cNvSpPr>
          <p:nvPr/>
        </p:nvSpPr>
        <p:spPr bwMode="auto">
          <a:xfrm>
            <a:off x="5029200" y="2971800"/>
            <a:ext cx="533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8015" name="Line 15"/>
          <p:cNvSpPr>
            <a:spLocks noChangeShapeType="1"/>
          </p:cNvSpPr>
          <p:nvPr/>
        </p:nvSpPr>
        <p:spPr bwMode="auto">
          <a:xfrm>
            <a:off x="5638800" y="44196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8016" name="Text Box 16"/>
          <p:cNvSpPr txBox="1">
            <a:spLocks noChangeArrowheads="1"/>
          </p:cNvSpPr>
          <p:nvPr/>
        </p:nvSpPr>
        <p:spPr bwMode="auto">
          <a:xfrm>
            <a:off x="3124200" y="457200"/>
            <a:ext cx="898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root</a:t>
            </a:r>
          </a:p>
        </p:txBody>
      </p:sp>
      <p:sp>
        <p:nvSpPr>
          <p:cNvPr id="128017" name="Text Box 17"/>
          <p:cNvSpPr txBox="1">
            <a:spLocks noChangeArrowheads="1"/>
          </p:cNvSpPr>
          <p:nvPr/>
        </p:nvSpPr>
        <p:spPr bwMode="auto">
          <a:xfrm>
            <a:off x="1676400" y="3048000"/>
            <a:ext cx="8397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leaf</a:t>
            </a:r>
          </a:p>
        </p:txBody>
      </p:sp>
      <p:sp>
        <p:nvSpPr>
          <p:cNvPr id="128018" name="Text Box 18"/>
          <p:cNvSpPr txBox="1">
            <a:spLocks noChangeArrowheads="1"/>
          </p:cNvSpPr>
          <p:nvPr/>
        </p:nvSpPr>
        <p:spPr bwMode="auto">
          <a:xfrm>
            <a:off x="5165725" y="2130425"/>
            <a:ext cx="12779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parent</a:t>
            </a:r>
          </a:p>
        </p:txBody>
      </p:sp>
      <p:sp>
        <p:nvSpPr>
          <p:cNvPr id="128019" name="Text Box 19"/>
          <p:cNvSpPr txBox="1">
            <a:spLocks noChangeArrowheads="1"/>
          </p:cNvSpPr>
          <p:nvPr/>
        </p:nvSpPr>
        <p:spPr bwMode="auto">
          <a:xfrm>
            <a:off x="5851525" y="3883025"/>
            <a:ext cx="977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child</a:t>
            </a:r>
          </a:p>
        </p:txBody>
      </p:sp>
      <p:sp>
        <p:nvSpPr>
          <p:cNvPr id="128020" name="Text Box 20"/>
          <p:cNvSpPr txBox="1">
            <a:spLocks noChangeArrowheads="1"/>
          </p:cNvSpPr>
          <p:nvPr/>
        </p:nvSpPr>
        <p:spPr bwMode="auto">
          <a:xfrm>
            <a:off x="228600" y="4953000"/>
            <a:ext cx="36242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Trees have no cycles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702BD0-5973-49F0-8631-7DC4B945F05B}" type="slidenum">
              <a:rPr lang="en-US"/>
              <a:pPr/>
              <a:t>33</a:t>
            </a:fld>
            <a:endParaRPr lang="en-US"/>
          </a:p>
        </p:txBody>
      </p:sp>
      <p:sp>
        <p:nvSpPr>
          <p:cNvPr id="129026" name="Oval 2"/>
          <p:cNvSpPr>
            <a:spLocks noChangeArrowheads="1"/>
          </p:cNvSpPr>
          <p:nvPr/>
        </p:nvSpPr>
        <p:spPr bwMode="auto">
          <a:xfrm>
            <a:off x="2438400" y="2514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9027" name="Oval 3"/>
          <p:cNvSpPr>
            <a:spLocks noChangeArrowheads="1"/>
          </p:cNvSpPr>
          <p:nvPr/>
        </p:nvSpPr>
        <p:spPr bwMode="auto">
          <a:xfrm>
            <a:off x="1066800" y="2514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9028" name="Oval 4"/>
          <p:cNvSpPr>
            <a:spLocks noChangeArrowheads="1"/>
          </p:cNvSpPr>
          <p:nvPr/>
        </p:nvSpPr>
        <p:spPr bwMode="auto">
          <a:xfrm>
            <a:off x="3810000" y="25146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9029" name="Oval 5"/>
          <p:cNvSpPr>
            <a:spLocks noChangeArrowheads="1"/>
          </p:cNvSpPr>
          <p:nvPr/>
        </p:nvSpPr>
        <p:spPr bwMode="auto">
          <a:xfrm>
            <a:off x="2438400" y="914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9030" name="Oval 6"/>
          <p:cNvSpPr>
            <a:spLocks noChangeArrowheads="1"/>
          </p:cNvSpPr>
          <p:nvPr/>
        </p:nvSpPr>
        <p:spPr bwMode="auto">
          <a:xfrm>
            <a:off x="3124200" y="3962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9031" name="Oval 7"/>
          <p:cNvSpPr>
            <a:spLocks noChangeArrowheads="1"/>
          </p:cNvSpPr>
          <p:nvPr/>
        </p:nvSpPr>
        <p:spPr bwMode="auto">
          <a:xfrm>
            <a:off x="4572000" y="3962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9032" name="Oval 8"/>
          <p:cNvSpPr>
            <a:spLocks noChangeArrowheads="1"/>
          </p:cNvSpPr>
          <p:nvPr/>
        </p:nvSpPr>
        <p:spPr bwMode="auto">
          <a:xfrm>
            <a:off x="4572000" y="54864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9033" name="Line 9"/>
          <p:cNvSpPr>
            <a:spLocks noChangeShapeType="1"/>
          </p:cNvSpPr>
          <p:nvPr/>
        </p:nvSpPr>
        <p:spPr bwMode="auto">
          <a:xfrm flipH="1">
            <a:off x="1447800" y="12954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9034" name="Line 10"/>
          <p:cNvSpPr>
            <a:spLocks noChangeShapeType="1"/>
          </p:cNvSpPr>
          <p:nvPr/>
        </p:nvSpPr>
        <p:spPr bwMode="auto">
          <a:xfrm>
            <a:off x="2667000" y="13716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9035" name="Line 11"/>
          <p:cNvSpPr>
            <a:spLocks noChangeShapeType="1"/>
          </p:cNvSpPr>
          <p:nvPr/>
        </p:nvSpPr>
        <p:spPr bwMode="auto">
          <a:xfrm>
            <a:off x="2895600" y="1295400"/>
            <a:ext cx="990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9036" name="Line 12"/>
          <p:cNvSpPr>
            <a:spLocks noChangeShapeType="1"/>
          </p:cNvSpPr>
          <p:nvPr/>
        </p:nvSpPr>
        <p:spPr bwMode="auto">
          <a:xfrm flipH="1">
            <a:off x="3429000" y="2971800"/>
            <a:ext cx="4572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9037" name="Line 13"/>
          <p:cNvSpPr>
            <a:spLocks noChangeShapeType="1"/>
          </p:cNvSpPr>
          <p:nvPr/>
        </p:nvSpPr>
        <p:spPr bwMode="auto">
          <a:xfrm>
            <a:off x="4191000" y="2971800"/>
            <a:ext cx="533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9038" name="Line 14"/>
          <p:cNvSpPr>
            <a:spLocks noChangeShapeType="1"/>
          </p:cNvSpPr>
          <p:nvPr/>
        </p:nvSpPr>
        <p:spPr bwMode="auto">
          <a:xfrm>
            <a:off x="4800600" y="44196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9039" name="Text Box 15"/>
          <p:cNvSpPr txBox="1">
            <a:spLocks noChangeArrowheads="1"/>
          </p:cNvSpPr>
          <p:nvPr/>
        </p:nvSpPr>
        <p:spPr bwMode="auto">
          <a:xfrm>
            <a:off x="2286000" y="457200"/>
            <a:ext cx="898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root</a:t>
            </a:r>
          </a:p>
        </p:txBody>
      </p:sp>
      <p:sp>
        <p:nvSpPr>
          <p:cNvPr id="129040" name="Text Box 16"/>
          <p:cNvSpPr txBox="1">
            <a:spLocks noChangeArrowheads="1"/>
          </p:cNvSpPr>
          <p:nvPr/>
        </p:nvSpPr>
        <p:spPr bwMode="auto">
          <a:xfrm>
            <a:off x="838200" y="3048000"/>
            <a:ext cx="8397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leaf</a:t>
            </a:r>
          </a:p>
        </p:txBody>
      </p:sp>
      <p:sp>
        <p:nvSpPr>
          <p:cNvPr id="129041" name="Line 17"/>
          <p:cNvSpPr>
            <a:spLocks noChangeShapeType="1"/>
          </p:cNvSpPr>
          <p:nvPr/>
        </p:nvSpPr>
        <p:spPr bwMode="auto">
          <a:xfrm>
            <a:off x="3048000" y="10668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9042" name="Text Box 18"/>
          <p:cNvSpPr txBox="1">
            <a:spLocks noChangeArrowheads="1"/>
          </p:cNvSpPr>
          <p:nvPr/>
        </p:nvSpPr>
        <p:spPr bwMode="auto">
          <a:xfrm>
            <a:off x="4191000" y="762000"/>
            <a:ext cx="13636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/>
              <a:t>Level </a:t>
            </a:r>
            <a:r>
              <a:rPr lang="en-US" sz="2800" dirty="0" smtClean="0"/>
              <a:t>3</a:t>
            </a:r>
            <a:endParaRPr lang="en-US" sz="2800" dirty="0"/>
          </a:p>
        </p:txBody>
      </p:sp>
      <p:sp>
        <p:nvSpPr>
          <p:cNvPr id="129043" name="Line 19"/>
          <p:cNvSpPr>
            <a:spLocks noChangeShapeType="1"/>
          </p:cNvSpPr>
          <p:nvPr/>
        </p:nvSpPr>
        <p:spPr bwMode="auto">
          <a:xfrm>
            <a:off x="5562600" y="10668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9044" name="Text Box 20"/>
          <p:cNvSpPr txBox="1">
            <a:spLocks noChangeArrowheads="1"/>
          </p:cNvSpPr>
          <p:nvPr/>
        </p:nvSpPr>
        <p:spPr bwMode="auto">
          <a:xfrm>
            <a:off x="4708525" y="2359025"/>
            <a:ext cx="137569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/>
              <a:t>Level </a:t>
            </a:r>
            <a:r>
              <a:rPr lang="en-US" sz="2800" dirty="0" smtClean="0"/>
              <a:t>2</a:t>
            </a:r>
            <a:endParaRPr lang="en-US" sz="2800" dirty="0"/>
          </a:p>
        </p:txBody>
      </p:sp>
      <p:sp>
        <p:nvSpPr>
          <p:cNvPr id="129045" name="Text Box 21"/>
          <p:cNvSpPr txBox="1">
            <a:spLocks noChangeArrowheads="1"/>
          </p:cNvSpPr>
          <p:nvPr/>
        </p:nvSpPr>
        <p:spPr bwMode="auto">
          <a:xfrm>
            <a:off x="5241925" y="3806825"/>
            <a:ext cx="13636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/>
              <a:t>Level </a:t>
            </a:r>
            <a:r>
              <a:rPr lang="en-US" sz="2800" dirty="0" smtClean="0"/>
              <a:t>1</a:t>
            </a:r>
            <a:endParaRPr lang="en-US" sz="2800" dirty="0"/>
          </a:p>
        </p:txBody>
      </p:sp>
      <p:sp>
        <p:nvSpPr>
          <p:cNvPr id="129046" name="Text Box 22"/>
          <p:cNvSpPr txBox="1">
            <a:spLocks noChangeArrowheads="1"/>
          </p:cNvSpPr>
          <p:nvPr/>
        </p:nvSpPr>
        <p:spPr bwMode="auto">
          <a:xfrm>
            <a:off x="5241925" y="5407025"/>
            <a:ext cx="13636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/>
              <a:t>Level </a:t>
            </a:r>
            <a:r>
              <a:rPr lang="en-US" sz="2800" dirty="0" smtClean="0"/>
              <a:t>0</a:t>
            </a:r>
            <a:endParaRPr lang="en-US" sz="2800" dirty="0"/>
          </a:p>
        </p:txBody>
      </p:sp>
      <p:sp>
        <p:nvSpPr>
          <p:cNvPr id="129047" name="Line 23"/>
          <p:cNvSpPr>
            <a:spLocks noChangeShapeType="1"/>
          </p:cNvSpPr>
          <p:nvPr/>
        </p:nvSpPr>
        <p:spPr bwMode="auto">
          <a:xfrm>
            <a:off x="6629400" y="5638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9048" name="Line 24"/>
          <p:cNvSpPr>
            <a:spLocks noChangeShapeType="1"/>
          </p:cNvSpPr>
          <p:nvPr/>
        </p:nvSpPr>
        <p:spPr bwMode="auto">
          <a:xfrm>
            <a:off x="7543800" y="11430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med"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9049" name="Line 25"/>
          <p:cNvSpPr>
            <a:spLocks noChangeShapeType="1"/>
          </p:cNvSpPr>
          <p:nvPr/>
        </p:nvSpPr>
        <p:spPr bwMode="auto">
          <a:xfrm flipV="1">
            <a:off x="7543800" y="35814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med"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9050" name="Text Box 26"/>
          <p:cNvSpPr txBox="1">
            <a:spLocks noChangeArrowheads="1"/>
          </p:cNvSpPr>
          <p:nvPr/>
        </p:nvSpPr>
        <p:spPr bwMode="auto">
          <a:xfrm>
            <a:off x="6629400" y="2971800"/>
            <a:ext cx="16383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Height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BE53CA-C841-40E5-AC3C-E4597C2965DB}" type="slidenum">
              <a:rPr lang="en-US"/>
              <a:pPr/>
              <a:t>34</a:t>
            </a:fld>
            <a:endParaRPr lang="en-US"/>
          </a:p>
        </p:txBody>
      </p:sp>
      <p:sp>
        <p:nvSpPr>
          <p:cNvPr id="130050" name="Text Box 2"/>
          <p:cNvSpPr txBox="1">
            <a:spLocks noChangeArrowheads="1"/>
          </p:cNvSpPr>
          <p:nvPr/>
        </p:nvSpPr>
        <p:spPr bwMode="auto">
          <a:xfrm>
            <a:off x="3276600" y="131763"/>
            <a:ext cx="29225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Binary Trees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0051" name="Oval 3"/>
          <p:cNvSpPr>
            <a:spLocks noChangeArrowheads="1"/>
          </p:cNvSpPr>
          <p:nvPr/>
        </p:nvSpPr>
        <p:spPr bwMode="auto">
          <a:xfrm>
            <a:off x="3810000" y="1600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052" name="Oval 4"/>
          <p:cNvSpPr>
            <a:spLocks noChangeArrowheads="1"/>
          </p:cNvSpPr>
          <p:nvPr/>
        </p:nvSpPr>
        <p:spPr bwMode="auto">
          <a:xfrm>
            <a:off x="2590800" y="2667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053" name="Oval 5"/>
          <p:cNvSpPr>
            <a:spLocks noChangeArrowheads="1"/>
          </p:cNvSpPr>
          <p:nvPr/>
        </p:nvSpPr>
        <p:spPr bwMode="auto">
          <a:xfrm>
            <a:off x="4724400" y="26670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054" name="Oval 6"/>
          <p:cNvSpPr>
            <a:spLocks noChangeArrowheads="1"/>
          </p:cNvSpPr>
          <p:nvPr/>
        </p:nvSpPr>
        <p:spPr bwMode="auto">
          <a:xfrm>
            <a:off x="1752600" y="3886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055" name="Oval 7"/>
          <p:cNvSpPr>
            <a:spLocks noChangeArrowheads="1"/>
          </p:cNvSpPr>
          <p:nvPr/>
        </p:nvSpPr>
        <p:spPr bwMode="auto">
          <a:xfrm>
            <a:off x="3048000" y="3886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056" name="Oval 8"/>
          <p:cNvSpPr>
            <a:spLocks noChangeArrowheads="1"/>
          </p:cNvSpPr>
          <p:nvPr/>
        </p:nvSpPr>
        <p:spPr bwMode="auto">
          <a:xfrm>
            <a:off x="4191000" y="3886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057" name="Oval 9"/>
          <p:cNvSpPr>
            <a:spLocks noChangeArrowheads="1"/>
          </p:cNvSpPr>
          <p:nvPr/>
        </p:nvSpPr>
        <p:spPr bwMode="auto">
          <a:xfrm>
            <a:off x="5410200" y="38862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058" name="Oval 10"/>
          <p:cNvSpPr>
            <a:spLocks noChangeArrowheads="1"/>
          </p:cNvSpPr>
          <p:nvPr/>
        </p:nvSpPr>
        <p:spPr bwMode="auto">
          <a:xfrm>
            <a:off x="914400" y="52578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059" name="Oval 11"/>
          <p:cNvSpPr>
            <a:spLocks noChangeArrowheads="1"/>
          </p:cNvSpPr>
          <p:nvPr/>
        </p:nvSpPr>
        <p:spPr bwMode="auto">
          <a:xfrm>
            <a:off x="2286000" y="5257800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060" name="Line 12"/>
          <p:cNvSpPr>
            <a:spLocks noChangeShapeType="1"/>
          </p:cNvSpPr>
          <p:nvPr/>
        </p:nvSpPr>
        <p:spPr bwMode="auto">
          <a:xfrm flipH="1">
            <a:off x="2971800" y="19050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0061" name="Line 13"/>
          <p:cNvSpPr>
            <a:spLocks noChangeShapeType="1"/>
          </p:cNvSpPr>
          <p:nvPr/>
        </p:nvSpPr>
        <p:spPr bwMode="auto">
          <a:xfrm>
            <a:off x="4267200" y="1905000"/>
            <a:ext cx="609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0062" name="Line 14"/>
          <p:cNvSpPr>
            <a:spLocks noChangeShapeType="1"/>
          </p:cNvSpPr>
          <p:nvPr/>
        </p:nvSpPr>
        <p:spPr bwMode="auto">
          <a:xfrm flipH="1">
            <a:off x="2057400" y="3048000"/>
            <a:ext cx="609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063" name="Line 15"/>
          <p:cNvSpPr>
            <a:spLocks noChangeShapeType="1"/>
          </p:cNvSpPr>
          <p:nvPr/>
        </p:nvSpPr>
        <p:spPr bwMode="auto">
          <a:xfrm>
            <a:off x="2971800" y="3124200"/>
            <a:ext cx="304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064" name="Line 16"/>
          <p:cNvSpPr>
            <a:spLocks noChangeShapeType="1"/>
          </p:cNvSpPr>
          <p:nvPr/>
        </p:nvSpPr>
        <p:spPr bwMode="auto">
          <a:xfrm flipH="1">
            <a:off x="4495800" y="3124200"/>
            <a:ext cx="304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065" name="Line 17"/>
          <p:cNvSpPr>
            <a:spLocks noChangeShapeType="1"/>
          </p:cNvSpPr>
          <p:nvPr/>
        </p:nvSpPr>
        <p:spPr bwMode="auto">
          <a:xfrm>
            <a:off x="5105400" y="3048000"/>
            <a:ext cx="533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0066" name="Line 18"/>
          <p:cNvSpPr>
            <a:spLocks noChangeShapeType="1"/>
          </p:cNvSpPr>
          <p:nvPr/>
        </p:nvSpPr>
        <p:spPr bwMode="auto">
          <a:xfrm flipH="1">
            <a:off x="1219200" y="4267200"/>
            <a:ext cx="609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0067" name="Line 19"/>
          <p:cNvSpPr>
            <a:spLocks noChangeShapeType="1"/>
          </p:cNvSpPr>
          <p:nvPr/>
        </p:nvSpPr>
        <p:spPr bwMode="auto">
          <a:xfrm>
            <a:off x="2133600" y="4267200"/>
            <a:ext cx="381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FE3A30-9A4D-4CF6-9771-2EF36F826A35}" type="slidenum">
              <a:rPr lang="en-US"/>
              <a:pPr/>
              <a:t>35</a:t>
            </a:fld>
            <a:endParaRPr lang="en-US"/>
          </a:p>
        </p:txBody>
      </p:sp>
      <p:sp>
        <p:nvSpPr>
          <p:cNvPr id="131074" name="Text Box 2"/>
          <p:cNvSpPr txBox="1">
            <a:spLocks noChangeArrowheads="1"/>
          </p:cNvSpPr>
          <p:nvPr/>
        </p:nvSpPr>
        <p:spPr bwMode="auto">
          <a:xfrm>
            <a:off x="2133600" y="304800"/>
            <a:ext cx="50323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PROOF TECHNIQUES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1075" name="Text Box 3"/>
          <p:cNvSpPr txBox="1">
            <a:spLocks noChangeArrowheads="1"/>
          </p:cNvSpPr>
          <p:nvPr/>
        </p:nvSpPr>
        <p:spPr bwMode="auto">
          <a:xfrm>
            <a:off x="1203325" y="1749425"/>
            <a:ext cx="4162425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Proof by induction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Proof by contradiction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EFC2D2-C4DE-4572-B1DF-E1110A0B66C2}" type="slidenum">
              <a:rPr lang="en-US"/>
              <a:pPr/>
              <a:t>36</a:t>
            </a:fld>
            <a:endParaRPr lang="en-US"/>
          </a:p>
        </p:txBody>
      </p:sp>
      <p:sp>
        <p:nvSpPr>
          <p:cNvPr id="132098" name="Text Box 2"/>
          <p:cNvSpPr txBox="1">
            <a:spLocks noChangeArrowheads="1"/>
          </p:cNvSpPr>
          <p:nvPr/>
        </p:nvSpPr>
        <p:spPr bwMode="auto">
          <a:xfrm>
            <a:off x="3505200" y="207963"/>
            <a:ext cx="22383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Induction</a:t>
            </a:r>
          </a:p>
        </p:txBody>
      </p:sp>
      <p:sp>
        <p:nvSpPr>
          <p:cNvPr id="132099" name="Text Box 3"/>
          <p:cNvSpPr txBox="1">
            <a:spLocks noChangeArrowheads="1"/>
          </p:cNvSpPr>
          <p:nvPr/>
        </p:nvSpPr>
        <p:spPr bwMode="auto">
          <a:xfrm>
            <a:off x="533400" y="1447800"/>
            <a:ext cx="56308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We have statements</a:t>
            </a:r>
            <a:r>
              <a:rPr lang="en-US" sz="2800">
                <a:solidFill>
                  <a:schemeClr val="tx1"/>
                </a:solidFill>
              </a:rPr>
              <a:t> P</a:t>
            </a:r>
            <a:r>
              <a:rPr lang="en-US" sz="2800" baseline="-25000">
                <a:solidFill>
                  <a:schemeClr val="tx1"/>
                </a:solidFill>
              </a:rPr>
              <a:t>1</a:t>
            </a:r>
            <a:r>
              <a:rPr lang="en-US" sz="2800">
                <a:solidFill>
                  <a:schemeClr val="tx1"/>
                </a:solidFill>
              </a:rPr>
              <a:t>, P</a:t>
            </a:r>
            <a:r>
              <a:rPr lang="en-US" sz="2800" baseline="-25000">
                <a:solidFill>
                  <a:schemeClr val="tx1"/>
                </a:solidFill>
              </a:rPr>
              <a:t>2</a:t>
            </a:r>
            <a:r>
              <a:rPr lang="en-US" sz="2800">
                <a:solidFill>
                  <a:schemeClr val="tx1"/>
                </a:solidFill>
              </a:rPr>
              <a:t>, P</a:t>
            </a:r>
            <a:r>
              <a:rPr lang="en-US" sz="2800" baseline="-25000">
                <a:solidFill>
                  <a:schemeClr val="tx1"/>
                </a:solidFill>
              </a:rPr>
              <a:t>3</a:t>
            </a:r>
            <a:r>
              <a:rPr lang="en-US" sz="2800">
                <a:solidFill>
                  <a:schemeClr val="tx1"/>
                </a:solidFill>
              </a:rPr>
              <a:t>, … </a:t>
            </a:r>
          </a:p>
        </p:txBody>
      </p:sp>
      <p:sp>
        <p:nvSpPr>
          <p:cNvPr id="132100" name="Text Box 4"/>
          <p:cNvSpPr txBox="1">
            <a:spLocks noChangeArrowheads="1"/>
          </p:cNvSpPr>
          <p:nvPr/>
        </p:nvSpPr>
        <p:spPr bwMode="auto">
          <a:xfrm>
            <a:off x="517525" y="2282825"/>
            <a:ext cx="7366000" cy="3725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If we know</a:t>
            </a:r>
          </a:p>
          <a:p>
            <a:pPr lvl="2"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for some b that P</a:t>
            </a:r>
            <a:r>
              <a:rPr lang="en-US" sz="2800" baseline="-25000">
                <a:solidFill>
                  <a:schemeClr val="tx1"/>
                </a:solidFill>
              </a:rPr>
              <a:t>1</a:t>
            </a:r>
            <a:r>
              <a:rPr lang="en-US" sz="2800">
                <a:solidFill>
                  <a:schemeClr val="tx1"/>
                </a:solidFill>
              </a:rPr>
              <a:t>, P</a:t>
            </a:r>
            <a:r>
              <a:rPr lang="en-US" sz="2800" baseline="-25000">
                <a:solidFill>
                  <a:schemeClr val="tx1"/>
                </a:solidFill>
              </a:rPr>
              <a:t>2</a:t>
            </a:r>
            <a:r>
              <a:rPr lang="en-US" sz="2800">
                <a:solidFill>
                  <a:schemeClr val="tx1"/>
                </a:solidFill>
              </a:rPr>
              <a:t>, …, P</a:t>
            </a:r>
            <a:r>
              <a:rPr lang="en-US" sz="2800" baseline="-25000">
                <a:solidFill>
                  <a:schemeClr val="tx1"/>
                </a:solidFill>
              </a:rPr>
              <a:t>b</a:t>
            </a:r>
            <a:r>
              <a:rPr lang="en-US" sz="2800">
                <a:solidFill>
                  <a:schemeClr val="tx1"/>
                </a:solidFill>
              </a:rPr>
              <a:t> are true</a:t>
            </a:r>
          </a:p>
          <a:p>
            <a:pPr lvl="2"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for any k &gt;= b that</a:t>
            </a:r>
          </a:p>
          <a:p>
            <a:pPr lvl="4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P</a:t>
            </a:r>
            <a:r>
              <a:rPr lang="en-US" sz="2800" baseline="-25000">
                <a:solidFill>
                  <a:schemeClr val="tx1"/>
                </a:solidFill>
              </a:rPr>
              <a:t>1</a:t>
            </a:r>
            <a:r>
              <a:rPr lang="en-US" sz="2800">
                <a:solidFill>
                  <a:schemeClr val="tx1"/>
                </a:solidFill>
              </a:rPr>
              <a:t>, P</a:t>
            </a:r>
            <a:r>
              <a:rPr lang="en-US" sz="2800" baseline="-25000">
                <a:solidFill>
                  <a:schemeClr val="tx1"/>
                </a:solidFill>
              </a:rPr>
              <a:t>2</a:t>
            </a:r>
            <a:r>
              <a:rPr lang="en-US" sz="2800">
                <a:solidFill>
                  <a:schemeClr val="tx1"/>
                </a:solidFill>
              </a:rPr>
              <a:t>, …, P</a:t>
            </a:r>
            <a:r>
              <a:rPr lang="en-US" sz="2800" baseline="-25000">
                <a:solidFill>
                  <a:schemeClr val="tx1"/>
                </a:solidFill>
              </a:rPr>
              <a:t>k</a:t>
            </a:r>
            <a:r>
              <a:rPr lang="en-US" sz="2800">
                <a:solidFill>
                  <a:schemeClr val="tx1"/>
                </a:solidFill>
              </a:rPr>
              <a:t>  imply  P</a:t>
            </a:r>
            <a:r>
              <a:rPr lang="en-US" sz="2800" baseline="-25000">
                <a:solidFill>
                  <a:schemeClr val="tx1"/>
                </a:solidFill>
              </a:rPr>
              <a:t>k+1</a:t>
            </a: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800"/>
              <a:t>Then</a:t>
            </a:r>
            <a:r>
              <a:rPr lang="en-US" sz="2800">
                <a:solidFill>
                  <a:schemeClr val="tx1"/>
                </a:solidFill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       Every  P</a:t>
            </a:r>
            <a:r>
              <a:rPr lang="en-US" sz="2800" baseline="-25000">
                <a:solidFill>
                  <a:schemeClr val="tx1"/>
                </a:solidFill>
              </a:rPr>
              <a:t>i</a:t>
            </a:r>
            <a:r>
              <a:rPr lang="en-US" sz="2800">
                <a:solidFill>
                  <a:schemeClr val="tx1"/>
                </a:solidFill>
              </a:rPr>
              <a:t>  is true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3FAFCA-5E46-47DB-8E3E-4982EAF5A630}" type="slidenum">
              <a:rPr lang="en-US"/>
              <a:pPr/>
              <a:t>37</a:t>
            </a:fld>
            <a:endParaRPr lang="en-US"/>
          </a:p>
        </p:txBody>
      </p:sp>
      <p:sp>
        <p:nvSpPr>
          <p:cNvPr id="133122" name="Text Box 2"/>
          <p:cNvSpPr txBox="1">
            <a:spLocks noChangeArrowheads="1"/>
          </p:cNvSpPr>
          <p:nvPr/>
        </p:nvSpPr>
        <p:spPr bwMode="auto">
          <a:xfrm>
            <a:off x="2514600" y="228600"/>
            <a:ext cx="41894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Proof by Induction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517525" y="911225"/>
            <a:ext cx="6773863" cy="564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sz="2800"/>
              <a:t> Inductive basis</a:t>
            </a:r>
          </a:p>
          <a:p>
            <a:pPr lvl="2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Find P</a:t>
            </a:r>
            <a:r>
              <a:rPr lang="en-US" sz="2800" baseline="-25000">
                <a:solidFill>
                  <a:schemeClr val="tx1"/>
                </a:solidFill>
              </a:rPr>
              <a:t>1</a:t>
            </a:r>
            <a:r>
              <a:rPr lang="en-US" sz="2800">
                <a:solidFill>
                  <a:schemeClr val="tx1"/>
                </a:solidFill>
              </a:rPr>
              <a:t>, P</a:t>
            </a:r>
            <a:r>
              <a:rPr lang="en-US" sz="2800" baseline="-25000">
                <a:solidFill>
                  <a:schemeClr val="tx1"/>
                </a:solidFill>
              </a:rPr>
              <a:t>2</a:t>
            </a:r>
            <a:r>
              <a:rPr lang="en-US" sz="2800">
                <a:solidFill>
                  <a:schemeClr val="tx1"/>
                </a:solidFill>
              </a:rPr>
              <a:t>, …, P</a:t>
            </a:r>
            <a:r>
              <a:rPr lang="en-US" sz="2800" baseline="-25000">
                <a:solidFill>
                  <a:schemeClr val="tx1"/>
                </a:solidFill>
              </a:rPr>
              <a:t>b</a:t>
            </a:r>
            <a:r>
              <a:rPr lang="en-US" sz="2800">
                <a:solidFill>
                  <a:schemeClr val="tx1"/>
                </a:solidFill>
              </a:rPr>
              <a:t> which are true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/>
              <a:t>Inductive hypothesis</a:t>
            </a:r>
          </a:p>
          <a:p>
            <a:pPr lvl="2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Let’s assume P</a:t>
            </a:r>
            <a:r>
              <a:rPr lang="en-US" sz="2800" baseline="-25000">
                <a:solidFill>
                  <a:schemeClr val="tx1"/>
                </a:solidFill>
              </a:rPr>
              <a:t>1</a:t>
            </a:r>
            <a:r>
              <a:rPr lang="en-US" sz="2800">
                <a:solidFill>
                  <a:schemeClr val="tx1"/>
                </a:solidFill>
              </a:rPr>
              <a:t>, P</a:t>
            </a:r>
            <a:r>
              <a:rPr lang="en-US" sz="2800" baseline="-25000">
                <a:solidFill>
                  <a:schemeClr val="tx1"/>
                </a:solidFill>
              </a:rPr>
              <a:t>2</a:t>
            </a:r>
            <a:r>
              <a:rPr lang="en-US" sz="2800">
                <a:solidFill>
                  <a:schemeClr val="tx1"/>
                </a:solidFill>
              </a:rPr>
              <a:t>, …, P</a:t>
            </a:r>
            <a:r>
              <a:rPr lang="en-US" sz="2800" baseline="-25000">
                <a:solidFill>
                  <a:schemeClr val="tx1"/>
                </a:solidFill>
              </a:rPr>
              <a:t>k</a:t>
            </a:r>
            <a:r>
              <a:rPr lang="en-US" sz="2800">
                <a:solidFill>
                  <a:schemeClr val="tx1"/>
                </a:solidFill>
              </a:rPr>
              <a:t> are true, </a:t>
            </a:r>
          </a:p>
          <a:p>
            <a:pPr lvl="2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for any k &gt;= b</a:t>
            </a:r>
          </a:p>
          <a:p>
            <a:pPr lvl="2"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/>
              <a:t>Inductive step</a:t>
            </a:r>
          </a:p>
          <a:p>
            <a:pPr lvl="2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Show that P</a:t>
            </a:r>
            <a:r>
              <a:rPr lang="en-US" sz="2800" baseline="-25000">
                <a:solidFill>
                  <a:schemeClr val="tx1"/>
                </a:solidFill>
              </a:rPr>
              <a:t>k+1</a:t>
            </a:r>
            <a:r>
              <a:rPr lang="en-US" sz="2800">
                <a:solidFill>
                  <a:schemeClr val="tx1"/>
                </a:solidFill>
              </a:rPr>
              <a:t> is true</a:t>
            </a:r>
            <a:endParaRPr lang="en-US" sz="2800" baseline="-25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147E5B-236E-40B4-8232-19836EE0BADD}" type="slidenum">
              <a:rPr lang="en-US"/>
              <a:pPr/>
              <a:t>38</a:t>
            </a:fld>
            <a:endParaRPr lang="en-US"/>
          </a:p>
        </p:txBody>
      </p:sp>
      <p:sp>
        <p:nvSpPr>
          <p:cNvPr id="134146" name="Text Box 2"/>
          <p:cNvSpPr txBox="1">
            <a:spLocks noChangeArrowheads="1"/>
          </p:cNvSpPr>
          <p:nvPr/>
        </p:nvSpPr>
        <p:spPr bwMode="auto">
          <a:xfrm>
            <a:off x="4175125" y="149225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4147" name="Text Box 3"/>
          <p:cNvSpPr txBox="1">
            <a:spLocks noChangeArrowheads="1"/>
          </p:cNvSpPr>
          <p:nvPr/>
        </p:nvSpPr>
        <p:spPr bwMode="auto">
          <a:xfrm>
            <a:off x="3429000" y="228600"/>
            <a:ext cx="19494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Example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4148" name="Text Box 4"/>
          <p:cNvSpPr txBox="1">
            <a:spLocks noChangeArrowheads="1"/>
          </p:cNvSpPr>
          <p:nvPr/>
        </p:nvSpPr>
        <p:spPr bwMode="auto">
          <a:xfrm>
            <a:off x="60325" y="1139825"/>
            <a:ext cx="6256338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Theorem:</a:t>
            </a:r>
            <a:r>
              <a:rPr lang="en-US" sz="2800">
                <a:solidFill>
                  <a:schemeClr val="tx1"/>
                </a:solidFill>
              </a:rPr>
              <a:t>  </a:t>
            </a:r>
            <a:r>
              <a:rPr lang="en-US" sz="2800"/>
              <a:t>A binary tree of height  n</a:t>
            </a:r>
          </a:p>
          <a:p>
            <a:pPr>
              <a:spcBef>
                <a:spcPct val="50000"/>
              </a:spcBef>
            </a:pPr>
            <a:r>
              <a:rPr lang="en-US" sz="2800"/>
              <a:t>                 has at most  2</a:t>
            </a:r>
            <a:r>
              <a:rPr lang="en-US" sz="2800" baseline="30000"/>
              <a:t>n</a:t>
            </a:r>
            <a:r>
              <a:rPr lang="en-US" sz="2800"/>
              <a:t>  leaves.</a:t>
            </a:r>
          </a:p>
        </p:txBody>
      </p:sp>
      <p:sp>
        <p:nvSpPr>
          <p:cNvPr id="134149" name="Text Box 5"/>
          <p:cNvSpPr txBox="1">
            <a:spLocks noChangeArrowheads="1"/>
          </p:cNvSpPr>
          <p:nvPr/>
        </p:nvSpPr>
        <p:spPr bwMode="auto">
          <a:xfrm>
            <a:off x="152400" y="2362200"/>
            <a:ext cx="7186613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Proof by induction:</a:t>
            </a:r>
            <a:r>
              <a:rPr lang="en-US" sz="2800">
                <a:solidFill>
                  <a:schemeClr val="tx1"/>
                </a:solidFill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          </a:t>
            </a:r>
            <a:r>
              <a:rPr lang="en-US" sz="2800"/>
              <a:t>let </a:t>
            </a:r>
            <a:r>
              <a:rPr lang="en-US" sz="2800">
                <a:solidFill>
                  <a:schemeClr val="tx1"/>
                </a:solidFill>
              </a:rPr>
              <a:t>L(i)</a:t>
            </a:r>
            <a:r>
              <a:rPr lang="en-US" sz="2800"/>
              <a:t> be the maximum number of </a:t>
            </a:r>
          </a:p>
          <a:p>
            <a:pPr>
              <a:spcBef>
                <a:spcPct val="50000"/>
              </a:spcBef>
            </a:pPr>
            <a:r>
              <a:rPr lang="en-US" sz="2800"/>
              <a:t>           leaves of any subtree at height </a:t>
            </a:r>
            <a:r>
              <a:rPr lang="en-US" sz="280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134150" name="Oval 6"/>
          <p:cNvSpPr>
            <a:spLocks noChangeArrowheads="1"/>
          </p:cNvSpPr>
          <p:nvPr/>
        </p:nvSpPr>
        <p:spPr bwMode="auto">
          <a:xfrm>
            <a:off x="4191000" y="4114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151" name="Oval 7"/>
          <p:cNvSpPr>
            <a:spLocks noChangeArrowheads="1"/>
          </p:cNvSpPr>
          <p:nvPr/>
        </p:nvSpPr>
        <p:spPr bwMode="auto">
          <a:xfrm>
            <a:off x="3276600" y="4572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4152" name="Oval 8"/>
          <p:cNvSpPr>
            <a:spLocks noChangeArrowheads="1"/>
          </p:cNvSpPr>
          <p:nvPr/>
        </p:nvSpPr>
        <p:spPr bwMode="auto">
          <a:xfrm>
            <a:off x="5105400" y="4572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153" name="Oval 9"/>
          <p:cNvSpPr>
            <a:spLocks noChangeArrowheads="1"/>
          </p:cNvSpPr>
          <p:nvPr/>
        </p:nvSpPr>
        <p:spPr bwMode="auto">
          <a:xfrm>
            <a:off x="2743200" y="5334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154" name="Oval 10"/>
          <p:cNvSpPr>
            <a:spLocks noChangeArrowheads="1"/>
          </p:cNvSpPr>
          <p:nvPr/>
        </p:nvSpPr>
        <p:spPr bwMode="auto">
          <a:xfrm>
            <a:off x="3657600" y="5334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155" name="Oval 11"/>
          <p:cNvSpPr>
            <a:spLocks noChangeArrowheads="1"/>
          </p:cNvSpPr>
          <p:nvPr/>
        </p:nvSpPr>
        <p:spPr bwMode="auto">
          <a:xfrm>
            <a:off x="4724400" y="5334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4156" name="Oval 12"/>
          <p:cNvSpPr>
            <a:spLocks noChangeArrowheads="1"/>
          </p:cNvSpPr>
          <p:nvPr/>
        </p:nvSpPr>
        <p:spPr bwMode="auto">
          <a:xfrm>
            <a:off x="5562600" y="5334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4157" name="Oval 13"/>
          <p:cNvSpPr>
            <a:spLocks noChangeArrowheads="1"/>
          </p:cNvSpPr>
          <p:nvPr/>
        </p:nvSpPr>
        <p:spPr bwMode="auto">
          <a:xfrm>
            <a:off x="2438400" y="61722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158" name="Oval 14"/>
          <p:cNvSpPr>
            <a:spLocks noChangeArrowheads="1"/>
          </p:cNvSpPr>
          <p:nvPr/>
        </p:nvSpPr>
        <p:spPr bwMode="auto">
          <a:xfrm>
            <a:off x="2971800" y="61722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159" name="Oval 15"/>
          <p:cNvSpPr>
            <a:spLocks noChangeArrowheads="1"/>
          </p:cNvSpPr>
          <p:nvPr/>
        </p:nvSpPr>
        <p:spPr bwMode="auto">
          <a:xfrm>
            <a:off x="4419600" y="61722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160" name="Oval 16"/>
          <p:cNvSpPr>
            <a:spLocks noChangeArrowheads="1"/>
          </p:cNvSpPr>
          <p:nvPr/>
        </p:nvSpPr>
        <p:spPr bwMode="auto">
          <a:xfrm>
            <a:off x="4876800" y="61722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161" name="Oval 17"/>
          <p:cNvSpPr>
            <a:spLocks noChangeArrowheads="1"/>
          </p:cNvSpPr>
          <p:nvPr/>
        </p:nvSpPr>
        <p:spPr bwMode="auto">
          <a:xfrm>
            <a:off x="5334000" y="61722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4162" name="Line 18"/>
          <p:cNvSpPr>
            <a:spLocks noChangeShapeType="1"/>
          </p:cNvSpPr>
          <p:nvPr/>
        </p:nvSpPr>
        <p:spPr bwMode="auto">
          <a:xfrm flipH="1">
            <a:off x="3581400" y="4343400"/>
            <a:ext cx="609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163" name="Line 19"/>
          <p:cNvSpPr>
            <a:spLocks noChangeShapeType="1"/>
          </p:cNvSpPr>
          <p:nvPr/>
        </p:nvSpPr>
        <p:spPr bwMode="auto">
          <a:xfrm>
            <a:off x="4495800" y="43434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164" name="Line 20"/>
          <p:cNvSpPr>
            <a:spLocks noChangeShapeType="1"/>
          </p:cNvSpPr>
          <p:nvPr/>
        </p:nvSpPr>
        <p:spPr bwMode="auto">
          <a:xfrm flipH="1">
            <a:off x="2971800" y="48768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165" name="Line 21"/>
          <p:cNvSpPr>
            <a:spLocks noChangeShapeType="1"/>
          </p:cNvSpPr>
          <p:nvPr/>
        </p:nvSpPr>
        <p:spPr bwMode="auto">
          <a:xfrm>
            <a:off x="3505200" y="48768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4166" name="Line 22"/>
          <p:cNvSpPr>
            <a:spLocks noChangeShapeType="1"/>
          </p:cNvSpPr>
          <p:nvPr/>
        </p:nvSpPr>
        <p:spPr bwMode="auto">
          <a:xfrm flipH="1">
            <a:off x="4953000" y="4876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167" name="Line 23"/>
          <p:cNvSpPr>
            <a:spLocks noChangeShapeType="1"/>
          </p:cNvSpPr>
          <p:nvPr/>
        </p:nvSpPr>
        <p:spPr bwMode="auto">
          <a:xfrm>
            <a:off x="5410200" y="4876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4168" name="Line 24"/>
          <p:cNvSpPr>
            <a:spLocks noChangeShapeType="1"/>
          </p:cNvSpPr>
          <p:nvPr/>
        </p:nvSpPr>
        <p:spPr bwMode="auto">
          <a:xfrm flipH="1">
            <a:off x="2590800" y="5638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169" name="Line 25"/>
          <p:cNvSpPr>
            <a:spLocks noChangeShapeType="1"/>
          </p:cNvSpPr>
          <p:nvPr/>
        </p:nvSpPr>
        <p:spPr bwMode="auto">
          <a:xfrm>
            <a:off x="2971800" y="56388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170" name="Line 26"/>
          <p:cNvSpPr>
            <a:spLocks noChangeShapeType="1"/>
          </p:cNvSpPr>
          <p:nvPr/>
        </p:nvSpPr>
        <p:spPr bwMode="auto">
          <a:xfrm flipH="1">
            <a:off x="4572000" y="5638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171" name="Line 27"/>
          <p:cNvSpPr>
            <a:spLocks noChangeShapeType="1"/>
          </p:cNvSpPr>
          <p:nvPr/>
        </p:nvSpPr>
        <p:spPr bwMode="auto">
          <a:xfrm>
            <a:off x="4953000" y="56388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4172" name="Line 28"/>
          <p:cNvSpPr>
            <a:spLocks noChangeShapeType="1"/>
          </p:cNvSpPr>
          <p:nvPr/>
        </p:nvSpPr>
        <p:spPr bwMode="auto">
          <a:xfrm flipH="1">
            <a:off x="5486400" y="56388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3E427E-0BA2-4EC3-BB43-E765AE65B714}" type="slidenum">
              <a:rPr lang="en-US"/>
              <a:pPr/>
              <a:t>39</a:t>
            </a:fld>
            <a:endParaRPr lang="en-US"/>
          </a:p>
        </p:txBody>
      </p:sp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533400" y="304800"/>
            <a:ext cx="8270875" cy="629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We want to show:</a:t>
            </a:r>
            <a:r>
              <a:rPr lang="en-US" sz="2800">
                <a:solidFill>
                  <a:schemeClr val="tx1"/>
                </a:solidFill>
              </a:rPr>
              <a:t>  L(i) &lt;= 2</a:t>
            </a:r>
            <a:r>
              <a:rPr lang="en-US" sz="2800" baseline="30000">
                <a:solidFill>
                  <a:schemeClr val="tx1"/>
                </a:solidFill>
              </a:rPr>
              <a:t>i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800"/>
              <a:t> Inductive basis</a:t>
            </a:r>
            <a:r>
              <a:rPr lang="en-US" sz="2800">
                <a:solidFill>
                  <a:schemeClr val="tx1"/>
                </a:solidFill>
              </a:rPr>
              <a:t> </a:t>
            </a:r>
          </a:p>
          <a:p>
            <a:pPr lvl="3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L(0) = 1       (the root node)</a:t>
            </a:r>
          </a:p>
          <a:p>
            <a:pPr lvl="3"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/>
              <a:t>Inductive hypothesis</a:t>
            </a:r>
          </a:p>
          <a:p>
            <a:pPr lvl="3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Let’s assume L(i) &lt;= 2</a:t>
            </a:r>
            <a:r>
              <a:rPr lang="en-US" sz="2800" baseline="30000">
                <a:solidFill>
                  <a:schemeClr val="tx1"/>
                </a:solidFill>
              </a:rPr>
              <a:t>i</a:t>
            </a:r>
            <a:r>
              <a:rPr lang="en-US" sz="2800">
                <a:solidFill>
                  <a:schemeClr val="tx1"/>
                </a:solidFill>
              </a:rPr>
              <a:t> for all i = 0, 1, …, k</a:t>
            </a:r>
          </a:p>
          <a:p>
            <a:pPr lvl="3"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/>
              <a:t>Induction step</a:t>
            </a:r>
          </a:p>
          <a:p>
            <a:pPr lvl="3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we need to show that L(k + 1) &lt;= 2</a:t>
            </a:r>
            <a:r>
              <a:rPr lang="en-US" sz="2800" baseline="30000">
                <a:solidFill>
                  <a:schemeClr val="tx1"/>
                </a:solidFill>
              </a:rPr>
              <a:t>k+1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5171" name="Oval 3"/>
          <p:cNvSpPr>
            <a:spLocks noChangeArrowheads="1"/>
          </p:cNvSpPr>
          <p:nvPr/>
        </p:nvSpPr>
        <p:spPr bwMode="auto">
          <a:xfrm>
            <a:off x="7239000" y="23622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DE8083-E357-4273-98B3-256DD7606E60}" type="slidenum">
              <a:rPr lang="en-US"/>
              <a:pPr/>
              <a:t>40</a:t>
            </a:fld>
            <a:endParaRPr lang="en-US"/>
          </a:p>
        </p:txBody>
      </p:sp>
      <p:sp>
        <p:nvSpPr>
          <p:cNvPr id="136194" name="Text Box 2"/>
          <p:cNvSpPr txBox="1">
            <a:spLocks noChangeArrowheads="1"/>
          </p:cNvSpPr>
          <p:nvPr/>
        </p:nvSpPr>
        <p:spPr bwMode="auto">
          <a:xfrm>
            <a:off x="2819400" y="152400"/>
            <a:ext cx="3403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Induction Step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6195" name="Text Box 3"/>
          <p:cNvSpPr txBox="1">
            <a:spLocks noChangeArrowheads="1"/>
          </p:cNvSpPr>
          <p:nvPr/>
        </p:nvSpPr>
        <p:spPr bwMode="auto">
          <a:xfrm>
            <a:off x="1295400" y="5257800"/>
            <a:ext cx="6359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From Inductive hypothesis:</a:t>
            </a:r>
            <a:r>
              <a:rPr lang="en-US" sz="2800">
                <a:solidFill>
                  <a:schemeClr val="tx1"/>
                </a:solidFill>
              </a:rPr>
              <a:t> L(k) &lt;= 2</a:t>
            </a:r>
            <a:r>
              <a:rPr lang="en-US" sz="2800" baseline="30000">
                <a:solidFill>
                  <a:schemeClr val="tx1"/>
                </a:solidFill>
              </a:rPr>
              <a:t>k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6196" name="Text Box 4"/>
          <p:cNvSpPr txBox="1">
            <a:spLocks noChangeArrowheads="1"/>
          </p:cNvSpPr>
          <p:nvPr/>
        </p:nvSpPr>
        <p:spPr bwMode="auto">
          <a:xfrm>
            <a:off x="381000" y="2057400"/>
            <a:ext cx="12461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height</a:t>
            </a:r>
          </a:p>
        </p:txBody>
      </p:sp>
      <p:sp>
        <p:nvSpPr>
          <p:cNvPr id="136197" name="Text Box 5"/>
          <p:cNvSpPr txBox="1">
            <a:spLocks noChangeArrowheads="1"/>
          </p:cNvSpPr>
          <p:nvPr/>
        </p:nvSpPr>
        <p:spPr bwMode="auto">
          <a:xfrm>
            <a:off x="838200" y="2743200"/>
            <a:ext cx="3762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136198" name="Text Box 6"/>
          <p:cNvSpPr txBox="1">
            <a:spLocks noChangeArrowheads="1"/>
          </p:cNvSpPr>
          <p:nvPr/>
        </p:nvSpPr>
        <p:spPr bwMode="auto">
          <a:xfrm>
            <a:off x="381000" y="3581400"/>
            <a:ext cx="7080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k+1</a:t>
            </a:r>
          </a:p>
        </p:txBody>
      </p:sp>
      <p:sp>
        <p:nvSpPr>
          <p:cNvPr id="136199" name="Freeform 7"/>
          <p:cNvSpPr>
            <a:spLocks/>
          </p:cNvSpPr>
          <p:nvPr/>
        </p:nvSpPr>
        <p:spPr bwMode="auto">
          <a:xfrm>
            <a:off x="4876800" y="3276600"/>
            <a:ext cx="1501775" cy="19462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4" y="78"/>
              </a:cxn>
              <a:cxn ang="0">
                <a:pos x="70" y="105"/>
              </a:cxn>
              <a:cxn ang="0">
                <a:pos x="149" y="218"/>
              </a:cxn>
              <a:cxn ang="0">
                <a:pos x="236" y="349"/>
              </a:cxn>
              <a:cxn ang="0">
                <a:pos x="323" y="480"/>
              </a:cxn>
              <a:cxn ang="0">
                <a:pos x="358" y="532"/>
              </a:cxn>
              <a:cxn ang="0">
                <a:pos x="367" y="567"/>
              </a:cxn>
              <a:cxn ang="0">
                <a:pos x="393" y="593"/>
              </a:cxn>
              <a:cxn ang="0">
                <a:pos x="446" y="672"/>
              </a:cxn>
              <a:cxn ang="0">
                <a:pos x="489" y="768"/>
              </a:cxn>
              <a:cxn ang="0">
                <a:pos x="515" y="829"/>
              </a:cxn>
              <a:cxn ang="0">
                <a:pos x="559" y="934"/>
              </a:cxn>
              <a:cxn ang="0">
                <a:pos x="629" y="1161"/>
              </a:cxn>
              <a:cxn ang="0">
                <a:pos x="655" y="1248"/>
              </a:cxn>
              <a:cxn ang="0">
                <a:pos x="655" y="1466"/>
              </a:cxn>
            </a:cxnLst>
            <a:rect l="0" t="0" r="r" b="b"/>
            <a:pathLst>
              <a:path w="658" h="1466">
                <a:moveTo>
                  <a:pt x="0" y="0"/>
                </a:moveTo>
                <a:cubicBezTo>
                  <a:pt x="25" y="24"/>
                  <a:pt x="24" y="49"/>
                  <a:pt x="44" y="78"/>
                </a:cubicBezTo>
                <a:cubicBezTo>
                  <a:pt x="51" y="88"/>
                  <a:pt x="63" y="95"/>
                  <a:pt x="70" y="105"/>
                </a:cubicBezTo>
                <a:cubicBezTo>
                  <a:pt x="98" y="144"/>
                  <a:pt x="113" y="184"/>
                  <a:pt x="149" y="218"/>
                </a:cubicBezTo>
                <a:cubicBezTo>
                  <a:pt x="167" y="270"/>
                  <a:pt x="204" y="305"/>
                  <a:pt x="236" y="349"/>
                </a:cubicBezTo>
                <a:cubicBezTo>
                  <a:pt x="267" y="392"/>
                  <a:pt x="285" y="442"/>
                  <a:pt x="323" y="480"/>
                </a:cubicBezTo>
                <a:cubicBezTo>
                  <a:pt x="352" y="563"/>
                  <a:pt x="304" y="439"/>
                  <a:pt x="358" y="532"/>
                </a:cubicBezTo>
                <a:cubicBezTo>
                  <a:pt x="364" y="542"/>
                  <a:pt x="361" y="557"/>
                  <a:pt x="367" y="567"/>
                </a:cubicBezTo>
                <a:cubicBezTo>
                  <a:pt x="373" y="578"/>
                  <a:pt x="386" y="583"/>
                  <a:pt x="393" y="593"/>
                </a:cubicBezTo>
                <a:cubicBezTo>
                  <a:pt x="412" y="618"/>
                  <a:pt x="428" y="646"/>
                  <a:pt x="446" y="672"/>
                </a:cubicBezTo>
                <a:cubicBezTo>
                  <a:pt x="467" y="702"/>
                  <a:pt x="469" y="737"/>
                  <a:pt x="489" y="768"/>
                </a:cubicBezTo>
                <a:cubicBezTo>
                  <a:pt x="512" y="858"/>
                  <a:pt x="481" y="754"/>
                  <a:pt x="515" y="829"/>
                </a:cubicBezTo>
                <a:cubicBezTo>
                  <a:pt x="532" y="868"/>
                  <a:pt x="536" y="899"/>
                  <a:pt x="559" y="934"/>
                </a:cubicBezTo>
                <a:cubicBezTo>
                  <a:pt x="579" y="1011"/>
                  <a:pt x="603" y="1086"/>
                  <a:pt x="629" y="1161"/>
                </a:cubicBezTo>
                <a:cubicBezTo>
                  <a:pt x="638" y="1187"/>
                  <a:pt x="654" y="1222"/>
                  <a:pt x="655" y="1248"/>
                </a:cubicBezTo>
                <a:cubicBezTo>
                  <a:pt x="658" y="1321"/>
                  <a:pt x="655" y="1393"/>
                  <a:pt x="655" y="1466"/>
                </a:cubicBezTo>
              </a:path>
            </a:pathLst>
          </a:custGeom>
          <a:noFill/>
          <a:ln w="9525" cap="rnd" cmpd="sng">
            <a:solidFill>
              <a:srgbClr val="FF0000"/>
            </a:solidFill>
            <a:prstDash val="sysDot"/>
            <a:round/>
            <a:headEnd/>
            <a:tailEnd type="stealth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36200" name="Oval 8"/>
          <p:cNvSpPr>
            <a:spLocks noChangeArrowheads="1"/>
          </p:cNvSpPr>
          <p:nvPr/>
        </p:nvSpPr>
        <p:spPr bwMode="auto">
          <a:xfrm>
            <a:off x="3124200" y="16764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6201" name="Oval 9"/>
          <p:cNvSpPr>
            <a:spLocks noChangeArrowheads="1"/>
          </p:cNvSpPr>
          <p:nvPr/>
        </p:nvSpPr>
        <p:spPr bwMode="auto">
          <a:xfrm>
            <a:off x="2209800" y="2133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6202" name="Oval 10"/>
          <p:cNvSpPr>
            <a:spLocks noChangeArrowheads="1"/>
          </p:cNvSpPr>
          <p:nvPr/>
        </p:nvSpPr>
        <p:spPr bwMode="auto">
          <a:xfrm>
            <a:off x="4038600" y="2133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6203" name="Oval 11"/>
          <p:cNvSpPr>
            <a:spLocks noChangeArrowheads="1"/>
          </p:cNvSpPr>
          <p:nvPr/>
        </p:nvSpPr>
        <p:spPr bwMode="auto">
          <a:xfrm>
            <a:off x="1676400" y="2895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6204" name="Oval 12"/>
          <p:cNvSpPr>
            <a:spLocks noChangeArrowheads="1"/>
          </p:cNvSpPr>
          <p:nvPr/>
        </p:nvSpPr>
        <p:spPr bwMode="auto">
          <a:xfrm>
            <a:off x="2590800" y="2895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6205" name="Oval 13"/>
          <p:cNvSpPr>
            <a:spLocks noChangeArrowheads="1"/>
          </p:cNvSpPr>
          <p:nvPr/>
        </p:nvSpPr>
        <p:spPr bwMode="auto">
          <a:xfrm>
            <a:off x="3657600" y="2895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6206" name="Oval 14"/>
          <p:cNvSpPr>
            <a:spLocks noChangeArrowheads="1"/>
          </p:cNvSpPr>
          <p:nvPr/>
        </p:nvSpPr>
        <p:spPr bwMode="auto">
          <a:xfrm>
            <a:off x="4495800" y="2895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6207" name="Oval 15"/>
          <p:cNvSpPr>
            <a:spLocks noChangeArrowheads="1"/>
          </p:cNvSpPr>
          <p:nvPr/>
        </p:nvSpPr>
        <p:spPr bwMode="auto">
          <a:xfrm>
            <a:off x="1371600" y="3733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6208" name="Oval 16"/>
          <p:cNvSpPr>
            <a:spLocks noChangeArrowheads="1"/>
          </p:cNvSpPr>
          <p:nvPr/>
        </p:nvSpPr>
        <p:spPr bwMode="auto">
          <a:xfrm>
            <a:off x="1905000" y="3733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6209" name="Oval 17"/>
          <p:cNvSpPr>
            <a:spLocks noChangeArrowheads="1"/>
          </p:cNvSpPr>
          <p:nvPr/>
        </p:nvSpPr>
        <p:spPr bwMode="auto">
          <a:xfrm>
            <a:off x="3352800" y="3733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6210" name="Oval 18"/>
          <p:cNvSpPr>
            <a:spLocks noChangeArrowheads="1"/>
          </p:cNvSpPr>
          <p:nvPr/>
        </p:nvSpPr>
        <p:spPr bwMode="auto">
          <a:xfrm>
            <a:off x="3810000" y="3733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6211" name="Oval 19"/>
          <p:cNvSpPr>
            <a:spLocks noChangeArrowheads="1"/>
          </p:cNvSpPr>
          <p:nvPr/>
        </p:nvSpPr>
        <p:spPr bwMode="auto">
          <a:xfrm>
            <a:off x="4267200" y="3733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6212" name="Line 20"/>
          <p:cNvSpPr>
            <a:spLocks noChangeShapeType="1"/>
          </p:cNvSpPr>
          <p:nvPr/>
        </p:nvSpPr>
        <p:spPr bwMode="auto">
          <a:xfrm flipH="1">
            <a:off x="2514600" y="1905000"/>
            <a:ext cx="609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6213" name="Line 21"/>
          <p:cNvSpPr>
            <a:spLocks noChangeShapeType="1"/>
          </p:cNvSpPr>
          <p:nvPr/>
        </p:nvSpPr>
        <p:spPr bwMode="auto">
          <a:xfrm>
            <a:off x="3429000" y="19050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6214" name="Line 22"/>
          <p:cNvSpPr>
            <a:spLocks noChangeShapeType="1"/>
          </p:cNvSpPr>
          <p:nvPr/>
        </p:nvSpPr>
        <p:spPr bwMode="auto">
          <a:xfrm flipH="1">
            <a:off x="1905000" y="24384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6215" name="Line 23"/>
          <p:cNvSpPr>
            <a:spLocks noChangeShapeType="1"/>
          </p:cNvSpPr>
          <p:nvPr/>
        </p:nvSpPr>
        <p:spPr bwMode="auto">
          <a:xfrm>
            <a:off x="2438400" y="24384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6216" name="Line 24"/>
          <p:cNvSpPr>
            <a:spLocks noChangeShapeType="1"/>
          </p:cNvSpPr>
          <p:nvPr/>
        </p:nvSpPr>
        <p:spPr bwMode="auto">
          <a:xfrm flipH="1">
            <a:off x="3886200" y="24384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6217" name="Line 25"/>
          <p:cNvSpPr>
            <a:spLocks noChangeShapeType="1"/>
          </p:cNvSpPr>
          <p:nvPr/>
        </p:nvSpPr>
        <p:spPr bwMode="auto">
          <a:xfrm>
            <a:off x="4343400" y="24384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6218" name="Line 26"/>
          <p:cNvSpPr>
            <a:spLocks noChangeShapeType="1"/>
          </p:cNvSpPr>
          <p:nvPr/>
        </p:nvSpPr>
        <p:spPr bwMode="auto">
          <a:xfrm flipH="1">
            <a:off x="1524000" y="32004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6219" name="Line 27"/>
          <p:cNvSpPr>
            <a:spLocks noChangeShapeType="1"/>
          </p:cNvSpPr>
          <p:nvPr/>
        </p:nvSpPr>
        <p:spPr bwMode="auto">
          <a:xfrm>
            <a:off x="1905000" y="32004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6220" name="Line 28"/>
          <p:cNvSpPr>
            <a:spLocks noChangeShapeType="1"/>
          </p:cNvSpPr>
          <p:nvPr/>
        </p:nvSpPr>
        <p:spPr bwMode="auto">
          <a:xfrm flipH="1">
            <a:off x="3505200" y="32004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6221" name="Line 29"/>
          <p:cNvSpPr>
            <a:spLocks noChangeShapeType="1"/>
          </p:cNvSpPr>
          <p:nvPr/>
        </p:nvSpPr>
        <p:spPr bwMode="auto">
          <a:xfrm>
            <a:off x="3886200" y="32004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6222" name="Line 30"/>
          <p:cNvSpPr>
            <a:spLocks noChangeShapeType="1"/>
          </p:cNvSpPr>
          <p:nvPr/>
        </p:nvSpPr>
        <p:spPr bwMode="auto">
          <a:xfrm flipH="1">
            <a:off x="4419600" y="32004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6223" name="Freeform 31"/>
          <p:cNvSpPr>
            <a:spLocks/>
          </p:cNvSpPr>
          <p:nvPr/>
        </p:nvSpPr>
        <p:spPr bwMode="auto">
          <a:xfrm>
            <a:off x="1219200" y="3276600"/>
            <a:ext cx="3657600" cy="152400"/>
          </a:xfrm>
          <a:custGeom>
            <a:avLst/>
            <a:gdLst/>
            <a:ahLst/>
            <a:cxnLst>
              <a:cxn ang="0">
                <a:pos x="0" y="8"/>
              </a:cxn>
              <a:cxn ang="0">
                <a:pos x="576" y="41"/>
              </a:cxn>
              <a:cxn ang="0">
                <a:pos x="1006" y="65"/>
              </a:cxn>
              <a:cxn ang="0">
                <a:pos x="1801" y="57"/>
              </a:cxn>
              <a:cxn ang="0">
                <a:pos x="2304" y="0"/>
              </a:cxn>
            </a:cxnLst>
            <a:rect l="0" t="0" r="r" b="b"/>
            <a:pathLst>
              <a:path w="2304" h="96">
                <a:moveTo>
                  <a:pt x="0" y="8"/>
                </a:moveTo>
                <a:cubicBezTo>
                  <a:pt x="452" y="16"/>
                  <a:pt x="343" y="3"/>
                  <a:pt x="576" y="41"/>
                </a:cubicBezTo>
                <a:cubicBezTo>
                  <a:pt x="746" y="96"/>
                  <a:pt x="608" y="57"/>
                  <a:pt x="1006" y="65"/>
                </a:cubicBezTo>
                <a:cubicBezTo>
                  <a:pt x="1271" y="62"/>
                  <a:pt x="1536" y="62"/>
                  <a:pt x="1801" y="57"/>
                </a:cubicBezTo>
                <a:cubicBezTo>
                  <a:pt x="1969" y="54"/>
                  <a:pt x="2136" y="0"/>
                  <a:pt x="2304" y="0"/>
                </a:cubicBezTo>
              </a:path>
            </a:pathLst>
          </a:custGeom>
          <a:noFill/>
          <a:ln w="9525" cap="rnd" cmpd="sng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BD9F6A-6218-4560-9EED-A64A1702A5DE}" type="slidenum">
              <a:rPr lang="en-US"/>
              <a:pPr/>
              <a:t>41</a:t>
            </a:fld>
            <a:endParaRPr lang="en-US"/>
          </a:p>
        </p:txBody>
      </p:sp>
      <p:sp>
        <p:nvSpPr>
          <p:cNvPr id="137218" name="Text Box 2"/>
          <p:cNvSpPr txBox="1">
            <a:spLocks noChangeArrowheads="1"/>
          </p:cNvSpPr>
          <p:nvPr/>
        </p:nvSpPr>
        <p:spPr bwMode="auto">
          <a:xfrm>
            <a:off x="5334000" y="2590800"/>
            <a:ext cx="1708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L(k) &lt;= 2</a:t>
            </a:r>
            <a:r>
              <a:rPr lang="en-US" sz="2800" baseline="30000">
                <a:solidFill>
                  <a:schemeClr val="tx1"/>
                </a:solidFill>
              </a:rPr>
              <a:t>k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990600" y="4800600"/>
            <a:ext cx="6057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L(k+1)  &lt;=  2 * L(k)  &lt;=  2 * 2</a:t>
            </a:r>
            <a:r>
              <a:rPr lang="en-US" sz="2800" baseline="30000">
                <a:solidFill>
                  <a:schemeClr val="tx1"/>
                </a:solidFill>
              </a:rPr>
              <a:t>k</a:t>
            </a:r>
            <a:r>
              <a:rPr lang="en-US" sz="2800">
                <a:solidFill>
                  <a:schemeClr val="tx1"/>
                </a:solidFill>
              </a:rPr>
              <a:t>  =  2</a:t>
            </a:r>
            <a:r>
              <a:rPr lang="en-US" sz="2800" baseline="30000">
                <a:solidFill>
                  <a:schemeClr val="tx1"/>
                </a:solidFill>
              </a:rPr>
              <a:t>k+1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7220" name="Text Box 4"/>
          <p:cNvSpPr txBox="1">
            <a:spLocks noChangeArrowheads="1"/>
          </p:cNvSpPr>
          <p:nvPr/>
        </p:nvSpPr>
        <p:spPr bwMode="auto">
          <a:xfrm>
            <a:off x="2819400" y="152400"/>
            <a:ext cx="3403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Induction Step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7221" name="Text Box 5"/>
          <p:cNvSpPr txBox="1">
            <a:spLocks noChangeArrowheads="1"/>
          </p:cNvSpPr>
          <p:nvPr/>
        </p:nvSpPr>
        <p:spPr bwMode="auto">
          <a:xfrm>
            <a:off x="381000" y="2057400"/>
            <a:ext cx="12461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height</a:t>
            </a:r>
          </a:p>
        </p:txBody>
      </p:sp>
      <p:sp>
        <p:nvSpPr>
          <p:cNvPr id="137222" name="Text Box 6"/>
          <p:cNvSpPr txBox="1">
            <a:spLocks noChangeArrowheads="1"/>
          </p:cNvSpPr>
          <p:nvPr/>
        </p:nvSpPr>
        <p:spPr bwMode="auto">
          <a:xfrm>
            <a:off x="838200" y="2743200"/>
            <a:ext cx="3762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381000" y="3581400"/>
            <a:ext cx="7080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k+1</a:t>
            </a:r>
          </a:p>
        </p:txBody>
      </p:sp>
      <p:sp>
        <p:nvSpPr>
          <p:cNvPr id="137224" name="Oval 8"/>
          <p:cNvSpPr>
            <a:spLocks noChangeArrowheads="1"/>
          </p:cNvSpPr>
          <p:nvPr/>
        </p:nvSpPr>
        <p:spPr bwMode="auto">
          <a:xfrm>
            <a:off x="3124200" y="16764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7225" name="Oval 9"/>
          <p:cNvSpPr>
            <a:spLocks noChangeArrowheads="1"/>
          </p:cNvSpPr>
          <p:nvPr/>
        </p:nvSpPr>
        <p:spPr bwMode="auto">
          <a:xfrm>
            <a:off x="2209800" y="2133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7226" name="Oval 10"/>
          <p:cNvSpPr>
            <a:spLocks noChangeArrowheads="1"/>
          </p:cNvSpPr>
          <p:nvPr/>
        </p:nvSpPr>
        <p:spPr bwMode="auto">
          <a:xfrm>
            <a:off x="4038600" y="2133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7227" name="Oval 11"/>
          <p:cNvSpPr>
            <a:spLocks noChangeArrowheads="1"/>
          </p:cNvSpPr>
          <p:nvPr/>
        </p:nvSpPr>
        <p:spPr bwMode="auto">
          <a:xfrm>
            <a:off x="1676400" y="2895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7228" name="Oval 12"/>
          <p:cNvSpPr>
            <a:spLocks noChangeArrowheads="1"/>
          </p:cNvSpPr>
          <p:nvPr/>
        </p:nvSpPr>
        <p:spPr bwMode="auto">
          <a:xfrm>
            <a:off x="2590800" y="2895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7229" name="Oval 13"/>
          <p:cNvSpPr>
            <a:spLocks noChangeArrowheads="1"/>
          </p:cNvSpPr>
          <p:nvPr/>
        </p:nvSpPr>
        <p:spPr bwMode="auto">
          <a:xfrm>
            <a:off x="3657600" y="2895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7230" name="Oval 14"/>
          <p:cNvSpPr>
            <a:spLocks noChangeArrowheads="1"/>
          </p:cNvSpPr>
          <p:nvPr/>
        </p:nvSpPr>
        <p:spPr bwMode="auto">
          <a:xfrm>
            <a:off x="4495800" y="2895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7231" name="Oval 15"/>
          <p:cNvSpPr>
            <a:spLocks noChangeArrowheads="1"/>
          </p:cNvSpPr>
          <p:nvPr/>
        </p:nvSpPr>
        <p:spPr bwMode="auto">
          <a:xfrm>
            <a:off x="1371600" y="3733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7232" name="Oval 16"/>
          <p:cNvSpPr>
            <a:spLocks noChangeArrowheads="1"/>
          </p:cNvSpPr>
          <p:nvPr/>
        </p:nvSpPr>
        <p:spPr bwMode="auto">
          <a:xfrm>
            <a:off x="1905000" y="3733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7233" name="Oval 17"/>
          <p:cNvSpPr>
            <a:spLocks noChangeArrowheads="1"/>
          </p:cNvSpPr>
          <p:nvPr/>
        </p:nvSpPr>
        <p:spPr bwMode="auto">
          <a:xfrm>
            <a:off x="3352800" y="3733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7234" name="Oval 18"/>
          <p:cNvSpPr>
            <a:spLocks noChangeArrowheads="1"/>
          </p:cNvSpPr>
          <p:nvPr/>
        </p:nvSpPr>
        <p:spPr bwMode="auto">
          <a:xfrm>
            <a:off x="3810000" y="3733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7235" name="Oval 19"/>
          <p:cNvSpPr>
            <a:spLocks noChangeArrowheads="1"/>
          </p:cNvSpPr>
          <p:nvPr/>
        </p:nvSpPr>
        <p:spPr bwMode="auto">
          <a:xfrm>
            <a:off x="4267200" y="3733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7236" name="Line 20"/>
          <p:cNvSpPr>
            <a:spLocks noChangeShapeType="1"/>
          </p:cNvSpPr>
          <p:nvPr/>
        </p:nvSpPr>
        <p:spPr bwMode="auto">
          <a:xfrm flipH="1">
            <a:off x="2514600" y="1905000"/>
            <a:ext cx="609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7237" name="Line 21"/>
          <p:cNvSpPr>
            <a:spLocks noChangeShapeType="1"/>
          </p:cNvSpPr>
          <p:nvPr/>
        </p:nvSpPr>
        <p:spPr bwMode="auto">
          <a:xfrm>
            <a:off x="3429000" y="19050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7238" name="Line 22"/>
          <p:cNvSpPr>
            <a:spLocks noChangeShapeType="1"/>
          </p:cNvSpPr>
          <p:nvPr/>
        </p:nvSpPr>
        <p:spPr bwMode="auto">
          <a:xfrm flipH="1">
            <a:off x="1905000" y="24384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7239" name="Line 23"/>
          <p:cNvSpPr>
            <a:spLocks noChangeShapeType="1"/>
          </p:cNvSpPr>
          <p:nvPr/>
        </p:nvSpPr>
        <p:spPr bwMode="auto">
          <a:xfrm>
            <a:off x="2438400" y="24384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7240" name="Line 24"/>
          <p:cNvSpPr>
            <a:spLocks noChangeShapeType="1"/>
          </p:cNvSpPr>
          <p:nvPr/>
        </p:nvSpPr>
        <p:spPr bwMode="auto">
          <a:xfrm flipH="1">
            <a:off x="3886200" y="24384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7241" name="Line 25"/>
          <p:cNvSpPr>
            <a:spLocks noChangeShapeType="1"/>
          </p:cNvSpPr>
          <p:nvPr/>
        </p:nvSpPr>
        <p:spPr bwMode="auto">
          <a:xfrm>
            <a:off x="4343400" y="24384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7242" name="Line 26"/>
          <p:cNvSpPr>
            <a:spLocks noChangeShapeType="1"/>
          </p:cNvSpPr>
          <p:nvPr/>
        </p:nvSpPr>
        <p:spPr bwMode="auto">
          <a:xfrm flipH="1">
            <a:off x="1524000" y="32004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7243" name="Line 27"/>
          <p:cNvSpPr>
            <a:spLocks noChangeShapeType="1"/>
          </p:cNvSpPr>
          <p:nvPr/>
        </p:nvSpPr>
        <p:spPr bwMode="auto">
          <a:xfrm>
            <a:off x="1905000" y="32004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7244" name="Line 28"/>
          <p:cNvSpPr>
            <a:spLocks noChangeShapeType="1"/>
          </p:cNvSpPr>
          <p:nvPr/>
        </p:nvSpPr>
        <p:spPr bwMode="auto">
          <a:xfrm flipH="1">
            <a:off x="3505200" y="32004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7245" name="Line 29"/>
          <p:cNvSpPr>
            <a:spLocks noChangeShapeType="1"/>
          </p:cNvSpPr>
          <p:nvPr/>
        </p:nvSpPr>
        <p:spPr bwMode="auto">
          <a:xfrm>
            <a:off x="3886200" y="32004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7246" name="Line 30"/>
          <p:cNvSpPr>
            <a:spLocks noChangeShapeType="1"/>
          </p:cNvSpPr>
          <p:nvPr/>
        </p:nvSpPr>
        <p:spPr bwMode="auto">
          <a:xfrm flipH="1">
            <a:off x="4419600" y="32004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7247" name="Freeform 31"/>
          <p:cNvSpPr>
            <a:spLocks/>
          </p:cNvSpPr>
          <p:nvPr/>
        </p:nvSpPr>
        <p:spPr bwMode="auto">
          <a:xfrm>
            <a:off x="1219200" y="3276600"/>
            <a:ext cx="3657600" cy="152400"/>
          </a:xfrm>
          <a:custGeom>
            <a:avLst/>
            <a:gdLst/>
            <a:ahLst/>
            <a:cxnLst>
              <a:cxn ang="0">
                <a:pos x="0" y="8"/>
              </a:cxn>
              <a:cxn ang="0">
                <a:pos x="576" y="41"/>
              </a:cxn>
              <a:cxn ang="0">
                <a:pos x="1006" y="65"/>
              </a:cxn>
              <a:cxn ang="0">
                <a:pos x="1801" y="57"/>
              </a:cxn>
              <a:cxn ang="0">
                <a:pos x="2304" y="0"/>
              </a:cxn>
            </a:cxnLst>
            <a:rect l="0" t="0" r="r" b="b"/>
            <a:pathLst>
              <a:path w="2304" h="96">
                <a:moveTo>
                  <a:pt x="0" y="8"/>
                </a:moveTo>
                <a:cubicBezTo>
                  <a:pt x="452" y="16"/>
                  <a:pt x="343" y="3"/>
                  <a:pt x="576" y="41"/>
                </a:cubicBezTo>
                <a:cubicBezTo>
                  <a:pt x="746" y="96"/>
                  <a:pt x="608" y="57"/>
                  <a:pt x="1006" y="65"/>
                </a:cubicBezTo>
                <a:cubicBezTo>
                  <a:pt x="1271" y="62"/>
                  <a:pt x="1536" y="62"/>
                  <a:pt x="1801" y="57"/>
                </a:cubicBezTo>
                <a:cubicBezTo>
                  <a:pt x="1969" y="54"/>
                  <a:pt x="2136" y="0"/>
                  <a:pt x="2304" y="0"/>
                </a:cubicBezTo>
              </a:path>
            </a:pathLst>
          </a:custGeom>
          <a:noFill/>
          <a:ln w="9525" cap="rnd" cmpd="sng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37248" name="Text Box 32"/>
          <p:cNvSpPr txBox="1">
            <a:spLocks noChangeArrowheads="1"/>
          </p:cNvSpPr>
          <p:nvPr/>
        </p:nvSpPr>
        <p:spPr bwMode="auto">
          <a:xfrm>
            <a:off x="822325" y="5684838"/>
            <a:ext cx="7542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(we add at most two nodes for every leaf of level k)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018C5B-AC39-4E4F-A18D-F9642F4ACC61}" type="slidenum">
              <a:rPr lang="en-US"/>
              <a:pPr/>
              <a:t>42</a:t>
            </a:fld>
            <a:endParaRPr lang="en-US"/>
          </a:p>
        </p:txBody>
      </p:sp>
      <p:sp>
        <p:nvSpPr>
          <p:cNvPr id="138242" name="Text Box 2"/>
          <p:cNvSpPr txBox="1">
            <a:spLocks noChangeArrowheads="1"/>
          </p:cNvSpPr>
          <p:nvPr/>
        </p:nvSpPr>
        <p:spPr bwMode="auto">
          <a:xfrm>
            <a:off x="3581400" y="131763"/>
            <a:ext cx="1778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Remark</a:t>
            </a:r>
          </a:p>
        </p:txBody>
      </p:sp>
      <p:sp>
        <p:nvSpPr>
          <p:cNvPr id="138243" name="Text Box 3"/>
          <p:cNvSpPr txBox="1">
            <a:spLocks noChangeArrowheads="1"/>
          </p:cNvSpPr>
          <p:nvPr/>
        </p:nvSpPr>
        <p:spPr bwMode="auto">
          <a:xfrm>
            <a:off x="212725" y="1139825"/>
            <a:ext cx="5272088" cy="436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Recursion is another thing</a:t>
            </a:r>
          </a:p>
          <a:p>
            <a:pPr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800"/>
              <a:t>Example of recursive function:</a:t>
            </a:r>
          </a:p>
          <a:p>
            <a:pPr lvl="2"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 lvl="2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f(n) = f(n-1) + f(n-2)</a:t>
            </a:r>
          </a:p>
          <a:p>
            <a:pPr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 lvl="2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f(0) = 1,   f(1) =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D1102C-0D92-411C-B42E-193C13A71DD0}" type="slidenum">
              <a:rPr lang="en-US"/>
              <a:pPr/>
              <a:t>43</a:t>
            </a:fld>
            <a:endParaRPr lang="en-US"/>
          </a:p>
        </p:txBody>
      </p:sp>
      <p:sp>
        <p:nvSpPr>
          <p:cNvPr id="139266" name="Text Box 2"/>
          <p:cNvSpPr txBox="1">
            <a:spLocks noChangeArrowheads="1"/>
          </p:cNvSpPr>
          <p:nvPr/>
        </p:nvSpPr>
        <p:spPr bwMode="auto">
          <a:xfrm>
            <a:off x="2209800" y="0"/>
            <a:ext cx="50149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Proof by Contradiction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39267" name="Text Box 3"/>
          <p:cNvSpPr txBox="1">
            <a:spLocks noChangeArrowheads="1"/>
          </p:cNvSpPr>
          <p:nvPr/>
        </p:nvSpPr>
        <p:spPr bwMode="auto">
          <a:xfrm>
            <a:off x="593725" y="1292225"/>
            <a:ext cx="8096250" cy="3725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/>
              <a:t>We want to prove that a statement P is true</a:t>
            </a:r>
          </a:p>
          <a:p>
            <a:pPr>
              <a:spcBef>
                <a:spcPct val="50000"/>
              </a:spcBef>
            </a:pPr>
            <a:endParaRPr lang="en-US" sz="2800"/>
          </a:p>
          <a:p>
            <a:pPr lvl="2">
              <a:spcBef>
                <a:spcPct val="50000"/>
              </a:spcBef>
              <a:buFontTx/>
              <a:buChar char="•"/>
            </a:pPr>
            <a:r>
              <a:rPr lang="en-US" sz="2800"/>
              <a:t> we assume that P is false</a:t>
            </a:r>
          </a:p>
          <a:p>
            <a:pPr lvl="2">
              <a:spcBef>
                <a:spcPct val="50000"/>
              </a:spcBef>
              <a:buFontTx/>
              <a:buChar char="•"/>
            </a:pPr>
            <a:r>
              <a:rPr lang="en-US" sz="2800"/>
              <a:t> then we arrive at an incorrect conclusion</a:t>
            </a:r>
          </a:p>
          <a:p>
            <a:pPr lvl="2">
              <a:spcBef>
                <a:spcPct val="50000"/>
              </a:spcBef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/>
              <a:t>therefore, statement P must be true</a:t>
            </a:r>
            <a:r>
              <a:rPr lang="en-US" sz="2800">
                <a:solidFill>
                  <a:schemeClr val="tx1"/>
                </a:solidFill>
              </a:rPr>
              <a:t>  </a:t>
            </a:r>
          </a:p>
          <a:p>
            <a:pPr lvl="3">
              <a:spcBef>
                <a:spcPct val="50000"/>
              </a:spcBef>
              <a:buFontTx/>
              <a:buChar char="•"/>
            </a:pPr>
            <a:endParaRPr lang="en-US" sz="2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09610A-BD78-4C00-AEFC-B8B7EEBD33FA}" type="slidenum">
              <a:rPr lang="en-US"/>
              <a:pPr/>
              <a:t>44</a:t>
            </a:fld>
            <a:endParaRPr lang="en-US"/>
          </a:p>
        </p:txBody>
      </p:sp>
      <p:sp>
        <p:nvSpPr>
          <p:cNvPr id="140290" name="Text Box 2"/>
          <p:cNvSpPr txBox="1">
            <a:spLocks noChangeArrowheads="1"/>
          </p:cNvSpPr>
          <p:nvPr/>
        </p:nvSpPr>
        <p:spPr bwMode="auto">
          <a:xfrm>
            <a:off x="3810000" y="228600"/>
            <a:ext cx="19494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>
                <a:solidFill>
                  <a:schemeClr val="tx1"/>
                </a:solidFill>
              </a:rPr>
              <a:t>Example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40291" name="Text Box 3"/>
          <p:cNvSpPr txBox="1">
            <a:spLocks noChangeArrowheads="1"/>
          </p:cNvSpPr>
          <p:nvPr/>
        </p:nvSpPr>
        <p:spPr bwMode="auto">
          <a:xfrm>
            <a:off x="212725" y="1063625"/>
            <a:ext cx="8147050" cy="5008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Theorem:</a:t>
            </a:r>
            <a:r>
              <a:rPr lang="en-US" sz="2800">
                <a:solidFill>
                  <a:schemeClr val="tx1"/>
                </a:solidFill>
              </a:rPr>
              <a:t>               is not rational</a:t>
            </a:r>
          </a:p>
          <a:p>
            <a:pPr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rgbClr val="FF0000"/>
                </a:solidFill>
              </a:rPr>
              <a:t>Proof:</a:t>
            </a:r>
          </a:p>
          <a:p>
            <a:pPr lvl="2">
              <a:spcBef>
                <a:spcPct val="50000"/>
              </a:spcBef>
            </a:pPr>
            <a:r>
              <a:rPr lang="en-US" sz="2800"/>
              <a:t>Assume by contradiction that it is rational</a:t>
            </a:r>
          </a:p>
          <a:p>
            <a:pPr lvl="2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               =  n/m</a:t>
            </a:r>
          </a:p>
          <a:p>
            <a:pPr lvl="2"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      n and m have no common factors</a:t>
            </a:r>
          </a:p>
          <a:p>
            <a:pPr lvl="2">
              <a:spcBef>
                <a:spcPct val="50000"/>
              </a:spcBef>
            </a:pPr>
            <a:endParaRPr lang="en-US" sz="2800">
              <a:solidFill>
                <a:schemeClr val="tx1"/>
              </a:solidFill>
            </a:endParaRPr>
          </a:p>
          <a:p>
            <a:pPr lvl="2">
              <a:spcBef>
                <a:spcPct val="50000"/>
              </a:spcBef>
            </a:pPr>
            <a:r>
              <a:rPr lang="en-US" sz="2800"/>
              <a:t>We will show that this is impossible</a:t>
            </a:r>
          </a:p>
        </p:txBody>
      </p:sp>
      <p:graphicFrame>
        <p:nvGraphicFramePr>
          <p:cNvPr id="140292" name="Object 4"/>
          <p:cNvGraphicFramePr>
            <a:graphicFrameLocks noChangeAspect="1"/>
          </p:cNvGraphicFramePr>
          <p:nvPr/>
        </p:nvGraphicFramePr>
        <p:xfrm>
          <a:off x="2590800" y="1066800"/>
          <a:ext cx="635000" cy="495300"/>
        </p:xfrm>
        <a:graphic>
          <a:graphicData uri="http://schemas.openxmlformats.org/presentationml/2006/ole">
            <p:oleObj spid="_x0000_s140292" name="Equation" r:id="rId3" imgW="634680" imgH="495000" progId="Equation.3">
              <p:embed/>
            </p:oleObj>
          </a:graphicData>
        </a:graphic>
      </p:graphicFrame>
      <p:graphicFrame>
        <p:nvGraphicFramePr>
          <p:cNvPr id="140293" name="Object 5"/>
          <p:cNvGraphicFramePr>
            <a:graphicFrameLocks noChangeAspect="1"/>
          </p:cNvGraphicFramePr>
          <p:nvPr/>
        </p:nvGraphicFramePr>
        <p:xfrm>
          <a:off x="1981200" y="3657600"/>
          <a:ext cx="635000" cy="495300"/>
        </p:xfrm>
        <a:graphic>
          <a:graphicData uri="http://schemas.openxmlformats.org/presentationml/2006/ole">
            <p:oleObj spid="_x0000_s140293" name="Equation" r:id="rId4" imgW="634680" imgH="495000" progId="Equation.3">
              <p:embed/>
            </p:oleObj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E612A9-EF38-4474-B0AB-68079DE99265}" type="slidenum">
              <a:rPr lang="en-US"/>
              <a:pPr/>
              <a:t>45</a:t>
            </a:fld>
            <a:endParaRPr lang="en-US"/>
          </a:p>
        </p:txBody>
      </p:sp>
      <p:sp>
        <p:nvSpPr>
          <p:cNvPr id="141314" name="Text Box 2"/>
          <p:cNvSpPr txBox="1">
            <a:spLocks noChangeArrowheads="1"/>
          </p:cNvSpPr>
          <p:nvPr/>
        </p:nvSpPr>
        <p:spPr bwMode="auto">
          <a:xfrm>
            <a:off x="365125" y="149225"/>
            <a:ext cx="56753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          = n/m                 2 m</a:t>
            </a:r>
            <a:r>
              <a:rPr lang="en-US" sz="2800" baseline="30000">
                <a:solidFill>
                  <a:schemeClr val="tx1"/>
                </a:solidFill>
              </a:rPr>
              <a:t>2</a:t>
            </a:r>
            <a:r>
              <a:rPr lang="en-US" sz="2800">
                <a:solidFill>
                  <a:schemeClr val="tx1"/>
                </a:solidFill>
              </a:rPr>
              <a:t> = n</a:t>
            </a:r>
            <a:r>
              <a:rPr lang="en-US" sz="2800" baseline="30000">
                <a:solidFill>
                  <a:schemeClr val="tx1"/>
                </a:solidFill>
              </a:rPr>
              <a:t>2</a:t>
            </a:r>
            <a:r>
              <a:rPr lang="en-US" sz="28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41315" name="AutoShape 3"/>
          <p:cNvSpPr>
            <a:spLocks noChangeArrowheads="1"/>
          </p:cNvSpPr>
          <p:nvPr/>
        </p:nvSpPr>
        <p:spPr bwMode="auto">
          <a:xfrm>
            <a:off x="3200400" y="1524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1316" name="Text Box 4"/>
          <p:cNvSpPr txBox="1">
            <a:spLocks noChangeArrowheads="1"/>
          </p:cNvSpPr>
          <p:nvPr/>
        </p:nvSpPr>
        <p:spPr bwMode="auto">
          <a:xfrm>
            <a:off x="365125" y="1901825"/>
            <a:ext cx="39131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Therefore,  n</a:t>
            </a:r>
            <a:r>
              <a:rPr lang="en-US" sz="2800" baseline="30000">
                <a:solidFill>
                  <a:schemeClr val="tx1"/>
                </a:solidFill>
              </a:rPr>
              <a:t>2</a:t>
            </a:r>
            <a:r>
              <a:rPr lang="en-US" sz="2800">
                <a:solidFill>
                  <a:schemeClr val="tx1"/>
                </a:solidFill>
              </a:rPr>
              <a:t>  is even</a:t>
            </a:r>
          </a:p>
        </p:txBody>
      </p:sp>
      <p:sp>
        <p:nvSpPr>
          <p:cNvPr id="141317" name="AutoShape 5"/>
          <p:cNvSpPr>
            <a:spLocks noChangeArrowheads="1"/>
          </p:cNvSpPr>
          <p:nvPr/>
        </p:nvSpPr>
        <p:spPr bwMode="auto">
          <a:xfrm>
            <a:off x="4495800" y="19050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1318" name="Text Box 6"/>
          <p:cNvSpPr txBox="1">
            <a:spLocks noChangeArrowheads="1"/>
          </p:cNvSpPr>
          <p:nvPr/>
        </p:nvSpPr>
        <p:spPr bwMode="auto">
          <a:xfrm>
            <a:off x="5943600" y="1600200"/>
            <a:ext cx="1604963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n is even</a:t>
            </a: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n = 2 k</a:t>
            </a:r>
          </a:p>
        </p:txBody>
      </p:sp>
      <p:sp>
        <p:nvSpPr>
          <p:cNvPr id="141319" name="Text Box 7"/>
          <p:cNvSpPr txBox="1">
            <a:spLocks noChangeArrowheads="1"/>
          </p:cNvSpPr>
          <p:nvPr/>
        </p:nvSpPr>
        <p:spPr bwMode="auto">
          <a:xfrm>
            <a:off x="381000" y="3810000"/>
            <a:ext cx="18827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2 m</a:t>
            </a:r>
            <a:r>
              <a:rPr lang="en-US" sz="2800" baseline="30000">
                <a:solidFill>
                  <a:schemeClr val="tx1"/>
                </a:solidFill>
              </a:rPr>
              <a:t>2</a:t>
            </a:r>
            <a:r>
              <a:rPr lang="en-US" sz="2800">
                <a:solidFill>
                  <a:schemeClr val="tx1"/>
                </a:solidFill>
              </a:rPr>
              <a:t> = 4k</a:t>
            </a:r>
            <a:r>
              <a:rPr lang="en-US" sz="2800" baseline="300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1320" name="AutoShape 8"/>
          <p:cNvSpPr>
            <a:spLocks noChangeArrowheads="1"/>
          </p:cNvSpPr>
          <p:nvPr/>
        </p:nvSpPr>
        <p:spPr bwMode="auto">
          <a:xfrm>
            <a:off x="2530475" y="3813175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1321" name="Rectangle 9"/>
          <p:cNvSpPr>
            <a:spLocks noChangeArrowheads="1"/>
          </p:cNvSpPr>
          <p:nvPr/>
        </p:nvSpPr>
        <p:spPr bwMode="auto">
          <a:xfrm>
            <a:off x="3749675" y="3813175"/>
            <a:ext cx="15589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m</a:t>
            </a:r>
            <a:r>
              <a:rPr lang="en-US" sz="2800" baseline="30000">
                <a:solidFill>
                  <a:schemeClr val="tx1"/>
                </a:solidFill>
              </a:rPr>
              <a:t>2</a:t>
            </a:r>
            <a:r>
              <a:rPr lang="en-US" sz="2800">
                <a:solidFill>
                  <a:schemeClr val="tx1"/>
                </a:solidFill>
              </a:rPr>
              <a:t> = 2k</a:t>
            </a:r>
            <a:r>
              <a:rPr lang="en-US" sz="2800" baseline="300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1322" name="AutoShape 10"/>
          <p:cNvSpPr>
            <a:spLocks noChangeArrowheads="1"/>
          </p:cNvSpPr>
          <p:nvPr/>
        </p:nvSpPr>
        <p:spPr bwMode="auto">
          <a:xfrm>
            <a:off x="5502275" y="3813175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1323" name="Text Box 11"/>
          <p:cNvSpPr txBox="1">
            <a:spLocks noChangeArrowheads="1"/>
          </p:cNvSpPr>
          <p:nvPr/>
        </p:nvSpPr>
        <p:spPr bwMode="auto">
          <a:xfrm>
            <a:off x="6705600" y="3505200"/>
            <a:ext cx="1695450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m is even</a:t>
            </a: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m = 2 p</a:t>
            </a:r>
          </a:p>
        </p:txBody>
      </p:sp>
      <p:sp>
        <p:nvSpPr>
          <p:cNvPr id="141324" name="Text Box 12"/>
          <p:cNvSpPr txBox="1">
            <a:spLocks noChangeArrowheads="1"/>
          </p:cNvSpPr>
          <p:nvPr/>
        </p:nvSpPr>
        <p:spPr bwMode="auto">
          <a:xfrm>
            <a:off x="762000" y="5257800"/>
            <a:ext cx="6211888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Thus, m and n have common factor 2</a:t>
            </a:r>
          </a:p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1"/>
                </a:solidFill>
              </a:rPr>
              <a:t>          </a:t>
            </a:r>
            <a:r>
              <a:rPr lang="en-US" sz="3600" b="1">
                <a:solidFill>
                  <a:srgbClr val="FF0000"/>
                </a:solidFill>
              </a:rPr>
              <a:t>Contradiction!</a:t>
            </a:r>
          </a:p>
        </p:txBody>
      </p:sp>
      <p:graphicFrame>
        <p:nvGraphicFramePr>
          <p:cNvPr id="141325" name="Object 13"/>
          <p:cNvGraphicFramePr>
            <a:graphicFrameLocks noChangeAspect="1"/>
          </p:cNvGraphicFramePr>
          <p:nvPr/>
        </p:nvGraphicFramePr>
        <p:xfrm>
          <a:off x="762000" y="228600"/>
          <a:ext cx="635000" cy="495300"/>
        </p:xfrm>
        <a:graphic>
          <a:graphicData uri="http://schemas.openxmlformats.org/presentationml/2006/ole">
            <p:oleObj spid="_x0000_s141325" name="Equation" r:id="rId3" imgW="634680" imgH="495000" progId="Equation.3">
              <p:embed/>
            </p:oleObj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DFAD9D-8729-4417-9361-178225D1C124}" type="slidenum">
              <a:rPr lang="en-US"/>
              <a:pPr/>
              <a:t>46</a:t>
            </a:fld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Languages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09AD86-471A-4B73-B735-BDD855CB54EF}" type="slidenum">
              <a:rPr lang="en-US"/>
              <a:pPr/>
              <a:t>47</a:t>
            </a:fld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language is a set of </a:t>
            </a:r>
            <a:r>
              <a:rPr lang="en-US">
                <a:solidFill>
                  <a:srgbClr val="FF0000"/>
                </a:solidFill>
              </a:rPr>
              <a:t>strings</a:t>
            </a:r>
          </a:p>
          <a:p>
            <a:endParaRPr lang="en-US"/>
          </a:p>
          <a:p>
            <a:r>
              <a:rPr lang="en-US">
                <a:solidFill>
                  <a:srgbClr val="FF0000"/>
                </a:solidFill>
              </a:rPr>
              <a:t>String:</a:t>
            </a:r>
            <a:r>
              <a:rPr lang="en-US" sz="3600"/>
              <a:t>  </a:t>
            </a:r>
            <a:r>
              <a:rPr lang="en-US"/>
              <a:t>A sequence of letters</a:t>
            </a:r>
          </a:p>
          <a:p>
            <a:pPr lvl="1"/>
            <a:endParaRPr lang="en-US" sz="3200"/>
          </a:p>
          <a:p>
            <a:pPr lvl="1"/>
            <a:r>
              <a:rPr lang="en-US" sz="3200"/>
              <a:t>          Examples: </a:t>
            </a:r>
            <a:r>
              <a:rPr lang="en-US" sz="3200">
                <a:solidFill>
                  <a:srgbClr val="FF0000"/>
                </a:solidFill>
              </a:rPr>
              <a:t>“cat”, “dog”, “house”,</a:t>
            </a:r>
            <a:r>
              <a:rPr lang="en-US" sz="3200"/>
              <a:t> </a:t>
            </a:r>
            <a:r>
              <a:rPr lang="en-US" sz="3200">
                <a:solidFill>
                  <a:srgbClr val="FF0000"/>
                </a:solidFill>
              </a:rPr>
              <a:t>…</a:t>
            </a:r>
          </a:p>
          <a:p>
            <a:pPr lvl="1"/>
            <a:endParaRPr lang="en-US" sz="3200"/>
          </a:p>
          <a:p>
            <a:pPr lvl="1"/>
            <a:r>
              <a:rPr lang="en-US" sz="3200"/>
              <a:t>          Defined over an alphabet:</a:t>
            </a:r>
          </a:p>
          <a:p>
            <a:pPr lvl="2"/>
            <a:endParaRPr lang="en-US" sz="3200"/>
          </a:p>
        </p:txBody>
      </p:sp>
      <p:graphicFrame>
        <p:nvGraphicFramePr>
          <p:cNvPr id="11270" name="Object 6"/>
          <p:cNvGraphicFramePr>
            <a:graphicFrameLocks noChangeAspect="1"/>
          </p:cNvGraphicFramePr>
          <p:nvPr/>
        </p:nvGraphicFramePr>
        <p:xfrm>
          <a:off x="3263900" y="5207000"/>
          <a:ext cx="3302000" cy="558800"/>
        </p:xfrm>
        <a:graphic>
          <a:graphicData uri="http://schemas.openxmlformats.org/presentationml/2006/ole">
            <p:oleObj spid="_x0000_s11270" name="Equation" r:id="rId3" imgW="3301920" imgH="558720" progId="Equation.3">
              <p:embed/>
            </p:oleObj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954825-9DBE-42B2-89A0-F164782F7E2E}" type="slidenum">
              <a:rPr lang="en-US"/>
              <a:pPr/>
              <a:t>48</a:t>
            </a:fld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/>
              <a:t>Alphabets and Strings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will use small alphabets:</a:t>
            </a:r>
          </a:p>
          <a:p>
            <a:endParaRPr lang="en-US"/>
          </a:p>
          <a:p>
            <a:r>
              <a:rPr lang="en-US"/>
              <a:t>Strings</a:t>
            </a:r>
          </a:p>
          <a:p>
            <a:endParaRPr lang="en-US"/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/>
        </p:nvGraphicFramePr>
        <p:xfrm>
          <a:off x="4470400" y="3194050"/>
          <a:ext cx="201613" cy="469900"/>
        </p:xfrm>
        <a:graphic>
          <a:graphicData uri="http://schemas.openxmlformats.org/presentationml/2006/ole">
            <p:oleObj spid="_x0000_s12293" name="Equation" r:id="rId3" imgW="203040" imgH="469800" progId="Equation.3">
              <p:embed/>
            </p:oleObj>
          </a:graphicData>
        </a:graphic>
      </p:graphicFrame>
      <p:graphicFrame>
        <p:nvGraphicFramePr>
          <p:cNvPr id="12294" name="Object 6"/>
          <p:cNvGraphicFramePr>
            <a:graphicFrameLocks noChangeAspect="1"/>
          </p:cNvGraphicFramePr>
          <p:nvPr/>
        </p:nvGraphicFramePr>
        <p:xfrm>
          <a:off x="4470400" y="3194050"/>
          <a:ext cx="201613" cy="469900"/>
        </p:xfrm>
        <a:graphic>
          <a:graphicData uri="http://schemas.openxmlformats.org/presentationml/2006/ole">
            <p:oleObj spid="_x0000_s12294" name="Equation" r:id="rId4" imgW="203040" imgH="469800" progId="Equation.3">
              <p:embed/>
            </p:oleObj>
          </a:graphicData>
        </a:graphic>
      </p:graphicFrame>
      <p:graphicFrame>
        <p:nvGraphicFramePr>
          <p:cNvPr id="12295" name="Object 7"/>
          <p:cNvGraphicFramePr>
            <a:graphicFrameLocks noChangeAspect="1"/>
          </p:cNvGraphicFramePr>
          <p:nvPr/>
        </p:nvGraphicFramePr>
        <p:xfrm>
          <a:off x="5988050" y="3276600"/>
          <a:ext cx="2273300" cy="1955800"/>
        </p:xfrm>
        <a:graphic>
          <a:graphicData uri="http://schemas.openxmlformats.org/presentationml/2006/ole">
            <p:oleObj spid="_x0000_s12295" name="Equation" r:id="rId5" imgW="2273040" imgH="1955520" progId="Equation.3">
              <p:embed/>
            </p:oleObj>
          </a:graphicData>
        </a:graphic>
      </p:graphicFrame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5867400" y="914400"/>
          <a:ext cx="1841500" cy="558800"/>
        </p:xfrm>
        <a:graphic>
          <a:graphicData uri="http://schemas.openxmlformats.org/presentationml/2006/ole">
            <p:oleObj spid="_x0000_s12296" name="Equation" r:id="rId6" imgW="1841400" imgH="558720" progId="Equation.3">
              <p:embed/>
            </p:oleObj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/>
        </p:nvGraphicFramePr>
        <p:xfrm>
          <a:off x="1676400" y="2667000"/>
          <a:ext cx="2832100" cy="3352800"/>
        </p:xfrm>
        <a:graphic>
          <a:graphicData uri="http://schemas.openxmlformats.org/presentationml/2006/ole">
            <p:oleObj spid="_x0000_s12297" name="Equation" r:id="rId7" imgW="2831760" imgH="3352680" progId="Equation.3">
              <p:embed/>
            </p:oleObj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A0E10D4-A7B1-4A08-8879-2DEFE071820B}" type="slidenum">
              <a:rPr lang="en-US"/>
              <a:pPr/>
              <a:t>49</a:t>
            </a:fld>
            <a:endParaRPr lang="en-US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String Operations</a:t>
            </a:r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228600" y="1143000"/>
          <a:ext cx="2755900" cy="1371600"/>
        </p:xfrm>
        <a:graphic>
          <a:graphicData uri="http://schemas.openxmlformats.org/presentationml/2006/ole">
            <p:oleObj spid="_x0000_s13317" name="Equation" r:id="rId3" imgW="2755800" imgH="1371600" progId="Equation.3">
              <p:embed/>
            </p:oleObj>
          </a:graphicData>
        </a:graphic>
      </p:graphicFrame>
      <p:graphicFrame>
        <p:nvGraphicFramePr>
          <p:cNvPr id="13318" name="Object 6"/>
          <p:cNvGraphicFramePr>
            <a:graphicFrameLocks noChangeAspect="1"/>
          </p:cNvGraphicFramePr>
          <p:nvPr/>
        </p:nvGraphicFramePr>
        <p:xfrm>
          <a:off x="6553200" y="1219200"/>
          <a:ext cx="1549400" cy="1193800"/>
        </p:xfrm>
        <a:graphic>
          <a:graphicData uri="http://schemas.openxmlformats.org/presentationml/2006/ole">
            <p:oleObj spid="_x0000_s13318" name="Equation" r:id="rId4" imgW="1549080" imgH="1193760" progId="Equation.3">
              <p:embed/>
            </p:oleObj>
          </a:graphicData>
        </a:graphic>
      </p:graphicFrame>
      <p:graphicFrame>
        <p:nvGraphicFramePr>
          <p:cNvPr id="13319" name="Object 7"/>
          <p:cNvGraphicFramePr>
            <a:graphicFrameLocks noChangeAspect="1"/>
          </p:cNvGraphicFramePr>
          <p:nvPr/>
        </p:nvGraphicFramePr>
        <p:xfrm>
          <a:off x="4470400" y="3194050"/>
          <a:ext cx="201613" cy="469900"/>
        </p:xfrm>
        <a:graphic>
          <a:graphicData uri="http://schemas.openxmlformats.org/presentationml/2006/ole">
            <p:oleObj spid="_x0000_s13319" name="Equation" r:id="rId5" imgW="203040" imgH="469800" progId="Equation.3">
              <p:embed/>
            </p:oleObj>
          </a:graphicData>
        </a:graphic>
      </p:graphicFrame>
      <p:graphicFrame>
        <p:nvGraphicFramePr>
          <p:cNvPr id="13320" name="Object 8"/>
          <p:cNvGraphicFramePr>
            <a:graphicFrameLocks noChangeAspect="1"/>
          </p:cNvGraphicFramePr>
          <p:nvPr/>
        </p:nvGraphicFramePr>
        <p:xfrm>
          <a:off x="228600" y="4800600"/>
          <a:ext cx="4876800" cy="584200"/>
        </p:xfrm>
        <a:graphic>
          <a:graphicData uri="http://schemas.openxmlformats.org/presentationml/2006/ole">
            <p:oleObj spid="_x0000_s13320" name="Equation" r:id="rId6" imgW="4876560" imgH="583920" progId="Equation.3">
              <p:embed/>
            </p:oleObj>
          </a:graphicData>
        </a:graphic>
      </p:graphicFrame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3048000" y="3657600"/>
            <a:ext cx="28416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Concatenation</a:t>
            </a:r>
          </a:p>
        </p:txBody>
      </p:sp>
      <p:graphicFrame>
        <p:nvGraphicFramePr>
          <p:cNvPr id="13324" name="Object 12"/>
          <p:cNvGraphicFramePr>
            <a:graphicFrameLocks noChangeAspect="1"/>
          </p:cNvGraphicFramePr>
          <p:nvPr/>
        </p:nvGraphicFramePr>
        <p:xfrm>
          <a:off x="6096000" y="4876800"/>
          <a:ext cx="2578100" cy="431800"/>
        </p:xfrm>
        <a:graphic>
          <a:graphicData uri="http://schemas.openxmlformats.org/presentationml/2006/ole">
            <p:oleObj spid="_x0000_s13324" name="Equation" r:id="rId7" imgW="257796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971BDA-12B8-435A-B57C-6CB1762F3E37}" type="slidenum">
              <a:rPr lang="en-US"/>
              <a:pPr/>
              <a:t>50</a:t>
            </a:fld>
            <a:endParaRPr lang="en-US"/>
          </a:p>
        </p:txBody>
      </p:sp>
      <p:graphicFrame>
        <p:nvGraphicFramePr>
          <p:cNvPr id="92164" name="Object 4"/>
          <p:cNvGraphicFramePr>
            <a:graphicFrameLocks noChangeAspect="1"/>
          </p:cNvGraphicFramePr>
          <p:nvPr/>
        </p:nvGraphicFramePr>
        <p:xfrm>
          <a:off x="4470400" y="3194050"/>
          <a:ext cx="201613" cy="469900"/>
        </p:xfrm>
        <a:graphic>
          <a:graphicData uri="http://schemas.openxmlformats.org/presentationml/2006/ole">
            <p:oleObj spid="_x0000_s92164" name="Equation" r:id="rId3" imgW="203040" imgH="469800" progId="Equation.3">
              <p:embed/>
            </p:oleObj>
          </a:graphicData>
        </a:graphic>
      </p:graphicFrame>
      <p:graphicFrame>
        <p:nvGraphicFramePr>
          <p:cNvPr id="92166" name="Object 6"/>
          <p:cNvGraphicFramePr>
            <a:graphicFrameLocks noChangeAspect="1"/>
          </p:cNvGraphicFramePr>
          <p:nvPr/>
        </p:nvGraphicFramePr>
        <p:xfrm>
          <a:off x="685800" y="4724400"/>
          <a:ext cx="3098800" cy="736600"/>
        </p:xfrm>
        <a:graphic>
          <a:graphicData uri="http://schemas.openxmlformats.org/presentationml/2006/ole">
            <p:oleObj spid="_x0000_s92166" name="Equation" r:id="rId4" imgW="3098520" imgH="736560" progId="Equation.3">
              <p:embed/>
            </p:oleObj>
          </a:graphicData>
        </a:graphic>
      </p:graphicFrame>
      <p:graphicFrame>
        <p:nvGraphicFramePr>
          <p:cNvPr id="92168" name="Object 8"/>
          <p:cNvGraphicFramePr>
            <a:graphicFrameLocks noChangeAspect="1"/>
          </p:cNvGraphicFramePr>
          <p:nvPr/>
        </p:nvGraphicFramePr>
        <p:xfrm>
          <a:off x="762000" y="1524000"/>
          <a:ext cx="2755900" cy="584200"/>
        </p:xfrm>
        <a:graphic>
          <a:graphicData uri="http://schemas.openxmlformats.org/presentationml/2006/ole">
            <p:oleObj spid="_x0000_s92168" name="Equation" r:id="rId5" imgW="2755800" imgH="583920" progId="Equation.3">
              <p:embed/>
            </p:oleObj>
          </a:graphicData>
        </a:graphic>
      </p:graphicFrame>
      <p:graphicFrame>
        <p:nvGraphicFramePr>
          <p:cNvPr id="92169" name="Object 9"/>
          <p:cNvGraphicFramePr>
            <a:graphicFrameLocks noChangeAspect="1"/>
          </p:cNvGraphicFramePr>
          <p:nvPr/>
        </p:nvGraphicFramePr>
        <p:xfrm>
          <a:off x="5791200" y="1600200"/>
          <a:ext cx="2578100" cy="431800"/>
        </p:xfrm>
        <a:graphic>
          <a:graphicData uri="http://schemas.openxmlformats.org/presentationml/2006/ole">
            <p:oleObj spid="_x0000_s92169" name="Equation" r:id="rId6" imgW="2577960" imgH="431640" progId="Equation.3">
              <p:embed/>
            </p:oleObj>
          </a:graphicData>
        </a:graphic>
      </p:graphicFrame>
      <p:graphicFrame>
        <p:nvGraphicFramePr>
          <p:cNvPr id="92170" name="Object 10"/>
          <p:cNvGraphicFramePr>
            <a:graphicFrameLocks noChangeAspect="1"/>
          </p:cNvGraphicFramePr>
          <p:nvPr/>
        </p:nvGraphicFramePr>
        <p:xfrm>
          <a:off x="4470400" y="3194050"/>
          <a:ext cx="201613" cy="469900"/>
        </p:xfrm>
        <a:graphic>
          <a:graphicData uri="http://schemas.openxmlformats.org/presentationml/2006/ole">
            <p:oleObj spid="_x0000_s92170" name="Equation" r:id="rId7" imgW="203040" imgH="469800" progId="Equation.3">
              <p:embed/>
            </p:oleObj>
          </a:graphicData>
        </a:graphic>
      </p:graphicFrame>
      <p:sp>
        <p:nvSpPr>
          <p:cNvPr id="92171" name="Text Box 11"/>
          <p:cNvSpPr txBox="1">
            <a:spLocks noChangeArrowheads="1"/>
          </p:cNvSpPr>
          <p:nvPr/>
        </p:nvSpPr>
        <p:spPr bwMode="auto">
          <a:xfrm>
            <a:off x="3200400" y="3733800"/>
            <a:ext cx="16986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Reverse</a:t>
            </a:r>
          </a:p>
        </p:txBody>
      </p:sp>
      <p:graphicFrame>
        <p:nvGraphicFramePr>
          <p:cNvPr id="92172" name="Object 12"/>
          <p:cNvGraphicFramePr>
            <a:graphicFrameLocks noChangeAspect="1"/>
          </p:cNvGraphicFramePr>
          <p:nvPr/>
        </p:nvGraphicFramePr>
        <p:xfrm>
          <a:off x="5715000" y="4953000"/>
          <a:ext cx="2565400" cy="431800"/>
        </p:xfrm>
        <a:graphic>
          <a:graphicData uri="http://schemas.openxmlformats.org/presentationml/2006/ole">
            <p:oleObj spid="_x0000_s92172" name="Equation" r:id="rId8" imgW="256536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3676C3-57F2-49FF-8858-6E24859FC7C4}" type="slidenum">
              <a:rPr lang="en-US"/>
              <a:pPr/>
              <a:t>51</a:t>
            </a:fld>
            <a:endParaRPr 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 Length</a:t>
            </a:r>
          </a:p>
        </p:txBody>
      </p:sp>
      <p:sp>
        <p:nvSpPr>
          <p:cNvPr id="14345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r>
              <a:rPr lang="en-US"/>
              <a:t>Length: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Examples:</a:t>
            </a:r>
          </a:p>
          <a:p>
            <a:endParaRPr lang="en-US"/>
          </a:p>
        </p:txBody>
      </p:sp>
      <p:graphicFrame>
        <p:nvGraphicFramePr>
          <p:cNvPr id="14346" name="Object 10"/>
          <p:cNvGraphicFramePr>
            <a:graphicFrameLocks noChangeAspect="1"/>
          </p:cNvGraphicFramePr>
          <p:nvPr/>
        </p:nvGraphicFramePr>
        <p:xfrm>
          <a:off x="2057400" y="1066800"/>
          <a:ext cx="2755900" cy="584200"/>
        </p:xfrm>
        <a:graphic>
          <a:graphicData uri="http://schemas.openxmlformats.org/presentationml/2006/ole">
            <p:oleObj spid="_x0000_s14346" name="Equation" r:id="rId3" imgW="2755800" imgH="583920" progId="Equation.3">
              <p:embed/>
            </p:oleObj>
          </a:graphicData>
        </a:graphic>
      </p:graphicFrame>
      <p:graphicFrame>
        <p:nvGraphicFramePr>
          <p:cNvPr id="14347" name="Object 11"/>
          <p:cNvGraphicFramePr>
            <a:graphicFrameLocks noChangeAspect="1"/>
          </p:cNvGraphicFramePr>
          <p:nvPr/>
        </p:nvGraphicFramePr>
        <p:xfrm>
          <a:off x="2057400" y="2057400"/>
          <a:ext cx="1231900" cy="609600"/>
        </p:xfrm>
        <a:graphic>
          <a:graphicData uri="http://schemas.openxmlformats.org/presentationml/2006/ole">
            <p:oleObj spid="_x0000_s14347" name="Equation" r:id="rId4" imgW="1231560" imgH="609480" progId="Equation.3">
              <p:embed/>
            </p:oleObj>
          </a:graphicData>
        </a:graphic>
      </p:graphicFrame>
      <p:graphicFrame>
        <p:nvGraphicFramePr>
          <p:cNvPr id="14348" name="Object 12"/>
          <p:cNvGraphicFramePr>
            <a:graphicFrameLocks noChangeAspect="1"/>
          </p:cNvGraphicFramePr>
          <p:nvPr/>
        </p:nvGraphicFramePr>
        <p:xfrm>
          <a:off x="2895600" y="3886200"/>
          <a:ext cx="1905000" cy="2209800"/>
        </p:xfrm>
        <a:graphic>
          <a:graphicData uri="http://schemas.openxmlformats.org/presentationml/2006/ole">
            <p:oleObj spid="_x0000_s14348" name="Equation" r:id="rId5" imgW="1904760" imgH="2209680" progId="Equation.3">
              <p:embed/>
            </p:oleObj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8B9E17-2139-47B1-A3ED-A9E55390FA95}" type="slidenum">
              <a:rPr lang="en-US"/>
              <a:pPr/>
              <a:t>52</a:t>
            </a:fld>
            <a:endParaRPr 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Length of Concatenation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Example: </a:t>
            </a:r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3276600" y="1143000"/>
          <a:ext cx="2247900" cy="609600"/>
        </p:xfrm>
        <a:graphic>
          <a:graphicData uri="http://schemas.openxmlformats.org/presentationml/2006/ole">
            <p:oleObj spid="_x0000_s18436" name="Equation" r:id="rId3" imgW="2247840" imgH="609480" progId="Equation.3">
              <p:embed/>
            </p:oleObj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2362200" y="2590800"/>
          <a:ext cx="4381500" cy="3784600"/>
        </p:xfrm>
        <a:graphic>
          <a:graphicData uri="http://schemas.openxmlformats.org/presentationml/2006/ole">
            <p:oleObj spid="_x0000_s18437" name="Equation" r:id="rId4" imgW="4381200" imgH="3784320" progId="Equation.3">
              <p:embed/>
            </p:oleObj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A04C71-DC8E-4871-AEA4-6BF633FB7FE0}" type="slidenum">
              <a:rPr lang="en-US"/>
              <a:pPr/>
              <a:t>53</a:t>
            </a:fld>
            <a:endParaRPr 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Empty String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string with no letters: 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Observations:</a:t>
            </a:r>
          </a:p>
          <a:p>
            <a:endParaRPr lang="en-US"/>
          </a:p>
          <a:p>
            <a:endParaRPr lang="en-US"/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5003800" y="954088"/>
          <a:ext cx="330200" cy="415925"/>
        </p:xfrm>
        <a:graphic>
          <a:graphicData uri="http://schemas.openxmlformats.org/presentationml/2006/ole">
            <p:oleObj spid="_x0000_s16388" name="Equation" r:id="rId3" imgW="330120" imgH="419040" progId="Equation.3">
              <p:embed/>
            </p:oleObj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3352800" y="2667000"/>
          <a:ext cx="4686300" cy="3543300"/>
        </p:xfrm>
        <a:graphic>
          <a:graphicData uri="http://schemas.openxmlformats.org/presentationml/2006/ole">
            <p:oleObj spid="_x0000_s16389" name="Equation" r:id="rId4" imgW="4686120" imgH="3543120" progId="Equation.3">
              <p:embed/>
            </p:oleObj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93D29D-5C67-4185-9766-303C9C7625E9}" type="slidenum">
              <a:rPr lang="en-US"/>
              <a:pPr/>
              <a:t>54</a:t>
            </a:fld>
            <a:endParaRPr lang="en-US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Substring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Substring of string: </a:t>
            </a:r>
          </a:p>
          <a:p>
            <a:pPr lvl="1"/>
            <a:r>
              <a:rPr lang="en-US" sz="3200"/>
              <a:t>a subsequence of consecutive characters</a:t>
            </a:r>
          </a:p>
          <a:p>
            <a:endParaRPr lang="en-US"/>
          </a:p>
          <a:p>
            <a:r>
              <a:rPr lang="en-US"/>
              <a:t>                  String                    Substring</a:t>
            </a:r>
          </a:p>
        </p:txBody>
      </p:sp>
      <p:graphicFrame>
        <p:nvGraphicFramePr>
          <p:cNvPr id="62470" name="Object 6"/>
          <p:cNvGraphicFramePr>
            <a:graphicFrameLocks noChangeAspect="1"/>
          </p:cNvGraphicFramePr>
          <p:nvPr/>
        </p:nvGraphicFramePr>
        <p:xfrm>
          <a:off x="6477000" y="3429000"/>
          <a:ext cx="1054100" cy="2717800"/>
        </p:xfrm>
        <a:graphic>
          <a:graphicData uri="http://schemas.openxmlformats.org/presentationml/2006/ole">
            <p:oleObj spid="_x0000_s62470" name="Equation" r:id="rId3" imgW="1054080" imgH="2717640" progId="Equation.3">
              <p:embed/>
            </p:oleObj>
          </a:graphicData>
        </a:graphic>
      </p:graphicFrame>
      <p:graphicFrame>
        <p:nvGraphicFramePr>
          <p:cNvPr id="62471" name="Object 7"/>
          <p:cNvGraphicFramePr>
            <a:graphicFrameLocks noChangeAspect="1"/>
          </p:cNvGraphicFramePr>
          <p:nvPr/>
        </p:nvGraphicFramePr>
        <p:xfrm>
          <a:off x="2438400" y="3429000"/>
          <a:ext cx="1308100" cy="2717800"/>
        </p:xfrm>
        <a:graphic>
          <a:graphicData uri="http://schemas.openxmlformats.org/presentationml/2006/ole">
            <p:oleObj spid="_x0000_s62471" name="Equation" r:id="rId4" imgW="1307880" imgH="2717640" progId="Equation.3">
              <p:embed/>
            </p:oleObj>
          </a:graphicData>
        </a:graphic>
      </p:graphicFrame>
      <p:sp>
        <p:nvSpPr>
          <p:cNvPr id="62472" name="Line 8"/>
          <p:cNvSpPr>
            <a:spLocks noChangeShapeType="1"/>
          </p:cNvSpPr>
          <p:nvPr/>
        </p:nvSpPr>
        <p:spPr bwMode="auto">
          <a:xfrm>
            <a:off x="2438400" y="396240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473" name="Line 9"/>
          <p:cNvSpPr>
            <a:spLocks noChangeShapeType="1"/>
          </p:cNvSpPr>
          <p:nvPr/>
        </p:nvSpPr>
        <p:spPr bwMode="auto">
          <a:xfrm>
            <a:off x="2438400" y="47244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474" name="Line 10"/>
          <p:cNvSpPr>
            <a:spLocks noChangeShapeType="1"/>
          </p:cNvSpPr>
          <p:nvPr/>
        </p:nvSpPr>
        <p:spPr bwMode="auto">
          <a:xfrm>
            <a:off x="2895600" y="54864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475" name="Line 11"/>
          <p:cNvSpPr>
            <a:spLocks noChangeShapeType="1"/>
          </p:cNvSpPr>
          <p:nvPr/>
        </p:nvSpPr>
        <p:spPr bwMode="auto">
          <a:xfrm>
            <a:off x="2743200" y="62484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9F813-AC85-4B3D-9E9D-9F483491D74B}" type="slidenum">
              <a:rPr lang="en-US"/>
              <a:pPr/>
              <a:t>55</a:t>
            </a:fld>
            <a:endParaRPr lang="en-U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Prefix and Suffix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    Prefixes         Suffixes</a:t>
            </a:r>
          </a:p>
          <a:p>
            <a:endParaRPr lang="en-US"/>
          </a:p>
          <a:p>
            <a:endParaRPr lang="en-US"/>
          </a:p>
        </p:txBody>
      </p:sp>
      <p:graphicFrame>
        <p:nvGraphicFramePr>
          <p:cNvPr id="61444" name="Object 4"/>
          <p:cNvGraphicFramePr>
            <a:graphicFrameLocks noChangeAspect="1"/>
          </p:cNvGraphicFramePr>
          <p:nvPr/>
        </p:nvGraphicFramePr>
        <p:xfrm>
          <a:off x="2133600" y="914400"/>
          <a:ext cx="1308100" cy="431800"/>
        </p:xfrm>
        <a:graphic>
          <a:graphicData uri="http://schemas.openxmlformats.org/presentationml/2006/ole">
            <p:oleObj spid="_x0000_s61444" name="Equation" r:id="rId3" imgW="1307880" imgH="431640" progId="Equation.3">
              <p:embed/>
            </p:oleObj>
          </a:graphicData>
        </a:graphic>
      </p:graphicFrame>
      <p:graphicFrame>
        <p:nvGraphicFramePr>
          <p:cNvPr id="61445" name="Object 5"/>
          <p:cNvGraphicFramePr>
            <a:graphicFrameLocks noChangeAspect="1"/>
          </p:cNvGraphicFramePr>
          <p:nvPr/>
        </p:nvGraphicFramePr>
        <p:xfrm>
          <a:off x="990600" y="2209800"/>
          <a:ext cx="1308100" cy="4241800"/>
        </p:xfrm>
        <a:graphic>
          <a:graphicData uri="http://schemas.openxmlformats.org/presentationml/2006/ole">
            <p:oleObj spid="_x0000_s61445" name="Equation" r:id="rId4" imgW="1307880" imgH="4241520" progId="Equation.3">
              <p:embed/>
            </p:oleObj>
          </a:graphicData>
        </a:graphic>
      </p:graphicFrame>
      <p:graphicFrame>
        <p:nvGraphicFramePr>
          <p:cNvPr id="61446" name="Object 6"/>
          <p:cNvGraphicFramePr>
            <a:graphicFrameLocks noChangeAspect="1"/>
          </p:cNvGraphicFramePr>
          <p:nvPr/>
        </p:nvGraphicFramePr>
        <p:xfrm>
          <a:off x="3657600" y="2133600"/>
          <a:ext cx="1308100" cy="4241800"/>
        </p:xfrm>
        <a:graphic>
          <a:graphicData uri="http://schemas.openxmlformats.org/presentationml/2006/ole">
            <p:oleObj spid="_x0000_s61446" name="Equation" r:id="rId5" imgW="1307880" imgH="4241520" progId="Equation.3">
              <p:embed/>
            </p:oleObj>
          </a:graphicData>
        </a:graphic>
      </p:graphicFrame>
      <p:graphicFrame>
        <p:nvGraphicFramePr>
          <p:cNvPr id="61447" name="Object 7"/>
          <p:cNvGraphicFramePr>
            <a:graphicFrameLocks noChangeAspect="1"/>
          </p:cNvGraphicFramePr>
          <p:nvPr/>
        </p:nvGraphicFramePr>
        <p:xfrm>
          <a:off x="6934200" y="2209800"/>
          <a:ext cx="1346200" cy="304800"/>
        </p:xfrm>
        <a:graphic>
          <a:graphicData uri="http://schemas.openxmlformats.org/presentationml/2006/ole">
            <p:oleObj spid="_x0000_s61447" name="Equation" r:id="rId6" imgW="1346040" imgH="304560" progId="Equation.3">
              <p:embed/>
            </p:oleObj>
          </a:graphicData>
        </a:graphic>
      </p:graphicFrame>
      <p:sp>
        <p:nvSpPr>
          <p:cNvPr id="61448" name="Line 8"/>
          <p:cNvSpPr>
            <a:spLocks noChangeShapeType="1"/>
          </p:cNvSpPr>
          <p:nvPr/>
        </p:nvSpPr>
        <p:spPr bwMode="auto">
          <a:xfrm flipV="1">
            <a:off x="7162800" y="25146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449" name="Line 9"/>
          <p:cNvSpPr>
            <a:spLocks noChangeShapeType="1"/>
          </p:cNvSpPr>
          <p:nvPr/>
        </p:nvSpPr>
        <p:spPr bwMode="auto">
          <a:xfrm flipH="1" flipV="1">
            <a:off x="8153400" y="2514600"/>
            <a:ext cx="304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450" name="Text Box 10"/>
          <p:cNvSpPr txBox="1">
            <a:spLocks noChangeArrowheads="1"/>
          </p:cNvSpPr>
          <p:nvPr/>
        </p:nvSpPr>
        <p:spPr bwMode="auto">
          <a:xfrm>
            <a:off x="5943600" y="3200400"/>
            <a:ext cx="13795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prefix</a:t>
            </a:r>
          </a:p>
        </p:txBody>
      </p:sp>
      <p:sp>
        <p:nvSpPr>
          <p:cNvPr id="61451" name="Text Box 11"/>
          <p:cNvSpPr txBox="1">
            <a:spLocks noChangeArrowheads="1"/>
          </p:cNvSpPr>
          <p:nvPr/>
        </p:nvSpPr>
        <p:spPr bwMode="auto">
          <a:xfrm>
            <a:off x="7783513" y="3886200"/>
            <a:ext cx="13604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suffix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37CB5D-9B12-4846-BE45-BD97939FFABD}" type="slidenum">
              <a:rPr lang="en-US"/>
              <a:pPr/>
              <a:t>56</a:t>
            </a:fld>
            <a:endParaRPr lang="en-US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Operation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Example: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Definition:</a:t>
            </a:r>
          </a:p>
          <a:p>
            <a:pPr lvl="1"/>
            <a:r>
              <a:rPr lang="en-US"/>
              <a:t>                </a:t>
            </a:r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3124200" y="914400"/>
          <a:ext cx="2679700" cy="1231900"/>
        </p:xfrm>
        <a:graphic>
          <a:graphicData uri="http://schemas.openxmlformats.org/presentationml/2006/ole">
            <p:oleObj spid="_x0000_s17412" name="Equation" r:id="rId3" imgW="2679480" imgH="1231560" progId="Equation.3">
              <p:embed/>
            </p:oleObj>
          </a:graphicData>
        </a:graphic>
      </p:graphicFrame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2438400" y="2438400"/>
          <a:ext cx="4191000" cy="723900"/>
        </p:xfrm>
        <a:graphic>
          <a:graphicData uri="http://schemas.openxmlformats.org/presentationml/2006/ole">
            <p:oleObj spid="_x0000_s17413" name="Equation" r:id="rId4" imgW="4190760" imgH="723600" progId="Equation.3">
              <p:embed/>
            </p:oleObj>
          </a:graphicData>
        </a:graphic>
      </p:graphicFrame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2590800" y="4279900"/>
          <a:ext cx="1435100" cy="608013"/>
        </p:xfrm>
        <a:graphic>
          <a:graphicData uri="http://schemas.openxmlformats.org/presentationml/2006/ole">
            <p:oleObj spid="_x0000_s17415" name="Equation" r:id="rId5" imgW="1434960" imgH="609480" progId="Equation.3">
              <p:embed/>
            </p:oleObj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2590800" y="5410200"/>
          <a:ext cx="2438400" cy="723900"/>
        </p:xfrm>
        <a:graphic>
          <a:graphicData uri="http://schemas.openxmlformats.org/presentationml/2006/ole">
            <p:oleObj spid="_x0000_s17416" name="Equation" r:id="rId6" imgW="2438280" imgH="723600" progId="Equation.3">
              <p:embed/>
            </p:oleObj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FB11FAB-4B3C-4372-9D07-50942BFC7B34}" type="slidenum">
              <a:rPr lang="en-US"/>
              <a:pPr/>
              <a:t>57</a:t>
            </a:fld>
            <a:endParaRPr lang="en-US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The * Operation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     : the set of all possible strings from</a:t>
            </a:r>
          </a:p>
          <a:p>
            <a:r>
              <a:rPr lang="en-US"/>
              <a:t>        alphabet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</a:p>
        </p:txBody>
      </p:sp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298450" y="868363"/>
          <a:ext cx="609600" cy="419100"/>
        </p:xfrm>
        <a:graphic>
          <a:graphicData uri="http://schemas.openxmlformats.org/presentationml/2006/ole">
            <p:oleObj spid="_x0000_s23556" name="Equation" r:id="rId3" imgW="609480" imgH="419040" progId="Equation.3">
              <p:embed/>
            </p:oleObj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3016250" y="1485900"/>
          <a:ext cx="328613" cy="392113"/>
        </p:xfrm>
        <a:graphic>
          <a:graphicData uri="http://schemas.openxmlformats.org/presentationml/2006/ole">
            <p:oleObj spid="_x0000_s23557" name="Equation" r:id="rId4" imgW="330120" imgH="393480" progId="Equation.3">
              <p:embed/>
            </p:oleObj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228600" y="2514600"/>
          <a:ext cx="7735888" cy="1320800"/>
        </p:xfrm>
        <a:graphic>
          <a:graphicData uri="http://schemas.openxmlformats.org/presentationml/2006/ole">
            <p:oleObj spid="_x0000_s23558" name="Equation" r:id="rId5" imgW="7734240" imgH="1320480" progId="Equation.3">
              <p:embed/>
            </p:oleObj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DF34EB-DEE2-47DB-A407-E5D74109E33A}" type="slidenum">
              <a:rPr lang="en-US"/>
              <a:pPr/>
              <a:t>58</a:t>
            </a:fld>
            <a:endParaRPr lang="en-US"/>
          </a:p>
        </p:txBody>
      </p:sp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1"/>
                </a:solidFill>
              </a:rPr>
              <a:t>The </a:t>
            </a:r>
            <a:r>
              <a:rPr lang="en-US" sz="4000">
                <a:solidFill>
                  <a:schemeClr val="tx1"/>
                </a:solidFill>
              </a:rPr>
              <a:t>+</a:t>
            </a:r>
            <a:r>
              <a:rPr lang="en-US" sz="3600">
                <a:solidFill>
                  <a:schemeClr val="tx1"/>
                </a:solidFill>
              </a:rPr>
              <a:t> Operation</a:t>
            </a:r>
          </a:p>
        </p:txBody>
      </p:sp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/>
            <a:r>
              <a:rPr lang="en-US"/>
              <a:t>      : the set of all possible strings from</a:t>
            </a:r>
          </a:p>
          <a:p>
            <a:pPr marL="342900" indent="-342900"/>
            <a:r>
              <a:rPr lang="en-US"/>
              <a:t>        alphabet      except  </a:t>
            </a:r>
          </a:p>
          <a:p>
            <a:pPr marL="342900" indent="-342900"/>
            <a:endParaRPr lang="en-US"/>
          </a:p>
          <a:p>
            <a:pPr marL="342900" indent="-342900"/>
            <a:endParaRPr lang="en-US"/>
          </a:p>
          <a:p>
            <a:pPr marL="342900" indent="-342900"/>
            <a:endParaRPr lang="en-US"/>
          </a:p>
          <a:p>
            <a:pPr marL="342900" indent="-342900"/>
            <a:endParaRPr lang="en-US"/>
          </a:p>
          <a:p>
            <a:pPr marL="342900" indent="-342900"/>
            <a:endParaRPr lang="en-US"/>
          </a:p>
          <a:p>
            <a:pPr marL="342900" indent="-342900"/>
            <a:r>
              <a:rPr lang="en-US"/>
              <a:t> </a:t>
            </a:r>
          </a:p>
        </p:txBody>
      </p:sp>
      <p:graphicFrame>
        <p:nvGraphicFramePr>
          <p:cNvPr id="93188" name="Object 4"/>
          <p:cNvGraphicFramePr>
            <a:graphicFrameLocks noChangeAspect="1"/>
          </p:cNvGraphicFramePr>
          <p:nvPr/>
        </p:nvGraphicFramePr>
        <p:xfrm>
          <a:off x="311150" y="779463"/>
          <a:ext cx="584200" cy="596900"/>
        </p:xfrm>
        <a:graphic>
          <a:graphicData uri="http://schemas.openxmlformats.org/presentationml/2006/ole">
            <p:oleObj spid="_x0000_s93188" name="Equation" r:id="rId3" imgW="583920" imgH="596880" progId="Equation.3">
              <p:embed/>
            </p:oleObj>
          </a:graphicData>
        </a:graphic>
      </p:graphicFrame>
      <p:graphicFrame>
        <p:nvGraphicFramePr>
          <p:cNvPr id="93189" name="Object 5"/>
          <p:cNvGraphicFramePr>
            <a:graphicFrameLocks noChangeAspect="1"/>
          </p:cNvGraphicFramePr>
          <p:nvPr/>
        </p:nvGraphicFramePr>
        <p:xfrm>
          <a:off x="3016250" y="1485900"/>
          <a:ext cx="328613" cy="392113"/>
        </p:xfrm>
        <a:graphic>
          <a:graphicData uri="http://schemas.openxmlformats.org/presentationml/2006/ole">
            <p:oleObj spid="_x0000_s93189" name="Equation" r:id="rId4" imgW="330120" imgH="393480" progId="Equation.3">
              <p:embed/>
            </p:oleObj>
          </a:graphicData>
        </a:graphic>
      </p:graphicFrame>
      <p:graphicFrame>
        <p:nvGraphicFramePr>
          <p:cNvPr id="93190" name="Object 6"/>
          <p:cNvGraphicFramePr>
            <a:graphicFrameLocks noChangeAspect="1"/>
          </p:cNvGraphicFramePr>
          <p:nvPr/>
        </p:nvGraphicFramePr>
        <p:xfrm>
          <a:off x="228600" y="2514600"/>
          <a:ext cx="7735888" cy="1320800"/>
        </p:xfrm>
        <a:graphic>
          <a:graphicData uri="http://schemas.openxmlformats.org/presentationml/2006/ole">
            <p:oleObj spid="_x0000_s93190" name="Equation" r:id="rId5" imgW="7734240" imgH="1320480" progId="Equation.3">
              <p:embed/>
            </p:oleObj>
          </a:graphicData>
        </a:graphic>
      </p:graphicFrame>
      <p:graphicFrame>
        <p:nvGraphicFramePr>
          <p:cNvPr id="93191" name="Object 7"/>
          <p:cNvGraphicFramePr>
            <a:graphicFrameLocks noChangeAspect="1"/>
          </p:cNvGraphicFramePr>
          <p:nvPr/>
        </p:nvGraphicFramePr>
        <p:xfrm>
          <a:off x="228600" y="4724400"/>
          <a:ext cx="2387600" cy="609600"/>
        </p:xfrm>
        <a:graphic>
          <a:graphicData uri="http://schemas.openxmlformats.org/presentationml/2006/ole">
            <p:oleObj spid="_x0000_s93191" name="Equation" r:id="rId6" imgW="2387520" imgH="609480" progId="Equation.3">
              <p:embed/>
            </p:oleObj>
          </a:graphicData>
        </a:graphic>
      </p:graphicFrame>
      <p:graphicFrame>
        <p:nvGraphicFramePr>
          <p:cNvPr id="93192" name="Object 8"/>
          <p:cNvGraphicFramePr>
            <a:graphicFrameLocks noChangeAspect="1"/>
          </p:cNvGraphicFramePr>
          <p:nvPr/>
        </p:nvGraphicFramePr>
        <p:xfrm>
          <a:off x="228600" y="5562600"/>
          <a:ext cx="7354888" cy="709613"/>
        </p:xfrm>
        <a:graphic>
          <a:graphicData uri="http://schemas.openxmlformats.org/presentationml/2006/ole">
            <p:oleObj spid="_x0000_s93192" name="Equation" r:id="rId7" imgW="7353000" imgH="711000" progId="Equation.3">
              <p:embed/>
            </p:oleObj>
          </a:graphicData>
        </a:graphic>
      </p:graphicFrame>
      <p:graphicFrame>
        <p:nvGraphicFramePr>
          <p:cNvPr id="93193" name="Object 9"/>
          <p:cNvGraphicFramePr>
            <a:graphicFrameLocks noChangeAspect="1"/>
          </p:cNvGraphicFramePr>
          <p:nvPr/>
        </p:nvGraphicFramePr>
        <p:xfrm>
          <a:off x="5181600" y="1524000"/>
          <a:ext cx="330200" cy="419100"/>
        </p:xfrm>
        <a:graphic>
          <a:graphicData uri="http://schemas.openxmlformats.org/presentationml/2006/ole">
            <p:oleObj spid="_x0000_s93193" name="Equation" r:id="rId8" imgW="33012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BFE4FE-0ED7-4B48-8844-9A2AE899FDC5}" type="slidenum">
              <a:rPr lang="en-US"/>
              <a:pPr/>
              <a:t>59</a:t>
            </a:fld>
            <a:endParaRPr 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/>
              <a:t>Languages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8839200" cy="6019800"/>
          </a:xfrm>
        </p:spPr>
        <p:txBody>
          <a:bodyPr/>
          <a:lstStyle/>
          <a:p>
            <a:r>
              <a:rPr lang="en-US"/>
              <a:t>A language is any subset of </a:t>
            </a:r>
          </a:p>
          <a:p>
            <a:endParaRPr lang="en-US"/>
          </a:p>
          <a:p>
            <a:r>
              <a:rPr lang="en-US"/>
              <a:t>Example: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Languages:</a:t>
            </a:r>
          </a:p>
          <a:p>
            <a:endParaRPr lang="en-US"/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5619750" y="889000"/>
          <a:ext cx="609600" cy="419100"/>
        </p:xfrm>
        <a:graphic>
          <a:graphicData uri="http://schemas.openxmlformats.org/presentationml/2006/ole">
            <p:oleObj spid="_x0000_s24580" name="Equation" r:id="rId3" imgW="609480" imgH="419040" progId="Equation.3">
              <p:embed/>
            </p:oleObj>
          </a:graphicData>
        </a:graphic>
      </p:graphicFrame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2347913" y="2057400"/>
          <a:ext cx="6796087" cy="1320800"/>
        </p:xfrm>
        <a:graphic>
          <a:graphicData uri="http://schemas.openxmlformats.org/presentationml/2006/ole">
            <p:oleObj spid="_x0000_s24581" name="Equation" r:id="rId4" imgW="6794280" imgH="1320480" progId="Equation.3">
              <p:embed/>
            </p:oleObj>
          </a:graphicData>
        </a:graphic>
      </p:graphicFrame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2438400" y="4495800"/>
          <a:ext cx="6172200" cy="2082800"/>
        </p:xfrm>
        <a:graphic>
          <a:graphicData uri="http://schemas.openxmlformats.org/presentationml/2006/ole">
            <p:oleObj spid="_x0000_s24582" name="Equation" r:id="rId5" imgW="6172200" imgH="2082600" progId="Equation.3">
              <p:embed/>
            </p:oleObj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0F1412-7AF1-45A8-A847-DEDE076C0F20}" type="slidenum">
              <a:rPr lang="en-US"/>
              <a:pPr/>
              <a:t>60</a:t>
            </a:fld>
            <a:endParaRPr lang="en-US"/>
          </a:p>
        </p:txBody>
      </p:sp>
      <p:sp>
        <p:nvSpPr>
          <p:cNvPr id="142338" name="Text Box 2"/>
          <p:cNvSpPr txBox="1">
            <a:spLocks noChangeArrowheads="1"/>
          </p:cNvSpPr>
          <p:nvPr/>
        </p:nvSpPr>
        <p:spPr bwMode="auto">
          <a:xfrm>
            <a:off x="3505200" y="304800"/>
            <a:ext cx="22082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Note that:</a:t>
            </a:r>
          </a:p>
        </p:txBody>
      </p:sp>
      <p:graphicFrame>
        <p:nvGraphicFramePr>
          <p:cNvPr id="142340" name="Object 4"/>
          <p:cNvGraphicFramePr>
            <a:graphicFrameLocks noChangeAspect="1"/>
          </p:cNvGraphicFramePr>
          <p:nvPr/>
        </p:nvGraphicFramePr>
        <p:xfrm>
          <a:off x="3733800" y="1524000"/>
          <a:ext cx="3257550" cy="700088"/>
        </p:xfrm>
        <a:graphic>
          <a:graphicData uri="http://schemas.openxmlformats.org/presentationml/2006/ole">
            <p:oleObj spid="_x0000_s142340" name="Equation" r:id="rId3" imgW="2070000" imgH="444240" progId="Equation.3">
              <p:embed/>
            </p:oleObj>
          </a:graphicData>
        </a:graphic>
      </p:graphicFrame>
      <p:graphicFrame>
        <p:nvGraphicFramePr>
          <p:cNvPr id="142342" name="Object 6"/>
          <p:cNvGraphicFramePr>
            <a:graphicFrameLocks noChangeAspect="1"/>
          </p:cNvGraphicFramePr>
          <p:nvPr/>
        </p:nvGraphicFramePr>
        <p:xfrm>
          <a:off x="3657600" y="2819400"/>
          <a:ext cx="2957513" cy="800100"/>
        </p:xfrm>
        <a:graphic>
          <a:graphicData uri="http://schemas.openxmlformats.org/presentationml/2006/ole">
            <p:oleObj spid="_x0000_s142342" name="Equation" r:id="rId4" imgW="1879560" imgH="507960" progId="Equation.3">
              <p:embed/>
            </p:oleObj>
          </a:graphicData>
        </a:graphic>
      </p:graphicFrame>
      <p:graphicFrame>
        <p:nvGraphicFramePr>
          <p:cNvPr id="142343" name="Object 7"/>
          <p:cNvGraphicFramePr>
            <a:graphicFrameLocks noChangeAspect="1"/>
          </p:cNvGraphicFramePr>
          <p:nvPr/>
        </p:nvGraphicFramePr>
        <p:xfrm>
          <a:off x="3657600" y="4191000"/>
          <a:ext cx="1857375" cy="800100"/>
        </p:xfrm>
        <a:graphic>
          <a:graphicData uri="http://schemas.openxmlformats.org/presentationml/2006/ole">
            <p:oleObj spid="_x0000_s142343" name="Equation" r:id="rId5" imgW="1180800" imgH="507960" progId="Equation.3">
              <p:embed/>
            </p:oleObj>
          </a:graphicData>
        </a:graphic>
      </p:graphicFrame>
      <p:graphicFrame>
        <p:nvGraphicFramePr>
          <p:cNvPr id="142344" name="Object 8"/>
          <p:cNvGraphicFramePr>
            <a:graphicFrameLocks noChangeAspect="1"/>
          </p:cNvGraphicFramePr>
          <p:nvPr/>
        </p:nvGraphicFramePr>
        <p:xfrm>
          <a:off x="3657600" y="5486400"/>
          <a:ext cx="1498600" cy="800100"/>
        </p:xfrm>
        <a:graphic>
          <a:graphicData uri="http://schemas.openxmlformats.org/presentationml/2006/ole">
            <p:oleObj spid="_x0000_s142344" name="Equation" r:id="rId6" imgW="952200" imgH="507960" progId="Equation.3">
              <p:embed/>
            </p:oleObj>
          </a:graphicData>
        </a:graphic>
      </p:graphicFrame>
      <p:sp>
        <p:nvSpPr>
          <p:cNvPr id="142345" name="Text Box 9"/>
          <p:cNvSpPr txBox="1">
            <a:spLocks noChangeArrowheads="1"/>
          </p:cNvSpPr>
          <p:nvPr/>
        </p:nvSpPr>
        <p:spPr bwMode="auto">
          <a:xfrm>
            <a:off x="838200" y="1600200"/>
            <a:ext cx="10795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Sets</a:t>
            </a:r>
          </a:p>
        </p:txBody>
      </p:sp>
      <p:sp>
        <p:nvSpPr>
          <p:cNvPr id="142346" name="Text Box 10"/>
          <p:cNvSpPr txBox="1">
            <a:spLocks noChangeArrowheads="1"/>
          </p:cNvSpPr>
          <p:nvPr/>
        </p:nvSpPr>
        <p:spPr bwMode="auto">
          <a:xfrm>
            <a:off x="762000" y="2971800"/>
            <a:ext cx="17573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Set size</a:t>
            </a:r>
          </a:p>
        </p:txBody>
      </p:sp>
      <p:sp>
        <p:nvSpPr>
          <p:cNvPr id="142347" name="Text Box 11"/>
          <p:cNvSpPr txBox="1">
            <a:spLocks noChangeArrowheads="1"/>
          </p:cNvSpPr>
          <p:nvPr/>
        </p:nvSpPr>
        <p:spPr bwMode="auto">
          <a:xfrm>
            <a:off x="762000" y="4343400"/>
            <a:ext cx="17573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Set size</a:t>
            </a:r>
          </a:p>
        </p:txBody>
      </p:sp>
      <p:sp>
        <p:nvSpPr>
          <p:cNvPr id="142348" name="Text Box 12"/>
          <p:cNvSpPr txBox="1">
            <a:spLocks noChangeArrowheads="1"/>
          </p:cNvSpPr>
          <p:nvPr/>
        </p:nvSpPr>
        <p:spPr bwMode="auto">
          <a:xfrm>
            <a:off x="685800" y="5562600"/>
            <a:ext cx="27082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 length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99E8CC-A1E2-4F86-AB1F-F12ED5939E02}" type="slidenum">
              <a:rPr lang="en-US"/>
              <a:pPr/>
              <a:t>61</a:t>
            </a:fld>
            <a:endParaRPr 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An infinite language</a:t>
            </a:r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4419600" y="1295400"/>
          <a:ext cx="4191000" cy="762000"/>
        </p:xfrm>
        <a:graphic>
          <a:graphicData uri="http://schemas.openxmlformats.org/presentationml/2006/ole">
            <p:oleObj spid="_x0000_s25605" name="Equation" r:id="rId3" imgW="3504960" imgH="711000" progId="Equation.3">
              <p:embed/>
            </p:oleObj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/>
        </p:nvGraphicFramePr>
        <p:xfrm>
          <a:off x="850900" y="3124200"/>
          <a:ext cx="2578100" cy="2717800"/>
        </p:xfrm>
        <a:graphic>
          <a:graphicData uri="http://schemas.openxmlformats.org/presentationml/2006/ole">
            <p:oleObj spid="_x0000_s25606" name="Equation" r:id="rId4" imgW="2577960" imgH="2717640" progId="Equation.3">
              <p:embed/>
            </p:oleObj>
          </a:graphicData>
        </a:graphic>
      </p:graphicFrame>
      <p:graphicFrame>
        <p:nvGraphicFramePr>
          <p:cNvPr id="25611" name="Object 11"/>
          <p:cNvGraphicFramePr>
            <a:graphicFrameLocks noChangeAspect="1"/>
          </p:cNvGraphicFramePr>
          <p:nvPr/>
        </p:nvGraphicFramePr>
        <p:xfrm>
          <a:off x="4038600" y="4191000"/>
          <a:ext cx="698500" cy="393700"/>
        </p:xfrm>
        <a:graphic>
          <a:graphicData uri="http://schemas.openxmlformats.org/presentationml/2006/ole">
            <p:oleObj spid="_x0000_s25611" name="Equation" r:id="rId5" imgW="698400" imgH="393480" progId="Equation.3">
              <p:embed/>
            </p:oleObj>
          </a:graphicData>
        </a:graphic>
      </p:graphicFrame>
      <p:graphicFrame>
        <p:nvGraphicFramePr>
          <p:cNvPr id="25612" name="Object 12"/>
          <p:cNvGraphicFramePr>
            <a:graphicFrameLocks noChangeAspect="1"/>
          </p:cNvGraphicFramePr>
          <p:nvPr/>
        </p:nvGraphicFramePr>
        <p:xfrm>
          <a:off x="6007100" y="4160838"/>
          <a:ext cx="1574800" cy="466725"/>
        </p:xfrm>
        <a:graphic>
          <a:graphicData uri="http://schemas.openxmlformats.org/presentationml/2006/ole">
            <p:oleObj spid="_x0000_s25612" name="Equation" r:id="rId6" imgW="1574640" imgH="469800" progId="Equation.3">
              <p:embed/>
            </p:oleObj>
          </a:graphicData>
        </a:graphic>
      </p:graphicFrame>
      <p:sp>
        <p:nvSpPr>
          <p:cNvPr id="25616" name="AutoShape 16"/>
          <p:cNvSpPr>
            <a:spLocks/>
          </p:cNvSpPr>
          <p:nvPr/>
        </p:nvSpPr>
        <p:spPr bwMode="auto">
          <a:xfrm>
            <a:off x="3505200" y="3048000"/>
            <a:ext cx="381000" cy="2743200"/>
          </a:xfrm>
          <a:prstGeom prst="rightBrace">
            <a:avLst>
              <a:gd name="adj1" fmla="val 6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427043-3F15-47CD-9DC5-972CBF37F824}" type="slidenum">
              <a:rPr lang="en-US"/>
              <a:pPr/>
              <a:t>62</a:t>
            </a:fld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Operations on Languages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usual set operations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Complement: </a:t>
            </a:r>
          </a:p>
          <a:p>
            <a:endParaRPr lang="en-US"/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381000" y="1752600"/>
          <a:ext cx="8231188" cy="2082800"/>
        </p:xfrm>
        <a:graphic>
          <a:graphicData uri="http://schemas.openxmlformats.org/presentationml/2006/ole">
            <p:oleObj spid="_x0000_s26628" name="Equation" r:id="rId3" imgW="8229600" imgH="2082600" progId="Equation.3">
              <p:embed/>
            </p:oleObj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3276600" y="4419600"/>
          <a:ext cx="2146300" cy="431800"/>
        </p:xfrm>
        <a:graphic>
          <a:graphicData uri="http://schemas.openxmlformats.org/presentationml/2006/ole">
            <p:oleObj spid="_x0000_s26629" name="Equation" r:id="rId4" imgW="2145960" imgH="431640" progId="Equation.3">
              <p:embed/>
            </p:oleObj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1143000" y="5437188"/>
          <a:ext cx="6453188" cy="581025"/>
        </p:xfrm>
        <a:graphic>
          <a:graphicData uri="http://schemas.openxmlformats.org/presentationml/2006/ole">
            <p:oleObj spid="_x0000_s26630" name="Equation" r:id="rId5" imgW="6451560" imgH="583920" progId="Equation.3">
              <p:embed/>
            </p:oleObj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70CBD1-A9BE-478B-A6B4-97C3213DD84F}" type="slidenum">
              <a:rPr lang="en-US"/>
              <a:pPr/>
              <a:t>63</a:t>
            </a:fld>
            <a:endParaRPr lang="en-US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Reverse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Definition:</a:t>
            </a:r>
          </a:p>
          <a:p>
            <a:endParaRPr lang="en-US"/>
          </a:p>
          <a:p>
            <a:r>
              <a:rPr lang="en-US"/>
              <a:t>Examples:</a:t>
            </a:r>
          </a:p>
        </p:txBody>
      </p:sp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2679700" y="1295400"/>
          <a:ext cx="3556000" cy="711200"/>
        </p:xfrm>
        <a:graphic>
          <a:graphicData uri="http://schemas.openxmlformats.org/presentationml/2006/ole">
            <p:oleObj spid="_x0000_s27652" name="Equation" r:id="rId3" imgW="3555720" imgH="711000" progId="Equation.3">
              <p:embed/>
            </p:oleObj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2346325" y="2514600"/>
          <a:ext cx="6797675" cy="723900"/>
        </p:xfrm>
        <a:graphic>
          <a:graphicData uri="http://schemas.openxmlformats.org/presentationml/2006/ole">
            <p:oleObj spid="_x0000_s27653" name="Equation" r:id="rId4" imgW="6794280" imgH="723600" progId="Equation.3">
              <p:embed/>
            </p:oleObj>
          </a:graphicData>
        </a:graphic>
      </p:graphicFrame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2228850" y="3803650"/>
          <a:ext cx="3771900" cy="2387600"/>
        </p:xfrm>
        <a:graphic>
          <a:graphicData uri="http://schemas.openxmlformats.org/presentationml/2006/ole">
            <p:oleObj spid="_x0000_s27654" name="Equation" r:id="rId5" imgW="3771720" imgH="2387520" progId="Equation.3">
              <p:embed/>
            </p:oleObj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C20D16-C489-4C0F-AB2F-519DFA580DAF}" type="slidenum">
              <a:rPr lang="en-US"/>
              <a:pPr/>
              <a:t>64</a:t>
            </a:fld>
            <a:endParaRPr lang="en-US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Concatenation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Definition: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Example: </a:t>
            </a:r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2787650" y="1479550"/>
          <a:ext cx="5245100" cy="569913"/>
        </p:xfrm>
        <a:graphic>
          <a:graphicData uri="http://schemas.openxmlformats.org/presentationml/2006/ole">
            <p:oleObj spid="_x0000_s28676" name="Equation" r:id="rId3" imgW="5244840" imgH="571320" progId="Equation.3">
              <p:embed/>
            </p:oleObj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2133600" y="3810000"/>
          <a:ext cx="6465888" cy="2082800"/>
        </p:xfrm>
        <a:graphic>
          <a:graphicData uri="http://schemas.openxmlformats.org/presentationml/2006/ole">
            <p:oleObj spid="_x0000_s28677" name="Equation" r:id="rId4" imgW="6464160" imgH="2082600" progId="Equation.3">
              <p:embed/>
            </p:oleObj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DC51034-F126-4AE4-B3F1-19A124BEE98E}" type="slidenum">
              <a:rPr lang="en-US"/>
              <a:pPr/>
              <a:t>65</a:t>
            </a:fld>
            <a:endParaRPr lang="en-US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Operation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Definition: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Special case: </a:t>
            </a:r>
          </a:p>
        </p:txBody>
      </p:sp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4470400" y="3194050"/>
          <a:ext cx="201613" cy="469900"/>
        </p:xfrm>
        <a:graphic>
          <a:graphicData uri="http://schemas.openxmlformats.org/presentationml/2006/ole">
            <p:oleObj spid="_x0000_s29700" name="Equation" r:id="rId3" imgW="203040" imgH="469800" progId="Equation.3">
              <p:embed/>
            </p:oleObj>
          </a:graphicData>
        </a:graphic>
      </p:graphicFrame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2819400" y="838200"/>
          <a:ext cx="2476500" cy="1219200"/>
        </p:xfrm>
        <a:graphic>
          <a:graphicData uri="http://schemas.openxmlformats.org/presentationml/2006/ole">
            <p:oleObj spid="_x0000_s29701" name="Equation" r:id="rId4" imgW="2476440" imgH="1218960" progId="Equation.3">
              <p:embed/>
            </p:oleObj>
          </a:graphicData>
        </a:graphic>
      </p:graphicFrame>
      <p:graphicFrame>
        <p:nvGraphicFramePr>
          <p:cNvPr id="29702" name="Object 6"/>
          <p:cNvGraphicFramePr>
            <a:graphicFrameLocks noChangeAspect="1"/>
          </p:cNvGraphicFramePr>
          <p:nvPr/>
        </p:nvGraphicFramePr>
        <p:xfrm>
          <a:off x="304800" y="2362200"/>
          <a:ext cx="7672388" cy="1473200"/>
        </p:xfrm>
        <a:graphic>
          <a:graphicData uri="http://schemas.openxmlformats.org/presentationml/2006/ole">
            <p:oleObj spid="_x0000_s29702" name="Equation" r:id="rId5" imgW="7670520" imgH="1473120" progId="Equation.3">
              <p:embed/>
            </p:oleObj>
          </a:graphicData>
        </a:graphic>
      </p:graphicFrame>
      <p:graphicFrame>
        <p:nvGraphicFramePr>
          <p:cNvPr id="29703" name="Object 7"/>
          <p:cNvGraphicFramePr>
            <a:graphicFrameLocks noChangeAspect="1"/>
          </p:cNvGraphicFramePr>
          <p:nvPr/>
        </p:nvGraphicFramePr>
        <p:xfrm>
          <a:off x="3048000" y="4343400"/>
          <a:ext cx="3441700" cy="1917700"/>
        </p:xfrm>
        <a:graphic>
          <a:graphicData uri="http://schemas.openxmlformats.org/presentationml/2006/ole">
            <p:oleObj spid="_x0000_s29703" name="Equation" r:id="rId6" imgW="3441600" imgH="1917360" progId="Equation.3">
              <p:embed/>
            </p:oleObj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BC5D9D-7966-4E88-B815-2DDA27ABF3FA}" type="slidenum">
              <a:rPr lang="en-US"/>
              <a:pPr/>
              <a:t>66</a:t>
            </a:fld>
            <a:endParaRPr lang="en-US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Examples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30724" name="Object 4"/>
          <p:cNvGraphicFramePr>
            <a:graphicFrameLocks noChangeAspect="1"/>
          </p:cNvGraphicFramePr>
          <p:nvPr/>
        </p:nvGraphicFramePr>
        <p:xfrm>
          <a:off x="1822450" y="1519238"/>
          <a:ext cx="3505200" cy="708025"/>
        </p:xfrm>
        <a:graphic>
          <a:graphicData uri="http://schemas.openxmlformats.org/presentationml/2006/ole">
            <p:oleObj spid="_x0000_s30724" name="Equation" r:id="rId3" imgW="3504960" imgH="711000" progId="Equation.3">
              <p:embed/>
            </p:oleObj>
          </a:graphicData>
        </a:graphic>
      </p:graphicFrame>
      <p:graphicFrame>
        <p:nvGraphicFramePr>
          <p:cNvPr id="30725" name="Object 5"/>
          <p:cNvGraphicFramePr>
            <a:graphicFrameLocks noChangeAspect="1"/>
          </p:cNvGraphicFramePr>
          <p:nvPr/>
        </p:nvGraphicFramePr>
        <p:xfrm>
          <a:off x="1625600" y="3194050"/>
          <a:ext cx="5422900" cy="711200"/>
        </p:xfrm>
        <a:graphic>
          <a:graphicData uri="http://schemas.openxmlformats.org/presentationml/2006/ole">
            <p:oleObj spid="_x0000_s30725" name="Equation" r:id="rId4" imgW="5422680" imgH="711000" progId="Equation.3">
              <p:embed/>
            </p:oleObj>
          </a:graphicData>
        </a:graphic>
      </p:graphicFrame>
      <p:graphicFrame>
        <p:nvGraphicFramePr>
          <p:cNvPr id="30726" name="Object 6"/>
          <p:cNvGraphicFramePr>
            <a:graphicFrameLocks noChangeAspect="1"/>
          </p:cNvGraphicFramePr>
          <p:nvPr/>
        </p:nvGraphicFramePr>
        <p:xfrm>
          <a:off x="2908300" y="4895850"/>
          <a:ext cx="3517900" cy="608013"/>
        </p:xfrm>
        <a:graphic>
          <a:graphicData uri="http://schemas.openxmlformats.org/presentationml/2006/ole">
            <p:oleObj spid="_x0000_s30726" name="Equation" r:id="rId5" imgW="3517560" imgH="609480" progId="Equation.3">
              <p:embed/>
            </p:oleObj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C640B6-E588-4768-B34A-BE8E8AECB054}" type="slidenum">
              <a:rPr lang="en-US"/>
              <a:pPr/>
              <a:t>67</a:t>
            </a:fld>
            <a:endParaRPr lang="en-US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Star-Closure (Kleene *)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Definition: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Example: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 </a:t>
            </a:r>
          </a:p>
        </p:txBody>
      </p:sp>
      <p:graphicFrame>
        <p:nvGraphicFramePr>
          <p:cNvPr id="31748" name="Object 4"/>
          <p:cNvGraphicFramePr>
            <a:graphicFrameLocks noChangeAspect="1"/>
          </p:cNvGraphicFramePr>
          <p:nvPr/>
        </p:nvGraphicFramePr>
        <p:xfrm>
          <a:off x="5081588" y="3460750"/>
          <a:ext cx="201612" cy="469900"/>
        </p:xfrm>
        <a:graphic>
          <a:graphicData uri="http://schemas.openxmlformats.org/presentationml/2006/ole">
            <p:oleObj spid="_x0000_s31748" name="Equation" r:id="rId3" imgW="203040" imgH="469800" progId="Equation.3">
              <p:embed/>
            </p:oleObj>
          </a:graphicData>
        </a:graphic>
      </p:graphicFrame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2514600" y="1295400"/>
          <a:ext cx="3962400" cy="660400"/>
        </p:xfrm>
        <a:graphic>
          <a:graphicData uri="http://schemas.openxmlformats.org/presentationml/2006/ole">
            <p:oleObj spid="_x0000_s31749" name="Equation" r:id="rId4" imgW="3962160" imgH="660240" progId="Equation.3">
              <p:embed/>
            </p:oleObj>
          </a:graphicData>
        </a:graphic>
      </p:graphicFrame>
      <p:graphicFrame>
        <p:nvGraphicFramePr>
          <p:cNvPr id="31751" name="Object 7"/>
          <p:cNvGraphicFramePr>
            <a:graphicFrameLocks noChangeAspect="1"/>
          </p:cNvGraphicFramePr>
          <p:nvPr/>
        </p:nvGraphicFramePr>
        <p:xfrm>
          <a:off x="647700" y="3492500"/>
          <a:ext cx="7735888" cy="2870200"/>
        </p:xfrm>
        <a:graphic>
          <a:graphicData uri="http://schemas.openxmlformats.org/presentationml/2006/ole">
            <p:oleObj spid="_x0000_s31751" name="Equation" r:id="rId5" imgW="7734240" imgH="2869920" progId="Equation.3">
              <p:embed/>
            </p:oleObj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F08E6B-F41A-44CA-B00C-E00F8FFEF542}" type="slidenum">
              <a:rPr lang="en-US"/>
              <a:pPr/>
              <a:t>68</a:t>
            </a:fld>
            <a:endParaRPr lang="en-US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Positive Closure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Definition:</a:t>
            </a:r>
          </a:p>
        </p:txBody>
      </p:sp>
      <p:graphicFrame>
        <p:nvGraphicFramePr>
          <p:cNvPr id="32772" name="Object 4"/>
          <p:cNvGraphicFramePr>
            <a:graphicFrameLocks noChangeAspect="1"/>
          </p:cNvGraphicFramePr>
          <p:nvPr/>
        </p:nvGraphicFramePr>
        <p:xfrm>
          <a:off x="2667000" y="1371600"/>
          <a:ext cx="3429000" cy="1473200"/>
        </p:xfrm>
        <a:graphic>
          <a:graphicData uri="http://schemas.openxmlformats.org/presentationml/2006/ole">
            <p:oleObj spid="_x0000_s32772" name="Equation" r:id="rId3" imgW="3429000" imgH="1473120" progId="Equation.3">
              <p:embed/>
            </p:oleObj>
          </a:graphicData>
        </a:graphic>
      </p:graphicFrame>
      <p:graphicFrame>
        <p:nvGraphicFramePr>
          <p:cNvPr id="32774" name="Object 6"/>
          <p:cNvGraphicFramePr>
            <a:graphicFrameLocks noChangeAspect="1"/>
          </p:cNvGraphicFramePr>
          <p:nvPr/>
        </p:nvGraphicFramePr>
        <p:xfrm>
          <a:off x="615950" y="4178300"/>
          <a:ext cx="7824788" cy="2133600"/>
        </p:xfrm>
        <a:graphic>
          <a:graphicData uri="http://schemas.openxmlformats.org/presentationml/2006/ole">
            <p:oleObj spid="_x0000_s32774" name="Equation" r:id="rId4" imgW="7823160" imgH="2133360" progId="Equation.3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>
            <a:alpha val="50000"/>
          </a:schemeClr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>
            <a:alpha val="50000"/>
          </a:schemeClr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Office\Templates\class.pot</Template>
  <TotalTime>1096</TotalTime>
  <Words>1886</Words>
  <Application>Microsoft Office PowerPoint</Application>
  <PresentationFormat>On-screen Show (4:3)</PresentationFormat>
  <Paragraphs>617</Paragraphs>
  <Slides>68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0" baseType="lpstr">
      <vt:lpstr>class</vt:lpstr>
      <vt:lpstr>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Languages</vt:lpstr>
      <vt:lpstr>Slide 47</vt:lpstr>
      <vt:lpstr>Alphabets and Strings</vt:lpstr>
      <vt:lpstr>String Operations</vt:lpstr>
      <vt:lpstr>Slide 50</vt:lpstr>
      <vt:lpstr>String Length</vt:lpstr>
      <vt:lpstr>Length of Concatenation</vt:lpstr>
      <vt:lpstr>Empty String</vt:lpstr>
      <vt:lpstr>Substring</vt:lpstr>
      <vt:lpstr>Prefix and Suffix</vt:lpstr>
      <vt:lpstr>Another Operation</vt:lpstr>
      <vt:lpstr>The * Operation</vt:lpstr>
      <vt:lpstr>Slide 58</vt:lpstr>
      <vt:lpstr>Languages</vt:lpstr>
      <vt:lpstr>Slide 60</vt:lpstr>
      <vt:lpstr>Another Example</vt:lpstr>
      <vt:lpstr>Operations on Languages</vt:lpstr>
      <vt:lpstr>Reverse</vt:lpstr>
      <vt:lpstr>Concatenation</vt:lpstr>
      <vt:lpstr>Another Operation</vt:lpstr>
      <vt:lpstr>More Examples</vt:lpstr>
      <vt:lpstr>Star-Closure (Kleene *)</vt:lpstr>
      <vt:lpstr>Positive Closure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 and Finite Automata</dc:title>
  <dc:creator>Costas Busch</dc:creator>
  <cp:lastModifiedBy>mnaidjate</cp:lastModifiedBy>
  <cp:revision>271</cp:revision>
  <dcterms:created xsi:type="dcterms:W3CDTF">2000-08-31T01:12:33Z</dcterms:created>
  <dcterms:modified xsi:type="dcterms:W3CDTF">2014-01-11T17:34:54Z</dcterms:modified>
</cp:coreProperties>
</file>