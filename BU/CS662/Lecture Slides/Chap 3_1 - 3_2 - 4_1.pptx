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56" r:id="rId2"/>
    <p:sldId id="258" r:id="rId3"/>
    <p:sldId id="312" r:id="rId4"/>
    <p:sldId id="313" r:id="rId5"/>
    <p:sldId id="311" r:id="rId6"/>
    <p:sldId id="261" r:id="rId7"/>
    <p:sldId id="257" r:id="rId8"/>
    <p:sldId id="264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323" r:id="rId18"/>
    <p:sldId id="324" r:id="rId19"/>
    <p:sldId id="325" r:id="rId20"/>
    <p:sldId id="326" r:id="rId21"/>
    <p:sldId id="327" r:id="rId22"/>
    <p:sldId id="328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90" r:id="rId38"/>
    <p:sldId id="291" r:id="rId39"/>
    <p:sldId id="314" r:id="rId40"/>
    <p:sldId id="315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</p:sldIdLst>
  <p:sldSz cx="9144000" cy="6858000" type="screen4x3"/>
  <p:notesSz cx="6831013" cy="9396413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67" autoAdjust="0"/>
    <p:restoredTop sz="90947" autoAdjust="0"/>
  </p:normalViewPr>
  <p:slideViewPr>
    <p:cSldViewPr>
      <p:cViewPr varScale="1">
        <p:scale>
          <a:sx n="88" d="100"/>
          <a:sy n="88" d="100"/>
        </p:scale>
        <p:origin x="-13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34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959"/>
        <p:guide pos="2152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22.wmf"/><Relationship Id="rId2" Type="http://schemas.openxmlformats.org/officeDocument/2006/relationships/image" Target="../media/image1.wmf"/><Relationship Id="rId1" Type="http://schemas.openxmlformats.org/officeDocument/2006/relationships/image" Target="../media/image18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19.wmf"/><Relationship Id="rId4" Type="http://schemas.openxmlformats.org/officeDocument/2006/relationships/image" Target="../media/image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3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11.wmf"/><Relationship Id="rId4" Type="http://schemas.openxmlformats.org/officeDocument/2006/relationships/image" Target="../media/image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3.wmf"/><Relationship Id="rId5" Type="http://schemas.openxmlformats.org/officeDocument/2006/relationships/image" Target="../media/image28.wmf"/><Relationship Id="rId4" Type="http://schemas.openxmlformats.org/officeDocument/2006/relationships/image" Target="../media/image2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19.wmf"/><Relationship Id="rId1" Type="http://schemas.openxmlformats.org/officeDocument/2006/relationships/image" Target="../media/image29.wmf"/><Relationship Id="rId4" Type="http://schemas.openxmlformats.org/officeDocument/2006/relationships/image" Target="../media/image3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image" Target="../media/image31.wmf"/><Relationship Id="rId6" Type="http://schemas.openxmlformats.org/officeDocument/2006/relationships/image" Target="../media/image32.wmf"/><Relationship Id="rId5" Type="http://schemas.openxmlformats.org/officeDocument/2006/relationships/image" Target="../media/image3.wmf"/><Relationship Id="rId4" Type="http://schemas.openxmlformats.org/officeDocument/2006/relationships/image" Target="../media/image1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26.wmf"/><Relationship Id="rId1" Type="http://schemas.openxmlformats.org/officeDocument/2006/relationships/image" Target="../media/image9.wmf"/><Relationship Id="rId4" Type="http://schemas.openxmlformats.org/officeDocument/2006/relationships/image" Target="../media/image3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image" Target="../media/image18.wmf"/><Relationship Id="rId6" Type="http://schemas.openxmlformats.org/officeDocument/2006/relationships/image" Target="../media/image33.wmf"/><Relationship Id="rId5" Type="http://schemas.openxmlformats.org/officeDocument/2006/relationships/image" Target="../media/image35.wmf"/><Relationship Id="rId4" Type="http://schemas.openxmlformats.org/officeDocument/2006/relationships/image" Target="../media/image1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26.wmf"/><Relationship Id="rId1" Type="http://schemas.openxmlformats.org/officeDocument/2006/relationships/image" Target="../media/image34.wmf"/><Relationship Id="rId4" Type="http://schemas.openxmlformats.org/officeDocument/2006/relationships/image" Target="../media/image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36.wmf"/><Relationship Id="rId2" Type="http://schemas.openxmlformats.org/officeDocument/2006/relationships/image" Target="../media/image1.wmf"/><Relationship Id="rId1" Type="http://schemas.openxmlformats.org/officeDocument/2006/relationships/image" Target="../media/image18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1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10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4" Type="http://schemas.openxmlformats.org/officeDocument/2006/relationships/image" Target="../media/image52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1.wmf"/><Relationship Id="rId1" Type="http://schemas.openxmlformats.org/officeDocument/2006/relationships/image" Target="../media/image52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image" Target="../media/image65.wmf"/><Relationship Id="rId7" Type="http://schemas.openxmlformats.org/officeDocument/2006/relationships/image" Target="../media/image69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8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4" Type="http://schemas.openxmlformats.org/officeDocument/2006/relationships/image" Target="../media/image95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94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49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4" Type="http://schemas.openxmlformats.org/officeDocument/2006/relationships/image" Target="../media/image103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9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.wmf"/><Relationship Id="rId1" Type="http://schemas.openxmlformats.org/officeDocument/2006/relationships/image" Target="../media/image114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3" Type="http://schemas.openxmlformats.org/officeDocument/2006/relationships/image" Target="../media/image2.wmf"/><Relationship Id="rId7" Type="http://schemas.openxmlformats.org/officeDocument/2006/relationships/image" Target="../media/image122.wmf"/><Relationship Id="rId2" Type="http://schemas.openxmlformats.org/officeDocument/2006/relationships/image" Target="../media/image1.wmf"/><Relationship Id="rId1" Type="http://schemas.openxmlformats.org/officeDocument/2006/relationships/image" Target="../media/image118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image" Target="../media/image2.wmf"/><Relationship Id="rId7" Type="http://schemas.openxmlformats.org/officeDocument/2006/relationships/image" Target="../media/image122.wmf"/><Relationship Id="rId2" Type="http://schemas.openxmlformats.org/officeDocument/2006/relationships/image" Target="../media/image1.wmf"/><Relationship Id="rId1" Type="http://schemas.openxmlformats.org/officeDocument/2006/relationships/image" Target="../media/image118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Relationship Id="rId9" Type="http://schemas.openxmlformats.org/officeDocument/2006/relationships/image" Target="../media/image125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7" Type="http://schemas.openxmlformats.org/officeDocument/2006/relationships/image" Target="../media/image127.wmf"/><Relationship Id="rId2" Type="http://schemas.openxmlformats.org/officeDocument/2006/relationships/image" Target="../media/image122.wmf"/><Relationship Id="rId1" Type="http://schemas.openxmlformats.org/officeDocument/2006/relationships/image" Target="../media/image120.wmf"/><Relationship Id="rId6" Type="http://schemas.openxmlformats.org/officeDocument/2006/relationships/image" Target="../media/image126.wmf"/><Relationship Id="rId5" Type="http://schemas.openxmlformats.org/officeDocument/2006/relationships/image" Target="../media/image125.wmf"/><Relationship Id="rId4" Type="http://schemas.openxmlformats.org/officeDocument/2006/relationships/image" Target="../media/image124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image" Target="../media/image130.wmf"/><Relationship Id="rId7" Type="http://schemas.openxmlformats.org/officeDocument/2006/relationships/image" Target="../media/image131.wmf"/><Relationship Id="rId12" Type="http://schemas.openxmlformats.org/officeDocument/2006/relationships/image" Target="../media/image136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Relationship Id="rId6" Type="http://schemas.openxmlformats.org/officeDocument/2006/relationships/image" Target="../media/image116.wmf"/><Relationship Id="rId11" Type="http://schemas.openxmlformats.org/officeDocument/2006/relationships/image" Target="../media/image135.wmf"/><Relationship Id="rId5" Type="http://schemas.openxmlformats.org/officeDocument/2006/relationships/image" Target="../media/image2.wmf"/><Relationship Id="rId10" Type="http://schemas.openxmlformats.org/officeDocument/2006/relationships/image" Target="../media/image134.wmf"/><Relationship Id="rId4" Type="http://schemas.openxmlformats.org/officeDocument/2006/relationships/image" Target="../media/image1.wmf"/><Relationship Id="rId9" Type="http://schemas.openxmlformats.org/officeDocument/2006/relationships/image" Target="../media/image133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3" Type="http://schemas.openxmlformats.org/officeDocument/2006/relationships/image" Target="../media/image138.wmf"/><Relationship Id="rId7" Type="http://schemas.openxmlformats.org/officeDocument/2006/relationships/image" Target="../media/image142.wmf"/><Relationship Id="rId2" Type="http://schemas.openxmlformats.org/officeDocument/2006/relationships/image" Target="../media/image137.wmf"/><Relationship Id="rId1" Type="http://schemas.openxmlformats.org/officeDocument/2006/relationships/image" Target="../media/image120.wmf"/><Relationship Id="rId6" Type="http://schemas.openxmlformats.org/officeDocument/2006/relationships/image" Target="../media/image141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D7247C6F-A44D-43CF-AAB6-A4FCBEA7249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680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464050"/>
            <a:ext cx="5008563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052F5803-551F-46E3-9894-41FBFF7C4E8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9A84C5F-5E5C-44CA-9A72-E66003812B0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BCAD6F6-682C-41EC-AFC5-CCD130569A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3A3A533-1D1F-49DE-AEC9-086B4C26761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A884709-70FE-48C3-BECB-2917C889C36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7673B04-CFEF-4142-B108-94572223A8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D67AC81-8A0F-4598-99C1-9435C86645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46F7C46-BB61-4857-A5C2-4F62DAF1CD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82C949-116C-4E10-BD7C-5E248DD475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AB5BB54-FEB5-49C4-9B49-3E1A8A707A4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F246690-5CA4-4A69-A297-3A3E415AB62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52400"/>
            <a:ext cx="22098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770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898A562-64C0-4508-98C8-C08A5B8F80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B43DCDCE-201A-4B6F-90B5-A718AFD519D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5.bin"/><Relationship Id="rId9" Type="http://schemas.openxmlformats.org/officeDocument/2006/relationships/oleObject" Target="../embeddings/oleObject2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4" Type="http://schemas.openxmlformats.org/officeDocument/2006/relationships/oleObject" Target="../embeddings/oleObject2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1.bin"/><Relationship Id="rId5" Type="http://schemas.openxmlformats.org/officeDocument/2006/relationships/oleObject" Target="../embeddings/oleObject30.bin"/><Relationship Id="rId4" Type="http://schemas.openxmlformats.org/officeDocument/2006/relationships/oleObject" Target="../embeddings/oleObject2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7.bin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6.bin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5.bin"/><Relationship Id="rId9" Type="http://schemas.openxmlformats.org/officeDocument/2006/relationships/oleObject" Target="../embeddings/oleObject4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6.bin"/><Relationship Id="rId5" Type="http://schemas.openxmlformats.org/officeDocument/2006/relationships/oleObject" Target="../embeddings/oleObject45.bin"/><Relationship Id="rId4" Type="http://schemas.openxmlformats.org/officeDocument/2006/relationships/oleObject" Target="../embeddings/oleObject44.bin"/><Relationship Id="rId9" Type="http://schemas.openxmlformats.org/officeDocument/2006/relationships/oleObject" Target="../embeddings/oleObject4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oleObject" Target="../embeddings/oleObject60.bin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4.bin"/><Relationship Id="rId12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53.bin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2.bin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1.bin"/><Relationship Id="rId9" Type="http://schemas.openxmlformats.org/officeDocument/2006/relationships/oleObject" Target="../embeddings/oleObject56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64.bin"/><Relationship Id="rId5" Type="http://schemas.openxmlformats.org/officeDocument/2006/relationships/oleObject" Target="../embeddings/oleObject63.bin"/><Relationship Id="rId4" Type="http://schemas.openxmlformats.org/officeDocument/2006/relationships/oleObject" Target="../embeddings/oleObject6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9.bin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68.bin"/><Relationship Id="rId10" Type="http://schemas.openxmlformats.org/officeDocument/2006/relationships/oleObject" Target="../embeddings/oleObject73.bin"/><Relationship Id="rId4" Type="http://schemas.openxmlformats.org/officeDocument/2006/relationships/oleObject" Target="../embeddings/oleObject67.bin"/><Relationship Id="rId9" Type="http://schemas.openxmlformats.org/officeDocument/2006/relationships/oleObject" Target="../embeddings/oleObject7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78.bin"/><Relationship Id="rId5" Type="http://schemas.openxmlformats.org/officeDocument/2006/relationships/oleObject" Target="../embeddings/oleObject77.bin"/><Relationship Id="rId4" Type="http://schemas.openxmlformats.org/officeDocument/2006/relationships/oleObject" Target="../embeddings/oleObject76.bin"/><Relationship Id="rId9" Type="http://schemas.openxmlformats.org/officeDocument/2006/relationships/oleObject" Target="../embeddings/oleObject8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85.bin"/><Relationship Id="rId11" Type="http://schemas.openxmlformats.org/officeDocument/2006/relationships/oleObject" Target="../embeddings/oleObject90.bin"/><Relationship Id="rId5" Type="http://schemas.openxmlformats.org/officeDocument/2006/relationships/oleObject" Target="../embeddings/oleObject84.bin"/><Relationship Id="rId10" Type="http://schemas.openxmlformats.org/officeDocument/2006/relationships/oleObject" Target="../embeddings/oleObject89.bin"/><Relationship Id="rId4" Type="http://schemas.openxmlformats.org/officeDocument/2006/relationships/oleObject" Target="../embeddings/oleObject83.bin"/><Relationship Id="rId9" Type="http://schemas.openxmlformats.org/officeDocument/2006/relationships/oleObject" Target="../embeddings/oleObject8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94.bin"/><Relationship Id="rId5" Type="http://schemas.openxmlformats.org/officeDocument/2006/relationships/oleObject" Target="../embeddings/oleObject93.bin"/><Relationship Id="rId4" Type="http://schemas.openxmlformats.org/officeDocument/2006/relationships/oleObject" Target="../embeddings/oleObject92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98.bin"/><Relationship Id="rId5" Type="http://schemas.openxmlformats.org/officeDocument/2006/relationships/oleObject" Target="../embeddings/oleObject97.bin"/><Relationship Id="rId10" Type="http://schemas.openxmlformats.org/officeDocument/2006/relationships/oleObject" Target="../embeddings/oleObject102.bin"/><Relationship Id="rId4" Type="http://schemas.openxmlformats.org/officeDocument/2006/relationships/oleObject" Target="../embeddings/oleObject96.bin"/><Relationship Id="rId9" Type="http://schemas.openxmlformats.org/officeDocument/2006/relationships/oleObject" Target="../embeddings/oleObject10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06.bin"/><Relationship Id="rId5" Type="http://schemas.openxmlformats.org/officeDocument/2006/relationships/oleObject" Target="../embeddings/oleObject105.bin"/><Relationship Id="rId4" Type="http://schemas.openxmlformats.org/officeDocument/2006/relationships/oleObject" Target="../embeddings/oleObject104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13" Type="http://schemas.openxmlformats.org/officeDocument/2006/relationships/oleObject" Target="../embeddings/oleObject118.bin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2.bin"/><Relationship Id="rId12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11.bin"/><Relationship Id="rId11" Type="http://schemas.openxmlformats.org/officeDocument/2006/relationships/oleObject" Target="../embeddings/oleObject116.bin"/><Relationship Id="rId5" Type="http://schemas.openxmlformats.org/officeDocument/2006/relationships/oleObject" Target="../embeddings/oleObject110.bin"/><Relationship Id="rId10" Type="http://schemas.openxmlformats.org/officeDocument/2006/relationships/oleObject" Target="../embeddings/oleObject115.bin"/><Relationship Id="rId4" Type="http://schemas.openxmlformats.org/officeDocument/2006/relationships/oleObject" Target="../embeddings/oleObject109.bin"/><Relationship Id="rId9" Type="http://schemas.openxmlformats.org/officeDocument/2006/relationships/oleObject" Target="../embeddings/oleObject114.bin"/><Relationship Id="rId14" Type="http://schemas.openxmlformats.org/officeDocument/2006/relationships/oleObject" Target="../embeddings/oleObject11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23.bin"/><Relationship Id="rId5" Type="http://schemas.openxmlformats.org/officeDocument/2006/relationships/oleObject" Target="../embeddings/oleObject122.bin"/><Relationship Id="rId4" Type="http://schemas.openxmlformats.org/officeDocument/2006/relationships/oleObject" Target="../embeddings/oleObject12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5" Type="http://schemas.openxmlformats.org/officeDocument/2006/relationships/oleObject" Target="../embeddings/oleObject128.bin"/><Relationship Id="rId4" Type="http://schemas.openxmlformats.org/officeDocument/2006/relationships/oleObject" Target="../embeddings/oleObject127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oleObject" Target="../embeddings/oleObject130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34.bin"/><Relationship Id="rId5" Type="http://schemas.openxmlformats.org/officeDocument/2006/relationships/oleObject" Target="../embeddings/oleObject133.bin"/><Relationship Id="rId4" Type="http://schemas.openxmlformats.org/officeDocument/2006/relationships/oleObject" Target="../embeddings/oleObject13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oleObject" Target="../embeddings/oleObject136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oleObject" Target="../embeddings/oleObject139.bin"/><Relationship Id="rId4" Type="http://schemas.openxmlformats.org/officeDocument/2006/relationships/oleObject" Target="../embeddings/oleObject138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44.bin"/><Relationship Id="rId5" Type="http://schemas.openxmlformats.org/officeDocument/2006/relationships/oleObject" Target="../embeddings/oleObject143.bin"/><Relationship Id="rId4" Type="http://schemas.openxmlformats.org/officeDocument/2006/relationships/oleObject" Target="../embeddings/oleObject14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50.bin"/><Relationship Id="rId5" Type="http://schemas.openxmlformats.org/officeDocument/2006/relationships/oleObject" Target="../embeddings/oleObject149.bin"/><Relationship Id="rId10" Type="http://schemas.openxmlformats.org/officeDocument/2006/relationships/oleObject" Target="../embeddings/oleObject154.bin"/><Relationship Id="rId4" Type="http://schemas.openxmlformats.org/officeDocument/2006/relationships/oleObject" Target="../embeddings/oleObject148.bin"/><Relationship Id="rId9" Type="http://schemas.openxmlformats.org/officeDocument/2006/relationships/oleObject" Target="../embeddings/oleObject153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oleObject" Target="../embeddings/oleObject156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oleObject" Target="../embeddings/oleObject158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4" Type="http://schemas.openxmlformats.org/officeDocument/2006/relationships/oleObject" Target="../embeddings/oleObject160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oleObject" Target="../embeddings/oleObject162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5" Type="http://schemas.openxmlformats.org/officeDocument/2006/relationships/oleObject" Target="../embeddings/oleObject165.bin"/><Relationship Id="rId4" Type="http://schemas.openxmlformats.org/officeDocument/2006/relationships/oleObject" Target="../embeddings/oleObject164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1.bin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69.bin"/><Relationship Id="rId5" Type="http://schemas.openxmlformats.org/officeDocument/2006/relationships/oleObject" Target="../embeddings/oleObject168.bin"/><Relationship Id="rId4" Type="http://schemas.openxmlformats.org/officeDocument/2006/relationships/oleObject" Target="../embeddings/oleObject167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5" Type="http://schemas.openxmlformats.org/officeDocument/2006/relationships/oleObject" Target="../embeddings/oleObject175.bin"/><Relationship Id="rId4" Type="http://schemas.openxmlformats.org/officeDocument/2006/relationships/oleObject" Target="../embeddings/oleObject174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179.bin"/><Relationship Id="rId5" Type="http://schemas.openxmlformats.org/officeDocument/2006/relationships/oleObject" Target="../embeddings/oleObject178.bin"/><Relationship Id="rId4" Type="http://schemas.openxmlformats.org/officeDocument/2006/relationships/oleObject" Target="../embeddings/oleObject177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5" Type="http://schemas.openxmlformats.org/officeDocument/2006/relationships/oleObject" Target="../embeddings/oleObject182.bin"/><Relationship Id="rId4" Type="http://schemas.openxmlformats.org/officeDocument/2006/relationships/oleObject" Target="../embeddings/oleObject181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3.bin"/><Relationship Id="rId7" Type="http://schemas.openxmlformats.org/officeDocument/2006/relationships/oleObject" Target="../embeddings/oleObject18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186.bin"/><Relationship Id="rId5" Type="http://schemas.openxmlformats.org/officeDocument/2006/relationships/oleObject" Target="../embeddings/oleObject185.bin"/><Relationship Id="rId4" Type="http://schemas.openxmlformats.org/officeDocument/2006/relationships/oleObject" Target="../embeddings/oleObject184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191.bin"/><Relationship Id="rId5" Type="http://schemas.openxmlformats.org/officeDocument/2006/relationships/oleObject" Target="../embeddings/oleObject190.bin"/><Relationship Id="rId4" Type="http://schemas.openxmlformats.org/officeDocument/2006/relationships/oleObject" Target="../embeddings/oleObject189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5" Type="http://schemas.openxmlformats.org/officeDocument/2006/relationships/oleObject" Target="../embeddings/oleObject196.bin"/><Relationship Id="rId4" Type="http://schemas.openxmlformats.org/officeDocument/2006/relationships/oleObject" Target="../embeddings/oleObject195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5" Type="http://schemas.openxmlformats.org/officeDocument/2006/relationships/oleObject" Target="../embeddings/oleObject201.bin"/><Relationship Id="rId4" Type="http://schemas.openxmlformats.org/officeDocument/2006/relationships/oleObject" Target="../embeddings/oleObject200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5" Type="http://schemas.openxmlformats.org/officeDocument/2006/relationships/oleObject" Target="../embeddings/oleObject204.bin"/><Relationship Id="rId4" Type="http://schemas.openxmlformats.org/officeDocument/2006/relationships/oleObject" Target="../embeddings/oleObject203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208.bin"/><Relationship Id="rId5" Type="http://schemas.openxmlformats.org/officeDocument/2006/relationships/oleObject" Target="../embeddings/oleObject207.bin"/><Relationship Id="rId10" Type="http://schemas.openxmlformats.org/officeDocument/2006/relationships/oleObject" Target="../embeddings/oleObject212.bin"/><Relationship Id="rId4" Type="http://schemas.openxmlformats.org/officeDocument/2006/relationships/oleObject" Target="../embeddings/oleObject206.bin"/><Relationship Id="rId9" Type="http://schemas.openxmlformats.org/officeDocument/2006/relationships/oleObject" Target="../embeddings/oleObject211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8.bin"/><Relationship Id="rId13" Type="http://schemas.openxmlformats.org/officeDocument/2006/relationships/oleObject" Target="../embeddings/oleObject223.bin"/><Relationship Id="rId18" Type="http://schemas.openxmlformats.org/officeDocument/2006/relationships/oleObject" Target="../embeddings/oleObject228.bin"/><Relationship Id="rId3" Type="http://schemas.openxmlformats.org/officeDocument/2006/relationships/oleObject" Target="../embeddings/oleObject213.bin"/><Relationship Id="rId7" Type="http://schemas.openxmlformats.org/officeDocument/2006/relationships/oleObject" Target="../embeddings/oleObject217.bin"/><Relationship Id="rId12" Type="http://schemas.openxmlformats.org/officeDocument/2006/relationships/oleObject" Target="../embeddings/oleObject222.bin"/><Relationship Id="rId17" Type="http://schemas.openxmlformats.org/officeDocument/2006/relationships/oleObject" Target="../embeddings/oleObject227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26.bin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216.bin"/><Relationship Id="rId11" Type="http://schemas.openxmlformats.org/officeDocument/2006/relationships/oleObject" Target="../embeddings/oleObject221.bin"/><Relationship Id="rId5" Type="http://schemas.openxmlformats.org/officeDocument/2006/relationships/oleObject" Target="../embeddings/oleObject215.bin"/><Relationship Id="rId15" Type="http://schemas.openxmlformats.org/officeDocument/2006/relationships/oleObject" Target="../embeddings/oleObject225.bin"/><Relationship Id="rId10" Type="http://schemas.openxmlformats.org/officeDocument/2006/relationships/oleObject" Target="../embeddings/oleObject220.bin"/><Relationship Id="rId4" Type="http://schemas.openxmlformats.org/officeDocument/2006/relationships/oleObject" Target="../embeddings/oleObject214.bin"/><Relationship Id="rId9" Type="http://schemas.openxmlformats.org/officeDocument/2006/relationships/oleObject" Target="../embeddings/oleObject219.bin"/><Relationship Id="rId14" Type="http://schemas.openxmlformats.org/officeDocument/2006/relationships/oleObject" Target="../embeddings/oleObject224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4.bin"/><Relationship Id="rId13" Type="http://schemas.openxmlformats.org/officeDocument/2006/relationships/oleObject" Target="../embeddings/oleObject239.bin"/><Relationship Id="rId3" Type="http://schemas.openxmlformats.org/officeDocument/2006/relationships/oleObject" Target="../embeddings/oleObject229.bin"/><Relationship Id="rId7" Type="http://schemas.openxmlformats.org/officeDocument/2006/relationships/oleObject" Target="../embeddings/oleObject233.bin"/><Relationship Id="rId12" Type="http://schemas.openxmlformats.org/officeDocument/2006/relationships/oleObject" Target="../embeddings/oleObject2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232.bin"/><Relationship Id="rId11" Type="http://schemas.openxmlformats.org/officeDocument/2006/relationships/oleObject" Target="../embeddings/oleObject237.bin"/><Relationship Id="rId5" Type="http://schemas.openxmlformats.org/officeDocument/2006/relationships/oleObject" Target="../embeddings/oleObject231.bin"/><Relationship Id="rId15" Type="http://schemas.openxmlformats.org/officeDocument/2006/relationships/oleObject" Target="../embeddings/oleObject241.bin"/><Relationship Id="rId10" Type="http://schemas.openxmlformats.org/officeDocument/2006/relationships/oleObject" Target="../embeddings/oleObject236.bin"/><Relationship Id="rId4" Type="http://schemas.openxmlformats.org/officeDocument/2006/relationships/oleObject" Target="../embeddings/oleObject230.bin"/><Relationship Id="rId9" Type="http://schemas.openxmlformats.org/officeDocument/2006/relationships/oleObject" Target="../embeddings/oleObject235.bin"/><Relationship Id="rId14" Type="http://schemas.openxmlformats.org/officeDocument/2006/relationships/oleObject" Target="../embeddings/oleObject240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7.bin"/><Relationship Id="rId3" Type="http://schemas.openxmlformats.org/officeDocument/2006/relationships/oleObject" Target="../embeddings/oleObject242.bin"/><Relationship Id="rId7" Type="http://schemas.openxmlformats.org/officeDocument/2006/relationships/oleObject" Target="../embeddings/oleObject2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245.bin"/><Relationship Id="rId5" Type="http://schemas.openxmlformats.org/officeDocument/2006/relationships/oleObject" Target="../embeddings/oleObject244.bin"/><Relationship Id="rId4" Type="http://schemas.openxmlformats.org/officeDocument/2006/relationships/oleObject" Target="../embeddings/oleObject243.bin"/><Relationship Id="rId9" Type="http://schemas.openxmlformats.org/officeDocument/2006/relationships/oleObject" Target="../embeddings/oleObject248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4.bin"/><Relationship Id="rId13" Type="http://schemas.openxmlformats.org/officeDocument/2006/relationships/oleObject" Target="../embeddings/oleObject259.bin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3.bin"/><Relationship Id="rId12" Type="http://schemas.openxmlformats.org/officeDocument/2006/relationships/oleObject" Target="../embeddings/oleObject258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62.bin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252.bin"/><Relationship Id="rId11" Type="http://schemas.openxmlformats.org/officeDocument/2006/relationships/oleObject" Target="../embeddings/oleObject257.bin"/><Relationship Id="rId5" Type="http://schemas.openxmlformats.org/officeDocument/2006/relationships/oleObject" Target="../embeddings/oleObject251.bin"/><Relationship Id="rId15" Type="http://schemas.openxmlformats.org/officeDocument/2006/relationships/oleObject" Target="../embeddings/oleObject261.bin"/><Relationship Id="rId10" Type="http://schemas.openxmlformats.org/officeDocument/2006/relationships/oleObject" Target="../embeddings/oleObject256.bin"/><Relationship Id="rId4" Type="http://schemas.openxmlformats.org/officeDocument/2006/relationships/oleObject" Target="../embeddings/oleObject250.bin"/><Relationship Id="rId9" Type="http://schemas.openxmlformats.org/officeDocument/2006/relationships/oleObject" Target="../embeddings/oleObject255.bin"/><Relationship Id="rId14" Type="http://schemas.openxmlformats.org/officeDocument/2006/relationships/oleObject" Target="../embeddings/oleObject260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8.bin"/><Relationship Id="rId3" Type="http://schemas.openxmlformats.org/officeDocument/2006/relationships/oleObject" Target="../embeddings/oleObject263.bin"/><Relationship Id="rId7" Type="http://schemas.openxmlformats.org/officeDocument/2006/relationships/oleObject" Target="../embeddings/oleObject2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6" Type="http://schemas.openxmlformats.org/officeDocument/2006/relationships/oleObject" Target="../embeddings/oleObject266.bin"/><Relationship Id="rId5" Type="http://schemas.openxmlformats.org/officeDocument/2006/relationships/oleObject" Target="../embeddings/oleObject265.bin"/><Relationship Id="rId10" Type="http://schemas.openxmlformats.org/officeDocument/2006/relationships/oleObject" Target="../embeddings/oleObject270.bin"/><Relationship Id="rId4" Type="http://schemas.openxmlformats.org/officeDocument/2006/relationships/oleObject" Target="../embeddings/oleObject264.bin"/><Relationship Id="rId9" Type="http://schemas.openxmlformats.org/officeDocument/2006/relationships/oleObject" Target="../embeddings/oleObject26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Single Final State for NFAs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C7168DF-997B-4E96-9544-93BE3F137CDB}" type="slidenum">
              <a:rPr lang="en-US"/>
              <a:pPr/>
              <a:t>2</a:t>
            </a:fld>
            <a:endParaRPr lang="en-US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r>
              <a:rPr lang="en-US"/>
              <a:t>Any NFA can be converted </a:t>
            </a:r>
          </a:p>
          <a:p>
            <a:endParaRPr lang="en-US"/>
          </a:p>
          <a:p>
            <a:r>
              <a:rPr lang="en-US"/>
              <a:t>to an equivalent NFA</a:t>
            </a:r>
          </a:p>
          <a:p>
            <a:endParaRPr lang="en-US"/>
          </a:p>
          <a:p>
            <a:r>
              <a:rPr lang="en-US"/>
              <a:t>with a single final 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2C72F2-B388-419F-82DC-C8CA34F392A9}" type="slidenum">
              <a:rPr lang="en-US"/>
              <a:pPr/>
              <a:t>3</a:t>
            </a:fld>
            <a:endParaRPr lang="en-US"/>
          </a:p>
        </p:txBody>
      </p:sp>
      <p:sp>
        <p:nvSpPr>
          <p:cNvPr id="189442" name="Oval 2"/>
          <p:cNvSpPr>
            <a:spLocks noChangeArrowheads="1"/>
          </p:cNvSpPr>
          <p:nvPr/>
        </p:nvSpPr>
        <p:spPr bwMode="auto">
          <a:xfrm>
            <a:off x="1447800" y="2057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43" name="Line 3"/>
          <p:cNvSpPr>
            <a:spLocks noChangeShapeType="1"/>
          </p:cNvSpPr>
          <p:nvPr/>
        </p:nvSpPr>
        <p:spPr bwMode="auto">
          <a:xfrm flipV="1">
            <a:off x="1905000" y="1752600"/>
            <a:ext cx="1219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44" name="Oval 4"/>
          <p:cNvSpPr>
            <a:spLocks noChangeArrowheads="1"/>
          </p:cNvSpPr>
          <p:nvPr/>
        </p:nvSpPr>
        <p:spPr bwMode="auto">
          <a:xfrm>
            <a:off x="3276600" y="144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45" name="Oval 5"/>
          <p:cNvSpPr>
            <a:spLocks noChangeArrowheads="1"/>
          </p:cNvSpPr>
          <p:nvPr/>
        </p:nvSpPr>
        <p:spPr bwMode="auto">
          <a:xfrm>
            <a:off x="3124200" y="1295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46" name="Oval 6"/>
          <p:cNvSpPr>
            <a:spLocks noChangeArrowheads="1"/>
          </p:cNvSpPr>
          <p:nvPr/>
        </p:nvSpPr>
        <p:spPr bwMode="auto">
          <a:xfrm>
            <a:off x="4876800" y="152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47" name="Line 7"/>
          <p:cNvSpPr>
            <a:spLocks noChangeShapeType="1"/>
          </p:cNvSpPr>
          <p:nvPr/>
        </p:nvSpPr>
        <p:spPr bwMode="auto">
          <a:xfrm>
            <a:off x="1905000" y="2514600"/>
            <a:ext cx="1219200" cy="35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48" name="Oval 8"/>
          <p:cNvSpPr>
            <a:spLocks noChangeArrowheads="1"/>
          </p:cNvSpPr>
          <p:nvPr/>
        </p:nvSpPr>
        <p:spPr bwMode="auto">
          <a:xfrm>
            <a:off x="3276600" y="2641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49" name="Oval 9"/>
          <p:cNvSpPr>
            <a:spLocks noChangeArrowheads="1"/>
          </p:cNvSpPr>
          <p:nvPr/>
        </p:nvSpPr>
        <p:spPr bwMode="auto">
          <a:xfrm>
            <a:off x="3124200" y="24892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50" name="Line 10"/>
          <p:cNvSpPr>
            <a:spLocks noChangeShapeType="1"/>
          </p:cNvSpPr>
          <p:nvPr/>
        </p:nvSpPr>
        <p:spPr bwMode="auto">
          <a:xfrm>
            <a:off x="3962400" y="1752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51" name="Line 11"/>
          <p:cNvSpPr>
            <a:spLocks noChangeShapeType="1"/>
          </p:cNvSpPr>
          <p:nvPr/>
        </p:nvSpPr>
        <p:spPr bwMode="auto">
          <a:xfrm>
            <a:off x="1066800" y="2286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9920" name="Object 0"/>
          <p:cNvGraphicFramePr>
            <a:graphicFrameLocks noChangeAspect="1"/>
          </p:cNvGraphicFramePr>
          <p:nvPr/>
        </p:nvGraphicFramePr>
        <p:xfrm>
          <a:off x="2362200" y="1600200"/>
          <a:ext cx="265113" cy="279400"/>
        </p:xfrm>
        <a:graphic>
          <a:graphicData uri="http://schemas.openxmlformats.org/presentationml/2006/ole">
            <p:oleObj spid="_x0000_s209920" name="Equation" r:id="rId3" imgW="266400" imgH="279360" progId="Equation.3">
              <p:embed/>
            </p:oleObj>
          </a:graphicData>
        </a:graphic>
      </p:graphicFrame>
      <p:graphicFrame>
        <p:nvGraphicFramePr>
          <p:cNvPr id="209921" name="Object 1"/>
          <p:cNvGraphicFramePr>
            <a:graphicFrameLocks noChangeAspect="1"/>
          </p:cNvGraphicFramePr>
          <p:nvPr/>
        </p:nvGraphicFramePr>
        <p:xfrm>
          <a:off x="2362200" y="2260600"/>
          <a:ext cx="252413" cy="392113"/>
        </p:xfrm>
        <a:graphic>
          <a:graphicData uri="http://schemas.openxmlformats.org/presentationml/2006/ole">
            <p:oleObj spid="_x0000_s209921" name="Equation" r:id="rId4" imgW="253800" imgH="393480" progId="Equation.3">
              <p:embed/>
            </p:oleObj>
          </a:graphicData>
        </a:graphic>
      </p:graphicFrame>
      <p:graphicFrame>
        <p:nvGraphicFramePr>
          <p:cNvPr id="209922" name="Object 2"/>
          <p:cNvGraphicFramePr>
            <a:graphicFrameLocks noChangeAspect="1"/>
          </p:cNvGraphicFramePr>
          <p:nvPr/>
        </p:nvGraphicFramePr>
        <p:xfrm>
          <a:off x="4267200" y="1295400"/>
          <a:ext cx="252413" cy="392113"/>
        </p:xfrm>
        <a:graphic>
          <a:graphicData uri="http://schemas.openxmlformats.org/presentationml/2006/ole">
            <p:oleObj spid="_x0000_s209922" name="Equation" r:id="rId5" imgW="253800" imgH="393480" progId="Equation.3">
              <p:embed/>
            </p:oleObj>
          </a:graphicData>
        </a:graphic>
      </p:graphicFrame>
      <p:graphicFrame>
        <p:nvGraphicFramePr>
          <p:cNvPr id="209923" name="Object 3"/>
          <p:cNvGraphicFramePr>
            <a:graphicFrameLocks noChangeAspect="1"/>
          </p:cNvGraphicFramePr>
          <p:nvPr/>
        </p:nvGraphicFramePr>
        <p:xfrm>
          <a:off x="3429000" y="736600"/>
          <a:ext cx="265113" cy="279400"/>
        </p:xfrm>
        <a:graphic>
          <a:graphicData uri="http://schemas.openxmlformats.org/presentationml/2006/ole">
            <p:oleObj spid="_x0000_s209923" name="Equation" r:id="rId6" imgW="266400" imgH="279360" progId="Equation.3">
              <p:embed/>
            </p:oleObj>
          </a:graphicData>
        </a:graphic>
      </p:graphicFrame>
      <p:sp>
        <p:nvSpPr>
          <p:cNvPr id="189456" name="Freeform 16"/>
          <p:cNvSpPr>
            <a:spLocks/>
          </p:cNvSpPr>
          <p:nvPr/>
        </p:nvSpPr>
        <p:spPr bwMode="auto">
          <a:xfrm>
            <a:off x="1308100" y="965200"/>
            <a:ext cx="4178300" cy="1066800"/>
          </a:xfrm>
          <a:custGeom>
            <a:avLst/>
            <a:gdLst/>
            <a:ahLst/>
            <a:cxnLst>
              <a:cxn ang="0">
                <a:pos x="2392" y="336"/>
              </a:cxn>
              <a:cxn ang="0">
                <a:pos x="2200" y="96"/>
              </a:cxn>
              <a:cxn ang="0">
                <a:pos x="328" y="96"/>
              </a:cxn>
              <a:cxn ang="0">
                <a:pos x="232" y="672"/>
              </a:cxn>
            </a:cxnLst>
            <a:rect l="0" t="0" r="r" b="b"/>
            <a:pathLst>
              <a:path w="2544" h="672">
                <a:moveTo>
                  <a:pt x="2392" y="336"/>
                </a:moveTo>
                <a:cubicBezTo>
                  <a:pt x="2468" y="236"/>
                  <a:pt x="2544" y="136"/>
                  <a:pt x="2200" y="96"/>
                </a:cubicBezTo>
                <a:cubicBezTo>
                  <a:pt x="1856" y="56"/>
                  <a:pt x="656" y="0"/>
                  <a:pt x="328" y="96"/>
                </a:cubicBezTo>
                <a:cubicBezTo>
                  <a:pt x="0" y="192"/>
                  <a:pt x="116" y="432"/>
                  <a:pt x="232" y="67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57" name="Text Box 17"/>
          <p:cNvSpPr txBox="1">
            <a:spLocks noChangeArrowheads="1"/>
          </p:cNvSpPr>
          <p:nvPr/>
        </p:nvSpPr>
        <p:spPr bwMode="auto">
          <a:xfrm>
            <a:off x="6400800" y="762000"/>
            <a:ext cx="10509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NFA</a:t>
            </a:r>
          </a:p>
        </p:txBody>
      </p:sp>
      <p:sp>
        <p:nvSpPr>
          <p:cNvPr id="189458" name="Text Box 18"/>
          <p:cNvSpPr txBox="1">
            <a:spLocks noChangeArrowheads="1"/>
          </p:cNvSpPr>
          <p:nvPr/>
        </p:nvSpPr>
        <p:spPr bwMode="auto">
          <a:xfrm>
            <a:off x="5562600" y="3810000"/>
            <a:ext cx="31083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Equivalent NFA</a:t>
            </a:r>
          </a:p>
        </p:txBody>
      </p:sp>
      <p:sp>
        <p:nvSpPr>
          <p:cNvPr id="189459" name="Oval 19"/>
          <p:cNvSpPr>
            <a:spLocks noChangeArrowheads="1"/>
          </p:cNvSpPr>
          <p:nvPr/>
        </p:nvSpPr>
        <p:spPr bwMode="auto">
          <a:xfrm>
            <a:off x="6477000" y="5791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60" name="Oval 20"/>
          <p:cNvSpPr>
            <a:spLocks noChangeArrowheads="1"/>
          </p:cNvSpPr>
          <p:nvPr/>
        </p:nvSpPr>
        <p:spPr bwMode="auto">
          <a:xfrm>
            <a:off x="6324600" y="56388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61" name="Line 21"/>
          <p:cNvSpPr>
            <a:spLocks noChangeShapeType="1"/>
          </p:cNvSpPr>
          <p:nvPr/>
        </p:nvSpPr>
        <p:spPr bwMode="auto">
          <a:xfrm flipV="1">
            <a:off x="3810000" y="62484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9924" name="Object 4"/>
          <p:cNvGraphicFramePr>
            <a:graphicFrameLocks noChangeAspect="1"/>
          </p:cNvGraphicFramePr>
          <p:nvPr/>
        </p:nvGraphicFramePr>
        <p:xfrm>
          <a:off x="4114800" y="5867400"/>
          <a:ext cx="303213" cy="381000"/>
        </p:xfrm>
        <a:graphic>
          <a:graphicData uri="http://schemas.openxmlformats.org/presentationml/2006/ole">
            <p:oleObj spid="_x0000_s209924" name="Equation" r:id="rId7" imgW="304560" imgH="380880" progId="Equation.3">
              <p:embed/>
            </p:oleObj>
          </a:graphicData>
        </a:graphic>
      </p:graphicFrame>
      <p:sp>
        <p:nvSpPr>
          <p:cNvPr id="189463" name="Freeform 23"/>
          <p:cNvSpPr>
            <a:spLocks/>
          </p:cNvSpPr>
          <p:nvPr/>
        </p:nvSpPr>
        <p:spPr bwMode="auto">
          <a:xfrm>
            <a:off x="3733800" y="5181600"/>
            <a:ext cx="2590800" cy="762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0" y="336"/>
              </a:cxn>
              <a:cxn ang="0">
                <a:pos x="1632" y="432"/>
              </a:cxn>
            </a:cxnLst>
            <a:rect l="0" t="0" r="r" b="b"/>
            <a:pathLst>
              <a:path w="1632" h="432">
                <a:moveTo>
                  <a:pt x="0" y="0"/>
                </a:moveTo>
                <a:cubicBezTo>
                  <a:pt x="224" y="132"/>
                  <a:pt x="448" y="264"/>
                  <a:pt x="720" y="336"/>
                </a:cubicBezTo>
                <a:cubicBezTo>
                  <a:pt x="992" y="408"/>
                  <a:pt x="1312" y="420"/>
                  <a:pt x="1632" y="4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9925" name="Object 5"/>
          <p:cNvGraphicFramePr>
            <a:graphicFrameLocks noChangeAspect="1"/>
          </p:cNvGraphicFramePr>
          <p:nvPr/>
        </p:nvGraphicFramePr>
        <p:xfrm>
          <a:off x="5257800" y="5486400"/>
          <a:ext cx="303213" cy="381000"/>
        </p:xfrm>
        <a:graphic>
          <a:graphicData uri="http://schemas.openxmlformats.org/presentationml/2006/ole">
            <p:oleObj spid="_x0000_s209925" name="Equation" r:id="rId8" imgW="304560" imgH="380880" progId="Equation.3">
              <p:embed/>
            </p:oleObj>
          </a:graphicData>
        </a:graphic>
      </p:graphicFrame>
      <p:sp>
        <p:nvSpPr>
          <p:cNvPr id="189465" name="Oval 25"/>
          <p:cNvSpPr>
            <a:spLocks noChangeArrowheads="1"/>
          </p:cNvSpPr>
          <p:nvPr/>
        </p:nvSpPr>
        <p:spPr bwMode="auto">
          <a:xfrm>
            <a:off x="1447800" y="5359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66" name="Line 26"/>
          <p:cNvSpPr>
            <a:spLocks noChangeShapeType="1"/>
          </p:cNvSpPr>
          <p:nvPr/>
        </p:nvSpPr>
        <p:spPr bwMode="auto">
          <a:xfrm flipV="1">
            <a:off x="1905000" y="5029200"/>
            <a:ext cx="1371600" cy="40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67" name="Oval 27"/>
          <p:cNvSpPr>
            <a:spLocks noChangeArrowheads="1"/>
          </p:cNvSpPr>
          <p:nvPr/>
        </p:nvSpPr>
        <p:spPr bwMode="auto">
          <a:xfrm>
            <a:off x="3276600" y="4749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69" name="Oval 29"/>
          <p:cNvSpPr>
            <a:spLocks noChangeArrowheads="1"/>
          </p:cNvSpPr>
          <p:nvPr/>
        </p:nvSpPr>
        <p:spPr bwMode="auto">
          <a:xfrm>
            <a:off x="4876800" y="4826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70" name="Line 30"/>
          <p:cNvSpPr>
            <a:spLocks noChangeShapeType="1"/>
          </p:cNvSpPr>
          <p:nvPr/>
        </p:nvSpPr>
        <p:spPr bwMode="auto">
          <a:xfrm>
            <a:off x="1905000" y="5816600"/>
            <a:ext cx="13716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71" name="Oval 31"/>
          <p:cNvSpPr>
            <a:spLocks noChangeArrowheads="1"/>
          </p:cNvSpPr>
          <p:nvPr/>
        </p:nvSpPr>
        <p:spPr bwMode="auto">
          <a:xfrm>
            <a:off x="3276600" y="5943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73" name="Line 33"/>
          <p:cNvSpPr>
            <a:spLocks noChangeShapeType="1"/>
          </p:cNvSpPr>
          <p:nvPr/>
        </p:nvSpPr>
        <p:spPr bwMode="auto">
          <a:xfrm>
            <a:off x="3810000" y="5029200"/>
            <a:ext cx="1066800" cy="2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74" name="Line 34"/>
          <p:cNvSpPr>
            <a:spLocks noChangeShapeType="1"/>
          </p:cNvSpPr>
          <p:nvPr/>
        </p:nvSpPr>
        <p:spPr bwMode="auto">
          <a:xfrm>
            <a:off x="1066800" y="5588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9926" name="Object 6"/>
          <p:cNvGraphicFramePr>
            <a:graphicFrameLocks noChangeAspect="1"/>
          </p:cNvGraphicFramePr>
          <p:nvPr/>
        </p:nvGraphicFramePr>
        <p:xfrm>
          <a:off x="2362200" y="4902200"/>
          <a:ext cx="265113" cy="279400"/>
        </p:xfrm>
        <a:graphic>
          <a:graphicData uri="http://schemas.openxmlformats.org/presentationml/2006/ole">
            <p:oleObj spid="_x0000_s209926" name="Equation" r:id="rId9" imgW="266400" imgH="279360" progId="Equation.3">
              <p:embed/>
            </p:oleObj>
          </a:graphicData>
        </a:graphic>
      </p:graphicFrame>
      <p:graphicFrame>
        <p:nvGraphicFramePr>
          <p:cNvPr id="209927" name="Object 7"/>
          <p:cNvGraphicFramePr>
            <a:graphicFrameLocks noChangeAspect="1"/>
          </p:cNvGraphicFramePr>
          <p:nvPr/>
        </p:nvGraphicFramePr>
        <p:xfrm>
          <a:off x="2362200" y="5562600"/>
          <a:ext cx="252413" cy="392113"/>
        </p:xfrm>
        <a:graphic>
          <a:graphicData uri="http://schemas.openxmlformats.org/presentationml/2006/ole">
            <p:oleObj spid="_x0000_s209927" name="Equation" r:id="rId10" imgW="253800" imgH="393480" progId="Equation.3">
              <p:embed/>
            </p:oleObj>
          </a:graphicData>
        </a:graphic>
      </p:graphicFrame>
      <p:graphicFrame>
        <p:nvGraphicFramePr>
          <p:cNvPr id="209928" name="Object 8"/>
          <p:cNvGraphicFramePr>
            <a:graphicFrameLocks noChangeAspect="1"/>
          </p:cNvGraphicFramePr>
          <p:nvPr/>
        </p:nvGraphicFramePr>
        <p:xfrm>
          <a:off x="4267200" y="4597400"/>
          <a:ext cx="252413" cy="392113"/>
        </p:xfrm>
        <a:graphic>
          <a:graphicData uri="http://schemas.openxmlformats.org/presentationml/2006/ole">
            <p:oleObj spid="_x0000_s209928" name="Equation" r:id="rId11" imgW="253800" imgH="393480" progId="Equation.3">
              <p:embed/>
            </p:oleObj>
          </a:graphicData>
        </a:graphic>
      </p:graphicFrame>
      <p:graphicFrame>
        <p:nvGraphicFramePr>
          <p:cNvPr id="209929" name="Object 9"/>
          <p:cNvGraphicFramePr>
            <a:graphicFrameLocks noChangeAspect="1"/>
          </p:cNvGraphicFramePr>
          <p:nvPr/>
        </p:nvGraphicFramePr>
        <p:xfrm>
          <a:off x="3429000" y="4038600"/>
          <a:ext cx="265113" cy="279400"/>
        </p:xfrm>
        <a:graphic>
          <a:graphicData uri="http://schemas.openxmlformats.org/presentationml/2006/ole">
            <p:oleObj spid="_x0000_s209929" name="Equation" r:id="rId12" imgW="266400" imgH="279360" progId="Equation.3">
              <p:embed/>
            </p:oleObj>
          </a:graphicData>
        </a:graphic>
      </p:graphicFrame>
      <p:sp>
        <p:nvSpPr>
          <p:cNvPr id="189479" name="Freeform 39"/>
          <p:cNvSpPr>
            <a:spLocks/>
          </p:cNvSpPr>
          <p:nvPr/>
        </p:nvSpPr>
        <p:spPr bwMode="auto">
          <a:xfrm>
            <a:off x="1308100" y="4267200"/>
            <a:ext cx="4178300" cy="1066800"/>
          </a:xfrm>
          <a:custGeom>
            <a:avLst/>
            <a:gdLst/>
            <a:ahLst/>
            <a:cxnLst>
              <a:cxn ang="0">
                <a:pos x="2392" y="336"/>
              </a:cxn>
              <a:cxn ang="0">
                <a:pos x="2200" y="96"/>
              </a:cxn>
              <a:cxn ang="0">
                <a:pos x="328" y="96"/>
              </a:cxn>
              <a:cxn ang="0">
                <a:pos x="232" y="672"/>
              </a:cxn>
            </a:cxnLst>
            <a:rect l="0" t="0" r="r" b="b"/>
            <a:pathLst>
              <a:path w="2544" h="672">
                <a:moveTo>
                  <a:pt x="2392" y="336"/>
                </a:moveTo>
                <a:cubicBezTo>
                  <a:pt x="2468" y="236"/>
                  <a:pt x="2544" y="136"/>
                  <a:pt x="2200" y="96"/>
                </a:cubicBezTo>
                <a:cubicBezTo>
                  <a:pt x="1856" y="56"/>
                  <a:pt x="656" y="0"/>
                  <a:pt x="328" y="96"/>
                </a:cubicBezTo>
                <a:cubicBezTo>
                  <a:pt x="0" y="192"/>
                  <a:pt x="116" y="432"/>
                  <a:pt x="232" y="67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9480" name="Rectangle 40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DDD4AD-A274-4519-8A31-93BE759FE8EA}" type="slidenum">
              <a:rPr lang="en-US"/>
              <a:pPr/>
              <a:t>4</a:t>
            </a:fld>
            <a:endParaRPr lang="en-US"/>
          </a:p>
        </p:txBody>
      </p:sp>
      <p:sp>
        <p:nvSpPr>
          <p:cNvPr id="190466" name="Text Box 2"/>
          <p:cNvSpPr txBox="1">
            <a:spLocks noChangeArrowheads="1"/>
          </p:cNvSpPr>
          <p:nvPr/>
        </p:nvSpPr>
        <p:spPr bwMode="auto">
          <a:xfrm>
            <a:off x="1066800" y="609600"/>
            <a:ext cx="10509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NFA</a:t>
            </a:r>
          </a:p>
        </p:txBody>
      </p:sp>
      <p:sp>
        <p:nvSpPr>
          <p:cNvPr id="190477" name="Rectangle 13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In General</a:t>
            </a:r>
          </a:p>
        </p:txBody>
      </p:sp>
      <p:sp>
        <p:nvSpPr>
          <p:cNvPr id="190478" name="Rectangle 14"/>
          <p:cNvSpPr>
            <a:spLocks noChangeArrowheads="1"/>
          </p:cNvSpPr>
          <p:nvPr/>
        </p:nvSpPr>
        <p:spPr bwMode="auto">
          <a:xfrm>
            <a:off x="990600" y="1219200"/>
            <a:ext cx="3886200" cy="2209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79" name="Oval 15"/>
          <p:cNvSpPr>
            <a:spLocks noChangeArrowheads="1"/>
          </p:cNvSpPr>
          <p:nvPr/>
        </p:nvSpPr>
        <p:spPr bwMode="auto">
          <a:xfrm>
            <a:off x="1295400" y="2133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80" name="Oval 16"/>
          <p:cNvSpPr>
            <a:spLocks noChangeArrowheads="1"/>
          </p:cNvSpPr>
          <p:nvPr/>
        </p:nvSpPr>
        <p:spPr bwMode="auto">
          <a:xfrm>
            <a:off x="4038600" y="1371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81" name="Oval 17"/>
          <p:cNvSpPr>
            <a:spLocks noChangeArrowheads="1"/>
          </p:cNvSpPr>
          <p:nvPr/>
        </p:nvSpPr>
        <p:spPr bwMode="auto">
          <a:xfrm>
            <a:off x="4038600" y="2133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82" name="Oval 18"/>
          <p:cNvSpPr>
            <a:spLocks noChangeArrowheads="1"/>
          </p:cNvSpPr>
          <p:nvPr/>
        </p:nvSpPr>
        <p:spPr bwMode="auto">
          <a:xfrm>
            <a:off x="4038600" y="2895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83" name="Oval 19"/>
          <p:cNvSpPr>
            <a:spLocks noChangeArrowheads="1"/>
          </p:cNvSpPr>
          <p:nvPr/>
        </p:nvSpPr>
        <p:spPr bwMode="auto">
          <a:xfrm>
            <a:off x="3962400" y="129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84" name="Oval 20"/>
          <p:cNvSpPr>
            <a:spLocks noChangeArrowheads="1"/>
          </p:cNvSpPr>
          <p:nvPr/>
        </p:nvSpPr>
        <p:spPr bwMode="auto">
          <a:xfrm>
            <a:off x="3962400" y="2057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85" name="Oval 21"/>
          <p:cNvSpPr>
            <a:spLocks noChangeArrowheads="1"/>
          </p:cNvSpPr>
          <p:nvPr/>
        </p:nvSpPr>
        <p:spPr bwMode="auto">
          <a:xfrm>
            <a:off x="3962400" y="2819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86" name="Line 22"/>
          <p:cNvSpPr>
            <a:spLocks noChangeShapeType="1"/>
          </p:cNvSpPr>
          <p:nvPr/>
        </p:nvSpPr>
        <p:spPr bwMode="auto">
          <a:xfrm>
            <a:off x="381000" y="2362200"/>
            <a:ext cx="914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87" name="Freeform 23"/>
          <p:cNvSpPr>
            <a:spLocks/>
          </p:cNvSpPr>
          <p:nvPr/>
        </p:nvSpPr>
        <p:spPr bwMode="auto">
          <a:xfrm>
            <a:off x="1600200" y="1358900"/>
            <a:ext cx="2362200" cy="774700"/>
          </a:xfrm>
          <a:custGeom>
            <a:avLst/>
            <a:gdLst/>
            <a:ahLst/>
            <a:cxnLst>
              <a:cxn ang="0">
                <a:pos x="0" y="488"/>
              </a:cxn>
              <a:cxn ang="0">
                <a:pos x="144" y="296"/>
              </a:cxn>
              <a:cxn ang="0">
                <a:pos x="288" y="392"/>
              </a:cxn>
              <a:cxn ang="0">
                <a:pos x="432" y="248"/>
              </a:cxn>
              <a:cxn ang="0">
                <a:pos x="672" y="344"/>
              </a:cxn>
              <a:cxn ang="0">
                <a:pos x="720" y="56"/>
              </a:cxn>
              <a:cxn ang="0">
                <a:pos x="864" y="200"/>
              </a:cxn>
              <a:cxn ang="0">
                <a:pos x="1008" y="56"/>
              </a:cxn>
              <a:cxn ang="0">
                <a:pos x="1248" y="152"/>
              </a:cxn>
              <a:cxn ang="0">
                <a:pos x="1392" y="8"/>
              </a:cxn>
              <a:cxn ang="0">
                <a:pos x="1488" y="104"/>
              </a:cxn>
            </a:cxnLst>
            <a:rect l="0" t="0" r="r" b="b"/>
            <a:pathLst>
              <a:path w="1488" h="488">
                <a:moveTo>
                  <a:pt x="0" y="488"/>
                </a:moveTo>
                <a:cubicBezTo>
                  <a:pt x="48" y="400"/>
                  <a:pt x="96" y="312"/>
                  <a:pt x="144" y="296"/>
                </a:cubicBezTo>
                <a:cubicBezTo>
                  <a:pt x="192" y="280"/>
                  <a:pt x="240" y="400"/>
                  <a:pt x="288" y="392"/>
                </a:cubicBezTo>
                <a:cubicBezTo>
                  <a:pt x="336" y="384"/>
                  <a:pt x="368" y="256"/>
                  <a:pt x="432" y="248"/>
                </a:cubicBezTo>
                <a:cubicBezTo>
                  <a:pt x="496" y="240"/>
                  <a:pt x="624" y="376"/>
                  <a:pt x="672" y="344"/>
                </a:cubicBezTo>
                <a:cubicBezTo>
                  <a:pt x="720" y="312"/>
                  <a:pt x="688" y="80"/>
                  <a:pt x="720" y="56"/>
                </a:cubicBezTo>
                <a:cubicBezTo>
                  <a:pt x="752" y="32"/>
                  <a:pt x="816" y="200"/>
                  <a:pt x="864" y="200"/>
                </a:cubicBezTo>
                <a:cubicBezTo>
                  <a:pt x="912" y="200"/>
                  <a:pt x="944" y="64"/>
                  <a:pt x="1008" y="56"/>
                </a:cubicBezTo>
                <a:cubicBezTo>
                  <a:pt x="1072" y="48"/>
                  <a:pt x="1184" y="160"/>
                  <a:pt x="1248" y="152"/>
                </a:cubicBezTo>
                <a:cubicBezTo>
                  <a:pt x="1312" y="144"/>
                  <a:pt x="1352" y="16"/>
                  <a:pt x="1392" y="8"/>
                </a:cubicBezTo>
                <a:cubicBezTo>
                  <a:pt x="1432" y="0"/>
                  <a:pt x="1460" y="52"/>
                  <a:pt x="1488" y="10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88" name="Freeform 24"/>
          <p:cNvSpPr>
            <a:spLocks/>
          </p:cNvSpPr>
          <p:nvPr/>
        </p:nvSpPr>
        <p:spPr bwMode="auto">
          <a:xfrm>
            <a:off x="1676400" y="2120900"/>
            <a:ext cx="2286000" cy="495300"/>
          </a:xfrm>
          <a:custGeom>
            <a:avLst/>
            <a:gdLst/>
            <a:ahLst/>
            <a:cxnLst>
              <a:cxn ang="0">
                <a:pos x="0" y="152"/>
              </a:cxn>
              <a:cxn ang="0">
                <a:pos x="96" y="296"/>
              </a:cxn>
              <a:cxn ang="0">
                <a:pos x="240" y="56"/>
              </a:cxn>
              <a:cxn ang="0">
                <a:pos x="336" y="200"/>
              </a:cxn>
              <a:cxn ang="0">
                <a:pos x="576" y="8"/>
              </a:cxn>
              <a:cxn ang="0">
                <a:pos x="672" y="200"/>
              </a:cxn>
              <a:cxn ang="0">
                <a:pos x="864" y="8"/>
              </a:cxn>
              <a:cxn ang="0">
                <a:pos x="1056" y="152"/>
              </a:cxn>
              <a:cxn ang="0">
                <a:pos x="1200" y="8"/>
              </a:cxn>
              <a:cxn ang="0">
                <a:pos x="1296" y="200"/>
              </a:cxn>
              <a:cxn ang="0">
                <a:pos x="1440" y="104"/>
              </a:cxn>
            </a:cxnLst>
            <a:rect l="0" t="0" r="r" b="b"/>
            <a:pathLst>
              <a:path w="1440" h="312">
                <a:moveTo>
                  <a:pt x="0" y="152"/>
                </a:moveTo>
                <a:cubicBezTo>
                  <a:pt x="28" y="232"/>
                  <a:pt x="56" y="312"/>
                  <a:pt x="96" y="296"/>
                </a:cubicBezTo>
                <a:cubicBezTo>
                  <a:pt x="136" y="280"/>
                  <a:pt x="200" y="72"/>
                  <a:pt x="240" y="56"/>
                </a:cubicBezTo>
                <a:cubicBezTo>
                  <a:pt x="280" y="40"/>
                  <a:pt x="280" y="208"/>
                  <a:pt x="336" y="200"/>
                </a:cubicBezTo>
                <a:cubicBezTo>
                  <a:pt x="392" y="192"/>
                  <a:pt x="520" y="8"/>
                  <a:pt x="576" y="8"/>
                </a:cubicBezTo>
                <a:cubicBezTo>
                  <a:pt x="632" y="8"/>
                  <a:pt x="624" y="200"/>
                  <a:pt x="672" y="200"/>
                </a:cubicBezTo>
                <a:cubicBezTo>
                  <a:pt x="720" y="200"/>
                  <a:pt x="800" y="16"/>
                  <a:pt x="864" y="8"/>
                </a:cubicBezTo>
                <a:cubicBezTo>
                  <a:pt x="928" y="0"/>
                  <a:pt x="1000" y="152"/>
                  <a:pt x="1056" y="152"/>
                </a:cubicBezTo>
                <a:cubicBezTo>
                  <a:pt x="1112" y="152"/>
                  <a:pt x="1160" y="0"/>
                  <a:pt x="1200" y="8"/>
                </a:cubicBezTo>
                <a:cubicBezTo>
                  <a:pt x="1240" y="16"/>
                  <a:pt x="1256" y="184"/>
                  <a:pt x="1296" y="200"/>
                </a:cubicBezTo>
                <a:cubicBezTo>
                  <a:pt x="1336" y="216"/>
                  <a:pt x="1424" y="120"/>
                  <a:pt x="1440" y="10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89" name="Freeform 25"/>
          <p:cNvSpPr>
            <a:spLocks/>
          </p:cNvSpPr>
          <p:nvPr/>
        </p:nvSpPr>
        <p:spPr bwMode="auto">
          <a:xfrm>
            <a:off x="1524000" y="2514600"/>
            <a:ext cx="2438400" cy="711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2" y="192"/>
              </a:cxn>
              <a:cxn ang="0">
                <a:pos x="240" y="336"/>
              </a:cxn>
              <a:cxn ang="0">
                <a:pos x="432" y="192"/>
              </a:cxn>
              <a:cxn ang="0">
                <a:pos x="528" y="336"/>
              </a:cxn>
              <a:cxn ang="0">
                <a:pos x="720" y="192"/>
              </a:cxn>
              <a:cxn ang="0">
                <a:pos x="768" y="432"/>
              </a:cxn>
              <a:cxn ang="0">
                <a:pos x="960" y="288"/>
              </a:cxn>
              <a:cxn ang="0">
                <a:pos x="1152" y="432"/>
              </a:cxn>
              <a:cxn ang="0">
                <a:pos x="1296" y="288"/>
              </a:cxn>
              <a:cxn ang="0">
                <a:pos x="1440" y="432"/>
              </a:cxn>
              <a:cxn ang="0">
                <a:pos x="1536" y="384"/>
              </a:cxn>
            </a:cxnLst>
            <a:rect l="0" t="0" r="r" b="b"/>
            <a:pathLst>
              <a:path w="1536" h="448">
                <a:moveTo>
                  <a:pt x="0" y="0"/>
                </a:moveTo>
                <a:cubicBezTo>
                  <a:pt x="76" y="68"/>
                  <a:pt x="152" y="136"/>
                  <a:pt x="192" y="192"/>
                </a:cubicBezTo>
                <a:cubicBezTo>
                  <a:pt x="232" y="248"/>
                  <a:pt x="200" y="336"/>
                  <a:pt x="240" y="336"/>
                </a:cubicBezTo>
                <a:cubicBezTo>
                  <a:pt x="280" y="336"/>
                  <a:pt x="384" y="192"/>
                  <a:pt x="432" y="192"/>
                </a:cubicBezTo>
                <a:cubicBezTo>
                  <a:pt x="480" y="192"/>
                  <a:pt x="480" y="336"/>
                  <a:pt x="528" y="336"/>
                </a:cubicBezTo>
                <a:cubicBezTo>
                  <a:pt x="576" y="336"/>
                  <a:pt x="680" y="176"/>
                  <a:pt x="720" y="192"/>
                </a:cubicBezTo>
                <a:cubicBezTo>
                  <a:pt x="760" y="208"/>
                  <a:pt x="728" y="416"/>
                  <a:pt x="768" y="432"/>
                </a:cubicBezTo>
                <a:cubicBezTo>
                  <a:pt x="808" y="448"/>
                  <a:pt x="896" y="288"/>
                  <a:pt x="960" y="288"/>
                </a:cubicBezTo>
                <a:cubicBezTo>
                  <a:pt x="1024" y="288"/>
                  <a:pt x="1096" y="432"/>
                  <a:pt x="1152" y="432"/>
                </a:cubicBezTo>
                <a:cubicBezTo>
                  <a:pt x="1208" y="432"/>
                  <a:pt x="1248" y="288"/>
                  <a:pt x="1296" y="288"/>
                </a:cubicBezTo>
                <a:cubicBezTo>
                  <a:pt x="1344" y="288"/>
                  <a:pt x="1400" y="416"/>
                  <a:pt x="1440" y="432"/>
                </a:cubicBezTo>
                <a:cubicBezTo>
                  <a:pt x="1480" y="448"/>
                  <a:pt x="1508" y="416"/>
                  <a:pt x="1536" y="3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67" name="Text Box 3"/>
          <p:cNvSpPr txBox="1">
            <a:spLocks noChangeArrowheads="1"/>
          </p:cNvSpPr>
          <p:nvPr/>
        </p:nvSpPr>
        <p:spPr bwMode="auto">
          <a:xfrm>
            <a:off x="914400" y="3733800"/>
            <a:ext cx="31083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Equivalent NFA</a:t>
            </a:r>
          </a:p>
        </p:txBody>
      </p:sp>
      <p:sp>
        <p:nvSpPr>
          <p:cNvPr id="190468" name="Oval 4"/>
          <p:cNvSpPr>
            <a:spLocks noChangeArrowheads="1"/>
          </p:cNvSpPr>
          <p:nvPr/>
        </p:nvSpPr>
        <p:spPr bwMode="auto">
          <a:xfrm>
            <a:off x="5943600" y="5257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69" name="Oval 5"/>
          <p:cNvSpPr>
            <a:spLocks noChangeArrowheads="1"/>
          </p:cNvSpPr>
          <p:nvPr/>
        </p:nvSpPr>
        <p:spPr bwMode="auto">
          <a:xfrm>
            <a:off x="5867400" y="5181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70" name="Line 6"/>
          <p:cNvSpPr>
            <a:spLocks noChangeShapeType="1"/>
          </p:cNvSpPr>
          <p:nvPr/>
        </p:nvSpPr>
        <p:spPr bwMode="auto">
          <a:xfrm>
            <a:off x="4419600" y="4648200"/>
            <a:ext cx="1524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71" name="Line 7"/>
          <p:cNvSpPr>
            <a:spLocks noChangeShapeType="1"/>
          </p:cNvSpPr>
          <p:nvPr/>
        </p:nvSpPr>
        <p:spPr bwMode="auto">
          <a:xfrm flipV="1">
            <a:off x="4419600" y="5486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72" name="Line 8"/>
          <p:cNvSpPr>
            <a:spLocks noChangeShapeType="1"/>
          </p:cNvSpPr>
          <p:nvPr/>
        </p:nvSpPr>
        <p:spPr bwMode="auto">
          <a:xfrm flipV="1">
            <a:off x="4419600" y="5638800"/>
            <a:ext cx="1524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73" name="Text Box 9"/>
          <p:cNvSpPr txBox="1">
            <a:spLocks noChangeArrowheads="1"/>
          </p:cNvSpPr>
          <p:nvPr/>
        </p:nvSpPr>
        <p:spPr bwMode="auto">
          <a:xfrm>
            <a:off x="6781800" y="4953000"/>
            <a:ext cx="2171700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Single</a:t>
            </a:r>
          </a:p>
          <a:p>
            <a:r>
              <a:rPr lang="en-US"/>
              <a:t>final state</a:t>
            </a:r>
          </a:p>
        </p:txBody>
      </p:sp>
      <p:graphicFrame>
        <p:nvGraphicFramePr>
          <p:cNvPr id="190474" name="Object 10"/>
          <p:cNvGraphicFramePr>
            <a:graphicFrameLocks noChangeAspect="1"/>
          </p:cNvGraphicFramePr>
          <p:nvPr/>
        </p:nvGraphicFramePr>
        <p:xfrm>
          <a:off x="5105400" y="4572000"/>
          <a:ext cx="303213" cy="381000"/>
        </p:xfrm>
        <a:graphic>
          <a:graphicData uri="http://schemas.openxmlformats.org/presentationml/2006/ole">
            <p:oleObj spid="_x0000_s190474" name="Equation" r:id="rId3" imgW="304560" imgH="380880" progId="Equation.3">
              <p:embed/>
            </p:oleObj>
          </a:graphicData>
        </a:graphic>
      </p:graphicFrame>
      <p:graphicFrame>
        <p:nvGraphicFramePr>
          <p:cNvPr id="190475" name="Object 11"/>
          <p:cNvGraphicFramePr>
            <a:graphicFrameLocks noChangeAspect="1"/>
          </p:cNvGraphicFramePr>
          <p:nvPr/>
        </p:nvGraphicFramePr>
        <p:xfrm>
          <a:off x="4953000" y="5105400"/>
          <a:ext cx="303213" cy="381000"/>
        </p:xfrm>
        <a:graphic>
          <a:graphicData uri="http://schemas.openxmlformats.org/presentationml/2006/ole">
            <p:oleObj spid="_x0000_s190475" name="Equation" r:id="rId4" imgW="304560" imgH="380880" progId="Equation.3">
              <p:embed/>
            </p:oleObj>
          </a:graphicData>
        </a:graphic>
      </p:graphicFrame>
      <p:graphicFrame>
        <p:nvGraphicFramePr>
          <p:cNvPr id="190476" name="Object 12"/>
          <p:cNvGraphicFramePr>
            <a:graphicFrameLocks noChangeAspect="1"/>
          </p:cNvGraphicFramePr>
          <p:nvPr/>
        </p:nvGraphicFramePr>
        <p:xfrm>
          <a:off x="5029200" y="5562600"/>
          <a:ext cx="303213" cy="381000"/>
        </p:xfrm>
        <a:graphic>
          <a:graphicData uri="http://schemas.openxmlformats.org/presentationml/2006/ole">
            <p:oleObj spid="_x0000_s190476" name="Equation" r:id="rId5" imgW="304560" imgH="380880" progId="Equation.3">
              <p:embed/>
            </p:oleObj>
          </a:graphicData>
        </a:graphic>
      </p:graphicFrame>
      <p:sp>
        <p:nvSpPr>
          <p:cNvPr id="190490" name="Rectangle 26"/>
          <p:cNvSpPr>
            <a:spLocks noChangeArrowheads="1"/>
          </p:cNvSpPr>
          <p:nvPr/>
        </p:nvSpPr>
        <p:spPr bwMode="auto">
          <a:xfrm>
            <a:off x="990600" y="4343400"/>
            <a:ext cx="3886200" cy="2209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91" name="Oval 27"/>
          <p:cNvSpPr>
            <a:spLocks noChangeArrowheads="1"/>
          </p:cNvSpPr>
          <p:nvPr/>
        </p:nvSpPr>
        <p:spPr bwMode="auto">
          <a:xfrm>
            <a:off x="1295400" y="5257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92" name="Oval 28"/>
          <p:cNvSpPr>
            <a:spLocks noChangeArrowheads="1"/>
          </p:cNvSpPr>
          <p:nvPr/>
        </p:nvSpPr>
        <p:spPr bwMode="auto">
          <a:xfrm>
            <a:off x="4038600" y="4495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93" name="Oval 29"/>
          <p:cNvSpPr>
            <a:spLocks noChangeArrowheads="1"/>
          </p:cNvSpPr>
          <p:nvPr/>
        </p:nvSpPr>
        <p:spPr bwMode="auto">
          <a:xfrm>
            <a:off x="4038600" y="5257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94" name="Oval 30"/>
          <p:cNvSpPr>
            <a:spLocks noChangeArrowheads="1"/>
          </p:cNvSpPr>
          <p:nvPr/>
        </p:nvSpPr>
        <p:spPr bwMode="auto">
          <a:xfrm>
            <a:off x="4038600" y="6019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98" name="Line 34"/>
          <p:cNvSpPr>
            <a:spLocks noChangeShapeType="1"/>
          </p:cNvSpPr>
          <p:nvPr/>
        </p:nvSpPr>
        <p:spPr bwMode="auto">
          <a:xfrm>
            <a:off x="381000" y="5486400"/>
            <a:ext cx="914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99" name="Freeform 35"/>
          <p:cNvSpPr>
            <a:spLocks/>
          </p:cNvSpPr>
          <p:nvPr/>
        </p:nvSpPr>
        <p:spPr bwMode="auto">
          <a:xfrm>
            <a:off x="1600200" y="4483100"/>
            <a:ext cx="2438400" cy="774700"/>
          </a:xfrm>
          <a:custGeom>
            <a:avLst/>
            <a:gdLst/>
            <a:ahLst/>
            <a:cxnLst>
              <a:cxn ang="0">
                <a:pos x="0" y="488"/>
              </a:cxn>
              <a:cxn ang="0">
                <a:pos x="144" y="296"/>
              </a:cxn>
              <a:cxn ang="0">
                <a:pos x="288" y="392"/>
              </a:cxn>
              <a:cxn ang="0">
                <a:pos x="432" y="248"/>
              </a:cxn>
              <a:cxn ang="0">
                <a:pos x="672" y="344"/>
              </a:cxn>
              <a:cxn ang="0">
                <a:pos x="720" y="56"/>
              </a:cxn>
              <a:cxn ang="0">
                <a:pos x="864" y="200"/>
              </a:cxn>
              <a:cxn ang="0">
                <a:pos x="1008" y="56"/>
              </a:cxn>
              <a:cxn ang="0">
                <a:pos x="1248" y="152"/>
              </a:cxn>
              <a:cxn ang="0">
                <a:pos x="1392" y="8"/>
              </a:cxn>
              <a:cxn ang="0">
                <a:pos x="1488" y="104"/>
              </a:cxn>
            </a:cxnLst>
            <a:rect l="0" t="0" r="r" b="b"/>
            <a:pathLst>
              <a:path w="1488" h="488">
                <a:moveTo>
                  <a:pt x="0" y="488"/>
                </a:moveTo>
                <a:cubicBezTo>
                  <a:pt x="48" y="400"/>
                  <a:pt x="96" y="312"/>
                  <a:pt x="144" y="296"/>
                </a:cubicBezTo>
                <a:cubicBezTo>
                  <a:pt x="192" y="280"/>
                  <a:pt x="240" y="400"/>
                  <a:pt x="288" y="392"/>
                </a:cubicBezTo>
                <a:cubicBezTo>
                  <a:pt x="336" y="384"/>
                  <a:pt x="368" y="256"/>
                  <a:pt x="432" y="248"/>
                </a:cubicBezTo>
                <a:cubicBezTo>
                  <a:pt x="496" y="240"/>
                  <a:pt x="624" y="376"/>
                  <a:pt x="672" y="344"/>
                </a:cubicBezTo>
                <a:cubicBezTo>
                  <a:pt x="720" y="312"/>
                  <a:pt x="688" y="80"/>
                  <a:pt x="720" y="56"/>
                </a:cubicBezTo>
                <a:cubicBezTo>
                  <a:pt x="752" y="32"/>
                  <a:pt x="816" y="200"/>
                  <a:pt x="864" y="200"/>
                </a:cubicBezTo>
                <a:cubicBezTo>
                  <a:pt x="912" y="200"/>
                  <a:pt x="944" y="64"/>
                  <a:pt x="1008" y="56"/>
                </a:cubicBezTo>
                <a:cubicBezTo>
                  <a:pt x="1072" y="48"/>
                  <a:pt x="1184" y="160"/>
                  <a:pt x="1248" y="152"/>
                </a:cubicBezTo>
                <a:cubicBezTo>
                  <a:pt x="1312" y="144"/>
                  <a:pt x="1352" y="16"/>
                  <a:pt x="1392" y="8"/>
                </a:cubicBezTo>
                <a:cubicBezTo>
                  <a:pt x="1432" y="0"/>
                  <a:pt x="1460" y="52"/>
                  <a:pt x="1488" y="10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500" name="Freeform 36"/>
          <p:cNvSpPr>
            <a:spLocks/>
          </p:cNvSpPr>
          <p:nvPr/>
        </p:nvSpPr>
        <p:spPr bwMode="auto">
          <a:xfrm>
            <a:off x="1676400" y="5245100"/>
            <a:ext cx="2362200" cy="495300"/>
          </a:xfrm>
          <a:custGeom>
            <a:avLst/>
            <a:gdLst/>
            <a:ahLst/>
            <a:cxnLst>
              <a:cxn ang="0">
                <a:pos x="0" y="152"/>
              </a:cxn>
              <a:cxn ang="0">
                <a:pos x="96" y="296"/>
              </a:cxn>
              <a:cxn ang="0">
                <a:pos x="240" y="56"/>
              </a:cxn>
              <a:cxn ang="0">
                <a:pos x="336" y="200"/>
              </a:cxn>
              <a:cxn ang="0">
                <a:pos x="576" y="8"/>
              </a:cxn>
              <a:cxn ang="0">
                <a:pos x="672" y="200"/>
              </a:cxn>
              <a:cxn ang="0">
                <a:pos x="864" y="8"/>
              </a:cxn>
              <a:cxn ang="0">
                <a:pos x="1056" y="152"/>
              </a:cxn>
              <a:cxn ang="0">
                <a:pos x="1200" y="8"/>
              </a:cxn>
              <a:cxn ang="0">
                <a:pos x="1296" y="200"/>
              </a:cxn>
              <a:cxn ang="0">
                <a:pos x="1440" y="104"/>
              </a:cxn>
            </a:cxnLst>
            <a:rect l="0" t="0" r="r" b="b"/>
            <a:pathLst>
              <a:path w="1440" h="312">
                <a:moveTo>
                  <a:pt x="0" y="152"/>
                </a:moveTo>
                <a:cubicBezTo>
                  <a:pt x="28" y="232"/>
                  <a:pt x="56" y="312"/>
                  <a:pt x="96" y="296"/>
                </a:cubicBezTo>
                <a:cubicBezTo>
                  <a:pt x="136" y="280"/>
                  <a:pt x="200" y="72"/>
                  <a:pt x="240" y="56"/>
                </a:cubicBezTo>
                <a:cubicBezTo>
                  <a:pt x="280" y="40"/>
                  <a:pt x="280" y="208"/>
                  <a:pt x="336" y="200"/>
                </a:cubicBezTo>
                <a:cubicBezTo>
                  <a:pt x="392" y="192"/>
                  <a:pt x="520" y="8"/>
                  <a:pt x="576" y="8"/>
                </a:cubicBezTo>
                <a:cubicBezTo>
                  <a:pt x="632" y="8"/>
                  <a:pt x="624" y="200"/>
                  <a:pt x="672" y="200"/>
                </a:cubicBezTo>
                <a:cubicBezTo>
                  <a:pt x="720" y="200"/>
                  <a:pt x="800" y="16"/>
                  <a:pt x="864" y="8"/>
                </a:cubicBezTo>
                <a:cubicBezTo>
                  <a:pt x="928" y="0"/>
                  <a:pt x="1000" y="152"/>
                  <a:pt x="1056" y="152"/>
                </a:cubicBezTo>
                <a:cubicBezTo>
                  <a:pt x="1112" y="152"/>
                  <a:pt x="1160" y="0"/>
                  <a:pt x="1200" y="8"/>
                </a:cubicBezTo>
                <a:cubicBezTo>
                  <a:pt x="1240" y="16"/>
                  <a:pt x="1256" y="184"/>
                  <a:pt x="1296" y="200"/>
                </a:cubicBezTo>
                <a:cubicBezTo>
                  <a:pt x="1336" y="216"/>
                  <a:pt x="1424" y="120"/>
                  <a:pt x="1440" y="10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501" name="Freeform 37"/>
          <p:cNvSpPr>
            <a:spLocks/>
          </p:cNvSpPr>
          <p:nvPr/>
        </p:nvSpPr>
        <p:spPr bwMode="auto">
          <a:xfrm>
            <a:off x="1524000" y="5638800"/>
            <a:ext cx="2514600" cy="711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2" y="192"/>
              </a:cxn>
              <a:cxn ang="0">
                <a:pos x="240" y="336"/>
              </a:cxn>
              <a:cxn ang="0">
                <a:pos x="432" y="192"/>
              </a:cxn>
              <a:cxn ang="0">
                <a:pos x="528" y="336"/>
              </a:cxn>
              <a:cxn ang="0">
                <a:pos x="720" y="192"/>
              </a:cxn>
              <a:cxn ang="0">
                <a:pos x="768" y="432"/>
              </a:cxn>
              <a:cxn ang="0">
                <a:pos x="960" y="288"/>
              </a:cxn>
              <a:cxn ang="0">
                <a:pos x="1152" y="432"/>
              </a:cxn>
              <a:cxn ang="0">
                <a:pos x="1296" y="288"/>
              </a:cxn>
              <a:cxn ang="0">
                <a:pos x="1440" y="432"/>
              </a:cxn>
              <a:cxn ang="0">
                <a:pos x="1536" y="384"/>
              </a:cxn>
            </a:cxnLst>
            <a:rect l="0" t="0" r="r" b="b"/>
            <a:pathLst>
              <a:path w="1536" h="448">
                <a:moveTo>
                  <a:pt x="0" y="0"/>
                </a:moveTo>
                <a:cubicBezTo>
                  <a:pt x="76" y="68"/>
                  <a:pt x="152" y="136"/>
                  <a:pt x="192" y="192"/>
                </a:cubicBezTo>
                <a:cubicBezTo>
                  <a:pt x="232" y="248"/>
                  <a:pt x="200" y="336"/>
                  <a:pt x="240" y="336"/>
                </a:cubicBezTo>
                <a:cubicBezTo>
                  <a:pt x="280" y="336"/>
                  <a:pt x="384" y="192"/>
                  <a:pt x="432" y="192"/>
                </a:cubicBezTo>
                <a:cubicBezTo>
                  <a:pt x="480" y="192"/>
                  <a:pt x="480" y="336"/>
                  <a:pt x="528" y="336"/>
                </a:cubicBezTo>
                <a:cubicBezTo>
                  <a:pt x="576" y="336"/>
                  <a:pt x="680" y="176"/>
                  <a:pt x="720" y="192"/>
                </a:cubicBezTo>
                <a:cubicBezTo>
                  <a:pt x="760" y="208"/>
                  <a:pt x="728" y="416"/>
                  <a:pt x="768" y="432"/>
                </a:cubicBezTo>
                <a:cubicBezTo>
                  <a:pt x="808" y="448"/>
                  <a:pt x="896" y="288"/>
                  <a:pt x="960" y="288"/>
                </a:cubicBezTo>
                <a:cubicBezTo>
                  <a:pt x="1024" y="288"/>
                  <a:pt x="1096" y="432"/>
                  <a:pt x="1152" y="432"/>
                </a:cubicBezTo>
                <a:cubicBezTo>
                  <a:pt x="1208" y="432"/>
                  <a:pt x="1248" y="288"/>
                  <a:pt x="1296" y="288"/>
                </a:cubicBezTo>
                <a:cubicBezTo>
                  <a:pt x="1344" y="288"/>
                  <a:pt x="1400" y="416"/>
                  <a:pt x="1440" y="432"/>
                </a:cubicBezTo>
                <a:cubicBezTo>
                  <a:pt x="1480" y="448"/>
                  <a:pt x="1508" y="416"/>
                  <a:pt x="1536" y="3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86D428-9796-4431-BB21-21CF84E1511B}" type="slidenum">
              <a:rPr lang="en-US"/>
              <a:pPr/>
              <a:t>5</a:t>
            </a:fld>
            <a:endParaRPr lang="en-US"/>
          </a:p>
        </p:txBody>
      </p:sp>
      <p:sp>
        <p:nvSpPr>
          <p:cNvPr id="187394" name="Rectangle 2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Extreme Case</a:t>
            </a:r>
          </a:p>
        </p:txBody>
      </p:sp>
      <p:sp>
        <p:nvSpPr>
          <p:cNvPr id="187395" name="Rectangle 3"/>
          <p:cNvSpPr>
            <a:spLocks noChangeArrowheads="1"/>
          </p:cNvSpPr>
          <p:nvPr/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/>
            <a:endParaRPr lang="en-US"/>
          </a:p>
          <a:p>
            <a:pPr marL="342900" indent="-342900"/>
            <a:endParaRPr lang="en-US"/>
          </a:p>
        </p:txBody>
      </p:sp>
      <p:sp>
        <p:nvSpPr>
          <p:cNvPr id="187396" name="Rectangle 4"/>
          <p:cNvSpPr>
            <a:spLocks noChangeArrowheads="1"/>
          </p:cNvSpPr>
          <p:nvPr/>
        </p:nvSpPr>
        <p:spPr bwMode="auto">
          <a:xfrm>
            <a:off x="1066800" y="2209800"/>
            <a:ext cx="3886200" cy="2209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7397" name="Oval 5"/>
          <p:cNvSpPr>
            <a:spLocks noChangeArrowheads="1"/>
          </p:cNvSpPr>
          <p:nvPr/>
        </p:nvSpPr>
        <p:spPr bwMode="auto">
          <a:xfrm>
            <a:off x="1371600" y="3124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7398" name="Oval 6"/>
          <p:cNvSpPr>
            <a:spLocks noChangeArrowheads="1"/>
          </p:cNvSpPr>
          <p:nvPr/>
        </p:nvSpPr>
        <p:spPr bwMode="auto">
          <a:xfrm>
            <a:off x="4038600" y="2362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7399" name="Oval 7"/>
          <p:cNvSpPr>
            <a:spLocks noChangeArrowheads="1"/>
          </p:cNvSpPr>
          <p:nvPr/>
        </p:nvSpPr>
        <p:spPr bwMode="auto">
          <a:xfrm>
            <a:off x="4038600" y="3124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7400" name="Oval 8"/>
          <p:cNvSpPr>
            <a:spLocks noChangeArrowheads="1"/>
          </p:cNvSpPr>
          <p:nvPr/>
        </p:nvSpPr>
        <p:spPr bwMode="auto">
          <a:xfrm>
            <a:off x="4038600" y="3886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7401" name="Line 9"/>
          <p:cNvSpPr>
            <a:spLocks noChangeShapeType="1"/>
          </p:cNvSpPr>
          <p:nvPr/>
        </p:nvSpPr>
        <p:spPr bwMode="auto">
          <a:xfrm>
            <a:off x="457200" y="3352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7402" name="Freeform 10"/>
          <p:cNvSpPr>
            <a:spLocks/>
          </p:cNvSpPr>
          <p:nvPr/>
        </p:nvSpPr>
        <p:spPr bwMode="auto">
          <a:xfrm>
            <a:off x="1676400" y="2349500"/>
            <a:ext cx="2362200" cy="774700"/>
          </a:xfrm>
          <a:custGeom>
            <a:avLst/>
            <a:gdLst/>
            <a:ahLst/>
            <a:cxnLst>
              <a:cxn ang="0">
                <a:pos x="0" y="488"/>
              </a:cxn>
              <a:cxn ang="0">
                <a:pos x="144" y="296"/>
              </a:cxn>
              <a:cxn ang="0">
                <a:pos x="288" y="392"/>
              </a:cxn>
              <a:cxn ang="0">
                <a:pos x="432" y="248"/>
              </a:cxn>
              <a:cxn ang="0">
                <a:pos x="672" y="344"/>
              </a:cxn>
              <a:cxn ang="0">
                <a:pos x="720" y="56"/>
              </a:cxn>
              <a:cxn ang="0">
                <a:pos x="864" y="200"/>
              </a:cxn>
              <a:cxn ang="0">
                <a:pos x="1008" y="56"/>
              </a:cxn>
              <a:cxn ang="0">
                <a:pos x="1248" y="152"/>
              </a:cxn>
              <a:cxn ang="0">
                <a:pos x="1392" y="8"/>
              </a:cxn>
              <a:cxn ang="0">
                <a:pos x="1488" y="104"/>
              </a:cxn>
            </a:cxnLst>
            <a:rect l="0" t="0" r="r" b="b"/>
            <a:pathLst>
              <a:path w="1488" h="488">
                <a:moveTo>
                  <a:pt x="0" y="488"/>
                </a:moveTo>
                <a:cubicBezTo>
                  <a:pt x="48" y="400"/>
                  <a:pt x="96" y="312"/>
                  <a:pt x="144" y="296"/>
                </a:cubicBezTo>
                <a:cubicBezTo>
                  <a:pt x="192" y="280"/>
                  <a:pt x="240" y="400"/>
                  <a:pt x="288" y="392"/>
                </a:cubicBezTo>
                <a:cubicBezTo>
                  <a:pt x="336" y="384"/>
                  <a:pt x="368" y="256"/>
                  <a:pt x="432" y="248"/>
                </a:cubicBezTo>
                <a:cubicBezTo>
                  <a:pt x="496" y="240"/>
                  <a:pt x="624" y="376"/>
                  <a:pt x="672" y="344"/>
                </a:cubicBezTo>
                <a:cubicBezTo>
                  <a:pt x="720" y="312"/>
                  <a:pt x="688" y="80"/>
                  <a:pt x="720" y="56"/>
                </a:cubicBezTo>
                <a:cubicBezTo>
                  <a:pt x="752" y="32"/>
                  <a:pt x="816" y="200"/>
                  <a:pt x="864" y="200"/>
                </a:cubicBezTo>
                <a:cubicBezTo>
                  <a:pt x="912" y="200"/>
                  <a:pt x="944" y="64"/>
                  <a:pt x="1008" y="56"/>
                </a:cubicBezTo>
                <a:cubicBezTo>
                  <a:pt x="1072" y="48"/>
                  <a:pt x="1184" y="160"/>
                  <a:pt x="1248" y="152"/>
                </a:cubicBezTo>
                <a:cubicBezTo>
                  <a:pt x="1312" y="144"/>
                  <a:pt x="1352" y="16"/>
                  <a:pt x="1392" y="8"/>
                </a:cubicBezTo>
                <a:cubicBezTo>
                  <a:pt x="1432" y="0"/>
                  <a:pt x="1460" y="52"/>
                  <a:pt x="1488" y="10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7403" name="Freeform 11"/>
          <p:cNvSpPr>
            <a:spLocks/>
          </p:cNvSpPr>
          <p:nvPr/>
        </p:nvSpPr>
        <p:spPr bwMode="auto">
          <a:xfrm>
            <a:off x="1752600" y="3111500"/>
            <a:ext cx="2286000" cy="495300"/>
          </a:xfrm>
          <a:custGeom>
            <a:avLst/>
            <a:gdLst/>
            <a:ahLst/>
            <a:cxnLst>
              <a:cxn ang="0">
                <a:pos x="0" y="152"/>
              </a:cxn>
              <a:cxn ang="0">
                <a:pos x="96" y="296"/>
              </a:cxn>
              <a:cxn ang="0">
                <a:pos x="240" y="56"/>
              </a:cxn>
              <a:cxn ang="0">
                <a:pos x="336" y="200"/>
              </a:cxn>
              <a:cxn ang="0">
                <a:pos x="576" y="8"/>
              </a:cxn>
              <a:cxn ang="0">
                <a:pos x="672" y="200"/>
              </a:cxn>
              <a:cxn ang="0">
                <a:pos x="864" y="8"/>
              </a:cxn>
              <a:cxn ang="0">
                <a:pos x="1056" y="152"/>
              </a:cxn>
              <a:cxn ang="0">
                <a:pos x="1200" y="8"/>
              </a:cxn>
              <a:cxn ang="0">
                <a:pos x="1296" y="200"/>
              </a:cxn>
              <a:cxn ang="0">
                <a:pos x="1440" y="104"/>
              </a:cxn>
            </a:cxnLst>
            <a:rect l="0" t="0" r="r" b="b"/>
            <a:pathLst>
              <a:path w="1440" h="312">
                <a:moveTo>
                  <a:pt x="0" y="152"/>
                </a:moveTo>
                <a:cubicBezTo>
                  <a:pt x="28" y="232"/>
                  <a:pt x="56" y="312"/>
                  <a:pt x="96" y="296"/>
                </a:cubicBezTo>
                <a:cubicBezTo>
                  <a:pt x="136" y="280"/>
                  <a:pt x="200" y="72"/>
                  <a:pt x="240" y="56"/>
                </a:cubicBezTo>
                <a:cubicBezTo>
                  <a:pt x="280" y="40"/>
                  <a:pt x="280" y="208"/>
                  <a:pt x="336" y="200"/>
                </a:cubicBezTo>
                <a:cubicBezTo>
                  <a:pt x="392" y="192"/>
                  <a:pt x="520" y="8"/>
                  <a:pt x="576" y="8"/>
                </a:cubicBezTo>
                <a:cubicBezTo>
                  <a:pt x="632" y="8"/>
                  <a:pt x="624" y="200"/>
                  <a:pt x="672" y="200"/>
                </a:cubicBezTo>
                <a:cubicBezTo>
                  <a:pt x="720" y="200"/>
                  <a:pt x="800" y="16"/>
                  <a:pt x="864" y="8"/>
                </a:cubicBezTo>
                <a:cubicBezTo>
                  <a:pt x="928" y="0"/>
                  <a:pt x="1000" y="152"/>
                  <a:pt x="1056" y="152"/>
                </a:cubicBezTo>
                <a:cubicBezTo>
                  <a:pt x="1112" y="152"/>
                  <a:pt x="1160" y="0"/>
                  <a:pt x="1200" y="8"/>
                </a:cubicBezTo>
                <a:cubicBezTo>
                  <a:pt x="1240" y="16"/>
                  <a:pt x="1256" y="184"/>
                  <a:pt x="1296" y="200"/>
                </a:cubicBezTo>
                <a:cubicBezTo>
                  <a:pt x="1336" y="216"/>
                  <a:pt x="1424" y="120"/>
                  <a:pt x="1440" y="10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7404" name="Freeform 12"/>
          <p:cNvSpPr>
            <a:spLocks/>
          </p:cNvSpPr>
          <p:nvPr/>
        </p:nvSpPr>
        <p:spPr bwMode="auto">
          <a:xfrm>
            <a:off x="1600200" y="3505200"/>
            <a:ext cx="2438400" cy="711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2" y="192"/>
              </a:cxn>
              <a:cxn ang="0">
                <a:pos x="240" y="336"/>
              </a:cxn>
              <a:cxn ang="0">
                <a:pos x="432" y="192"/>
              </a:cxn>
              <a:cxn ang="0">
                <a:pos x="528" y="336"/>
              </a:cxn>
              <a:cxn ang="0">
                <a:pos x="720" y="192"/>
              </a:cxn>
              <a:cxn ang="0">
                <a:pos x="768" y="432"/>
              </a:cxn>
              <a:cxn ang="0">
                <a:pos x="960" y="288"/>
              </a:cxn>
              <a:cxn ang="0">
                <a:pos x="1152" y="432"/>
              </a:cxn>
              <a:cxn ang="0">
                <a:pos x="1296" y="288"/>
              </a:cxn>
              <a:cxn ang="0">
                <a:pos x="1440" y="432"/>
              </a:cxn>
              <a:cxn ang="0">
                <a:pos x="1536" y="384"/>
              </a:cxn>
            </a:cxnLst>
            <a:rect l="0" t="0" r="r" b="b"/>
            <a:pathLst>
              <a:path w="1536" h="448">
                <a:moveTo>
                  <a:pt x="0" y="0"/>
                </a:moveTo>
                <a:cubicBezTo>
                  <a:pt x="76" y="68"/>
                  <a:pt x="152" y="136"/>
                  <a:pt x="192" y="192"/>
                </a:cubicBezTo>
                <a:cubicBezTo>
                  <a:pt x="232" y="248"/>
                  <a:pt x="200" y="336"/>
                  <a:pt x="240" y="336"/>
                </a:cubicBezTo>
                <a:cubicBezTo>
                  <a:pt x="280" y="336"/>
                  <a:pt x="384" y="192"/>
                  <a:pt x="432" y="192"/>
                </a:cubicBezTo>
                <a:cubicBezTo>
                  <a:pt x="480" y="192"/>
                  <a:pt x="480" y="336"/>
                  <a:pt x="528" y="336"/>
                </a:cubicBezTo>
                <a:cubicBezTo>
                  <a:pt x="576" y="336"/>
                  <a:pt x="680" y="176"/>
                  <a:pt x="720" y="192"/>
                </a:cubicBezTo>
                <a:cubicBezTo>
                  <a:pt x="760" y="208"/>
                  <a:pt x="728" y="416"/>
                  <a:pt x="768" y="432"/>
                </a:cubicBezTo>
                <a:cubicBezTo>
                  <a:pt x="808" y="448"/>
                  <a:pt x="896" y="288"/>
                  <a:pt x="960" y="288"/>
                </a:cubicBezTo>
                <a:cubicBezTo>
                  <a:pt x="1024" y="288"/>
                  <a:pt x="1096" y="432"/>
                  <a:pt x="1152" y="432"/>
                </a:cubicBezTo>
                <a:cubicBezTo>
                  <a:pt x="1208" y="432"/>
                  <a:pt x="1248" y="288"/>
                  <a:pt x="1296" y="288"/>
                </a:cubicBezTo>
                <a:cubicBezTo>
                  <a:pt x="1344" y="288"/>
                  <a:pt x="1400" y="416"/>
                  <a:pt x="1440" y="432"/>
                </a:cubicBezTo>
                <a:cubicBezTo>
                  <a:pt x="1480" y="448"/>
                  <a:pt x="1508" y="416"/>
                  <a:pt x="1536" y="3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7405" name="Text Box 13"/>
          <p:cNvSpPr txBox="1">
            <a:spLocks noChangeArrowheads="1"/>
          </p:cNvSpPr>
          <p:nvPr/>
        </p:nvSpPr>
        <p:spPr bwMode="auto">
          <a:xfrm>
            <a:off x="685800" y="1447800"/>
            <a:ext cx="47196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NFA without final state</a:t>
            </a:r>
          </a:p>
        </p:txBody>
      </p:sp>
      <p:grpSp>
        <p:nvGrpSpPr>
          <p:cNvPr id="187409" name="Group 17"/>
          <p:cNvGrpSpPr>
            <a:grpSpLocks/>
          </p:cNvGrpSpPr>
          <p:nvPr/>
        </p:nvGrpSpPr>
        <p:grpSpPr bwMode="auto">
          <a:xfrm>
            <a:off x="5203825" y="3048000"/>
            <a:ext cx="3940175" cy="1925638"/>
            <a:chOff x="3278" y="1920"/>
            <a:chExt cx="2482" cy="1213"/>
          </a:xfrm>
        </p:grpSpPr>
        <p:sp>
          <p:nvSpPr>
            <p:cNvPr id="187406" name="Oval 14"/>
            <p:cNvSpPr>
              <a:spLocks noChangeArrowheads="1"/>
            </p:cNvSpPr>
            <p:nvPr/>
          </p:nvSpPr>
          <p:spPr bwMode="auto">
            <a:xfrm>
              <a:off x="3648" y="196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407" name="Oval 15"/>
            <p:cNvSpPr>
              <a:spLocks noChangeArrowheads="1"/>
            </p:cNvSpPr>
            <p:nvPr/>
          </p:nvSpPr>
          <p:spPr bwMode="auto">
            <a:xfrm>
              <a:off x="3600" y="192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408" name="Text Box 16"/>
            <p:cNvSpPr txBox="1">
              <a:spLocks noChangeArrowheads="1"/>
            </p:cNvSpPr>
            <p:nvPr/>
          </p:nvSpPr>
          <p:spPr bwMode="auto">
            <a:xfrm>
              <a:off x="3278" y="2400"/>
              <a:ext cx="2482" cy="7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Add a final state</a:t>
              </a:r>
            </a:p>
            <a:p>
              <a:r>
                <a:rPr lang="en-US"/>
                <a:t>Without transitions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7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7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Properties of </a:t>
            </a:r>
            <a:br>
              <a:rPr lang="en-US" sz="4400"/>
            </a:br>
            <a:r>
              <a:rPr lang="en-US" sz="4400"/>
              <a:t>Regular Languages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59DC78-18E0-4EF3-A1AA-DD85D3B42925}" type="slidenum">
              <a:rPr lang="en-US"/>
              <a:pPr/>
              <a:t>7</a:t>
            </a:fld>
            <a:endParaRPr lang="en-US"/>
          </a:p>
        </p:txBody>
      </p:sp>
      <p:graphicFrame>
        <p:nvGraphicFramePr>
          <p:cNvPr id="126980" name="Object 4"/>
          <p:cNvGraphicFramePr>
            <a:graphicFrameLocks noChangeAspect="1"/>
          </p:cNvGraphicFramePr>
          <p:nvPr/>
        </p:nvGraphicFramePr>
        <p:xfrm>
          <a:off x="4495800" y="152400"/>
          <a:ext cx="430213" cy="571500"/>
        </p:xfrm>
        <a:graphic>
          <a:graphicData uri="http://schemas.openxmlformats.org/presentationml/2006/ole">
            <p:oleObj spid="_x0000_s126980" name="Equation" r:id="rId3" imgW="431640" imgH="571320" progId="Equation.3">
              <p:embed/>
            </p:oleObj>
          </a:graphicData>
        </a:graphic>
      </p:graphicFrame>
      <p:graphicFrame>
        <p:nvGraphicFramePr>
          <p:cNvPr id="126981" name="Object 5"/>
          <p:cNvGraphicFramePr>
            <a:graphicFrameLocks noChangeAspect="1"/>
          </p:cNvGraphicFramePr>
          <p:nvPr/>
        </p:nvGraphicFramePr>
        <p:xfrm>
          <a:off x="6019800" y="152400"/>
          <a:ext cx="508000" cy="571500"/>
        </p:xfrm>
        <a:graphic>
          <a:graphicData uri="http://schemas.openxmlformats.org/presentationml/2006/ole">
            <p:oleObj spid="_x0000_s126981" name="Equation" r:id="rId4" imgW="507960" imgH="571320" progId="Equation.3">
              <p:embed/>
            </p:oleObj>
          </a:graphicData>
        </a:graphic>
      </p:graphicFrame>
      <p:grpSp>
        <p:nvGrpSpPr>
          <p:cNvPr id="126998" name="Group 22"/>
          <p:cNvGrpSpPr>
            <a:grpSpLocks/>
          </p:cNvGrpSpPr>
          <p:nvPr/>
        </p:nvGrpSpPr>
        <p:grpSpPr bwMode="auto">
          <a:xfrm>
            <a:off x="609600" y="2514600"/>
            <a:ext cx="4159250" cy="604838"/>
            <a:chOff x="384" y="1952"/>
            <a:chExt cx="2620" cy="381"/>
          </a:xfrm>
        </p:grpSpPr>
        <p:graphicFrame>
          <p:nvGraphicFramePr>
            <p:cNvPr id="126983" name="Object 7"/>
            <p:cNvGraphicFramePr>
              <a:graphicFrameLocks noChangeAspect="1"/>
            </p:cNvGraphicFramePr>
            <p:nvPr/>
          </p:nvGraphicFramePr>
          <p:xfrm>
            <a:off x="2420" y="1952"/>
            <a:ext cx="584" cy="360"/>
          </p:xfrm>
          <a:graphic>
            <a:graphicData uri="http://schemas.openxmlformats.org/presentationml/2006/ole">
              <p:oleObj spid="_x0000_s126983" name="Equation" r:id="rId5" imgW="927000" imgH="571320" progId="Equation.3">
                <p:embed/>
              </p:oleObj>
            </a:graphicData>
          </a:graphic>
        </p:graphicFrame>
        <p:sp>
          <p:nvSpPr>
            <p:cNvPr id="126987" name="Text Box 11"/>
            <p:cNvSpPr txBox="1">
              <a:spLocks noChangeArrowheads="1"/>
            </p:cNvSpPr>
            <p:nvPr/>
          </p:nvSpPr>
          <p:spPr bwMode="auto">
            <a:xfrm>
              <a:off x="384" y="1968"/>
              <a:ext cx="186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Concatenation:</a:t>
              </a:r>
            </a:p>
          </p:txBody>
        </p:sp>
      </p:grpSp>
      <p:graphicFrame>
        <p:nvGraphicFramePr>
          <p:cNvPr id="126984" name="Object 8"/>
          <p:cNvGraphicFramePr>
            <a:graphicFrameLocks noChangeAspect="1"/>
          </p:cNvGraphicFramePr>
          <p:nvPr/>
        </p:nvGraphicFramePr>
        <p:xfrm>
          <a:off x="3733800" y="3429000"/>
          <a:ext cx="762000" cy="571500"/>
        </p:xfrm>
        <a:graphic>
          <a:graphicData uri="http://schemas.openxmlformats.org/presentationml/2006/ole">
            <p:oleObj spid="_x0000_s126984" name="Equation" r:id="rId6" imgW="761760" imgH="571320" progId="Equation.3">
              <p:embed/>
            </p:oleObj>
          </a:graphicData>
        </a:graphic>
      </p:graphicFrame>
      <p:sp>
        <p:nvSpPr>
          <p:cNvPr id="126988" name="Text Box 12"/>
          <p:cNvSpPr txBox="1">
            <a:spLocks noChangeArrowheads="1"/>
          </p:cNvSpPr>
          <p:nvPr/>
        </p:nvSpPr>
        <p:spPr bwMode="auto">
          <a:xfrm>
            <a:off x="2286000" y="3378200"/>
            <a:ext cx="11842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Star:</a:t>
            </a:r>
          </a:p>
        </p:txBody>
      </p:sp>
      <p:grpSp>
        <p:nvGrpSpPr>
          <p:cNvPr id="127003" name="Group 27"/>
          <p:cNvGrpSpPr>
            <a:grpSpLocks/>
          </p:cNvGrpSpPr>
          <p:nvPr/>
        </p:nvGrpSpPr>
        <p:grpSpPr bwMode="auto">
          <a:xfrm>
            <a:off x="2133600" y="1676400"/>
            <a:ext cx="3117850" cy="590550"/>
            <a:chOff x="1388" y="1668"/>
            <a:chExt cx="1964" cy="372"/>
          </a:xfrm>
        </p:grpSpPr>
        <p:graphicFrame>
          <p:nvGraphicFramePr>
            <p:cNvPr id="126982" name="Object 6"/>
            <p:cNvGraphicFramePr>
              <a:graphicFrameLocks noChangeAspect="1"/>
            </p:cNvGraphicFramePr>
            <p:nvPr/>
          </p:nvGraphicFramePr>
          <p:xfrm>
            <a:off x="2400" y="1680"/>
            <a:ext cx="952" cy="360"/>
          </p:xfrm>
          <a:graphic>
            <a:graphicData uri="http://schemas.openxmlformats.org/presentationml/2006/ole">
              <p:oleObj spid="_x0000_s126982" name="Equation" r:id="rId7" imgW="1511280" imgH="571320" progId="Equation.3">
                <p:embed/>
              </p:oleObj>
            </a:graphicData>
          </a:graphic>
        </p:graphicFrame>
        <p:sp>
          <p:nvSpPr>
            <p:cNvPr id="126986" name="Text Box 10"/>
            <p:cNvSpPr txBox="1">
              <a:spLocks noChangeArrowheads="1"/>
            </p:cNvSpPr>
            <p:nvPr/>
          </p:nvSpPr>
          <p:spPr bwMode="auto">
            <a:xfrm>
              <a:off x="1388" y="1668"/>
              <a:ext cx="85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Union:</a:t>
              </a:r>
            </a:p>
          </p:txBody>
        </p:sp>
      </p:grpSp>
      <p:grpSp>
        <p:nvGrpSpPr>
          <p:cNvPr id="127004" name="Group 28"/>
          <p:cNvGrpSpPr>
            <a:grpSpLocks/>
          </p:cNvGrpSpPr>
          <p:nvPr/>
        </p:nvGrpSpPr>
        <p:grpSpPr bwMode="auto">
          <a:xfrm>
            <a:off x="5486400" y="1676400"/>
            <a:ext cx="3236913" cy="4876800"/>
            <a:chOff x="3504" y="1680"/>
            <a:chExt cx="1992" cy="2304"/>
          </a:xfrm>
        </p:grpSpPr>
        <p:sp>
          <p:nvSpPr>
            <p:cNvPr id="126985" name="AutoShape 9"/>
            <p:cNvSpPr>
              <a:spLocks/>
            </p:cNvSpPr>
            <p:nvPr/>
          </p:nvSpPr>
          <p:spPr bwMode="auto">
            <a:xfrm>
              <a:off x="3504" y="1680"/>
              <a:ext cx="336" cy="2304"/>
            </a:xfrm>
            <a:prstGeom prst="rightBrace">
              <a:avLst>
                <a:gd name="adj1" fmla="val 57143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89" name="Text Box 13"/>
            <p:cNvSpPr txBox="1">
              <a:spLocks noChangeArrowheads="1"/>
            </p:cNvSpPr>
            <p:nvPr/>
          </p:nvSpPr>
          <p:spPr bwMode="auto">
            <a:xfrm>
              <a:off x="4032" y="2400"/>
              <a:ext cx="1464" cy="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Are regular</a:t>
              </a:r>
            </a:p>
            <a:p>
              <a:r>
                <a:rPr lang="en-US"/>
                <a:t>Languages</a:t>
              </a:r>
            </a:p>
          </p:txBody>
        </p:sp>
      </p:grpSp>
      <p:sp>
        <p:nvSpPr>
          <p:cNvPr id="127002" name="Text Box 26"/>
          <p:cNvSpPr txBox="1">
            <a:spLocks noChangeArrowheads="1"/>
          </p:cNvSpPr>
          <p:nvPr/>
        </p:nvSpPr>
        <p:spPr bwMode="auto">
          <a:xfrm>
            <a:off x="152400" y="152400"/>
            <a:ext cx="6616700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regular languages       and       </a:t>
            </a:r>
          </a:p>
          <a:p>
            <a:r>
              <a:rPr lang="en-US"/>
              <a:t>we will prove that:</a:t>
            </a:r>
          </a:p>
        </p:txBody>
      </p:sp>
      <p:graphicFrame>
        <p:nvGraphicFramePr>
          <p:cNvPr id="127005" name="Object 29"/>
          <p:cNvGraphicFramePr>
            <a:graphicFrameLocks noChangeAspect="1"/>
          </p:cNvGraphicFramePr>
          <p:nvPr/>
        </p:nvGraphicFramePr>
        <p:xfrm>
          <a:off x="3733800" y="5257800"/>
          <a:ext cx="482600" cy="596900"/>
        </p:xfrm>
        <a:graphic>
          <a:graphicData uri="http://schemas.openxmlformats.org/presentationml/2006/ole">
            <p:oleObj spid="_x0000_s127005" name="Equation" r:id="rId8" imgW="482400" imgH="596880" progId="Equation.3">
              <p:embed/>
            </p:oleObj>
          </a:graphicData>
        </a:graphic>
      </p:graphicFrame>
      <p:graphicFrame>
        <p:nvGraphicFramePr>
          <p:cNvPr id="127006" name="Object 30"/>
          <p:cNvGraphicFramePr>
            <a:graphicFrameLocks noChangeAspect="1"/>
          </p:cNvGraphicFramePr>
          <p:nvPr/>
        </p:nvGraphicFramePr>
        <p:xfrm>
          <a:off x="3657600" y="6096000"/>
          <a:ext cx="1511300" cy="571500"/>
        </p:xfrm>
        <a:graphic>
          <a:graphicData uri="http://schemas.openxmlformats.org/presentationml/2006/ole">
            <p:oleObj spid="_x0000_s127006" name="Equation" r:id="rId9" imgW="1511280" imgH="571320" progId="Equation.3">
              <p:embed/>
            </p:oleObj>
          </a:graphicData>
        </a:graphic>
      </p:graphicFrame>
      <p:sp>
        <p:nvSpPr>
          <p:cNvPr id="127008" name="Text Box 32"/>
          <p:cNvSpPr txBox="1">
            <a:spLocks noChangeArrowheads="1"/>
          </p:cNvSpPr>
          <p:nvPr/>
        </p:nvSpPr>
        <p:spPr bwMode="auto">
          <a:xfrm>
            <a:off x="838200" y="5257800"/>
            <a:ext cx="25749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Complement:</a:t>
            </a:r>
          </a:p>
        </p:txBody>
      </p:sp>
      <p:sp>
        <p:nvSpPr>
          <p:cNvPr id="127009" name="Text Box 33"/>
          <p:cNvSpPr txBox="1">
            <a:spLocks noChangeArrowheads="1"/>
          </p:cNvSpPr>
          <p:nvPr/>
        </p:nvSpPr>
        <p:spPr bwMode="auto">
          <a:xfrm>
            <a:off x="762000" y="6019800"/>
            <a:ext cx="27146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Intersection:</a:t>
            </a:r>
          </a:p>
        </p:txBody>
      </p:sp>
      <p:graphicFrame>
        <p:nvGraphicFramePr>
          <p:cNvPr id="127010" name="Object 34"/>
          <p:cNvGraphicFramePr>
            <a:graphicFrameLocks noChangeAspect="1"/>
          </p:cNvGraphicFramePr>
          <p:nvPr/>
        </p:nvGraphicFramePr>
        <p:xfrm>
          <a:off x="3733800" y="4191000"/>
          <a:ext cx="723900" cy="736600"/>
        </p:xfrm>
        <a:graphic>
          <a:graphicData uri="http://schemas.openxmlformats.org/presentationml/2006/ole">
            <p:oleObj spid="_x0000_s127010" name="Equation" r:id="rId10" imgW="723600" imgH="736560" progId="Equation.3">
              <p:embed/>
            </p:oleObj>
          </a:graphicData>
        </a:graphic>
      </p:graphicFrame>
      <p:sp>
        <p:nvSpPr>
          <p:cNvPr id="127011" name="Text Box 35"/>
          <p:cNvSpPr txBox="1">
            <a:spLocks noChangeArrowheads="1"/>
          </p:cNvSpPr>
          <p:nvPr/>
        </p:nvSpPr>
        <p:spPr bwMode="auto">
          <a:xfrm>
            <a:off x="1644650" y="4260850"/>
            <a:ext cx="19177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Reversal: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92EB5E-9447-4B22-9C62-F78DFCB30779}" type="slidenum">
              <a:rPr lang="en-US"/>
              <a:pPr/>
              <a:t>8</a:t>
            </a:fld>
            <a:endParaRPr lang="en-US"/>
          </a:p>
        </p:txBody>
      </p:sp>
      <p:sp>
        <p:nvSpPr>
          <p:cNvPr id="136204" name="Text Box 12"/>
          <p:cNvSpPr txBox="1">
            <a:spLocks noChangeArrowheads="1"/>
          </p:cNvSpPr>
          <p:nvPr/>
        </p:nvSpPr>
        <p:spPr bwMode="auto">
          <a:xfrm>
            <a:off x="76200" y="228600"/>
            <a:ext cx="87931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say: Regular languages are </a:t>
            </a:r>
            <a:r>
              <a:rPr lang="en-US" sz="3600" b="1">
                <a:solidFill>
                  <a:srgbClr val="FF0000"/>
                </a:solidFill>
              </a:rPr>
              <a:t>closed under</a:t>
            </a:r>
          </a:p>
        </p:txBody>
      </p:sp>
      <p:grpSp>
        <p:nvGrpSpPr>
          <p:cNvPr id="136237" name="Group 45"/>
          <p:cNvGrpSpPr>
            <a:grpSpLocks/>
          </p:cNvGrpSpPr>
          <p:nvPr/>
        </p:nvGrpSpPr>
        <p:grpSpPr bwMode="auto">
          <a:xfrm>
            <a:off x="609600" y="2514600"/>
            <a:ext cx="4159250" cy="604838"/>
            <a:chOff x="384" y="1952"/>
            <a:chExt cx="2620" cy="381"/>
          </a:xfrm>
        </p:grpSpPr>
        <p:graphicFrame>
          <p:nvGraphicFramePr>
            <p:cNvPr id="136238" name="Object 46"/>
            <p:cNvGraphicFramePr>
              <a:graphicFrameLocks noChangeAspect="1"/>
            </p:cNvGraphicFramePr>
            <p:nvPr/>
          </p:nvGraphicFramePr>
          <p:xfrm>
            <a:off x="2420" y="1952"/>
            <a:ext cx="584" cy="360"/>
          </p:xfrm>
          <a:graphic>
            <a:graphicData uri="http://schemas.openxmlformats.org/presentationml/2006/ole">
              <p:oleObj spid="_x0000_s136238" name="Equation" r:id="rId3" imgW="927000" imgH="571320" progId="Equation.3">
                <p:embed/>
              </p:oleObj>
            </a:graphicData>
          </a:graphic>
        </p:graphicFrame>
        <p:sp>
          <p:nvSpPr>
            <p:cNvPr id="136239" name="Text Box 47"/>
            <p:cNvSpPr txBox="1">
              <a:spLocks noChangeArrowheads="1"/>
            </p:cNvSpPr>
            <p:nvPr/>
          </p:nvSpPr>
          <p:spPr bwMode="auto">
            <a:xfrm>
              <a:off x="384" y="1968"/>
              <a:ext cx="186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Concatenation:</a:t>
              </a:r>
            </a:p>
          </p:txBody>
        </p:sp>
      </p:grpSp>
      <p:graphicFrame>
        <p:nvGraphicFramePr>
          <p:cNvPr id="136240" name="Object 48"/>
          <p:cNvGraphicFramePr>
            <a:graphicFrameLocks noChangeAspect="1"/>
          </p:cNvGraphicFramePr>
          <p:nvPr/>
        </p:nvGraphicFramePr>
        <p:xfrm>
          <a:off x="3733800" y="3429000"/>
          <a:ext cx="762000" cy="571500"/>
        </p:xfrm>
        <a:graphic>
          <a:graphicData uri="http://schemas.openxmlformats.org/presentationml/2006/ole">
            <p:oleObj spid="_x0000_s136240" name="Equation" r:id="rId4" imgW="761760" imgH="571320" progId="Equation.3">
              <p:embed/>
            </p:oleObj>
          </a:graphicData>
        </a:graphic>
      </p:graphicFrame>
      <p:sp>
        <p:nvSpPr>
          <p:cNvPr id="136241" name="Text Box 49"/>
          <p:cNvSpPr txBox="1">
            <a:spLocks noChangeArrowheads="1"/>
          </p:cNvSpPr>
          <p:nvPr/>
        </p:nvSpPr>
        <p:spPr bwMode="auto">
          <a:xfrm>
            <a:off x="2286000" y="3378200"/>
            <a:ext cx="11842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Star:</a:t>
            </a:r>
          </a:p>
        </p:txBody>
      </p:sp>
      <p:grpSp>
        <p:nvGrpSpPr>
          <p:cNvPr id="136242" name="Group 50"/>
          <p:cNvGrpSpPr>
            <a:grpSpLocks/>
          </p:cNvGrpSpPr>
          <p:nvPr/>
        </p:nvGrpSpPr>
        <p:grpSpPr bwMode="auto">
          <a:xfrm>
            <a:off x="2133600" y="1676400"/>
            <a:ext cx="3117850" cy="590550"/>
            <a:chOff x="1388" y="1668"/>
            <a:chExt cx="1964" cy="372"/>
          </a:xfrm>
        </p:grpSpPr>
        <p:graphicFrame>
          <p:nvGraphicFramePr>
            <p:cNvPr id="136243" name="Object 51"/>
            <p:cNvGraphicFramePr>
              <a:graphicFrameLocks noChangeAspect="1"/>
            </p:cNvGraphicFramePr>
            <p:nvPr/>
          </p:nvGraphicFramePr>
          <p:xfrm>
            <a:off x="2400" y="1680"/>
            <a:ext cx="952" cy="360"/>
          </p:xfrm>
          <a:graphic>
            <a:graphicData uri="http://schemas.openxmlformats.org/presentationml/2006/ole">
              <p:oleObj spid="_x0000_s136243" name="Equation" r:id="rId5" imgW="1511280" imgH="571320" progId="Equation.3">
                <p:embed/>
              </p:oleObj>
            </a:graphicData>
          </a:graphic>
        </p:graphicFrame>
        <p:sp>
          <p:nvSpPr>
            <p:cNvPr id="136244" name="Text Box 52"/>
            <p:cNvSpPr txBox="1">
              <a:spLocks noChangeArrowheads="1"/>
            </p:cNvSpPr>
            <p:nvPr/>
          </p:nvSpPr>
          <p:spPr bwMode="auto">
            <a:xfrm>
              <a:off x="1388" y="1668"/>
              <a:ext cx="85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Union:</a:t>
              </a:r>
            </a:p>
          </p:txBody>
        </p:sp>
      </p:grpSp>
      <p:graphicFrame>
        <p:nvGraphicFramePr>
          <p:cNvPr id="136245" name="Object 53"/>
          <p:cNvGraphicFramePr>
            <a:graphicFrameLocks noChangeAspect="1"/>
          </p:cNvGraphicFramePr>
          <p:nvPr/>
        </p:nvGraphicFramePr>
        <p:xfrm>
          <a:off x="3733800" y="5257800"/>
          <a:ext cx="482600" cy="596900"/>
        </p:xfrm>
        <a:graphic>
          <a:graphicData uri="http://schemas.openxmlformats.org/presentationml/2006/ole">
            <p:oleObj spid="_x0000_s136245" name="Equation" r:id="rId6" imgW="482400" imgH="596880" progId="Equation.3">
              <p:embed/>
            </p:oleObj>
          </a:graphicData>
        </a:graphic>
      </p:graphicFrame>
      <p:graphicFrame>
        <p:nvGraphicFramePr>
          <p:cNvPr id="136246" name="Object 54"/>
          <p:cNvGraphicFramePr>
            <a:graphicFrameLocks noChangeAspect="1"/>
          </p:cNvGraphicFramePr>
          <p:nvPr/>
        </p:nvGraphicFramePr>
        <p:xfrm>
          <a:off x="3657600" y="6096000"/>
          <a:ext cx="1511300" cy="571500"/>
        </p:xfrm>
        <a:graphic>
          <a:graphicData uri="http://schemas.openxmlformats.org/presentationml/2006/ole">
            <p:oleObj spid="_x0000_s136246" name="Equation" r:id="rId7" imgW="1511280" imgH="571320" progId="Equation.3">
              <p:embed/>
            </p:oleObj>
          </a:graphicData>
        </a:graphic>
      </p:graphicFrame>
      <p:sp>
        <p:nvSpPr>
          <p:cNvPr id="136247" name="Text Box 55"/>
          <p:cNvSpPr txBox="1">
            <a:spLocks noChangeArrowheads="1"/>
          </p:cNvSpPr>
          <p:nvPr/>
        </p:nvSpPr>
        <p:spPr bwMode="auto">
          <a:xfrm>
            <a:off x="838200" y="5257800"/>
            <a:ext cx="25749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Complement:</a:t>
            </a:r>
          </a:p>
        </p:txBody>
      </p:sp>
      <p:sp>
        <p:nvSpPr>
          <p:cNvPr id="136248" name="Text Box 56"/>
          <p:cNvSpPr txBox="1">
            <a:spLocks noChangeArrowheads="1"/>
          </p:cNvSpPr>
          <p:nvPr/>
        </p:nvSpPr>
        <p:spPr bwMode="auto">
          <a:xfrm>
            <a:off x="762000" y="6019800"/>
            <a:ext cx="27146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Intersection:</a:t>
            </a:r>
          </a:p>
        </p:txBody>
      </p:sp>
      <p:graphicFrame>
        <p:nvGraphicFramePr>
          <p:cNvPr id="136249" name="Object 57"/>
          <p:cNvGraphicFramePr>
            <a:graphicFrameLocks noChangeAspect="1"/>
          </p:cNvGraphicFramePr>
          <p:nvPr/>
        </p:nvGraphicFramePr>
        <p:xfrm>
          <a:off x="3733800" y="4191000"/>
          <a:ext cx="723900" cy="736600"/>
        </p:xfrm>
        <a:graphic>
          <a:graphicData uri="http://schemas.openxmlformats.org/presentationml/2006/ole">
            <p:oleObj spid="_x0000_s136249" name="Equation" r:id="rId8" imgW="723600" imgH="736560" progId="Equation.3">
              <p:embed/>
            </p:oleObj>
          </a:graphicData>
        </a:graphic>
      </p:graphicFrame>
      <p:sp>
        <p:nvSpPr>
          <p:cNvPr id="136250" name="Text Box 58"/>
          <p:cNvSpPr txBox="1">
            <a:spLocks noChangeArrowheads="1"/>
          </p:cNvSpPr>
          <p:nvPr/>
        </p:nvSpPr>
        <p:spPr bwMode="auto">
          <a:xfrm>
            <a:off x="1644650" y="4260850"/>
            <a:ext cx="19177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Reversal: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FD9502-3806-4A41-9CDC-4BF8A7636967}" type="slidenum">
              <a:rPr lang="en-US"/>
              <a:pPr/>
              <a:t>9</a:t>
            </a:fld>
            <a:endParaRPr lang="en-US"/>
          </a:p>
        </p:txBody>
      </p:sp>
      <p:grpSp>
        <p:nvGrpSpPr>
          <p:cNvPr id="134198" name="Group 54"/>
          <p:cNvGrpSpPr>
            <a:grpSpLocks/>
          </p:cNvGrpSpPr>
          <p:nvPr/>
        </p:nvGrpSpPr>
        <p:grpSpPr bwMode="auto">
          <a:xfrm>
            <a:off x="0" y="838200"/>
            <a:ext cx="3935413" cy="579438"/>
            <a:chOff x="0" y="528"/>
            <a:chExt cx="2479" cy="365"/>
          </a:xfrm>
        </p:grpSpPr>
        <p:graphicFrame>
          <p:nvGraphicFramePr>
            <p:cNvPr id="134182" name="Object 38"/>
            <p:cNvGraphicFramePr>
              <a:graphicFrameLocks noChangeAspect="1"/>
            </p:cNvGraphicFramePr>
            <p:nvPr/>
          </p:nvGraphicFramePr>
          <p:xfrm>
            <a:off x="2208" y="528"/>
            <a:ext cx="271" cy="360"/>
          </p:xfrm>
          <a:graphic>
            <a:graphicData uri="http://schemas.openxmlformats.org/presentationml/2006/ole">
              <p:oleObj spid="_x0000_s134182" name="Equation" r:id="rId3" imgW="431640" imgH="571320" progId="Equation.3">
                <p:embed/>
              </p:oleObj>
            </a:graphicData>
          </a:graphic>
        </p:graphicFrame>
        <p:sp>
          <p:nvSpPr>
            <p:cNvPr id="134188" name="Text Box 44"/>
            <p:cNvSpPr txBox="1">
              <a:spLocks noChangeArrowheads="1"/>
            </p:cNvSpPr>
            <p:nvPr/>
          </p:nvSpPr>
          <p:spPr bwMode="auto">
            <a:xfrm>
              <a:off x="0" y="528"/>
              <a:ext cx="209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Regular language</a:t>
              </a:r>
            </a:p>
          </p:txBody>
        </p:sp>
      </p:grpSp>
      <p:grpSp>
        <p:nvGrpSpPr>
          <p:cNvPr id="134196" name="Group 52"/>
          <p:cNvGrpSpPr>
            <a:grpSpLocks/>
          </p:cNvGrpSpPr>
          <p:nvPr/>
        </p:nvGrpSpPr>
        <p:grpSpPr bwMode="auto">
          <a:xfrm>
            <a:off x="228600" y="2362200"/>
            <a:ext cx="3452813" cy="3932238"/>
            <a:chOff x="144" y="1488"/>
            <a:chExt cx="2175" cy="2477"/>
          </a:xfrm>
        </p:grpSpPr>
        <p:graphicFrame>
          <p:nvGraphicFramePr>
            <p:cNvPr id="134150" name="Object 6"/>
            <p:cNvGraphicFramePr>
              <a:graphicFrameLocks noChangeAspect="1"/>
            </p:cNvGraphicFramePr>
            <p:nvPr/>
          </p:nvGraphicFramePr>
          <p:xfrm>
            <a:off x="672" y="1488"/>
            <a:ext cx="1408" cy="360"/>
          </p:xfrm>
          <a:graphic>
            <a:graphicData uri="http://schemas.openxmlformats.org/presentationml/2006/ole">
              <p:oleObj spid="_x0000_s134150" name="Equation" r:id="rId4" imgW="2234880" imgH="571320" progId="Equation.3">
                <p:embed/>
              </p:oleObj>
            </a:graphicData>
          </a:graphic>
        </p:graphicFrame>
        <p:sp>
          <p:nvSpPr>
            <p:cNvPr id="134151" name="Rectangle 7"/>
            <p:cNvSpPr>
              <a:spLocks noChangeArrowheads="1"/>
            </p:cNvSpPr>
            <p:nvPr/>
          </p:nvSpPr>
          <p:spPr bwMode="auto">
            <a:xfrm>
              <a:off x="480" y="2544"/>
              <a:ext cx="1632" cy="91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54" name="Oval 10"/>
            <p:cNvSpPr>
              <a:spLocks noChangeArrowheads="1"/>
            </p:cNvSpPr>
            <p:nvPr/>
          </p:nvSpPr>
          <p:spPr bwMode="auto">
            <a:xfrm>
              <a:off x="624" y="288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55" name="Oval 11"/>
            <p:cNvSpPr>
              <a:spLocks noChangeArrowheads="1"/>
            </p:cNvSpPr>
            <p:nvPr/>
          </p:nvSpPr>
          <p:spPr bwMode="auto">
            <a:xfrm>
              <a:off x="1680" y="288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56" name="Oval 12"/>
            <p:cNvSpPr>
              <a:spLocks noChangeArrowheads="1"/>
            </p:cNvSpPr>
            <p:nvPr/>
          </p:nvSpPr>
          <p:spPr bwMode="auto">
            <a:xfrm>
              <a:off x="1632" y="2832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57" name="Line 13"/>
            <p:cNvSpPr>
              <a:spLocks noChangeShapeType="1"/>
            </p:cNvSpPr>
            <p:nvPr/>
          </p:nvSpPr>
          <p:spPr bwMode="auto">
            <a:xfrm>
              <a:off x="240" y="29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62" name="Freeform 18"/>
            <p:cNvSpPr>
              <a:spLocks/>
            </p:cNvSpPr>
            <p:nvPr/>
          </p:nvSpPr>
          <p:spPr bwMode="auto">
            <a:xfrm>
              <a:off x="864" y="2744"/>
              <a:ext cx="816" cy="376"/>
            </a:xfrm>
            <a:custGeom>
              <a:avLst/>
              <a:gdLst/>
              <a:ahLst/>
              <a:cxnLst>
                <a:cxn ang="0">
                  <a:pos x="0" y="232"/>
                </a:cxn>
                <a:cxn ang="0">
                  <a:pos x="96" y="88"/>
                </a:cxn>
                <a:cxn ang="0">
                  <a:pos x="192" y="328"/>
                </a:cxn>
                <a:cxn ang="0">
                  <a:pos x="384" y="40"/>
                </a:cxn>
                <a:cxn ang="0">
                  <a:pos x="480" y="376"/>
                </a:cxn>
                <a:cxn ang="0">
                  <a:pos x="672" y="40"/>
                </a:cxn>
                <a:cxn ang="0">
                  <a:pos x="816" y="136"/>
                </a:cxn>
              </a:cxnLst>
              <a:rect l="0" t="0" r="r" b="b"/>
              <a:pathLst>
                <a:path w="816" h="376">
                  <a:moveTo>
                    <a:pt x="0" y="232"/>
                  </a:moveTo>
                  <a:cubicBezTo>
                    <a:pt x="32" y="152"/>
                    <a:pt x="64" y="72"/>
                    <a:pt x="96" y="88"/>
                  </a:cubicBezTo>
                  <a:cubicBezTo>
                    <a:pt x="128" y="104"/>
                    <a:pt x="144" y="336"/>
                    <a:pt x="192" y="328"/>
                  </a:cubicBezTo>
                  <a:cubicBezTo>
                    <a:pt x="240" y="320"/>
                    <a:pt x="336" y="32"/>
                    <a:pt x="384" y="40"/>
                  </a:cubicBezTo>
                  <a:cubicBezTo>
                    <a:pt x="432" y="48"/>
                    <a:pt x="432" y="376"/>
                    <a:pt x="480" y="376"/>
                  </a:cubicBezTo>
                  <a:cubicBezTo>
                    <a:pt x="528" y="376"/>
                    <a:pt x="616" y="80"/>
                    <a:pt x="672" y="40"/>
                  </a:cubicBezTo>
                  <a:cubicBezTo>
                    <a:pt x="728" y="0"/>
                    <a:pt x="772" y="68"/>
                    <a:pt x="816" y="136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34174" name="Object 30"/>
            <p:cNvGraphicFramePr>
              <a:graphicFrameLocks noChangeAspect="1"/>
            </p:cNvGraphicFramePr>
            <p:nvPr/>
          </p:nvGraphicFramePr>
          <p:xfrm>
            <a:off x="1488" y="2160"/>
            <a:ext cx="407" cy="360"/>
          </p:xfrm>
          <a:graphic>
            <a:graphicData uri="http://schemas.openxmlformats.org/presentationml/2006/ole">
              <p:oleObj spid="_x0000_s134174" name="Equation" r:id="rId5" imgW="647640" imgH="571320" progId="Equation.3">
                <p:embed/>
              </p:oleObj>
            </a:graphicData>
          </a:graphic>
        </p:graphicFrame>
        <p:sp>
          <p:nvSpPr>
            <p:cNvPr id="134176" name="Text Box 32"/>
            <p:cNvSpPr txBox="1">
              <a:spLocks noChangeArrowheads="1"/>
            </p:cNvSpPr>
            <p:nvPr/>
          </p:nvSpPr>
          <p:spPr bwMode="auto">
            <a:xfrm>
              <a:off x="144" y="3600"/>
              <a:ext cx="2175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Single final state</a:t>
              </a:r>
            </a:p>
          </p:txBody>
        </p:sp>
        <p:sp>
          <p:nvSpPr>
            <p:cNvPr id="134194" name="Text Box 50"/>
            <p:cNvSpPr txBox="1">
              <a:spLocks noChangeArrowheads="1"/>
            </p:cNvSpPr>
            <p:nvPr/>
          </p:nvSpPr>
          <p:spPr bwMode="auto">
            <a:xfrm>
              <a:off x="624" y="2160"/>
              <a:ext cx="66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NFA</a:t>
              </a:r>
            </a:p>
          </p:txBody>
        </p:sp>
      </p:grpSp>
      <p:grpSp>
        <p:nvGrpSpPr>
          <p:cNvPr id="134197" name="Group 53"/>
          <p:cNvGrpSpPr>
            <a:grpSpLocks/>
          </p:cNvGrpSpPr>
          <p:nvPr/>
        </p:nvGrpSpPr>
        <p:grpSpPr bwMode="auto">
          <a:xfrm>
            <a:off x="4876800" y="914400"/>
            <a:ext cx="3937000" cy="5380038"/>
            <a:chOff x="3072" y="576"/>
            <a:chExt cx="2480" cy="3389"/>
          </a:xfrm>
        </p:grpSpPr>
        <p:sp>
          <p:nvSpPr>
            <p:cNvPr id="134167" name="Rectangle 23"/>
            <p:cNvSpPr>
              <a:spLocks noChangeArrowheads="1"/>
            </p:cNvSpPr>
            <p:nvPr/>
          </p:nvSpPr>
          <p:spPr bwMode="auto">
            <a:xfrm>
              <a:off x="3408" y="2544"/>
              <a:ext cx="1632" cy="91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68" name="Oval 24"/>
            <p:cNvSpPr>
              <a:spLocks noChangeArrowheads="1"/>
            </p:cNvSpPr>
            <p:nvPr/>
          </p:nvSpPr>
          <p:spPr bwMode="auto">
            <a:xfrm>
              <a:off x="3552" y="288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69" name="Oval 25"/>
            <p:cNvSpPr>
              <a:spLocks noChangeArrowheads="1"/>
            </p:cNvSpPr>
            <p:nvPr/>
          </p:nvSpPr>
          <p:spPr bwMode="auto">
            <a:xfrm>
              <a:off x="4608" y="288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70" name="Oval 26"/>
            <p:cNvSpPr>
              <a:spLocks noChangeArrowheads="1"/>
            </p:cNvSpPr>
            <p:nvPr/>
          </p:nvSpPr>
          <p:spPr bwMode="auto">
            <a:xfrm>
              <a:off x="4560" y="2832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71" name="Line 27"/>
            <p:cNvSpPr>
              <a:spLocks noChangeShapeType="1"/>
            </p:cNvSpPr>
            <p:nvPr/>
          </p:nvSpPr>
          <p:spPr bwMode="auto">
            <a:xfrm>
              <a:off x="3168" y="29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72" name="Freeform 28"/>
            <p:cNvSpPr>
              <a:spLocks/>
            </p:cNvSpPr>
            <p:nvPr/>
          </p:nvSpPr>
          <p:spPr bwMode="auto">
            <a:xfrm>
              <a:off x="3792" y="2744"/>
              <a:ext cx="816" cy="376"/>
            </a:xfrm>
            <a:custGeom>
              <a:avLst/>
              <a:gdLst/>
              <a:ahLst/>
              <a:cxnLst>
                <a:cxn ang="0">
                  <a:pos x="0" y="232"/>
                </a:cxn>
                <a:cxn ang="0">
                  <a:pos x="96" y="88"/>
                </a:cxn>
                <a:cxn ang="0">
                  <a:pos x="192" y="328"/>
                </a:cxn>
                <a:cxn ang="0">
                  <a:pos x="384" y="40"/>
                </a:cxn>
                <a:cxn ang="0">
                  <a:pos x="480" y="376"/>
                </a:cxn>
                <a:cxn ang="0">
                  <a:pos x="672" y="40"/>
                </a:cxn>
                <a:cxn ang="0">
                  <a:pos x="816" y="136"/>
                </a:cxn>
              </a:cxnLst>
              <a:rect l="0" t="0" r="r" b="b"/>
              <a:pathLst>
                <a:path w="816" h="376">
                  <a:moveTo>
                    <a:pt x="0" y="232"/>
                  </a:moveTo>
                  <a:cubicBezTo>
                    <a:pt x="32" y="152"/>
                    <a:pt x="64" y="72"/>
                    <a:pt x="96" y="88"/>
                  </a:cubicBezTo>
                  <a:cubicBezTo>
                    <a:pt x="128" y="104"/>
                    <a:pt x="144" y="336"/>
                    <a:pt x="192" y="328"/>
                  </a:cubicBezTo>
                  <a:cubicBezTo>
                    <a:pt x="240" y="320"/>
                    <a:pt x="336" y="32"/>
                    <a:pt x="384" y="40"/>
                  </a:cubicBezTo>
                  <a:cubicBezTo>
                    <a:pt x="432" y="48"/>
                    <a:pt x="432" y="376"/>
                    <a:pt x="480" y="376"/>
                  </a:cubicBezTo>
                  <a:cubicBezTo>
                    <a:pt x="528" y="376"/>
                    <a:pt x="616" y="80"/>
                    <a:pt x="672" y="40"/>
                  </a:cubicBezTo>
                  <a:cubicBezTo>
                    <a:pt x="728" y="0"/>
                    <a:pt x="772" y="68"/>
                    <a:pt x="816" y="136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34175" name="Object 31"/>
            <p:cNvGraphicFramePr>
              <a:graphicFrameLocks noChangeAspect="1"/>
            </p:cNvGraphicFramePr>
            <p:nvPr/>
          </p:nvGraphicFramePr>
          <p:xfrm>
            <a:off x="4368" y="2160"/>
            <a:ext cx="456" cy="360"/>
          </p:xfrm>
          <a:graphic>
            <a:graphicData uri="http://schemas.openxmlformats.org/presentationml/2006/ole">
              <p:oleObj spid="_x0000_s134175" name="Equation" r:id="rId6" imgW="723600" imgH="571320" progId="Equation.3">
                <p:embed/>
              </p:oleObj>
            </a:graphicData>
          </a:graphic>
        </p:graphicFrame>
        <p:graphicFrame>
          <p:nvGraphicFramePr>
            <p:cNvPr id="134183" name="Object 39"/>
            <p:cNvGraphicFramePr>
              <a:graphicFrameLocks noChangeAspect="1"/>
            </p:cNvGraphicFramePr>
            <p:nvPr/>
          </p:nvGraphicFramePr>
          <p:xfrm>
            <a:off x="5232" y="576"/>
            <a:ext cx="320" cy="360"/>
          </p:xfrm>
          <a:graphic>
            <a:graphicData uri="http://schemas.openxmlformats.org/presentationml/2006/ole">
              <p:oleObj spid="_x0000_s134183" name="Equation" r:id="rId7" imgW="507960" imgH="571320" progId="Equation.3">
                <p:embed/>
              </p:oleObj>
            </a:graphicData>
          </a:graphic>
        </p:graphicFrame>
        <p:sp>
          <p:nvSpPr>
            <p:cNvPr id="134187" name="Text Box 43"/>
            <p:cNvSpPr txBox="1">
              <a:spLocks noChangeArrowheads="1"/>
            </p:cNvSpPr>
            <p:nvPr/>
          </p:nvSpPr>
          <p:spPr bwMode="auto">
            <a:xfrm>
              <a:off x="3120" y="3600"/>
              <a:ext cx="2175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Single final state</a:t>
              </a:r>
            </a:p>
          </p:txBody>
        </p:sp>
        <p:graphicFrame>
          <p:nvGraphicFramePr>
            <p:cNvPr id="134189" name="Object 45"/>
            <p:cNvGraphicFramePr>
              <a:graphicFrameLocks noChangeAspect="1"/>
            </p:cNvGraphicFramePr>
            <p:nvPr/>
          </p:nvGraphicFramePr>
          <p:xfrm>
            <a:off x="3456" y="1488"/>
            <a:ext cx="1504" cy="360"/>
          </p:xfrm>
          <a:graphic>
            <a:graphicData uri="http://schemas.openxmlformats.org/presentationml/2006/ole">
              <p:oleObj spid="_x0000_s134189" name="Equation" r:id="rId8" imgW="2387520" imgH="571320" progId="Equation.3">
                <p:embed/>
              </p:oleObj>
            </a:graphicData>
          </a:graphic>
        </p:graphicFrame>
        <p:sp>
          <p:nvSpPr>
            <p:cNvPr id="134190" name="Text Box 46"/>
            <p:cNvSpPr txBox="1">
              <a:spLocks noChangeArrowheads="1"/>
            </p:cNvSpPr>
            <p:nvPr/>
          </p:nvSpPr>
          <p:spPr bwMode="auto">
            <a:xfrm>
              <a:off x="3072" y="576"/>
              <a:ext cx="209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Regular language</a:t>
              </a:r>
            </a:p>
          </p:txBody>
        </p:sp>
        <p:sp>
          <p:nvSpPr>
            <p:cNvPr id="134195" name="Text Box 51"/>
            <p:cNvSpPr txBox="1">
              <a:spLocks noChangeArrowheads="1"/>
            </p:cNvSpPr>
            <p:nvPr/>
          </p:nvSpPr>
          <p:spPr bwMode="auto">
            <a:xfrm>
              <a:off x="3552" y="2160"/>
              <a:ext cx="66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NFA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4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4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B0D2E1-F8C6-485D-A0A8-D33501960B53}" type="slidenum">
              <a:rPr lang="en-US"/>
              <a:pPr/>
              <a:t>10</a:t>
            </a:fld>
            <a:endParaRPr lang="en-US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graphicFrame>
        <p:nvGraphicFramePr>
          <p:cNvPr id="135172" name="Object 4"/>
          <p:cNvGraphicFramePr>
            <a:graphicFrameLocks noChangeAspect="1"/>
          </p:cNvGraphicFramePr>
          <p:nvPr/>
        </p:nvGraphicFramePr>
        <p:xfrm>
          <a:off x="679450" y="2171700"/>
          <a:ext cx="2095500" cy="723900"/>
        </p:xfrm>
        <a:graphic>
          <a:graphicData uri="http://schemas.openxmlformats.org/presentationml/2006/ole">
            <p:oleObj spid="_x0000_s135172" name="Equation" r:id="rId3" imgW="2095200" imgH="723600" progId="Equation.3">
              <p:embed/>
            </p:oleObj>
          </a:graphicData>
        </a:graphic>
      </p:graphicFrame>
      <p:sp>
        <p:nvSpPr>
          <p:cNvPr id="135173" name="Rectangle 5"/>
          <p:cNvSpPr>
            <a:spLocks noChangeArrowheads="1"/>
          </p:cNvSpPr>
          <p:nvPr/>
        </p:nvSpPr>
        <p:spPr bwMode="auto">
          <a:xfrm>
            <a:off x="3810000" y="1676400"/>
            <a:ext cx="2209800" cy="167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5174" name="Oval 6"/>
          <p:cNvSpPr>
            <a:spLocks noChangeArrowheads="1"/>
          </p:cNvSpPr>
          <p:nvPr/>
        </p:nvSpPr>
        <p:spPr bwMode="auto">
          <a:xfrm>
            <a:off x="4191000" y="2667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5175" name="Oval 7"/>
          <p:cNvSpPr>
            <a:spLocks noChangeArrowheads="1"/>
          </p:cNvSpPr>
          <p:nvPr/>
        </p:nvSpPr>
        <p:spPr bwMode="auto">
          <a:xfrm>
            <a:off x="5257800" y="2667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5176" name="Line 8"/>
          <p:cNvSpPr>
            <a:spLocks noChangeShapeType="1"/>
          </p:cNvSpPr>
          <p:nvPr/>
        </p:nvSpPr>
        <p:spPr bwMode="auto">
          <a:xfrm>
            <a:off x="4572000" y="2819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5178" name="Freeform 10"/>
          <p:cNvSpPr>
            <a:spLocks/>
          </p:cNvSpPr>
          <p:nvPr/>
        </p:nvSpPr>
        <p:spPr bwMode="auto">
          <a:xfrm>
            <a:off x="4102100" y="2044700"/>
            <a:ext cx="482600" cy="622300"/>
          </a:xfrm>
          <a:custGeom>
            <a:avLst/>
            <a:gdLst/>
            <a:ahLst/>
            <a:cxnLst>
              <a:cxn ang="0">
                <a:pos x="104" y="392"/>
              </a:cxn>
              <a:cxn ang="0">
                <a:pos x="8" y="152"/>
              </a:cxn>
              <a:cxn ang="0">
                <a:pos x="152" y="8"/>
              </a:cxn>
              <a:cxn ang="0">
                <a:pos x="296" y="104"/>
              </a:cxn>
              <a:cxn ang="0">
                <a:pos x="200" y="392"/>
              </a:cxn>
            </a:cxnLst>
            <a:rect l="0" t="0" r="r" b="b"/>
            <a:pathLst>
              <a:path w="304" h="392">
                <a:moveTo>
                  <a:pt x="104" y="392"/>
                </a:moveTo>
                <a:cubicBezTo>
                  <a:pt x="52" y="304"/>
                  <a:pt x="0" y="216"/>
                  <a:pt x="8" y="152"/>
                </a:cubicBezTo>
                <a:cubicBezTo>
                  <a:pt x="16" y="88"/>
                  <a:pt x="104" y="16"/>
                  <a:pt x="152" y="8"/>
                </a:cubicBezTo>
                <a:cubicBezTo>
                  <a:pt x="200" y="0"/>
                  <a:pt x="288" y="40"/>
                  <a:pt x="296" y="104"/>
                </a:cubicBezTo>
                <a:cubicBezTo>
                  <a:pt x="304" y="168"/>
                  <a:pt x="252" y="280"/>
                  <a:pt x="200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5179" name="Line 11"/>
          <p:cNvSpPr>
            <a:spLocks noChangeShapeType="1"/>
          </p:cNvSpPr>
          <p:nvPr/>
        </p:nvSpPr>
        <p:spPr bwMode="auto">
          <a:xfrm>
            <a:off x="3276600" y="2819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5180" name="Oval 12"/>
          <p:cNvSpPr>
            <a:spLocks noChangeArrowheads="1"/>
          </p:cNvSpPr>
          <p:nvPr/>
        </p:nvSpPr>
        <p:spPr bwMode="auto">
          <a:xfrm>
            <a:off x="5181600" y="2590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5193" name="Object 25"/>
          <p:cNvGraphicFramePr>
            <a:graphicFrameLocks noChangeAspect="1"/>
          </p:cNvGraphicFramePr>
          <p:nvPr/>
        </p:nvGraphicFramePr>
        <p:xfrm>
          <a:off x="3962400" y="1828800"/>
          <a:ext cx="265113" cy="279400"/>
        </p:xfrm>
        <a:graphic>
          <a:graphicData uri="http://schemas.openxmlformats.org/presentationml/2006/ole">
            <p:oleObj spid="_x0000_s135193" name="Equation" r:id="rId4" imgW="266400" imgH="279360" progId="Equation.3">
              <p:embed/>
            </p:oleObj>
          </a:graphicData>
        </a:graphic>
      </p:graphicFrame>
      <p:graphicFrame>
        <p:nvGraphicFramePr>
          <p:cNvPr id="135194" name="Object 26"/>
          <p:cNvGraphicFramePr>
            <a:graphicFrameLocks noChangeAspect="1"/>
          </p:cNvGraphicFramePr>
          <p:nvPr/>
        </p:nvGraphicFramePr>
        <p:xfrm>
          <a:off x="4724400" y="2438400"/>
          <a:ext cx="252413" cy="392113"/>
        </p:xfrm>
        <a:graphic>
          <a:graphicData uri="http://schemas.openxmlformats.org/presentationml/2006/ole">
            <p:oleObj spid="_x0000_s135194" name="Equation" r:id="rId5" imgW="253800" imgH="393480" progId="Equation.3">
              <p:embed/>
            </p:oleObj>
          </a:graphicData>
        </a:graphic>
      </p:graphicFrame>
      <p:graphicFrame>
        <p:nvGraphicFramePr>
          <p:cNvPr id="135200" name="Object 32"/>
          <p:cNvGraphicFramePr>
            <a:graphicFrameLocks noChangeAspect="1"/>
          </p:cNvGraphicFramePr>
          <p:nvPr/>
        </p:nvGraphicFramePr>
        <p:xfrm>
          <a:off x="4648200" y="1066800"/>
          <a:ext cx="646113" cy="571500"/>
        </p:xfrm>
        <a:graphic>
          <a:graphicData uri="http://schemas.openxmlformats.org/presentationml/2006/ole">
            <p:oleObj spid="_x0000_s135200" name="Equation" r:id="rId6" imgW="647640" imgH="571320" progId="Equation.3">
              <p:embed/>
            </p:oleObj>
          </a:graphicData>
        </a:graphic>
      </p:graphicFrame>
      <p:grpSp>
        <p:nvGrpSpPr>
          <p:cNvPr id="135202" name="Group 34"/>
          <p:cNvGrpSpPr>
            <a:grpSpLocks/>
          </p:cNvGrpSpPr>
          <p:nvPr/>
        </p:nvGrpSpPr>
        <p:grpSpPr bwMode="auto">
          <a:xfrm>
            <a:off x="666750" y="4114800"/>
            <a:ext cx="6191250" cy="1828800"/>
            <a:chOff x="420" y="2592"/>
            <a:chExt cx="3900" cy="1152"/>
          </a:xfrm>
        </p:grpSpPr>
        <p:graphicFrame>
          <p:nvGraphicFramePr>
            <p:cNvPr id="135181" name="Object 13"/>
            <p:cNvGraphicFramePr>
              <a:graphicFrameLocks noChangeAspect="1"/>
            </p:cNvGraphicFramePr>
            <p:nvPr/>
          </p:nvGraphicFramePr>
          <p:xfrm>
            <a:off x="420" y="3200"/>
            <a:ext cx="1192" cy="360"/>
          </p:xfrm>
          <a:graphic>
            <a:graphicData uri="http://schemas.openxmlformats.org/presentationml/2006/ole">
              <p:oleObj spid="_x0000_s135181" name="Equation" r:id="rId7" imgW="1892160" imgH="571320" progId="Equation.3">
                <p:embed/>
              </p:oleObj>
            </a:graphicData>
          </a:graphic>
        </p:graphicFrame>
        <p:sp>
          <p:nvSpPr>
            <p:cNvPr id="135184" name="Rectangle 16"/>
            <p:cNvSpPr>
              <a:spLocks noChangeArrowheads="1"/>
            </p:cNvSpPr>
            <p:nvPr/>
          </p:nvSpPr>
          <p:spPr bwMode="auto">
            <a:xfrm>
              <a:off x="2400" y="2976"/>
              <a:ext cx="1920" cy="76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185" name="Oval 17"/>
            <p:cNvSpPr>
              <a:spLocks noChangeArrowheads="1"/>
            </p:cNvSpPr>
            <p:nvPr/>
          </p:nvSpPr>
          <p:spPr bwMode="auto">
            <a:xfrm>
              <a:off x="2592" y="331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186" name="Oval 18"/>
            <p:cNvSpPr>
              <a:spLocks noChangeArrowheads="1"/>
            </p:cNvSpPr>
            <p:nvPr/>
          </p:nvSpPr>
          <p:spPr bwMode="auto">
            <a:xfrm>
              <a:off x="3888" y="331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187" name="Line 19"/>
            <p:cNvSpPr>
              <a:spLocks noChangeShapeType="1"/>
            </p:cNvSpPr>
            <p:nvPr/>
          </p:nvSpPr>
          <p:spPr bwMode="auto">
            <a:xfrm>
              <a:off x="2832" y="340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189" name="Line 21"/>
            <p:cNvSpPr>
              <a:spLocks noChangeShapeType="1"/>
            </p:cNvSpPr>
            <p:nvPr/>
          </p:nvSpPr>
          <p:spPr bwMode="auto">
            <a:xfrm>
              <a:off x="2016" y="340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190" name="Oval 22"/>
            <p:cNvSpPr>
              <a:spLocks noChangeArrowheads="1"/>
            </p:cNvSpPr>
            <p:nvPr/>
          </p:nvSpPr>
          <p:spPr bwMode="auto">
            <a:xfrm>
              <a:off x="3840" y="3264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191" name="Oval 23"/>
            <p:cNvSpPr>
              <a:spLocks noChangeArrowheads="1"/>
            </p:cNvSpPr>
            <p:nvPr/>
          </p:nvSpPr>
          <p:spPr bwMode="auto">
            <a:xfrm>
              <a:off x="3216" y="331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192" name="Line 24"/>
            <p:cNvSpPr>
              <a:spLocks noChangeShapeType="1"/>
            </p:cNvSpPr>
            <p:nvPr/>
          </p:nvSpPr>
          <p:spPr bwMode="auto">
            <a:xfrm>
              <a:off x="3456" y="340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35195" name="Object 27"/>
            <p:cNvGraphicFramePr>
              <a:graphicFrameLocks noChangeAspect="1"/>
            </p:cNvGraphicFramePr>
            <p:nvPr/>
          </p:nvGraphicFramePr>
          <p:xfrm>
            <a:off x="3552" y="3168"/>
            <a:ext cx="167" cy="176"/>
          </p:xfrm>
          <a:graphic>
            <a:graphicData uri="http://schemas.openxmlformats.org/presentationml/2006/ole">
              <p:oleObj spid="_x0000_s135195" name="Equation" r:id="rId8" imgW="266400" imgH="279360" progId="Equation.3">
                <p:embed/>
              </p:oleObj>
            </a:graphicData>
          </a:graphic>
        </p:graphicFrame>
        <p:graphicFrame>
          <p:nvGraphicFramePr>
            <p:cNvPr id="135197" name="Object 29"/>
            <p:cNvGraphicFramePr>
              <a:graphicFrameLocks noChangeAspect="1"/>
            </p:cNvGraphicFramePr>
            <p:nvPr/>
          </p:nvGraphicFramePr>
          <p:xfrm>
            <a:off x="2928" y="3120"/>
            <a:ext cx="159" cy="247"/>
          </p:xfrm>
          <a:graphic>
            <a:graphicData uri="http://schemas.openxmlformats.org/presentationml/2006/ole">
              <p:oleObj spid="_x0000_s135197" name="Equation" r:id="rId9" imgW="253800" imgH="393480" progId="Equation.3">
                <p:embed/>
              </p:oleObj>
            </a:graphicData>
          </a:graphic>
        </p:graphicFrame>
        <p:graphicFrame>
          <p:nvGraphicFramePr>
            <p:cNvPr id="135201" name="Object 33"/>
            <p:cNvGraphicFramePr>
              <a:graphicFrameLocks noChangeAspect="1"/>
            </p:cNvGraphicFramePr>
            <p:nvPr/>
          </p:nvGraphicFramePr>
          <p:xfrm>
            <a:off x="3168" y="2592"/>
            <a:ext cx="456" cy="360"/>
          </p:xfrm>
          <a:graphic>
            <a:graphicData uri="http://schemas.openxmlformats.org/presentationml/2006/ole">
              <p:oleObj spid="_x0000_s135201" name="Equation" r:id="rId10" imgW="723600" imgH="571320" progId="Equation.3">
                <p:embed/>
              </p:oleObj>
            </a:graphicData>
          </a:graphic>
        </p:graphicFrame>
      </p:grpSp>
      <p:graphicFrame>
        <p:nvGraphicFramePr>
          <p:cNvPr id="135204" name="Object 36"/>
          <p:cNvGraphicFramePr>
            <a:graphicFrameLocks noChangeAspect="1"/>
          </p:cNvGraphicFramePr>
          <p:nvPr/>
        </p:nvGraphicFramePr>
        <p:xfrm>
          <a:off x="2027238" y="1630363"/>
          <a:ext cx="669925" cy="277812"/>
        </p:xfrm>
        <a:graphic>
          <a:graphicData uri="http://schemas.openxmlformats.org/presentationml/2006/ole">
            <p:oleObj spid="_x0000_s135204" name="Equation" r:id="rId11" imgW="825480" imgH="3427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0D4F43-DCBD-460B-B3BB-59D5DAE54B03}" type="slidenum">
              <a:rPr lang="en-US"/>
              <a:pPr/>
              <a:t>11</a:t>
            </a:fld>
            <a:endParaRPr lang="en-US"/>
          </a:p>
        </p:txBody>
      </p:sp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Union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NFA for </a:t>
            </a:r>
          </a:p>
        </p:txBody>
      </p:sp>
      <p:sp>
        <p:nvSpPr>
          <p:cNvPr id="137236" name="Rectangle 20"/>
          <p:cNvSpPr>
            <a:spLocks noChangeArrowheads="1"/>
          </p:cNvSpPr>
          <p:nvPr/>
        </p:nvSpPr>
        <p:spPr bwMode="auto">
          <a:xfrm>
            <a:off x="3276600" y="2057400"/>
            <a:ext cx="2590800" cy="1447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7237" name="Oval 21"/>
          <p:cNvSpPr>
            <a:spLocks noChangeArrowheads="1"/>
          </p:cNvSpPr>
          <p:nvPr/>
        </p:nvSpPr>
        <p:spPr bwMode="auto">
          <a:xfrm>
            <a:off x="3505200" y="2590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7238" name="Oval 22"/>
          <p:cNvSpPr>
            <a:spLocks noChangeArrowheads="1"/>
          </p:cNvSpPr>
          <p:nvPr/>
        </p:nvSpPr>
        <p:spPr bwMode="auto">
          <a:xfrm>
            <a:off x="5181600" y="2590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7239" name="Oval 23"/>
          <p:cNvSpPr>
            <a:spLocks noChangeArrowheads="1"/>
          </p:cNvSpPr>
          <p:nvPr/>
        </p:nvSpPr>
        <p:spPr bwMode="auto">
          <a:xfrm>
            <a:off x="5105400" y="2514600"/>
            <a:ext cx="533400" cy="533400"/>
          </a:xfrm>
          <a:prstGeom prst="ellipse">
            <a:avLst/>
          </a:prstGeom>
          <a:noFill/>
          <a:ln w="9525" cap="rnd">
            <a:solidFill>
              <a:srgbClr val="C0C0C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7241" name="Freeform 25"/>
          <p:cNvSpPr>
            <a:spLocks/>
          </p:cNvSpPr>
          <p:nvPr/>
        </p:nvSpPr>
        <p:spPr bwMode="auto">
          <a:xfrm>
            <a:off x="3886200" y="2374900"/>
            <a:ext cx="1295400" cy="5969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96" y="88"/>
              </a:cxn>
              <a:cxn ang="0">
                <a:pos x="192" y="328"/>
              </a:cxn>
              <a:cxn ang="0">
                <a:pos x="384" y="40"/>
              </a:cxn>
              <a:cxn ang="0">
                <a:pos x="480" y="376"/>
              </a:cxn>
              <a:cxn ang="0">
                <a:pos x="672" y="40"/>
              </a:cxn>
              <a:cxn ang="0">
                <a:pos x="816" y="136"/>
              </a:cxn>
            </a:cxnLst>
            <a:rect l="0" t="0" r="r" b="b"/>
            <a:pathLst>
              <a:path w="816" h="376">
                <a:moveTo>
                  <a:pt x="0" y="232"/>
                </a:moveTo>
                <a:cubicBezTo>
                  <a:pt x="32" y="152"/>
                  <a:pt x="64" y="72"/>
                  <a:pt x="96" y="88"/>
                </a:cubicBezTo>
                <a:cubicBezTo>
                  <a:pt x="128" y="104"/>
                  <a:pt x="144" y="336"/>
                  <a:pt x="192" y="328"/>
                </a:cubicBezTo>
                <a:cubicBezTo>
                  <a:pt x="240" y="320"/>
                  <a:pt x="336" y="32"/>
                  <a:pt x="384" y="40"/>
                </a:cubicBezTo>
                <a:cubicBezTo>
                  <a:pt x="432" y="48"/>
                  <a:pt x="432" y="376"/>
                  <a:pt x="480" y="376"/>
                </a:cubicBezTo>
                <a:cubicBezTo>
                  <a:pt x="528" y="376"/>
                  <a:pt x="616" y="80"/>
                  <a:pt x="672" y="40"/>
                </a:cubicBezTo>
                <a:cubicBezTo>
                  <a:pt x="728" y="0"/>
                  <a:pt x="772" y="68"/>
                  <a:pt x="816" y="1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7242" name="Object 26"/>
          <p:cNvGraphicFramePr>
            <a:graphicFrameLocks noChangeAspect="1"/>
          </p:cNvGraphicFramePr>
          <p:nvPr/>
        </p:nvGraphicFramePr>
        <p:xfrm>
          <a:off x="4387850" y="1498600"/>
          <a:ext cx="646113" cy="571500"/>
        </p:xfrm>
        <a:graphic>
          <a:graphicData uri="http://schemas.openxmlformats.org/presentationml/2006/ole">
            <p:oleObj spid="_x0000_s137242" name="Equation" r:id="rId3" imgW="647640" imgH="571320" progId="Equation.3">
              <p:embed/>
            </p:oleObj>
          </a:graphicData>
        </a:graphic>
      </p:graphicFrame>
      <p:sp>
        <p:nvSpPr>
          <p:cNvPr id="137244" name="Rectangle 28"/>
          <p:cNvSpPr>
            <a:spLocks noChangeArrowheads="1"/>
          </p:cNvSpPr>
          <p:nvPr/>
        </p:nvSpPr>
        <p:spPr bwMode="auto">
          <a:xfrm>
            <a:off x="3276600" y="4572000"/>
            <a:ext cx="2590800" cy="1447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7245" name="Oval 29"/>
          <p:cNvSpPr>
            <a:spLocks noChangeArrowheads="1"/>
          </p:cNvSpPr>
          <p:nvPr/>
        </p:nvSpPr>
        <p:spPr bwMode="auto">
          <a:xfrm>
            <a:off x="3505200" y="5105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7246" name="Oval 30"/>
          <p:cNvSpPr>
            <a:spLocks noChangeArrowheads="1"/>
          </p:cNvSpPr>
          <p:nvPr/>
        </p:nvSpPr>
        <p:spPr bwMode="auto">
          <a:xfrm>
            <a:off x="5181600" y="5105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7247" name="Oval 31"/>
          <p:cNvSpPr>
            <a:spLocks noChangeArrowheads="1"/>
          </p:cNvSpPr>
          <p:nvPr/>
        </p:nvSpPr>
        <p:spPr bwMode="auto">
          <a:xfrm>
            <a:off x="5105400" y="5029200"/>
            <a:ext cx="533400" cy="533400"/>
          </a:xfrm>
          <a:prstGeom prst="ellipse">
            <a:avLst/>
          </a:prstGeom>
          <a:noFill/>
          <a:ln w="9525" cap="rnd">
            <a:solidFill>
              <a:srgbClr val="C0C0C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7249" name="Freeform 33"/>
          <p:cNvSpPr>
            <a:spLocks/>
          </p:cNvSpPr>
          <p:nvPr/>
        </p:nvSpPr>
        <p:spPr bwMode="auto">
          <a:xfrm>
            <a:off x="3886200" y="4889500"/>
            <a:ext cx="1295400" cy="5969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96" y="88"/>
              </a:cxn>
              <a:cxn ang="0">
                <a:pos x="192" y="328"/>
              </a:cxn>
              <a:cxn ang="0">
                <a:pos x="384" y="40"/>
              </a:cxn>
              <a:cxn ang="0">
                <a:pos x="480" y="376"/>
              </a:cxn>
              <a:cxn ang="0">
                <a:pos x="672" y="40"/>
              </a:cxn>
              <a:cxn ang="0">
                <a:pos x="816" y="136"/>
              </a:cxn>
            </a:cxnLst>
            <a:rect l="0" t="0" r="r" b="b"/>
            <a:pathLst>
              <a:path w="816" h="376">
                <a:moveTo>
                  <a:pt x="0" y="232"/>
                </a:moveTo>
                <a:cubicBezTo>
                  <a:pt x="32" y="152"/>
                  <a:pt x="64" y="72"/>
                  <a:pt x="96" y="88"/>
                </a:cubicBezTo>
                <a:cubicBezTo>
                  <a:pt x="128" y="104"/>
                  <a:pt x="144" y="336"/>
                  <a:pt x="192" y="328"/>
                </a:cubicBezTo>
                <a:cubicBezTo>
                  <a:pt x="240" y="320"/>
                  <a:pt x="336" y="32"/>
                  <a:pt x="384" y="40"/>
                </a:cubicBezTo>
                <a:cubicBezTo>
                  <a:pt x="432" y="48"/>
                  <a:pt x="432" y="376"/>
                  <a:pt x="480" y="376"/>
                </a:cubicBezTo>
                <a:cubicBezTo>
                  <a:pt x="528" y="376"/>
                  <a:pt x="616" y="80"/>
                  <a:pt x="672" y="40"/>
                </a:cubicBezTo>
                <a:cubicBezTo>
                  <a:pt x="728" y="0"/>
                  <a:pt x="772" y="68"/>
                  <a:pt x="816" y="1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7250" name="Object 34"/>
          <p:cNvGraphicFramePr>
            <a:graphicFrameLocks noChangeAspect="1"/>
          </p:cNvGraphicFramePr>
          <p:nvPr/>
        </p:nvGraphicFramePr>
        <p:xfrm>
          <a:off x="4349750" y="4013200"/>
          <a:ext cx="723900" cy="571500"/>
        </p:xfrm>
        <a:graphic>
          <a:graphicData uri="http://schemas.openxmlformats.org/presentationml/2006/ole">
            <p:oleObj spid="_x0000_s137250" name="Equation" r:id="rId4" imgW="723600" imgH="571320" progId="Equation.3">
              <p:embed/>
            </p:oleObj>
          </a:graphicData>
        </a:graphic>
      </p:graphicFrame>
      <p:graphicFrame>
        <p:nvGraphicFramePr>
          <p:cNvPr id="137260" name="Object 44"/>
          <p:cNvGraphicFramePr>
            <a:graphicFrameLocks noChangeAspect="1"/>
          </p:cNvGraphicFramePr>
          <p:nvPr/>
        </p:nvGraphicFramePr>
        <p:xfrm>
          <a:off x="2057400" y="812800"/>
          <a:ext cx="1511300" cy="571500"/>
        </p:xfrm>
        <a:graphic>
          <a:graphicData uri="http://schemas.openxmlformats.org/presentationml/2006/ole">
            <p:oleObj spid="_x0000_s137260" name="Equation" r:id="rId5" imgW="1511280" imgH="571320" progId="Equation.3">
              <p:embed/>
            </p:oleObj>
          </a:graphicData>
        </a:graphic>
      </p:graphicFrame>
      <p:grpSp>
        <p:nvGrpSpPr>
          <p:cNvPr id="137266" name="Group 50"/>
          <p:cNvGrpSpPr>
            <a:grpSpLocks/>
          </p:cNvGrpSpPr>
          <p:nvPr/>
        </p:nvGrpSpPr>
        <p:grpSpPr bwMode="auto">
          <a:xfrm>
            <a:off x="5638800" y="2819400"/>
            <a:ext cx="1905000" cy="2438400"/>
            <a:chOff x="3552" y="1776"/>
            <a:chExt cx="1200" cy="1536"/>
          </a:xfrm>
        </p:grpSpPr>
        <p:sp>
          <p:nvSpPr>
            <p:cNvPr id="137252" name="Oval 36"/>
            <p:cNvSpPr>
              <a:spLocks noChangeArrowheads="1"/>
            </p:cNvSpPr>
            <p:nvPr/>
          </p:nvSpPr>
          <p:spPr bwMode="auto">
            <a:xfrm>
              <a:off x="4464" y="240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253" name="Oval 37"/>
            <p:cNvSpPr>
              <a:spLocks noChangeArrowheads="1"/>
            </p:cNvSpPr>
            <p:nvPr/>
          </p:nvSpPr>
          <p:spPr bwMode="auto">
            <a:xfrm>
              <a:off x="4416" y="2352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254" name="Line 38"/>
            <p:cNvSpPr>
              <a:spLocks noChangeShapeType="1"/>
            </p:cNvSpPr>
            <p:nvPr/>
          </p:nvSpPr>
          <p:spPr bwMode="auto">
            <a:xfrm flipV="1">
              <a:off x="3552" y="2640"/>
              <a:ext cx="91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255" name="Line 39"/>
            <p:cNvSpPr>
              <a:spLocks noChangeShapeType="1"/>
            </p:cNvSpPr>
            <p:nvPr/>
          </p:nvSpPr>
          <p:spPr bwMode="auto">
            <a:xfrm>
              <a:off x="3552" y="1776"/>
              <a:ext cx="912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37261" name="Object 45"/>
            <p:cNvGraphicFramePr>
              <a:graphicFrameLocks noChangeAspect="1"/>
            </p:cNvGraphicFramePr>
            <p:nvPr/>
          </p:nvGraphicFramePr>
          <p:xfrm>
            <a:off x="3984" y="1824"/>
            <a:ext cx="191" cy="240"/>
          </p:xfrm>
          <a:graphic>
            <a:graphicData uri="http://schemas.openxmlformats.org/presentationml/2006/ole">
              <p:oleObj spid="_x0000_s137261" name="Equation" r:id="rId6" imgW="304560" imgH="380880" progId="Equation.3">
                <p:embed/>
              </p:oleObj>
            </a:graphicData>
          </a:graphic>
        </p:graphicFrame>
        <p:graphicFrame>
          <p:nvGraphicFramePr>
            <p:cNvPr id="137262" name="Object 46"/>
            <p:cNvGraphicFramePr>
              <a:graphicFrameLocks noChangeAspect="1"/>
            </p:cNvGraphicFramePr>
            <p:nvPr/>
          </p:nvGraphicFramePr>
          <p:xfrm>
            <a:off x="3936" y="2688"/>
            <a:ext cx="191" cy="240"/>
          </p:xfrm>
          <a:graphic>
            <a:graphicData uri="http://schemas.openxmlformats.org/presentationml/2006/ole">
              <p:oleObj spid="_x0000_s137262" name="Equation" r:id="rId7" imgW="304560" imgH="380880" progId="Equation.3">
                <p:embed/>
              </p:oleObj>
            </a:graphicData>
          </a:graphic>
        </p:graphicFrame>
      </p:grpSp>
      <p:grpSp>
        <p:nvGrpSpPr>
          <p:cNvPr id="137265" name="Group 49"/>
          <p:cNvGrpSpPr>
            <a:grpSpLocks/>
          </p:cNvGrpSpPr>
          <p:nvPr/>
        </p:nvGrpSpPr>
        <p:grpSpPr bwMode="auto">
          <a:xfrm>
            <a:off x="838200" y="2819400"/>
            <a:ext cx="2667000" cy="2438400"/>
            <a:chOff x="528" y="1776"/>
            <a:chExt cx="1680" cy="1536"/>
          </a:xfrm>
        </p:grpSpPr>
        <p:sp>
          <p:nvSpPr>
            <p:cNvPr id="137256" name="Oval 40"/>
            <p:cNvSpPr>
              <a:spLocks noChangeArrowheads="1"/>
            </p:cNvSpPr>
            <p:nvPr/>
          </p:nvSpPr>
          <p:spPr bwMode="auto">
            <a:xfrm>
              <a:off x="912" y="240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257" name="Line 41"/>
            <p:cNvSpPr>
              <a:spLocks noChangeShapeType="1"/>
            </p:cNvSpPr>
            <p:nvPr/>
          </p:nvSpPr>
          <p:spPr bwMode="auto">
            <a:xfrm flipV="1">
              <a:off x="1152" y="1776"/>
              <a:ext cx="105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258" name="Line 42"/>
            <p:cNvSpPr>
              <a:spLocks noChangeShapeType="1"/>
            </p:cNvSpPr>
            <p:nvPr/>
          </p:nvSpPr>
          <p:spPr bwMode="auto">
            <a:xfrm>
              <a:off x="1152" y="2592"/>
              <a:ext cx="1056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259" name="Line 43"/>
            <p:cNvSpPr>
              <a:spLocks noChangeShapeType="1"/>
            </p:cNvSpPr>
            <p:nvPr/>
          </p:nvSpPr>
          <p:spPr bwMode="auto">
            <a:xfrm>
              <a:off x="528" y="254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37263" name="Object 47"/>
            <p:cNvGraphicFramePr>
              <a:graphicFrameLocks noChangeAspect="1"/>
            </p:cNvGraphicFramePr>
            <p:nvPr/>
          </p:nvGraphicFramePr>
          <p:xfrm>
            <a:off x="1584" y="1824"/>
            <a:ext cx="191" cy="240"/>
          </p:xfrm>
          <a:graphic>
            <a:graphicData uri="http://schemas.openxmlformats.org/presentationml/2006/ole">
              <p:oleObj spid="_x0000_s137263" name="Equation" r:id="rId8" imgW="304560" imgH="380880" progId="Equation.3">
                <p:embed/>
              </p:oleObj>
            </a:graphicData>
          </a:graphic>
        </p:graphicFrame>
        <p:graphicFrame>
          <p:nvGraphicFramePr>
            <p:cNvPr id="137264" name="Object 48"/>
            <p:cNvGraphicFramePr>
              <a:graphicFrameLocks noChangeAspect="1"/>
            </p:cNvGraphicFramePr>
            <p:nvPr/>
          </p:nvGraphicFramePr>
          <p:xfrm>
            <a:off x="1584" y="2688"/>
            <a:ext cx="191" cy="240"/>
          </p:xfrm>
          <a:graphic>
            <a:graphicData uri="http://schemas.openxmlformats.org/presentationml/2006/ole">
              <p:oleObj spid="_x0000_s137264" name="Equation" r:id="rId9" imgW="304560" imgH="38088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7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7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F66C8-C5A9-4466-BA62-89EEEBC5572E}" type="slidenum">
              <a:rPr lang="en-US"/>
              <a:pPr/>
              <a:t>12</a:t>
            </a:fld>
            <a:endParaRPr lang="en-US"/>
          </a:p>
        </p:txBody>
      </p:sp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38245" name="Rectangle 5"/>
          <p:cNvSpPr>
            <a:spLocks noChangeArrowheads="1"/>
          </p:cNvSpPr>
          <p:nvPr/>
        </p:nvSpPr>
        <p:spPr bwMode="auto">
          <a:xfrm>
            <a:off x="3124200" y="2590800"/>
            <a:ext cx="2209800" cy="167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8246" name="Oval 6"/>
          <p:cNvSpPr>
            <a:spLocks noChangeArrowheads="1"/>
          </p:cNvSpPr>
          <p:nvPr/>
        </p:nvSpPr>
        <p:spPr bwMode="auto">
          <a:xfrm>
            <a:off x="3505200" y="3581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8247" name="Oval 7"/>
          <p:cNvSpPr>
            <a:spLocks noChangeArrowheads="1"/>
          </p:cNvSpPr>
          <p:nvPr/>
        </p:nvSpPr>
        <p:spPr bwMode="auto">
          <a:xfrm>
            <a:off x="4572000" y="3581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8248" name="Line 8"/>
          <p:cNvSpPr>
            <a:spLocks noChangeShapeType="1"/>
          </p:cNvSpPr>
          <p:nvPr/>
        </p:nvSpPr>
        <p:spPr bwMode="auto">
          <a:xfrm>
            <a:off x="3886200" y="3733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8249" name="Freeform 9"/>
          <p:cNvSpPr>
            <a:spLocks/>
          </p:cNvSpPr>
          <p:nvPr/>
        </p:nvSpPr>
        <p:spPr bwMode="auto">
          <a:xfrm>
            <a:off x="3416300" y="2959100"/>
            <a:ext cx="482600" cy="622300"/>
          </a:xfrm>
          <a:custGeom>
            <a:avLst/>
            <a:gdLst/>
            <a:ahLst/>
            <a:cxnLst>
              <a:cxn ang="0">
                <a:pos x="104" y="392"/>
              </a:cxn>
              <a:cxn ang="0">
                <a:pos x="8" y="152"/>
              </a:cxn>
              <a:cxn ang="0">
                <a:pos x="152" y="8"/>
              </a:cxn>
              <a:cxn ang="0">
                <a:pos x="296" y="104"/>
              </a:cxn>
              <a:cxn ang="0">
                <a:pos x="200" y="392"/>
              </a:cxn>
            </a:cxnLst>
            <a:rect l="0" t="0" r="r" b="b"/>
            <a:pathLst>
              <a:path w="304" h="392">
                <a:moveTo>
                  <a:pt x="104" y="392"/>
                </a:moveTo>
                <a:cubicBezTo>
                  <a:pt x="52" y="304"/>
                  <a:pt x="0" y="216"/>
                  <a:pt x="8" y="152"/>
                </a:cubicBezTo>
                <a:cubicBezTo>
                  <a:pt x="16" y="88"/>
                  <a:pt x="104" y="16"/>
                  <a:pt x="152" y="8"/>
                </a:cubicBezTo>
                <a:cubicBezTo>
                  <a:pt x="200" y="0"/>
                  <a:pt x="288" y="40"/>
                  <a:pt x="296" y="104"/>
                </a:cubicBezTo>
                <a:cubicBezTo>
                  <a:pt x="304" y="168"/>
                  <a:pt x="252" y="280"/>
                  <a:pt x="200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8251" name="Oval 11"/>
          <p:cNvSpPr>
            <a:spLocks noChangeArrowheads="1"/>
          </p:cNvSpPr>
          <p:nvPr/>
        </p:nvSpPr>
        <p:spPr bwMode="auto">
          <a:xfrm>
            <a:off x="4495800" y="3505200"/>
            <a:ext cx="533400" cy="533400"/>
          </a:xfrm>
          <a:prstGeom prst="ellipse">
            <a:avLst/>
          </a:prstGeom>
          <a:noFill/>
          <a:ln w="9525" cap="rnd">
            <a:solidFill>
              <a:srgbClr val="C0C0C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8252" name="Object 12"/>
          <p:cNvGraphicFramePr>
            <a:graphicFrameLocks noChangeAspect="1"/>
          </p:cNvGraphicFramePr>
          <p:nvPr/>
        </p:nvGraphicFramePr>
        <p:xfrm>
          <a:off x="3276600" y="2743200"/>
          <a:ext cx="265113" cy="279400"/>
        </p:xfrm>
        <a:graphic>
          <a:graphicData uri="http://schemas.openxmlformats.org/presentationml/2006/ole">
            <p:oleObj spid="_x0000_s138252" name="Equation" r:id="rId3" imgW="266400" imgH="279360" progId="Equation.3">
              <p:embed/>
            </p:oleObj>
          </a:graphicData>
        </a:graphic>
      </p:graphicFrame>
      <p:graphicFrame>
        <p:nvGraphicFramePr>
          <p:cNvPr id="138253" name="Object 13"/>
          <p:cNvGraphicFramePr>
            <a:graphicFrameLocks noChangeAspect="1"/>
          </p:cNvGraphicFramePr>
          <p:nvPr/>
        </p:nvGraphicFramePr>
        <p:xfrm>
          <a:off x="4038600" y="3352800"/>
          <a:ext cx="252413" cy="392113"/>
        </p:xfrm>
        <a:graphic>
          <a:graphicData uri="http://schemas.openxmlformats.org/presentationml/2006/ole">
            <p:oleObj spid="_x0000_s138253" name="Equation" r:id="rId4" imgW="253800" imgH="393480" progId="Equation.3">
              <p:embed/>
            </p:oleObj>
          </a:graphicData>
        </a:graphic>
      </p:graphicFrame>
      <p:sp>
        <p:nvSpPr>
          <p:cNvPr id="138255" name="Rectangle 15"/>
          <p:cNvSpPr>
            <a:spLocks noChangeArrowheads="1"/>
          </p:cNvSpPr>
          <p:nvPr/>
        </p:nvSpPr>
        <p:spPr bwMode="auto">
          <a:xfrm>
            <a:off x="3048000" y="5486400"/>
            <a:ext cx="3048000" cy="1219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8256" name="Oval 16"/>
          <p:cNvSpPr>
            <a:spLocks noChangeArrowheads="1"/>
          </p:cNvSpPr>
          <p:nvPr/>
        </p:nvSpPr>
        <p:spPr bwMode="auto">
          <a:xfrm>
            <a:off x="3352800" y="6019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8257" name="Oval 17"/>
          <p:cNvSpPr>
            <a:spLocks noChangeArrowheads="1"/>
          </p:cNvSpPr>
          <p:nvPr/>
        </p:nvSpPr>
        <p:spPr bwMode="auto">
          <a:xfrm>
            <a:off x="5410200" y="6019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8258" name="Line 18"/>
          <p:cNvSpPr>
            <a:spLocks noChangeShapeType="1"/>
          </p:cNvSpPr>
          <p:nvPr/>
        </p:nvSpPr>
        <p:spPr bwMode="auto">
          <a:xfrm>
            <a:off x="3733800" y="6172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8260" name="Oval 20"/>
          <p:cNvSpPr>
            <a:spLocks noChangeArrowheads="1"/>
          </p:cNvSpPr>
          <p:nvPr/>
        </p:nvSpPr>
        <p:spPr bwMode="auto">
          <a:xfrm>
            <a:off x="5334000" y="5943600"/>
            <a:ext cx="533400" cy="533400"/>
          </a:xfrm>
          <a:prstGeom prst="ellipse">
            <a:avLst/>
          </a:prstGeom>
          <a:noFill/>
          <a:ln w="9525" cap="rnd">
            <a:solidFill>
              <a:srgbClr val="C0C0C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8261" name="Oval 21"/>
          <p:cNvSpPr>
            <a:spLocks noChangeArrowheads="1"/>
          </p:cNvSpPr>
          <p:nvPr/>
        </p:nvSpPr>
        <p:spPr bwMode="auto">
          <a:xfrm>
            <a:off x="4343400" y="6019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8262" name="Line 22"/>
          <p:cNvSpPr>
            <a:spLocks noChangeShapeType="1"/>
          </p:cNvSpPr>
          <p:nvPr/>
        </p:nvSpPr>
        <p:spPr bwMode="auto">
          <a:xfrm>
            <a:off x="4724400" y="6172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8263" name="Object 23"/>
          <p:cNvGraphicFramePr>
            <a:graphicFrameLocks noChangeAspect="1"/>
          </p:cNvGraphicFramePr>
          <p:nvPr/>
        </p:nvGraphicFramePr>
        <p:xfrm>
          <a:off x="4876800" y="5791200"/>
          <a:ext cx="265113" cy="279400"/>
        </p:xfrm>
        <a:graphic>
          <a:graphicData uri="http://schemas.openxmlformats.org/presentationml/2006/ole">
            <p:oleObj spid="_x0000_s138263" name="Equation" r:id="rId5" imgW="266400" imgH="279360" progId="Equation.3">
              <p:embed/>
            </p:oleObj>
          </a:graphicData>
        </a:graphic>
      </p:graphicFrame>
      <p:graphicFrame>
        <p:nvGraphicFramePr>
          <p:cNvPr id="138264" name="Object 24"/>
          <p:cNvGraphicFramePr>
            <a:graphicFrameLocks noChangeAspect="1"/>
          </p:cNvGraphicFramePr>
          <p:nvPr/>
        </p:nvGraphicFramePr>
        <p:xfrm>
          <a:off x="3886200" y="5715000"/>
          <a:ext cx="252413" cy="392113"/>
        </p:xfrm>
        <a:graphic>
          <a:graphicData uri="http://schemas.openxmlformats.org/presentationml/2006/ole">
            <p:oleObj spid="_x0000_s138264" name="Equation" r:id="rId6" imgW="253800" imgH="393480" progId="Equation.3">
              <p:embed/>
            </p:oleObj>
          </a:graphicData>
        </a:graphic>
      </p:graphicFrame>
      <p:grpSp>
        <p:nvGrpSpPr>
          <p:cNvPr id="138282" name="Group 42"/>
          <p:cNvGrpSpPr>
            <a:grpSpLocks/>
          </p:cNvGrpSpPr>
          <p:nvPr/>
        </p:nvGrpSpPr>
        <p:grpSpPr bwMode="auto">
          <a:xfrm>
            <a:off x="5029200" y="3733800"/>
            <a:ext cx="2743200" cy="2286000"/>
            <a:chOff x="3168" y="2352"/>
            <a:chExt cx="1728" cy="1440"/>
          </a:xfrm>
        </p:grpSpPr>
        <p:sp>
          <p:nvSpPr>
            <p:cNvPr id="138265" name="Oval 25"/>
            <p:cNvSpPr>
              <a:spLocks noChangeArrowheads="1"/>
            </p:cNvSpPr>
            <p:nvPr/>
          </p:nvSpPr>
          <p:spPr bwMode="auto">
            <a:xfrm>
              <a:off x="4608" y="283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266" name="Oval 26"/>
            <p:cNvSpPr>
              <a:spLocks noChangeArrowheads="1"/>
            </p:cNvSpPr>
            <p:nvPr/>
          </p:nvSpPr>
          <p:spPr bwMode="auto">
            <a:xfrm>
              <a:off x="4560" y="2784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267" name="Line 27"/>
            <p:cNvSpPr>
              <a:spLocks noChangeShapeType="1"/>
            </p:cNvSpPr>
            <p:nvPr/>
          </p:nvSpPr>
          <p:spPr bwMode="auto">
            <a:xfrm flipV="1">
              <a:off x="3648" y="3072"/>
              <a:ext cx="96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268" name="Line 28"/>
            <p:cNvSpPr>
              <a:spLocks noChangeShapeType="1"/>
            </p:cNvSpPr>
            <p:nvPr/>
          </p:nvSpPr>
          <p:spPr bwMode="auto">
            <a:xfrm>
              <a:off x="3168" y="2400"/>
              <a:ext cx="144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38269" name="Object 29"/>
            <p:cNvGraphicFramePr>
              <a:graphicFrameLocks noChangeAspect="1"/>
            </p:cNvGraphicFramePr>
            <p:nvPr/>
          </p:nvGraphicFramePr>
          <p:xfrm>
            <a:off x="3888" y="2352"/>
            <a:ext cx="191" cy="240"/>
          </p:xfrm>
          <a:graphic>
            <a:graphicData uri="http://schemas.openxmlformats.org/presentationml/2006/ole">
              <p:oleObj spid="_x0000_s138269" name="Equation" r:id="rId7" imgW="304560" imgH="380880" progId="Equation.3">
                <p:embed/>
              </p:oleObj>
            </a:graphicData>
          </a:graphic>
        </p:graphicFrame>
        <p:graphicFrame>
          <p:nvGraphicFramePr>
            <p:cNvPr id="138270" name="Object 30"/>
            <p:cNvGraphicFramePr>
              <a:graphicFrameLocks noChangeAspect="1"/>
            </p:cNvGraphicFramePr>
            <p:nvPr/>
          </p:nvGraphicFramePr>
          <p:xfrm>
            <a:off x="4080" y="3120"/>
            <a:ext cx="191" cy="240"/>
          </p:xfrm>
          <a:graphic>
            <a:graphicData uri="http://schemas.openxmlformats.org/presentationml/2006/ole">
              <p:oleObj spid="_x0000_s138270" name="Equation" r:id="rId8" imgW="304560" imgH="380880" progId="Equation.3">
                <p:embed/>
              </p:oleObj>
            </a:graphicData>
          </a:graphic>
        </p:graphicFrame>
      </p:grpSp>
      <p:grpSp>
        <p:nvGrpSpPr>
          <p:cNvPr id="138281" name="Group 41"/>
          <p:cNvGrpSpPr>
            <a:grpSpLocks/>
          </p:cNvGrpSpPr>
          <p:nvPr/>
        </p:nvGrpSpPr>
        <p:grpSpPr bwMode="auto">
          <a:xfrm>
            <a:off x="457200" y="3810000"/>
            <a:ext cx="3048000" cy="2362200"/>
            <a:chOff x="288" y="2400"/>
            <a:chExt cx="1920" cy="1488"/>
          </a:xfrm>
        </p:grpSpPr>
        <p:sp>
          <p:nvSpPr>
            <p:cNvPr id="138271" name="Oval 31"/>
            <p:cNvSpPr>
              <a:spLocks noChangeArrowheads="1"/>
            </p:cNvSpPr>
            <p:nvPr/>
          </p:nvSpPr>
          <p:spPr bwMode="auto">
            <a:xfrm>
              <a:off x="672" y="27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272" name="Line 32"/>
            <p:cNvSpPr>
              <a:spLocks noChangeShapeType="1"/>
            </p:cNvSpPr>
            <p:nvPr/>
          </p:nvSpPr>
          <p:spPr bwMode="auto">
            <a:xfrm flipV="1">
              <a:off x="912" y="2400"/>
              <a:ext cx="129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273" name="Line 33"/>
            <p:cNvSpPr>
              <a:spLocks noChangeShapeType="1"/>
            </p:cNvSpPr>
            <p:nvPr/>
          </p:nvSpPr>
          <p:spPr bwMode="auto">
            <a:xfrm>
              <a:off x="912" y="2976"/>
              <a:ext cx="120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274" name="Line 34"/>
            <p:cNvSpPr>
              <a:spLocks noChangeShapeType="1"/>
            </p:cNvSpPr>
            <p:nvPr/>
          </p:nvSpPr>
          <p:spPr bwMode="auto">
            <a:xfrm>
              <a:off x="288" y="288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38275" name="Object 35"/>
            <p:cNvGraphicFramePr>
              <a:graphicFrameLocks noChangeAspect="1"/>
            </p:cNvGraphicFramePr>
            <p:nvPr/>
          </p:nvGraphicFramePr>
          <p:xfrm>
            <a:off x="1392" y="2400"/>
            <a:ext cx="191" cy="240"/>
          </p:xfrm>
          <a:graphic>
            <a:graphicData uri="http://schemas.openxmlformats.org/presentationml/2006/ole">
              <p:oleObj spid="_x0000_s138275" name="Equation" r:id="rId9" imgW="304560" imgH="380880" progId="Equation.3">
                <p:embed/>
              </p:oleObj>
            </a:graphicData>
          </a:graphic>
        </p:graphicFrame>
        <p:graphicFrame>
          <p:nvGraphicFramePr>
            <p:cNvPr id="138276" name="Object 36"/>
            <p:cNvGraphicFramePr>
              <a:graphicFrameLocks noChangeAspect="1"/>
            </p:cNvGraphicFramePr>
            <p:nvPr/>
          </p:nvGraphicFramePr>
          <p:xfrm>
            <a:off x="1344" y="3072"/>
            <a:ext cx="191" cy="240"/>
          </p:xfrm>
          <a:graphic>
            <a:graphicData uri="http://schemas.openxmlformats.org/presentationml/2006/ole">
              <p:oleObj spid="_x0000_s138276" name="Equation" r:id="rId10" imgW="304560" imgH="380880" progId="Equation.3">
                <p:embed/>
              </p:oleObj>
            </a:graphicData>
          </a:graphic>
        </p:graphicFrame>
      </p:grpSp>
      <p:graphicFrame>
        <p:nvGraphicFramePr>
          <p:cNvPr id="138277" name="Object 37"/>
          <p:cNvGraphicFramePr>
            <a:graphicFrameLocks noChangeAspect="1"/>
          </p:cNvGraphicFramePr>
          <p:nvPr/>
        </p:nvGraphicFramePr>
        <p:xfrm>
          <a:off x="3270250" y="1866900"/>
          <a:ext cx="2095500" cy="723900"/>
        </p:xfrm>
        <a:graphic>
          <a:graphicData uri="http://schemas.openxmlformats.org/presentationml/2006/ole">
            <p:oleObj spid="_x0000_s138277" name="Equation" r:id="rId11" imgW="2095200" imgH="723600" progId="Equation.3">
              <p:embed/>
            </p:oleObj>
          </a:graphicData>
        </a:graphic>
      </p:graphicFrame>
      <p:graphicFrame>
        <p:nvGraphicFramePr>
          <p:cNvPr id="138278" name="Object 38"/>
          <p:cNvGraphicFramePr>
            <a:graphicFrameLocks noChangeAspect="1"/>
          </p:cNvGraphicFramePr>
          <p:nvPr/>
        </p:nvGraphicFramePr>
        <p:xfrm>
          <a:off x="3581400" y="4876800"/>
          <a:ext cx="1930400" cy="571500"/>
        </p:xfrm>
        <a:graphic>
          <a:graphicData uri="http://schemas.openxmlformats.org/presentationml/2006/ole">
            <p:oleObj spid="_x0000_s138278" name="Equation" r:id="rId12" imgW="1930320" imgH="571320" progId="Equation.3">
              <p:embed/>
            </p:oleObj>
          </a:graphicData>
        </a:graphic>
      </p:graphicFrame>
      <p:graphicFrame>
        <p:nvGraphicFramePr>
          <p:cNvPr id="138279" name="Object 39"/>
          <p:cNvGraphicFramePr>
            <a:graphicFrameLocks noChangeAspect="1"/>
          </p:cNvGraphicFramePr>
          <p:nvPr/>
        </p:nvGraphicFramePr>
        <p:xfrm>
          <a:off x="2057400" y="838200"/>
          <a:ext cx="4597400" cy="723900"/>
        </p:xfrm>
        <a:graphic>
          <a:graphicData uri="http://schemas.openxmlformats.org/presentationml/2006/ole">
            <p:oleObj spid="_x0000_s138279" name="Equation" r:id="rId13" imgW="4597200" imgH="723600" progId="Equation.3">
              <p:embed/>
            </p:oleObj>
          </a:graphicData>
        </a:graphic>
      </p:graphicFrame>
      <p:sp>
        <p:nvSpPr>
          <p:cNvPr id="138280" name="Text Box 40"/>
          <p:cNvSpPr txBox="1">
            <a:spLocks noChangeArrowheads="1"/>
          </p:cNvSpPr>
          <p:nvPr/>
        </p:nvSpPr>
        <p:spPr bwMode="auto">
          <a:xfrm>
            <a:off x="152400" y="990600"/>
            <a:ext cx="17891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NFA for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8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8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3915F-E27E-445D-A899-EEA5D68A0A34}" type="slidenum">
              <a:rPr lang="en-US"/>
              <a:pPr/>
              <a:t>13</a:t>
            </a:fld>
            <a:endParaRPr lang="en-US"/>
          </a:p>
        </p:txBody>
      </p:sp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Concatenation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NFA for </a:t>
            </a:r>
          </a:p>
        </p:txBody>
      </p:sp>
      <p:graphicFrame>
        <p:nvGraphicFramePr>
          <p:cNvPr id="139268" name="Object 4"/>
          <p:cNvGraphicFramePr>
            <a:graphicFrameLocks noChangeAspect="1"/>
          </p:cNvGraphicFramePr>
          <p:nvPr/>
        </p:nvGraphicFramePr>
        <p:xfrm>
          <a:off x="2133600" y="1447800"/>
          <a:ext cx="927100" cy="571500"/>
        </p:xfrm>
        <a:graphic>
          <a:graphicData uri="http://schemas.openxmlformats.org/presentationml/2006/ole">
            <p:oleObj spid="_x0000_s139268" name="Equation" r:id="rId3" imgW="927000" imgH="571320" progId="Equation.3">
              <p:embed/>
            </p:oleObj>
          </a:graphicData>
        </a:graphic>
      </p:graphicFrame>
      <p:sp>
        <p:nvSpPr>
          <p:cNvPr id="139270" name="Rectangle 6"/>
          <p:cNvSpPr>
            <a:spLocks noChangeArrowheads="1"/>
          </p:cNvSpPr>
          <p:nvPr/>
        </p:nvSpPr>
        <p:spPr bwMode="auto">
          <a:xfrm>
            <a:off x="990600" y="3657600"/>
            <a:ext cx="2590800" cy="1447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9271" name="Oval 7"/>
          <p:cNvSpPr>
            <a:spLocks noChangeArrowheads="1"/>
          </p:cNvSpPr>
          <p:nvPr/>
        </p:nvSpPr>
        <p:spPr bwMode="auto">
          <a:xfrm>
            <a:off x="1219200" y="4191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9272" name="Oval 8"/>
          <p:cNvSpPr>
            <a:spLocks noChangeArrowheads="1"/>
          </p:cNvSpPr>
          <p:nvPr/>
        </p:nvSpPr>
        <p:spPr bwMode="auto">
          <a:xfrm>
            <a:off x="2895600" y="4191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9273" name="Oval 9"/>
          <p:cNvSpPr>
            <a:spLocks noChangeArrowheads="1"/>
          </p:cNvSpPr>
          <p:nvPr/>
        </p:nvSpPr>
        <p:spPr bwMode="auto">
          <a:xfrm>
            <a:off x="2819400" y="4114800"/>
            <a:ext cx="533400" cy="533400"/>
          </a:xfrm>
          <a:prstGeom prst="ellipse">
            <a:avLst/>
          </a:prstGeom>
          <a:noFill/>
          <a:ln w="9525" cap="rnd">
            <a:solidFill>
              <a:srgbClr val="C0C0C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9274" name="Line 10"/>
          <p:cNvSpPr>
            <a:spLocks noChangeShapeType="1"/>
          </p:cNvSpPr>
          <p:nvPr/>
        </p:nvSpPr>
        <p:spPr bwMode="auto">
          <a:xfrm>
            <a:off x="609600" y="4343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9275" name="Freeform 11"/>
          <p:cNvSpPr>
            <a:spLocks/>
          </p:cNvSpPr>
          <p:nvPr/>
        </p:nvSpPr>
        <p:spPr bwMode="auto">
          <a:xfrm>
            <a:off x="1600200" y="3975100"/>
            <a:ext cx="1295400" cy="5969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96" y="88"/>
              </a:cxn>
              <a:cxn ang="0">
                <a:pos x="192" y="328"/>
              </a:cxn>
              <a:cxn ang="0">
                <a:pos x="384" y="40"/>
              </a:cxn>
              <a:cxn ang="0">
                <a:pos x="480" y="376"/>
              </a:cxn>
              <a:cxn ang="0">
                <a:pos x="672" y="40"/>
              </a:cxn>
              <a:cxn ang="0">
                <a:pos x="816" y="136"/>
              </a:cxn>
            </a:cxnLst>
            <a:rect l="0" t="0" r="r" b="b"/>
            <a:pathLst>
              <a:path w="816" h="376">
                <a:moveTo>
                  <a:pt x="0" y="232"/>
                </a:moveTo>
                <a:cubicBezTo>
                  <a:pt x="32" y="152"/>
                  <a:pt x="64" y="72"/>
                  <a:pt x="96" y="88"/>
                </a:cubicBezTo>
                <a:cubicBezTo>
                  <a:pt x="128" y="104"/>
                  <a:pt x="144" y="336"/>
                  <a:pt x="192" y="328"/>
                </a:cubicBezTo>
                <a:cubicBezTo>
                  <a:pt x="240" y="320"/>
                  <a:pt x="336" y="32"/>
                  <a:pt x="384" y="40"/>
                </a:cubicBezTo>
                <a:cubicBezTo>
                  <a:pt x="432" y="48"/>
                  <a:pt x="432" y="376"/>
                  <a:pt x="480" y="376"/>
                </a:cubicBezTo>
                <a:cubicBezTo>
                  <a:pt x="528" y="376"/>
                  <a:pt x="616" y="80"/>
                  <a:pt x="672" y="40"/>
                </a:cubicBezTo>
                <a:cubicBezTo>
                  <a:pt x="728" y="0"/>
                  <a:pt x="772" y="68"/>
                  <a:pt x="816" y="1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9276" name="Object 12"/>
          <p:cNvGraphicFramePr>
            <a:graphicFrameLocks noChangeAspect="1"/>
          </p:cNvGraphicFramePr>
          <p:nvPr/>
        </p:nvGraphicFramePr>
        <p:xfrm>
          <a:off x="2101850" y="3098800"/>
          <a:ext cx="646113" cy="571500"/>
        </p:xfrm>
        <a:graphic>
          <a:graphicData uri="http://schemas.openxmlformats.org/presentationml/2006/ole">
            <p:oleObj spid="_x0000_s139276" name="Equation" r:id="rId4" imgW="647640" imgH="571320" progId="Equation.3">
              <p:embed/>
            </p:oleObj>
          </a:graphicData>
        </a:graphic>
      </p:graphicFrame>
      <p:sp>
        <p:nvSpPr>
          <p:cNvPr id="139278" name="Rectangle 14"/>
          <p:cNvSpPr>
            <a:spLocks noChangeArrowheads="1"/>
          </p:cNvSpPr>
          <p:nvPr/>
        </p:nvSpPr>
        <p:spPr bwMode="auto">
          <a:xfrm>
            <a:off x="4419600" y="3657600"/>
            <a:ext cx="2590800" cy="1447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9279" name="Oval 15"/>
          <p:cNvSpPr>
            <a:spLocks noChangeArrowheads="1"/>
          </p:cNvSpPr>
          <p:nvPr/>
        </p:nvSpPr>
        <p:spPr bwMode="auto">
          <a:xfrm>
            <a:off x="4648200" y="4191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9280" name="Oval 16"/>
          <p:cNvSpPr>
            <a:spLocks noChangeArrowheads="1"/>
          </p:cNvSpPr>
          <p:nvPr/>
        </p:nvSpPr>
        <p:spPr bwMode="auto">
          <a:xfrm>
            <a:off x="6324600" y="4191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9281" name="Oval 17"/>
          <p:cNvSpPr>
            <a:spLocks noChangeArrowheads="1"/>
          </p:cNvSpPr>
          <p:nvPr/>
        </p:nvSpPr>
        <p:spPr bwMode="auto">
          <a:xfrm>
            <a:off x="6248400" y="4114800"/>
            <a:ext cx="533400" cy="533400"/>
          </a:xfrm>
          <a:prstGeom prst="ellipse">
            <a:avLst/>
          </a:prstGeom>
          <a:noFill/>
          <a:ln w="9525" cap="rnd">
            <a:solidFill>
              <a:srgbClr val="C0C0C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9283" name="Freeform 19"/>
          <p:cNvSpPr>
            <a:spLocks/>
          </p:cNvSpPr>
          <p:nvPr/>
        </p:nvSpPr>
        <p:spPr bwMode="auto">
          <a:xfrm>
            <a:off x="5029200" y="3975100"/>
            <a:ext cx="1295400" cy="5969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96" y="88"/>
              </a:cxn>
              <a:cxn ang="0">
                <a:pos x="192" y="328"/>
              </a:cxn>
              <a:cxn ang="0">
                <a:pos x="384" y="40"/>
              </a:cxn>
              <a:cxn ang="0">
                <a:pos x="480" y="376"/>
              </a:cxn>
              <a:cxn ang="0">
                <a:pos x="672" y="40"/>
              </a:cxn>
              <a:cxn ang="0">
                <a:pos x="816" y="136"/>
              </a:cxn>
            </a:cxnLst>
            <a:rect l="0" t="0" r="r" b="b"/>
            <a:pathLst>
              <a:path w="816" h="376">
                <a:moveTo>
                  <a:pt x="0" y="232"/>
                </a:moveTo>
                <a:cubicBezTo>
                  <a:pt x="32" y="152"/>
                  <a:pt x="64" y="72"/>
                  <a:pt x="96" y="88"/>
                </a:cubicBezTo>
                <a:cubicBezTo>
                  <a:pt x="128" y="104"/>
                  <a:pt x="144" y="336"/>
                  <a:pt x="192" y="328"/>
                </a:cubicBezTo>
                <a:cubicBezTo>
                  <a:pt x="240" y="320"/>
                  <a:pt x="336" y="32"/>
                  <a:pt x="384" y="40"/>
                </a:cubicBezTo>
                <a:cubicBezTo>
                  <a:pt x="432" y="48"/>
                  <a:pt x="432" y="376"/>
                  <a:pt x="480" y="376"/>
                </a:cubicBezTo>
                <a:cubicBezTo>
                  <a:pt x="528" y="376"/>
                  <a:pt x="616" y="80"/>
                  <a:pt x="672" y="40"/>
                </a:cubicBezTo>
                <a:cubicBezTo>
                  <a:pt x="728" y="0"/>
                  <a:pt x="772" y="68"/>
                  <a:pt x="816" y="1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9284" name="Object 20"/>
          <p:cNvGraphicFramePr>
            <a:graphicFrameLocks noChangeAspect="1"/>
          </p:cNvGraphicFramePr>
          <p:nvPr/>
        </p:nvGraphicFramePr>
        <p:xfrm>
          <a:off x="5492750" y="3098800"/>
          <a:ext cx="723900" cy="571500"/>
        </p:xfrm>
        <a:graphic>
          <a:graphicData uri="http://schemas.openxmlformats.org/presentationml/2006/ole">
            <p:oleObj spid="_x0000_s139284" name="Equation" r:id="rId5" imgW="723600" imgH="571320" progId="Equation.3">
              <p:embed/>
            </p:oleObj>
          </a:graphicData>
        </a:graphic>
      </p:graphicFrame>
      <p:grpSp>
        <p:nvGrpSpPr>
          <p:cNvPr id="139291" name="Group 27"/>
          <p:cNvGrpSpPr>
            <a:grpSpLocks/>
          </p:cNvGrpSpPr>
          <p:nvPr/>
        </p:nvGrpSpPr>
        <p:grpSpPr bwMode="auto">
          <a:xfrm>
            <a:off x="3352800" y="3886200"/>
            <a:ext cx="1295400" cy="457200"/>
            <a:chOff x="2112" y="2448"/>
            <a:chExt cx="816" cy="288"/>
          </a:xfrm>
        </p:grpSpPr>
        <p:sp>
          <p:nvSpPr>
            <p:cNvPr id="139282" name="Line 18"/>
            <p:cNvSpPr>
              <a:spLocks noChangeShapeType="1"/>
            </p:cNvSpPr>
            <p:nvPr/>
          </p:nvSpPr>
          <p:spPr bwMode="auto">
            <a:xfrm>
              <a:off x="2112" y="273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39289" name="Object 25"/>
            <p:cNvGraphicFramePr>
              <a:graphicFrameLocks noChangeAspect="1"/>
            </p:cNvGraphicFramePr>
            <p:nvPr/>
          </p:nvGraphicFramePr>
          <p:xfrm>
            <a:off x="2448" y="2448"/>
            <a:ext cx="191" cy="240"/>
          </p:xfrm>
          <a:graphic>
            <a:graphicData uri="http://schemas.openxmlformats.org/presentationml/2006/ole">
              <p:oleObj spid="_x0000_s139289" name="Equation" r:id="rId6" imgW="304560" imgH="380880" progId="Equation.3">
                <p:embed/>
              </p:oleObj>
            </a:graphicData>
          </a:graphic>
        </p:graphicFrame>
      </p:grpSp>
      <p:grpSp>
        <p:nvGrpSpPr>
          <p:cNvPr id="139292" name="Group 28"/>
          <p:cNvGrpSpPr>
            <a:grpSpLocks/>
          </p:cNvGrpSpPr>
          <p:nvPr/>
        </p:nvGrpSpPr>
        <p:grpSpPr bwMode="auto">
          <a:xfrm>
            <a:off x="6781800" y="3886200"/>
            <a:ext cx="1447800" cy="762000"/>
            <a:chOff x="4272" y="2448"/>
            <a:chExt cx="912" cy="480"/>
          </a:xfrm>
        </p:grpSpPr>
        <p:sp>
          <p:nvSpPr>
            <p:cNvPr id="139285" name="Oval 21"/>
            <p:cNvSpPr>
              <a:spLocks noChangeArrowheads="1"/>
            </p:cNvSpPr>
            <p:nvPr/>
          </p:nvSpPr>
          <p:spPr bwMode="auto">
            <a:xfrm>
              <a:off x="4896" y="26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286" name="Oval 22"/>
            <p:cNvSpPr>
              <a:spLocks noChangeArrowheads="1"/>
            </p:cNvSpPr>
            <p:nvPr/>
          </p:nvSpPr>
          <p:spPr bwMode="auto">
            <a:xfrm>
              <a:off x="4848" y="2592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288" name="Line 24"/>
            <p:cNvSpPr>
              <a:spLocks noChangeShapeType="1"/>
            </p:cNvSpPr>
            <p:nvPr/>
          </p:nvSpPr>
          <p:spPr bwMode="auto">
            <a:xfrm>
              <a:off x="4272" y="273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39290" name="Object 26"/>
            <p:cNvGraphicFramePr>
              <a:graphicFrameLocks noChangeAspect="1"/>
            </p:cNvGraphicFramePr>
            <p:nvPr/>
          </p:nvGraphicFramePr>
          <p:xfrm>
            <a:off x="4560" y="2448"/>
            <a:ext cx="191" cy="240"/>
          </p:xfrm>
          <a:graphic>
            <a:graphicData uri="http://schemas.openxmlformats.org/presentationml/2006/ole">
              <p:oleObj spid="_x0000_s139290" name="Equation" r:id="rId7" imgW="304560" imgH="38088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1E9F63-BEEB-412E-968A-C871042E97E1}" type="slidenum">
              <a:rPr lang="en-US"/>
              <a:pPr/>
              <a:t>14</a:t>
            </a:fld>
            <a:endParaRPr lang="en-US"/>
          </a:p>
        </p:txBody>
      </p:sp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  <a:p>
            <a:r>
              <a:rPr lang="en-US"/>
              <a:t>NFA for</a:t>
            </a:r>
          </a:p>
        </p:txBody>
      </p:sp>
      <p:sp>
        <p:nvSpPr>
          <p:cNvPr id="140293" name="Rectangle 5"/>
          <p:cNvSpPr>
            <a:spLocks noChangeArrowheads="1"/>
          </p:cNvSpPr>
          <p:nvPr/>
        </p:nvSpPr>
        <p:spPr bwMode="auto">
          <a:xfrm>
            <a:off x="1066800" y="4038600"/>
            <a:ext cx="2209800" cy="167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294" name="Oval 6"/>
          <p:cNvSpPr>
            <a:spLocks noChangeArrowheads="1"/>
          </p:cNvSpPr>
          <p:nvPr/>
        </p:nvSpPr>
        <p:spPr bwMode="auto">
          <a:xfrm>
            <a:off x="1447800" y="5029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295" name="Oval 7"/>
          <p:cNvSpPr>
            <a:spLocks noChangeArrowheads="1"/>
          </p:cNvSpPr>
          <p:nvPr/>
        </p:nvSpPr>
        <p:spPr bwMode="auto">
          <a:xfrm>
            <a:off x="2514600" y="5029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296" name="Line 8"/>
          <p:cNvSpPr>
            <a:spLocks noChangeShapeType="1"/>
          </p:cNvSpPr>
          <p:nvPr/>
        </p:nvSpPr>
        <p:spPr bwMode="auto">
          <a:xfrm>
            <a:off x="18288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297" name="Freeform 9"/>
          <p:cNvSpPr>
            <a:spLocks/>
          </p:cNvSpPr>
          <p:nvPr/>
        </p:nvSpPr>
        <p:spPr bwMode="auto">
          <a:xfrm>
            <a:off x="1358900" y="4406900"/>
            <a:ext cx="482600" cy="622300"/>
          </a:xfrm>
          <a:custGeom>
            <a:avLst/>
            <a:gdLst/>
            <a:ahLst/>
            <a:cxnLst>
              <a:cxn ang="0">
                <a:pos x="104" y="392"/>
              </a:cxn>
              <a:cxn ang="0">
                <a:pos x="8" y="152"/>
              </a:cxn>
              <a:cxn ang="0">
                <a:pos x="152" y="8"/>
              </a:cxn>
              <a:cxn ang="0">
                <a:pos x="296" y="104"/>
              </a:cxn>
              <a:cxn ang="0">
                <a:pos x="200" y="392"/>
              </a:cxn>
            </a:cxnLst>
            <a:rect l="0" t="0" r="r" b="b"/>
            <a:pathLst>
              <a:path w="304" h="392">
                <a:moveTo>
                  <a:pt x="104" y="392"/>
                </a:moveTo>
                <a:cubicBezTo>
                  <a:pt x="52" y="304"/>
                  <a:pt x="0" y="216"/>
                  <a:pt x="8" y="152"/>
                </a:cubicBezTo>
                <a:cubicBezTo>
                  <a:pt x="16" y="88"/>
                  <a:pt x="104" y="16"/>
                  <a:pt x="152" y="8"/>
                </a:cubicBezTo>
                <a:cubicBezTo>
                  <a:pt x="200" y="0"/>
                  <a:pt x="288" y="40"/>
                  <a:pt x="296" y="104"/>
                </a:cubicBezTo>
                <a:cubicBezTo>
                  <a:pt x="304" y="168"/>
                  <a:pt x="252" y="280"/>
                  <a:pt x="200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298" name="Line 10"/>
          <p:cNvSpPr>
            <a:spLocks noChangeShapeType="1"/>
          </p:cNvSpPr>
          <p:nvPr/>
        </p:nvSpPr>
        <p:spPr bwMode="auto">
          <a:xfrm>
            <a:off x="533400" y="5181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299" name="Oval 11"/>
          <p:cNvSpPr>
            <a:spLocks noChangeArrowheads="1"/>
          </p:cNvSpPr>
          <p:nvPr/>
        </p:nvSpPr>
        <p:spPr bwMode="auto">
          <a:xfrm>
            <a:off x="2438400" y="4953000"/>
            <a:ext cx="533400" cy="533400"/>
          </a:xfrm>
          <a:prstGeom prst="ellipse">
            <a:avLst/>
          </a:prstGeom>
          <a:noFill/>
          <a:ln w="9525" cap="rnd">
            <a:solidFill>
              <a:srgbClr val="C0C0C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0300" name="Object 12"/>
          <p:cNvGraphicFramePr>
            <a:graphicFrameLocks noChangeAspect="1"/>
          </p:cNvGraphicFramePr>
          <p:nvPr/>
        </p:nvGraphicFramePr>
        <p:xfrm>
          <a:off x="1219200" y="4191000"/>
          <a:ext cx="265113" cy="279400"/>
        </p:xfrm>
        <a:graphic>
          <a:graphicData uri="http://schemas.openxmlformats.org/presentationml/2006/ole">
            <p:oleObj spid="_x0000_s140300" name="Equation" r:id="rId3" imgW="266400" imgH="279360" progId="Equation.3">
              <p:embed/>
            </p:oleObj>
          </a:graphicData>
        </a:graphic>
      </p:graphicFrame>
      <p:graphicFrame>
        <p:nvGraphicFramePr>
          <p:cNvPr id="140301" name="Object 13"/>
          <p:cNvGraphicFramePr>
            <a:graphicFrameLocks noChangeAspect="1"/>
          </p:cNvGraphicFramePr>
          <p:nvPr/>
        </p:nvGraphicFramePr>
        <p:xfrm>
          <a:off x="1981200" y="4800600"/>
          <a:ext cx="252413" cy="392113"/>
        </p:xfrm>
        <a:graphic>
          <a:graphicData uri="http://schemas.openxmlformats.org/presentationml/2006/ole">
            <p:oleObj spid="_x0000_s140301" name="Equation" r:id="rId4" imgW="253800" imgH="393480" progId="Equation.3">
              <p:embed/>
            </p:oleObj>
          </a:graphicData>
        </a:graphic>
      </p:graphicFrame>
      <p:sp>
        <p:nvSpPr>
          <p:cNvPr id="140303" name="Rectangle 15"/>
          <p:cNvSpPr>
            <a:spLocks noChangeArrowheads="1"/>
          </p:cNvSpPr>
          <p:nvPr/>
        </p:nvSpPr>
        <p:spPr bwMode="auto">
          <a:xfrm>
            <a:off x="4038600" y="4495800"/>
            <a:ext cx="3048000" cy="1219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304" name="Oval 16"/>
          <p:cNvSpPr>
            <a:spLocks noChangeArrowheads="1"/>
          </p:cNvSpPr>
          <p:nvPr/>
        </p:nvSpPr>
        <p:spPr bwMode="auto">
          <a:xfrm>
            <a:off x="4343400" y="5029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305" name="Oval 17"/>
          <p:cNvSpPr>
            <a:spLocks noChangeArrowheads="1"/>
          </p:cNvSpPr>
          <p:nvPr/>
        </p:nvSpPr>
        <p:spPr bwMode="auto">
          <a:xfrm>
            <a:off x="6400800" y="5029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306" name="Line 18"/>
          <p:cNvSpPr>
            <a:spLocks noChangeShapeType="1"/>
          </p:cNvSpPr>
          <p:nvPr/>
        </p:nvSpPr>
        <p:spPr bwMode="auto">
          <a:xfrm>
            <a:off x="47244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308" name="Oval 20"/>
          <p:cNvSpPr>
            <a:spLocks noChangeArrowheads="1"/>
          </p:cNvSpPr>
          <p:nvPr/>
        </p:nvSpPr>
        <p:spPr bwMode="auto">
          <a:xfrm>
            <a:off x="6324600" y="4953000"/>
            <a:ext cx="533400" cy="533400"/>
          </a:xfrm>
          <a:prstGeom prst="ellipse">
            <a:avLst/>
          </a:prstGeom>
          <a:noFill/>
          <a:ln w="9525" cap="rnd">
            <a:solidFill>
              <a:srgbClr val="C0C0C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309" name="Oval 21"/>
          <p:cNvSpPr>
            <a:spLocks noChangeArrowheads="1"/>
          </p:cNvSpPr>
          <p:nvPr/>
        </p:nvSpPr>
        <p:spPr bwMode="auto">
          <a:xfrm>
            <a:off x="5334000" y="5029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310" name="Line 22"/>
          <p:cNvSpPr>
            <a:spLocks noChangeShapeType="1"/>
          </p:cNvSpPr>
          <p:nvPr/>
        </p:nvSpPr>
        <p:spPr bwMode="auto">
          <a:xfrm>
            <a:off x="57150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0311" name="Object 23"/>
          <p:cNvGraphicFramePr>
            <a:graphicFrameLocks noChangeAspect="1"/>
          </p:cNvGraphicFramePr>
          <p:nvPr/>
        </p:nvGraphicFramePr>
        <p:xfrm>
          <a:off x="5867400" y="4800600"/>
          <a:ext cx="265113" cy="279400"/>
        </p:xfrm>
        <a:graphic>
          <a:graphicData uri="http://schemas.openxmlformats.org/presentationml/2006/ole">
            <p:oleObj spid="_x0000_s140311" name="Equation" r:id="rId5" imgW="266400" imgH="279360" progId="Equation.3">
              <p:embed/>
            </p:oleObj>
          </a:graphicData>
        </a:graphic>
      </p:graphicFrame>
      <p:graphicFrame>
        <p:nvGraphicFramePr>
          <p:cNvPr id="140312" name="Object 24"/>
          <p:cNvGraphicFramePr>
            <a:graphicFrameLocks noChangeAspect="1"/>
          </p:cNvGraphicFramePr>
          <p:nvPr/>
        </p:nvGraphicFramePr>
        <p:xfrm>
          <a:off x="4876800" y="4724400"/>
          <a:ext cx="252413" cy="392113"/>
        </p:xfrm>
        <a:graphic>
          <a:graphicData uri="http://schemas.openxmlformats.org/presentationml/2006/ole">
            <p:oleObj spid="_x0000_s140312" name="Equation" r:id="rId6" imgW="253800" imgH="393480" progId="Equation.3">
              <p:embed/>
            </p:oleObj>
          </a:graphicData>
        </a:graphic>
      </p:graphicFrame>
      <p:graphicFrame>
        <p:nvGraphicFramePr>
          <p:cNvPr id="140313" name="Object 25"/>
          <p:cNvGraphicFramePr>
            <a:graphicFrameLocks noChangeAspect="1"/>
          </p:cNvGraphicFramePr>
          <p:nvPr/>
        </p:nvGraphicFramePr>
        <p:xfrm>
          <a:off x="1136650" y="3238500"/>
          <a:ext cx="2095500" cy="723900"/>
        </p:xfrm>
        <a:graphic>
          <a:graphicData uri="http://schemas.openxmlformats.org/presentationml/2006/ole">
            <p:oleObj spid="_x0000_s140313" name="Equation" r:id="rId7" imgW="2095200" imgH="723600" progId="Equation.3">
              <p:embed/>
            </p:oleObj>
          </a:graphicData>
        </a:graphic>
      </p:graphicFrame>
      <p:graphicFrame>
        <p:nvGraphicFramePr>
          <p:cNvPr id="140314" name="Object 26"/>
          <p:cNvGraphicFramePr>
            <a:graphicFrameLocks noChangeAspect="1"/>
          </p:cNvGraphicFramePr>
          <p:nvPr/>
        </p:nvGraphicFramePr>
        <p:xfrm>
          <a:off x="4610100" y="3784600"/>
          <a:ext cx="1930400" cy="571500"/>
        </p:xfrm>
        <a:graphic>
          <a:graphicData uri="http://schemas.openxmlformats.org/presentationml/2006/ole">
            <p:oleObj spid="_x0000_s140314" name="Equation" r:id="rId8" imgW="1930320" imgH="571320" progId="Equation.3">
              <p:embed/>
            </p:oleObj>
          </a:graphicData>
        </a:graphic>
      </p:graphicFrame>
      <p:graphicFrame>
        <p:nvGraphicFramePr>
          <p:cNvPr id="140315" name="Object 27"/>
          <p:cNvGraphicFramePr>
            <a:graphicFrameLocks noChangeAspect="1"/>
          </p:cNvGraphicFramePr>
          <p:nvPr/>
        </p:nvGraphicFramePr>
        <p:xfrm>
          <a:off x="2133600" y="1295400"/>
          <a:ext cx="5689600" cy="723900"/>
        </p:xfrm>
        <a:graphic>
          <a:graphicData uri="http://schemas.openxmlformats.org/presentationml/2006/ole">
            <p:oleObj spid="_x0000_s140315" name="Equation" r:id="rId9" imgW="5689440" imgH="723600" progId="Equation.3">
              <p:embed/>
            </p:oleObj>
          </a:graphicData>
        </a:graphic>
      </p:graphicFrame>
      <p:grpSp>
        <p:nvGrpSpPr>
          <p:cNvPr id="140322" name="Group 34"/>
          <p:cNvGrpSpPr>
            <a:grpSpLocks/>
          </p:cNvGrpSpPr>
          <p:nvPr/>
        </p:nvGrpSpPr>
        <p:grpSpPr bwMode="auto">
          <a:xfrm>
            <a:off x="2971800" y="4724400"/>
            <a:ext cx="1371600" cy="457200"/>
            <a:chOff x="1872" y="2976"/>
            <a:chExt cx="864" cy="288"/>
          </a:xfrm>
        </p:grpSpPr>
        <p:sp>
          <p:nvSpPr>
            <p:cNvPr id="140307" name="Line 19"/>
            <p:cNvSpPr>
              <a:spLocks noChangeShapeType="1"/>
            </p:cNvSpPr>
            <p:nvPr/>
          </p:nvSpPr>
          <p:spPr bwMode="auto">
            <a:xfrm>
              <a:off x="1872" y="3264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40320" name="Object 32"/>
            <p:cNvGraphicFramePr>
              <a:graphicFrameLocks noChangeAspect="1"/>
            </p:cNvGraphicFramePr>
            <p:nvPr/>
          </p:nvGraphicFramePr>
          <p:xfrm>
            <a:off x="2160" y="2976"/>
            <a:ext cx="191" cy="240"/>
          </p:xfrm>
          <a:graphic>
            <a:graphicData uri="http://schemas.openxmlformats.org/presentationml/2006/ole">
              <p:oleObj spid="_x0000_s140320" name="Equation" r:id="rId10" imgW="304560" imgH="380880" progId="Equation.3">
                <p:embed/>
              </p:oleObj>
            </a:graphicData>
          </a:graphic>
        </p:graphicFrame>
      </p:grpSp>
      <p:grpSp>
        <p:nvGrpSpPr>
          <p:cNvPr id="140323" name="Group 35"/>
          <p:cNvGrpSpPr>
            <a:grpSpLocks/>
          </p:cNvGrpSpPr>
          <p:nvPr/>
        </p:nvGrpSpPr>
        <p:grpSpPr bwMode="auto">
          <a:xfrm>
            <a:off x="6858000" y="4724400"/>
            <a:ext cx="1447800" cy="762000"/>
            <a:chOff x="4320" y="2976"/>
            <a:chExt cx="912" cy="480"/>
          </a:xfrm>
        </p:grpSpPr>
        <p:sp>
          <p:nvSpPr>
            <p:cNvPr id="140316" name="Oval 28"/>
            <p:cNvSpPr>
              <a:spLocks noChangeArrowheads="1"/>
            </p:cNvSpPr>
            <p:nvPr/>
          </p:nvSpPr>
          <p:spPr bwMode="auto">
            <a:xfrm>
              <a:off x="4944" y="316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317" name="Oval 29"/>
            <p:cNvSpPr>
              <a:spLocks noChangeArrowheads="1"/>
            </p:cNvSpPr>
            <p:nvPr/>
          </p:nvSpPr>
          <p:spPr bwMode="auto">
            <a:xfrm>
              <a:off x="4896" y="312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319" name="Line 31"/>
            <p:cNvSpPr>
              <a:spLocks noChangeShapeType="1"/>
            </p:cNvSpPr>
            <p:nvPr/>
          </p:nvSpPr>
          <p:spPr bwMode="auto">
            <a:xfrm>
              <a:off x="4320" y="326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40321" name="Object 33"/>
            <p:cNvGraphicFramePr>
              <a:graphicFrameLocks noChangeAspect="1"/>
            </p:cNvGraphicFramePr>
            <p:nvPr/>
          </p:nvGraphicFramePr>
          <p:xfrm>
            <a:off x="4560" y="2976"/>
            <a:ext cx="191" cy="240"/>
          </p:xfrm>
          <a:graphic>
            <a:graphicData uri="http://schemas.openxmlformats.org/presentationml/2006/ole">
              <p:oleObj spid="_x0000_s140321" name="Equation" r:id="rId11" imgW="304560" imgH="38088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0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0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0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0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DEABDE-F12A-4253-8718-814F815E428E}" type="slidenum">
              <a:rPr lang="en-US"/>
              <a:pPr/>
              <a:t>15</a:t>
            </a:fld>
            <a:endParaRPr lang="en-US"/>
          </a:p>
        </p:txBody>
      </p:sp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Star Operation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NFA for </a:t>
            </a:r>
          </a:p>
        </p:txBody>
      </p:sp>
      <p:graphicFrame>
        <p:nvGraphicFramePr>
          <p:cNvPr id="141316" name="Object 4"/>
          <p:cNvGraphicFramePr>
            <a:graphicFrameLocks noChangeAspect="1"/>
          </p:cNvGraphicFramePr>
          <p:nvPr/>
        </p:nvGraphicFramePr>
        <p:xfrm>
          <a:off x="2209800" y="838200"/>
          <a:ext cx="685800" cy="520700"/>
        </p:xfrm>
        <a:graphic>
          <a:graphicData uri="http://schemas.openxmlformats.org/presentationml/2006/ole">
            <p:oleObj spid="_x0000_s141316" name="Equation" r:id="rId3" imgW="685800" imgH="520560" progId="Equation.3">
              <p:embed/>
            </p:oleObj>
          </a:graphicData>
        </a:graphic>
      </p:graphicFrame>
      <p:sp>
        <p:nvSpPr>
          <p:cNvPr id="141318" name="Rectangle 6"/>
          <p:cNvSpPr>
            <a:spLocks noChangeArrowheads="1"/>
          </p:cNvSpPr>
          <p:nvPr/>
        </p:nvSpPr>
        <p:spPr bwMode="auto">
          <a:xfrm>
            <a:off x="3048000" y="3124200"/>
            <a:ext cx="2590800" cy="1447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1319" name="Oval 7"/>
          <p:cNvSpPr>
            <a:spLocks noChangeArrowheads="1"/>
          </p:cNvSpPr>
          <p:nvPr/>
        </p:nvSpPr>
        <p:spPr bwMode="auto">
          <a:xfrm>
            <a:off x="3276600" y="3657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1320" name="Oval 8"/>
          <p:cNvSpPr>
            <a:spLocks noChangeArrowheads="1"/>
          </p:cNvSpPr>
          <p:nvPr/>
        </p:nvSpPr>
        <p:spPr bwMode="auto">
          <a:xfrm>
            <a:off x="4953000" y="3657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1321" name="Oval 9"/>
          <p:cNvSpPr>
            <a:spLocks noChangeArrowheads="1"/>
          </p:cNvSpPr>
          <p:nvPr/>
        </p:nvSpPr>
        <p:spPr bwMode="auto">
          <a:xfrm>
            <a:off x="4876800" y="3581400"/>
            <a:ext cx="533400" cy="533400"/>
          </a:xfrm>
          <a:prstGeom prst="ellipse">
            <a:avLst/>
          </a:prstGeom>
          <a:noFill/>
          <a:ln w="9525" cap="rnd">
            <a:solidFill>
              <a:srgbClr val="C0C0C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1322" name="Line 10"/>
          <p:cNvSpPr>
            <a:spLocks noChangeShapeType="1"/>
          </p:cNvSpPr>
          <p:nvPr/>
        </p:nvSpPr>
        <p:spPr bwMode="auto">
          <a:xfrm>
            <a:off x="1295400" y="3810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1323" name="Freeform 11"/>
          <p:cNvSpPr>
            <a:spLocks/>
          </p:cNvSpPr>
          <p:nvPr/>
        </p:nvSpPr>
        <p:spPr bwMode="auto">
          <a:xfrm>
            <a:off x="3657600" y="3441700"/>
            <a:ext cx="1295400" cy="5969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96" y="88"/>
              </a:cxn>
              <a:cxn ang="0">
                <a:pos x="192" y="328"/>
              </a:cxn>
              <a:cxn ang="0">
                <a:pos x="384" y="40"/>
              </a:cxn>
              <a:cxn ang="0">
                <a:pos x="480" y="376"/>
              </a:cxn>
              <a:cxn ang="0">
                <a:pos x="672" y="40"/>
              </a:cxn>
              <a:cxn ang="0">
                <a:pos x="816" y="136"/>
              </a:cxn>
            </a:cxnLst>
            <a:rect l="0" t="0" r="r" b="b"/>
            <a:pathLst>
              <a:path w="816" h="376">
                <a:moveTo>
                  <a:pt x="0" y="232"/>
                </a:moveTo>
                <a:cubicBezTo>
                  <a:pt x="32" y="152"/>
                  <a:pt x="64" y="72"/>
                  <a:pt x="96" y="88"/>
                </a:cubicBezTo>
                <a:cubicBezTo>
                  <a:pt x="128" y="104"/>
                  <a:pt x="144" y="336"/>
                  <a:pt x="192" y="328"/>
                </a:cubicBezTo>
                <a:cubicBezTo>
                  <a:pt x="240" y="320"/>
                  <a:pt x="336" y="32"/>
                  <a:pt x="384" y="40"/>
                </a:cubicBezTo>
                <a:cubicBezTo>
                  <a:pt x="432" y="48"/>
                  <a:pt x="432" y="376"/>
                  <a:pt x="480" y="376"/>
                </a:cubicBezTo>
                <a:cubicBezTo>
                  <a:pt x="528" y="376"/>
                  <a:pt x="616" y="80"/>
                  <a:pt x="672" y="40"/>
                </a:cubicBezTo>
                <a:cubicBezTo>
                  <a:pt x="728" y="0"/>
                  <a:pt x="772" y="68"/>
                  <a:pt x="816" y="1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1324" name="Object 12"/>
          <p:cNvGraphicFramePr>
            <a:graphicFrameLocks noChangeAspect="1"/>
          </p:cNvGraphicFramePr>
          <p:nvPr/>
        </p:nvGraphicFramePr>
        <p:xfrm>
          <a:off x="3886200" y="2438400"/>
          <a:ext cx="644525" cy="571500"/>
        </p:xfrm>
        <a:graphic>
          <a:graphicData uri="http://schemas.openxmlformats.org/presentationml/2006/ole">
            <p:oleObj spid="_x0000_s141324" name="Equation" r:id="rId4" imgW="647640" imgH="571320" progId="Equation.3">
              <p:embed/>
            </p:oleObj>
          </a:graphicData>
        </a:graphic>
      </p:graphicFrame>
      <p:sp>
        <p:nvSpPr>
          <p:cNvPr id="141326" name="Freeform 14"/>
          <p:cNvSpPr>
            <a:spLocks/>
          </p:cNvSpPr>
          <p:nvPr/>
        </p:nvSpPr>
        <p:spPr bwMode="auto">
          <a:xfrm>
            <a:off x="2057400" y="4038600"/>
            <a:ext cx="4953000" cy="2209800"/>
          </a:xfrm>
          <a:custGeom>
            <a:avLst/>
            <a:gdLst/>
            <a:ahLst/>
            <a:cxnLst>
              <a:cxn ang="0">
                <a:pos x="1104" y="48"/>
              </a:cxn>
              <a:cxn ang="0">
                <a:pos x="1008" y="1008"/>
              </a:cxn>
              <a:cxn ang="0">
                <a:pos x="192" y="1152"/>
              </a:cxn>
              <a:cxn ang="0">
                <a:pos x="0" y="0"/>
              </a:cxn>
            </a:cxnLst>
            <a:rect l="0" t="0" r="r" b="b"/>
            <a:pathLst>
              <a:path w="1160" h="1320">
                <a:moveTo>
                  <a:pt x="1104" y="48"/>
                </a:moveTo>
                <a:cubicBezTo>
                  <a:pt x="1132" y="436"/>
                  <a:pt x="1160" y="824"/>
                  <a:pt x="1008" y="1008"/>
                </a:cubicBezTo>
                <a:cubicBezTo>
                  <a:pt x="856" y="1192"/>
                  <a:pt x="360" y="1320"/>
                  <a:pt x="192" y="1152"/>
                </a:cubicBezTo>
                <a:cubicBezTo>
                  <a:pt x="24" y="984"/>
                  <a:pt x="12" y="492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1328" name="Object 16"/>
          <p:cNvGraphicFramePr>
            <a:graphicFrameLocks noChangeAspect="1"/>
          </p:cNvGraphicFramePr>
          <p:nvPr/>
        </p:nvGraphicFramePr>
        <p:xfrm>
          <a:off x="4038600" y="5715000"/>
          <a:ext cx="528638" cy="381000"/>
        </p:xfrm>
        <a:graphic>
          <a:graphicData uri="http://schemas.openxmlformats.org/presentationml/2006/ole">
            <p:oleObj spid="_x0000_s141328" name="Equation" r:id="rId5" imgW="304560" imgH="380880" progId="Equation.3">
              <p:embed/>
            </p:oleObj>
          </a:graphicData>
        </a:graphic>
      </p:graphicFrame>
      <p:sp>
        <p:nvSpPr>
          <p:cNvPr id="141325" name="Freeform 13"/>
          <p:cNvSpPr>
            <a:spLocks/>
          </p:cNvSpPr>
          <p:nvPr/>
        </p:nvSpPr>
        <p:spPr bwMode="auto">
          <a:xfrm>
            <a:off x="2057400" y="1752600"/>
            <a:ext cx="4724400" cy="1905000"/>
          </a:xfrm>
          <a:custGeom>
            <a:avLst/>
            <a:gdLst/>
            <a:ahLst/>
            <a:cxnLst>
              <a:cxn ang="0">
                <a:pos x="8" y="872"/>
              </a:cxn>
              <a:cxn ang="0">
                <a:pos x="152" y="200"/>
              </a:cxn>
              <a:cxn ang="0">
                <a:pos x="920" y="104"/>
              </a:cxn>
              <a:cxn ang="0">
                <a:pos x="1112" y="824"/>
              </a:cxn>
            </a:cxnLst>
            <a:rect l="0" t="0" r="r" b="b"/>
            <a:pathLst>
              <a:path w="1112" h="872">
                <a:moveTo>
                  <a:pt x="8" y="872"/>
                </a:moveTo>
                <a:cubicBezTo>
                  <a:pt x="4" y="600"/>
                  <a:pt x="0" y="328"/>
                  <a:pt x="152" y="200"/>
                </a:cubicBezTo>
                <a:cubicBezTo>
                  <a:pt x="304" y="72"/>
                  <a:pt x="760" y="0"/>
                  <a:pt x="920" y="104"/>
                </a:cubicBezTo>
                <a:cubicBezTo>
                  <a:pt x="1080" y="208"/>
                  <a:pt x="1096" y="516"/>
                  <a:pt x="1112" y="8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1327" name="Object 15"/>
          <p:cNvGraphicFramePr>
            <a:graphicFrameLocks noChangeAspect="1"/>
          </p:cNvGraphicFramePr>
          <p:nvPr/>
        </p:nvGraphicFramePr>
        <p:xfrm>
          <a:off x="4267200" y="1447800"/>
          <a:ext cx="303213" cy="381000"/>
        </p:xfrm>
        <a:graphic>
          <a:graphicData uri="http://schemas.openxmlformats.org/presentationml/2006/ole">
            <p:oleObj spid="_x0000_s141327" name="Equation" r:id="rId6" imgW="304560" imgH="380880" progId="Equation.3">
              <p:embed/>
            </p:oleObj>
          </a:graphicData>
        </a:graphic>
      </p:graphicFrame>
      <p:graphicFrame>
        <p:nvGraphicFramePr>
          <p:cNvPr id="141329" name="Object 17"/>
          <p:cNvGraphicFramePr>
            <a:graphicFrameLocks noChangeAspect="1"/>
          </p:cNvGraphicFramePr>
          <p:nvPr/>
        </p:nvGraphicFramePr>
        <p:xfrm>
          <a:off x="7086600" y="1981200"/>
          <a:ext cx="1549400" cy="571500"/>
        </p:xfrm>
        <a:graphic>
          <a:graphicData uri="http://schemas.openxmlformats.org/presentationml/2006/ole">
            <p:oleObj spid="_x0000_s141329" name="Equation" r:id="rId7" imgW="1549080" imgH="571320" progId="Equation.3">
              <p:embed/>
            </p:oleObj>
          </a:graphicData>
        </a:graphic>
      </p:graphicFrame>
      <p:sp>
        <p:nvSpPr>
          <p:cNvPr id="141332" name="Oval 20"/>
          <p:cNvSpPr>
            <a:spLocks noChangeArrowheads="1"/>
          </p:cNvSpPr>
          <p:nvPr/>
        </p:nvSpPr>
        <p:spPr bwMode="auto">
          <a:xfrm>
            <a:off x="1905000" y="3657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1333" name="Line 21"/>
          <p:cNvSpPr>
            <a:spLocks noChangeShapeType="1"/>
          </p:cNvSpPr>
          <p:nvPr/>
        </p:nvSpPr>
        <p:spPr bwMode="auto">
          <a:xfrm>
            <a:off x="2286000" y="3810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41334" name="Object 22"/>
          <p:cNvGraphicFramePr>
            <a:graphicFrameLocks noChangeAspect="1"/>
          </p:cNvGraphicFramePr>
          <p:nvPr/>
        </p:nvGraphicFramePr>
        <p:xfrm>
          <a:off x="2362200" y="3352800"/>
          <a:ext cx="303213" cy="381000"/>
        </p:xfrm>
        <a:graphic>
          <a:graphicData uri="http://schemas.openxmlformats.org/presentationml/2006/ole">
            <p:oleObj spid="_x0000_s141334" name="Equation" r:id="rId8" imgW="304560" imgH="380880" progId="Equation.3">
              <p:embed/>
            </p:oleObj>
          </a:graphicData>
        </a:graphic>
      </p:graphicFrame>
      <p:sp>
        <p:nvSpPr>
          <p:cNvPr id="141335" name="Oval 23"/>
          <p:cNvSpPr>
            <a:spLocks noChangeArrowheads="1"/>
          </p:cNvSpPr>
          <p:nvPr/>
        </p:nvSpPr>
        <p:spPr bwMode="auto">
          <a:xfrm>
            <a:off x="6629400" y="3657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1336" name="Oval 24"/>
          <p:cNvSpPr>
            <a:spLocks noChangeArrowheads="1"/>
          </p:cNvSpPr>
          <p:nvPr/>
        </p:nvSpPr>
        <p:spPr bwMode="auto">
          <a:xfrm>
            <a:off x="65532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1337" name="Line 25"/>
          <p:cNvSpPr>
            <a:spLocks noChangeShapeType="1"/>
          </p:cNvSpPr>
          <p:nvPr/>
        </p:nvSpPr>
        <p:spPr bwMode="auto">
          <a:xfrm>
            <a:off x="5410200" y="3810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41338" name="Object 26"/>
          <p:cNvGraphicFramePr>
            <a:graphicFrameLocks noChangeAspect="1"/>
          </p:cNvGraphicFramePr>
          <p:nvPr/>
        </p:nvGraphicFramePr>
        <p:xfrm>
          <a:off x="5867400" y="3429000"/>
          <a:ext cx="303213" cy="381000"/>
        </p:xfrm>
        <a:graphic>
          <a:graphicData uri="http://schemas.openxmlformats.org/presentationml/2006/ole">
            <p:oleObj spid="_x0000_s141338" name="Equation" r:id="rId9" imgW="304560" imgH="380880" progId="Equation.3">
              <p:embed/>
            </p:oleObj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DB5700-89E4-424E-B1B9-8AF4D8F279CC}" type="slidenum">
              <a:rPr lang="en-US"/>
              <a:pPr/>
              <a:t>16</a:t>
            </a:fld>
            <a:endParaRPr lang="en-US"/>
          </a:p>
        </p:txBody>
      </p:sp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NFA for</a:t>
            </a:r>
          </a:p>
        </p:txBody>
      </p:sp>
      <p:graphicFrame>
        <p:nvGraphicFramePr>
          <p:cNvPr id="142340" name="Object 4"/>
          <p:cNvGraphicFramePr>
            <a:graphicFrameLocks noChangeAspect="1"/>
          </p:cNvGraphicFramePr>
          <p:nvPr/>
        </p:nvGraphicFramePr>
        <p:xfrm>
          <a:off x="2133600" y="1295400"/>
          <a:ext cx="2590800" cy="723900"/>
        </p:xfrm>
        <a:graphic>
          <a:graphicData uri="http://schemas.openxmlformats.org/presentationml/2006/ole">
            <p:oleObj spid="_x0000_s142340" name="Equation" r:id="rId3" imgW="2590560" imgH="723600" progId="Equation.3">
              <p:embed/>
            </p:oleObj>
          </a:graphicData>
        </a:graphic>
      </p:graphicFrame>
      <p:sp>
        <p:nvSpPr>
          <p:cNvPr id="142342" name="Rectangle 6"/>
          <p:cNvSpPr>
            <a:spLocks noChangeArrowheads="1"/>
          </p:cNvSpPr>
          <p:nvPr/>
        </p:nvSpPr>
        <p:spPr bwMode="auto">
          <a:xfrm>
            <a:off x="3111500" y="3886200"/>
            <a:ext cx="2209800" cy="167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2343" name="Oval 7"/>
          <p:cNvSpPr>
            <a:spLocks noChangeArrowheads="1"/>
          </p:cNvSpPr>
          <p:nvPr/>
        </p:nvSpPr>
        <p:spPr bwMode="auto">
          <a:xfrm>
            <a:off x="3492500" y="4876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2344" name="Oval 8"/>
          <p:cNvSpPr>
            <a:spLocks noChangeArrowheads="1"/>
          </p:cNvSpPr>
          <p:nvPr/>
        </p:nvSpPr>
        <p:spPr bwMode="auto">
          <a:xfrm>
            <a:off x="4559300" y="4876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2345" name="Line 9"/>
          <p:cNvSpPr>
            <a:spLocks noChangeShapeType="1"/>
          </p:cNvSpPr>
          <p:nvPr/>
        </p:nvSpPr>
        <p:spPr bwMode="auto">
          <a:xfrm>
            <a:off x="3873500" y="5029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2346" name="Freeform 10"/>
          <p:cNvSpPr>
            <a:spLocks/>
          </p:cNvSpPr>
          <p:nvPr/>
        </p:nvSpPr>
        <p:spPr bwMode="auto">
          <a:xfrm>
            <a:off x="3403600" y="4254500"/>
            <a:ext cx="482600" cy="622300"/>
          </a:xfrm>
          <a:custGeom>
            <a:avLst/>
            <a:gdLst/>
            <a:ahLst/>
            <a:cxnLst>
              <a:cxn ang="0">
                <a:pos x="104" y="392"/>
              </a:cxn>
              <a:cxn ang="0">
                <a:pos x="8" y="152"/>
              </a:cxn>
              <a:cxn ang="0">
                <a:pos x="152" y="8"/>
              </a:cxn>
              <a:cxn ang="0">
                <a:pos x="296" y="104"/>
              </a:cxn>
              <a:cxn ang="0">
                <a:pos x="200" y="392"/>
              </a:cxn>
            </a:cxnLst>
            <a:rect l="0" t="0" r="r" b="b"/>
            <a:pathLst>
              <a:path w="304" h="392">
                <a:moveTo>
                  <a:pt x="104" y="392"/>
                </a:moveTo>
                <a:cubicBezTo>
                  <a:pt x="52" y="304"/>
                  <a:pt x="0" y="216"/>
                  <a:pt x="8" y="152"/>
                </a:cubicBezTo>
                <a:cubicBezTo>
                  <a:pt x="16" y="88"/>
                  <a:pt x="104" y="16"/>
                  <a:pt x="152" y="8"/>
                </a:cubicBezTo>
                <a:cubicBezTo>
                  <a:pt x="200" y="0"/>
                  <a:pt x="288" y="40"/>
                  <a:pt x="296" y="104"/>
                </a:cubicBezTo>
                <a:cubicBezTo>
                  <a:pt x="304" y="168"/>
                  <a:pt x="252" y="280"/>
                  <a:pt x="200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2348" name="Oval 12"/>
          <p:cNvSpPr>
            <a:spLocks noChangeArrowheads="1"/>
          </p:cNvSpPr>
          <p:nvPr/>
        </p:nvSpPr>
        <p:spPr bwMode="auto">
          <a:xfrm>
            <a:off x="4483100" y="4800600"/>
            <a:ext cx="533400" cy="533400"/>
          </a:xfrm>
          <a:prstGeom prst="ellipse">
            <a:avLst/>
          </a:prstGeom>
          <a:noFill/>
          <a:ln w="9525" cap="rnd">
            <a:solidFill>
              <a:srgbClr val="C0C0C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2349" name="Object 13"/>
          <p:cNvGraphicFramePr>
            <a:graphicFrameLocks noChangeAspect="1"/>
          </p:cNvGraphicFramePr>
          <p:nvPr/>
        </p:nvGraphicFramePr>
        <p:xfrm>
          <a:off x="3263900" y="4038600"/>
          <a:ext cx="265113" cy="279400"/>
        </p:xfrm>
        <a:graphic>
          <a:graphicData uri="http://schemas.openxmlformats.org/presentationml/2006/ole">
            <p:oleObj spid="_x0000_s142349" name="Equation" r:id="rId4" imgW="266400" imgH="279360" progId="Equation.3">
              <p:embed/>
            </p:oleObj>
          </a:graphicData>
        </a:graphic>
      </p:graphicFrame>
      <p:graphicFrame>
        <p:nvGraphicFramePr>
          <p:cNvPr id="142350" name="Object 14"/>
          <p:cNvGraphicFramePr>
            <a:graphicFrameLocks noChangeAspect="1"/>
          </p:cNvGraphicFramePr>
          <p:nvPr/>
        </p:nvGraphicFramePr>
        <p:xfrm>
          <a:off x="4025900" y="4648200"/>
          <a:ext cx="252413" cy="392113"/>
        </p:xfrm>
        <a:graphic>
          <a:graphicData uri="http://schemas.openxmlformats.org/presentationml/2006/ole">
            <p:oleObj spid="_x0000_s142350" name="Equation" r:id="rId5" imgW="253800" imgH="393480" progId="Equation.3">
              <p:embed/>
            </p:oleObj>
          </a:graphicData>
        </a:graphic>
      </p:graphicFrame>
      <p:graphicFrame>
        <p:nvGraphicFramePr>
          <p:cNvPr id="142355" name="Object 19"/>
          <p:cNvGraphicFramePr>
            <a:graphicFrameLocks noChangeAspect="1"/>
          </p:cNvGraphicFramePr>
          <p:nvPr/>
        </p:nvGraphicFramePr>
        <p:xfrm>
          <a:off x="3352800" y="3124200"/>
          <a:ext cx="2095500" cy="723900"/>
        </p:xfrm>
        <a:graphic>
          <a:graphicData uri="http://schemas.openxmlformats.org/presentationml/2006/ole">
            <p:oleObj spid="_x0000_s142355" name="Equation" r:id="rId6" imgW="2095200" imgH="723600" progId="Equation.3">
              <p:embed/>
            </p:oleObj>
          </a:graphicData>
        </a:graphic>
      </p:graphicFrame>
      <p:sp>
        <p:nvSpPr>
          <p:cNvPr id="142359" name="Line 23"/>
          <p:cNvSpPr>
            <a:spLocks noChangeShapeType="1"/>
          </p:cNvSpPr>
          <p:nvPr/>
        </p:nvSpPr>
        <p:spPr bwMode="auto">
          <a:xfrm>
            <a:off x="1524000" y="5029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2360" name="Oval 24"/>
          <p:cNvSpPr>
            <a:spLocks noChangeArrowheads="1"/>
          </p:cNvSpPr>
          <p:nvPr/>
        </p:nvSpPr>
        <p:spPr bwMode="auto">
          <a:xfrm>
            <a:off x="2133600" y="4876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2361" name="Line 25"/>
          <p:cNvSpPr>
            <a:spLocks noChangeShapeType="1"/>
          </p:cNvSpPr>
          <p:nvPr/>
        </p:nvSpPr>
        <p:spPr bwMode="auto">
          <a:xfrm>
            <a:off x="2514600" y="50292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42362" name="Object 26"/>
          <p:cNvGraphicFramePr>
            <a:graphicFrameLocks noChangeAspect="1"/>
          </p:cNvGraphicFramePr>
          <p:nvPr/>
        </p:nvGraphicFramePr>
        <p:xfrm>
          <a:off x="2590800" y="4572000"/>
          <a:ext cx="303213" cy="381000"/>
        </p:xfrm>
        <a:graphic>
          <a:graphicData uri="http://schemas.openxmlformats.org/presentationml/2006/ole">
            <p:oleObj spid="_x0000_s142362" name="Equation" r:id="rId7" imgW="304560" imgH="380880" progId="Equation.3">
              <p:embed/>
            </p:oleObj>
          </a:graphicData>
        </a:graphic>
      </p:graphicFrame>
      <p:sp>
        <p:nvSpPr>
          <p:cNvPr id="142363" name="Freeform 27"/>
          <p:cNvSpPr>
            <a:spLocks/>
          </p:cNvSpPr>
          <p:nvPr/>
        </p:nvSpPr>
        <p:spPr bwMode="auto">
          <a:xfrm>
            <a:off x="2286000" y="2590800"/>
            <a:ext cx="4419600" cy="2286000"/>
          </a:xfrm>
          <a:custGeom>
            <a:avLst/>
            <a:gdLst/>
            <a:ahLst/>
            <a:cxnLst>
              <a:cxn ang="0">
                <a:pos x="8" y="872"/>
              </a:cxn>
              <a:cxn ang="0">
                <a:pos x="152" y="200"/>
              </a:cxn>
              <a:cxn ang="0">
                <a:pos x="920" y="104"/>
              </a:cxn>
              <a:cxn ang="0">
                <a:pos x="1112" y="824"/>
              </a:cxn>
            </a:cxnLst>
            <a:rect l="0" t="0" r="r" b="b"/>
            <a:pathLst>
              <a:path w="1112" h="872">
                <a:moveTo>
                  <a:pt x="8" y="872"/>
                </a:moveTo>
                <a:cubicBezTo>
                  <a:pt x="4" y="600"/>
                  <a:pt x="0" y="328"/>
                  <a:pt x="152" y="200"/>
                </a:cubicBezTo>
                <a:cubicBezTo>
                  <a:pt x="304" y="72"/>
                  <a:pt x="760" y="0"/>
                  <a:pt x="920" y="104"/>
                </a:cubicBezTo>
                <a:cubicBezTo>
                  <a:pt x="1080" y="208"/>
                  <a:pt x="1096" y="516"/>
                  <a:pt x="1112" y="8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2364" name="Object 28"/>
          <p:cNvGraphicFramePr>
            <a:graphicFrameLocks noChangeAspect="1"/>
          </p:cNvGraphicFramePr>
          <p:nvPr/>
        </p:nvGraphicFramePr>
        <p:xfrm>
          <a:off x="4495800" y="2362200"/>
          <a:ext cx="303213" cy="381000"/>
        </p:xfrm>
        <a:graphic>
          <a:graphicData uri="http://schemas.openxmlformats.org/presentationml/2006/ole">
            <p:oleObj spid="_x0000_s142364" name="Equation" r:id="rId8" imgW="304560" imgH="380880" progId="Equation.3">
              <p:embed/>
            </p:oleObj>
          </a:graphicData>
        </a:graphic>
      </p:graphicFrame>
      <p:sp>
        <p:nvSpPr>
          <p:cNvPr id="142366" name="Freeform 30"/>
          <p:cNvSpPr>
            <a:spLocks/>
          </p:cNvSpPr>
          <p:nvPr/>
        </p:nvSpPr>
        <p:spPr bwMode="auto">
          <a:xfrm>
            <a:off x="2286000" y="5257800"/>
            <a:ext cx="4648200" cy="1371600"/>
          </a:xfrm>
          <a:custGeom>
            <a:avLst/>
            <a:gdLst/>
            <a:ahLst/>
            <a:cxnLst>
              <a:cxn ang="0">
                <a:pos x="1104" y="48"/>
              </a:cxn>
              <a:cxn ang="0">
                <a:pos x="1008" y="1008"/>
              </a:cxn>
              <a:cxn ang="0">
                <a:pos x="192" y="1152"/>
              </a:cxn>
              <a:cxn ang="0">
                <a:pos x="0" y="0"/>
              </a:cxn>
            </a:cxnLst>
            <a:rect l="0" t="0" r="r" b="b"/>
            <a:pathLst>
              <a:path w="1160" h="1320">
                <a:moveTo>
                  <a:pt x="1104" y="48"/>
                </a:moveTo>
                <a:cubicBezTo>
                  <a:pt x="1132" y="436"/>
                  <a:pt x="1160" y="824"/>
                  <a:pt x="1008" y="1008"/>
                </a:cubicBezTo>
                <a:cubicBezTo>
                  <a:pt x="856" y="1192"/>
                  <a:pt x="360" y="1320"/>
                  <a:pt x="192" y="1152"/>
                </a:cubicBezTo>
                <a:cubicBezTo>
                  <a:pt x="24" y="984"/>
                  <a:pt x="12" y="492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2368" name="Object 32"/>
          <p:cNvGraphicFramePr>
            <a:graphicFrameLocks noChangeAspect="1"/>
          </p:cNvGraphicFramePr>
          <p:nvPr/>
        </p:nvGraphicFramePr>
        <p:xfrm>
          <a:off x="4267200" y="6096000"/>
          <a:ext cx="528638" cy="381000"/>
        </p:xfrm>
        <a:graphic>
          <a:graphicData uri="http://schemas.openxmlformats.org/presentationml/2006/ole">
            <p:oleObj spid="_x0000_s142368" name="Equation" r:id="rId9" imgW="304560" imgH="380880" progId="Equation.3">
              <p:embed/>
            </p:oleObj>
          </a:graphicData>
        </a:graphic>
      </p:graphicFrame>
      <p:sp>
        <p:nvSpPr>
          <p:cNvPr id="142369" name="Oval 33"/>
          <p:cNvSpPr>
            <a:spLocks noChangeArrowheads="1"/>
          </p:cNvSpPr>
          <p:nvPr/>
        </p:nvSpPr>
        <p:spPr bwMode="auto">
          <a:xfrm>
            <a:off x="6553200" y="4876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2370" name="Oval 34"/>
          <p:cNvSpPr>
            <a:spLocks noChangeArrowheads="1"/>
          </p:cNvSpPr>
          <p:nvPr/>
        </p:nvSpPr>
        <p:spPr bwMode="auto">
          <a:xfrm>
            <a:off x="6477000" y="4800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2371" name="Line 35"/>
          <p:cNvSpPr>
            <a:spLocks noChangeShapeType="1"/>
          </p:cNvSpPr>
          <p:nvPr/>
        </p:nvSpPr>
        <p:spPr bwMode="auto">
          <a:xfrm flipV="1">
            <a:off x="5029200" y="50292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42372" name="Object 36"/>
          <p:cNvGraphicFramePr>
            <a:graphicFrameLocks noChangeAspect="1"/>
          </p:cNvGraphicFramePr>
          <p:nvPr/>
        </p:nvGraphicFramePr>
        <p:xfrm>
          <a:off x="5715000" y="4572000"/>
          <a:ext cx="303213" cy="381000"/>
        </p:xfrm>
        <a:graphic>
          <a:graphicData uri="http://schemas.openxmlformats.org/presentationml/2006/ole">
            <p:oleObj spid="_x0000_s142372" name="Equation" r:id="rId10" imgW="304560" imgH="380880" progId="Equation.3">
              <p:embed/>
            </p:oleObj>
          </a:graphicData>
        </a:graphic>
      </p:graphicFrame>
      <p:graphicFrame>
        <p:nvGraphicFramePr>
          <p:cNvPr id="142373" name="Object 37"/>
          <p:cNvGraphicFramePr>
            <a:graphicFrameLocks noChangeAspect="1"/>
          </p:cNvGraphicFramePr>
          <p:nvPr/>
        </p:nvGraphicFramePr>
        <p:xfrm>
          <a:off x="6172200" y="1143000"/>
          <a:ext cx="2374900" cy="1092200"/>
        </p:xfrm>
        <a:graphic>
          <a:graphicData uri="http://schemas.openxmlformats.org/presentationml/2006/ole">
            <p:oleObj spid="_x0000_s142373" name="Equation" r:id="rId11" imgW="2374560" imgH="1091880" progId="Equation.3">
              <p:embed/>
            </p:oleObj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48AECA-721C-4F58-A40D-52AC7C24B1FA}" type="slidenum">
              <a:rPr lang="en-US"/>
              <a:pPr/>
              <a:t>17</a:t>
            </a:fld>
            <a:endParaRPr lang="en-US"/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Reverse</a:t>
            </a:r>
          </a:p>
        </p:txBody>
      </p:sp>
      <p:graphicFrame>
        <p:nvGraphicFramePr>
          <p:cNvPr id="201731" name="Object 3"/>
          <p:cNvGraphicFramePr>
            <a:graphicFrameLocks noChangeAspect="1"/>
          </p:cNvGraphicFramePr>
          <p:nvPr/>
        </p:nvGraphicFramePr>
        <p:xfrm>
          <a:off x="7543800" y="990600"/>
          <a:ext cx="723900" cy="736600"/>
        </p:xfrm>
        <a:graphic>
          <a:graphicData uri="http://schemas.openxmlformats.org/presentationml/2006/ole">
            <p:oleObj spid="_x0000_s201731" name="Equation" r:id="rId3" imgW="723600" imgH="736560" progId="Equation.3">
              <p:embed/>
            </p:oleObj>
          </a:graphicData>
        </a:graphic>
      </p:graphicFrame>
      <p:sp>
        <p:nvSpPr>
          <p:cNvPr id="201732" name="Rectangle 4"/>
          <p:cNvSpPr>
            <a:spLocks noChangeArrowheads="1"/>
          </p:cNvSpPr>
          <p:nvPr/>
        </p:nvSpPr>
        <p:spPr bwMode="auto">
          <a:xfrm>
            <a:off x="838200" y="2590800"/>
            <a:ext cx="2590800" cy="1447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3" name="Oval 5"/>
          <p:cNvSpPr>
            <a:spLocks noChangeArrowheads="1"/>
          </p:cNvSpPr>
          <p:nvPr/>
        </p:nvSpPr>
        <p:spPr bwMode="auto">
          <a:xfrm>
            <a:off x="1066800" y="3124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4" name="Oval 6"/>
          <p:cNvSpPr>
            <a:spLocks noChangeArrowheads="1"/>
          </p:cNvSpPr>
          <p:nvPr/>
        </p:nvSpPr>
        <p:spPr bwMode="auto">
          <a:xfrm>
            <a:off x="2743200" y="3124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5" name="Oval 7"/>
          <p:cNvSpPr>
            <a:spLocks noChangeArrowheads="1"/>
          </p:cNvSpPr>
          <p:nvPr/>
        </p:nvSpPr>
        <p:spPr bwMode="auto">
          <a:xfrm>
            <a:off x="2667000" y="3048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6" name="Line 8"/>
          <p:cNvSpPr>
            <a:spLocks noChangeShapeType="1"/>
          </p:cNvSpPr>
          <p:nvPr/>
        </p:nvSpPr>
        <p:spPr bwMode="auto">
          <a:xfrm>
            <a:off x="4572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7" name="Freeform 9"/>
          <p:cNvSpPr>
            <a:spLocks/>
          </p:cNvSpPr>
          <p:nvPr/>
        </p:nvSpPr>
        <p:spPr bwMode="auto">
          <a:xfrm>
            <a:off x="1447800" y="2908300"/>
            <a:ext cx="1295400" cy="5969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96" y="88"/>
              </a:cxn>
              <a:cxn ang="0">
                <a:pos x="192" y="328"/>
              </a:cxn>
              <a:cxn ang="0">
                <a:pos x="384" y="40"/>
              </a:cxn>
              <a:cxn ang="0">
                <a:pos x="480" y="376"/>
              </a:cxn>
              <a:cxn ang="0">
                <a:pos x="672" y="40"/>
              </a:cxn>
              <a:cxn ang="0">
                <a:pos x="816" y="136"/>
              </a:cxn>
            </a:cxnLst>
            <a:rect l="0" t="0" r="r" b="b"/>
            <a:pathLst>
              <a:path w="816" h="376">
                <a:moveTo>
                  <a:pt x="0" y="232"/>
                </a:moveTo>
                <a:cubicBezTo>
                  <a:pt x="32" y="152"/>
                  <a:pt x="64" y="72"/>
                  <a:pt x="96" y="88"/>
                </a:cubicBezTo>
                <a:cubicBezTo>
                  <a:pt x="128" y="104"/>
                  <a:pt x="144" y="336"/>
                  <a:pt x="192" y="328"/>
                </a:cubicBezTo>
                <a:cubicBezTo>
                  <a:pt x="240" y="320"/>
                  <a:pt x="336" y="32"/>
                  <a:pt x="384" y="40"/>
                </a:cubicBezTo>
                <a:cubicBezTo>
                  <a:pt x="432" y="48"/>
                  <a:pt x="432" y="376"/>
                  <a:pt x="480" y="376"/>
                </a:cubicBezTo>
                <a:cubicBezTo>
                  <a:pt x="528" y="376"/>
                  <a:pt x="616" y="80"/>
                  <a:pt x="672" y="40"/>
                </a:cubicBezTo>
                <a:cubicBezTo>
                  <a:pt x="728" y="0"/>
                  <a:pt x="772" y="68"/>
                  <a:pt x="816" y="1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1738" name="Object 10"/>
          <p:cNvGraphicFramePr>
            <a:graphicFrameLocks noChangeAspect="1"/>
          </p:cNvGraphicFramePr>
          <p:nvPr/>
        </p:nvGraphicFramePr>
        <p:xfrm>
          <a:off x="1949450" y="2032000"/>
          <a:ext cx="646113" cy="571500"/>
        </p:xfrm>
        <a:graphic>
          <a:graphicData uri="http://schemas.openxmlformats.org/presentationml/2006/ole">
            <p:oleObj spid="_x0000_s201738" name="Equation" r:id="rId4" imgW="647640" imgH="571320" progId="Equation.3">
              <p:embed/>
            </p:oleObj>
          </a:graphicData>
        </a:graphic>
      </p:graphicFrame>
      <p:sp>
        <p:nvSpPr>
          <p:cNvPr id="201739" name="Rectangle 11"/>
          <p:cNvSpPr>
            <a:spLocks noChangeArrowheads="1"/>
          </p:cNvSpPr>
          <p:nvPr/>
        </p:nvSpPr>
        <p:spPr bwMode="auto">
          <a:xfrm>
            <a:off x="5613400" y="1149350"/>
            <a:ext cx="17891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NFA for</a:t>
            </a:r>
          </a:p>
        </p:txBody>
      </p:sp>
      <p:sp>
        <p:nvSpPr>
          <p:cNvPr id="201740" name="Rectangle 12"/>
          <p:cNvSpPr>
            <a:spLocks noChangeArrowheads="1"/>
          </p:cNvSpPr>
          <p:nvPr/>
        </p:nvSpPr>
        <p:spPr bwMode="auto">
          <a:xfrm>
            <a:off x="5562600" y="2590800"/>
            <a:ext cx="2590800" cy="1447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41" name="Oval 13"/>
          <p:cNvSpPr>
            <a:spLocks noChangeArrowheads="1"/>
          </p:cNvSpPr>
          <p:nvPr/>
        </p:nvSpPr>
        <p:spPr bwMode="auto">
          <a:xfrm>
            <a:off x="5791200" y="3124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42" name="Oval 14"/>
          <p:cNvSpPr>
            <a:spLocks noChangeArrowheads="1"/>
          </p:cNvSpPr>
          <p:nvPr/>
        </p:nvSpPr>
        <p:spPr bwMode="auto">
          <a:xfrm>
            <a:off x="7467600" y="3124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45" name="Freeform 17"/>
          <p:cNvSpPr>
            <a:spLocks/>
          </p:cNvSpPr>
          <p:nvPr/>
        </p:nvSpPr>
        <p:spPr bwMode="auto">
          <a:xfrm>
            <a:off x="6248400" y="2908300"/>
            <a:ext cx="1295400" cy="5969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96" y="88"/>
              </a:cxn>
              <a:cxn ang="0">
                <a:pos x="192" y="328"/>
              </a:cxn>
              <a:cxn ang="0">
                <a:pos x="384" y="40"/>
              </a:cxn>
              <a:cxn ang="0">
                <a:pos x="480" y="376"/>
              </a:cxn>
              <a:cxn ang="0">
                <a:pos x="672" y="40"/>
              </a:cxn>
              <a:cxn ang="0">
                <a:pos x="816" y="136"/>
              </a:cxn>
            </a:cxnLst>
            <a:rect l="0" t="0" r="r" b="b"/>
            <a:pathLst>
              <a:path w="816" h="376">
                <a:moveTo>
                  <a:pt x="0" y="232"/>
                </a:moveTo>
                <a:cubicBezTo>
                  <a:pt x="32" y="152"/>
                  <a:pt x="64" y="72"/>
                  <a:pt x="96" y="88"/>
                </a:cubicBezTo>
                <a:cubicBezTo>
                  <a:pt x="128" y="104"/>
                  <a:pt x="144" y="336"/>
                  <a:pt x="192" y="328"/>
                </a:cubicBezTo>
                <a:cubicBezTo>
                  <a:pt x="240" y="320"/>
                  <a:pt x="336" y="32"/>
                  <a:pt x="384" y="40"/>
                </a:cubicBezTo>
                <a:cubicBezTo>
                  <a:pt x="432" y="48"/>
                  <a:pt x="432" y="376"/>
                  <a:pt x="480" y="376"/>
                </a:cubicBezTo>
                <a:cubicBezTo>
                  <a:pt x="528" y="376"/>
                  <a:pt x="616" y="80"/>
                  <a:pt x="672" y="40"/>
                </a:cubicBezTo>
                <a:cubicBezTo>
                  <a:pt x="728" y="0"/>
                  <a:pt x="772" y="68"/>
                  <a:pt x="816" y="1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triangle" w="lg" len="lg"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1746" name="Object 18"/>
          <p:cNvGraphicFramePr>
            <a:graphicFrameLocks noChangeAspect="1"/>
          </p:cNvGraphicFramePr>
          <p:nvPr/>
        </p:nvGraphicFramePr>
        <p:xfrm>
          <a:off x="6623050" y="1936750"/>
          <a:ext cx="747713" cy="762000"/>
        </p:xfrm>
        <a:graphic>
          <a:graphicData uri="http://schemas.openxmlformats.org/presentationml/2006/ole">
            <p:oleObj spid="_x0000_s201746" name="Equation" r:id="rId5" imgW="749160" imgH="761760" progId="Equation.3">
              <p:embed/>
            </p:oleObj>
          </a:graphicData>
        </a:graphic>
      </p:graphicFrame>
      <p:sp>
        <p:nvSpPr>
          <p:cNvPr id="201747" name="Oval 19"/>
          <p:cNvSpPr>
            <a:spLocks noChangeArrowheads="1"/>
          </p:cNvSpPr>
          <p:nvPr/>
        </p:nvSpPr>
        <p:spPr bwMode="auto">
          <a:xfrm>
            <a:off x="5715000" y="3048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48" name="Line 20"/>
          <p:cNvSpPr>
            <a:spLocks noChangeShapeType="1"/>
          </p:cNvSpPr>
          <p:nvPr/>
        </p:nvSpPr>
        <p:spPr bwMode="auto">
          <a:xfrm flipH="1">
            <a:off x="78486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749" name="Text Box 21"/>
          <p:cNvSpPr txBox="1">
            <a:spLocks noChangeArrowheads="1"/>
          </p:cNvSpPr>
          <p:nvPr/>
        </p:nvSpPr>
        <p:spPr bwMode="auto">
          <a:xfrm>
            <a:off x="990600" y="4572000"/>
            <a:ext cx="48323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1. Reverse all transitions</a:t>
            </a:r>
          </a:p>
        </p:txBody>
      </p:sp>
      <p:sp>
        <p:nvSpPr>
          <p:cNvPr id="201750" name="Text Box 22"/>
          <p:cNvSpPr txBox="1">
            <a:spLocks noChangeArrowheads="1"/>
          </p:cNvSpPr>
          <p:nvPr/>
        </p:nvSpPr>
        <p:spPr bwMode="auto">
          <a:xfrm>
            <a:off x="914400" y="5486400"/>
            <a:ext cx="6219825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2. Make initial state final state </a:t>
            </a:r>
          </a:p>
          <a:p>
            <a:r>
              <a:rPr lang="en-US"/>
              <a:t>    and vice versa</a:t>
            </a:r>
          </a:p>
        </p:txBody>
      </p:sp>
      <p:graphicFrame>
        <p:nvGraphicFramePr>
          <p:cNvPr id="201751" name="Object 23"/>
          <p:cNvGraphicFramePr>
            <a:graphicFrameLocks noChangeAspect="1"/>
          </p:cNvGraphicFramePr>
          <p:nvPr/>
        </p:nvGraphicFramePr>
        <p:xfrm>
          <a:off x="838200" y="1981200"/>
          <a:ext cx="431800" cy="571500"/>
        </p:xfrm>
        <a:graphic>
          <a:graphicData uri="http://schemas.openxmlformats.org/presentationml/2006/ole">
            <p:oleObj spid="_x0000_s201751" name="Equation" r:id="rId6" imgW="431640" imgH="571320" progId="Equation.3">
              <p:embed/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BCAC82-D5F5-4814-8A4C-C9C0EA0D29BF}" type="slidenum">
              <a:rPr lang="en-US"/>
              <a:pPr/>
              <a:t>18</a:t>
            </a:fld>
            <a:endParaRPr lang="en-US"/>
          </a:p>
        </p:txBody>
      </p:sp>
      <p:sp>
        <p:nvSpPr>
          <p:cNvPr id="202754" name="Rectangle 2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Example</a:t>
            </a:r>
          </a:p>
        </p:txBody>
      </p:sp>
      <p:graphicFrame>
        <p:nvGraphicFramePr>
          <p:cNvPr id="202755" name="Object 3"/>
          <p:cNvGraphicFramePr>
            <a:graphicFrameLocks noChangeAspect="1"/>
          </p:cNvGraphicFramePr>
          <p:nvPr/>
        </p:nvGraphicFramePr>
        <p:xfrm>
          <a:off x="679450" y="2171700"/>
          <a:ext cx="2095500" cy="723900"/>
        </p:xfrm>
        <a:graphic>
          <a:graphicData uri="http://schemas.openxmlformats.org/presentationml/2006/ole">
            <p:oleObj spid="_x0000_s202755" name="Equation" r:id="rId3" imgW="2095200" imgH="723600" progId="Equation.3">
              <p:embed/>
            </p:oleObj>
          </a:graphicData>
        </a:graphic>
      </p:graphicFrame>
      <p:sp>
        <p:nvSpPr>
          <p:cNvPr id="202756" name="Rectangle 4"/>
          <p:cNvSpPr>
            <a:spLocks noChangeArrowheads="1"/>
          </p:cNvSpPr>
          <p:nvPr/>
        </p:nvSpPr>
        <p:spPr bwMode="auto">
          <a:xfrm>
            <a:off x="3810000" y="1676400"/>
            <a:ext cx="2209800" cy="167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57" name="Oval 5"/>
          <p:cNvSpPr>
            <a:spLocks noChangeArrowheads="1"/>
          </p:cNvSpPr>
          <p:nvPr/>
        </p:nvSpPr>
        <p:spPr bwMode="auto">
          <a:xfrm>
            <a:off x="4191000" y="2667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58" name="Oval 6"/>
          <p:cNvSpPr>
            <a:spLocks noChangeArrowheads="1"/>
          </p:cNvSpPr>
          <p:nvPr/>
        </p:nvSpPr>
        <p:spPr bwMode="auto">
          <a:xfrm>
            <a:off x="5257800" y="2667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59" name="Line 7"/>
          <p:cNvSpPr>
            <a:spLocks noChangeShapeType="1"/>
          </p:cNvSpPr>
          <p:nvPr/>
        </p:nvSpPr>
        <p:spPr bwMode="auto">
          <a:xfrm>
            <a:off x="4572000" y="2819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60" name="Freeform 8"/>
          <p:cNvSpPr>
            <a:spLocks/>
          </p:cNvSpPr>
          <p:nvPr/>
        </p:nvSpPr>
        <p:spPr bwMode="auto">
          <a:xfrm>
            <a:off x="4102100" y="2044700"/>
            <a:ext cx="482600" cy="622300"/>
          </a:xfrm>
          <a:custGeom>
            <a:avLst/>
            <a:gdLst/>
            <a:ahLst/>
            <a:cxnLst>
              <a:cxn ang="0">
                <a:pos x="104" y="392"/>
              </a:cxn>
              <a:cxn ang="0">
                <a:pos x="8" y="152"/>
              </a:cxn>
              <a:cxn ang="0">
                <a:pos x="152" y="8"/>
              </a:cxn>
              <a:cxn ang="0">
                <a:pos x="296" y="104"/>
              </a:cxn>
              <a:cxn ang="0">
                <a:pos x="200" y="392"/>
              </a:cxn>
            </a:cxnLst>
            <a:rect l="0" t="0" r="r" b="b"/>
            <a:pathLst>
              <a:path w="304" h="392">
                <a:moveTo>
                  <a:pt x="104" y="392"/>
                </a:moveTo>
                <a:cubicBezTo>
                  <a:pt x="52" y="304"/>
                  <a:pt x="0" y="216"/>
                  <a:pt x="8" y="152"/>
                </a:cubicBezTo>
                <a:cubicBezTo>
                  <a:pt x="16" y="88"/>
                  <a:pt x="104" y="16"/>
                  <a:pt x="152" y="8"/>
                </a:cubicBezTo>
                <a:cubicBezTo>
                  <a:pt x="200" y="0"/>
                  <a:pt x="288" y="40"/>
                  <a:pt x="296" y="104"/>
                </a:cubicBezTo>
                <a:cubicBezTo>
                  <a:pt x="304" y="168"/>
                  <a:pt x="252" y="280"/>
                  <a:pt x="200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61" name="Line 9"/>
          <p:cNvSpPr>
            <a:spLocks noChangeShapeType="1"/>
          </p:cNvSpPr>
          <p:nvPr/>
        </p:nvSpPr>
        <p:spPr bwMode="auto">
          <a:xfrm>
            <a:off x="3276600" y="2819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62" name="Oval 10"/>
          <p:cNvSpPr>
            <a:spLocks noChangeArrowheads="1"/>
          </p:cNvSpPr>
          <p:nvPr/>
        </p:nvSpPr>
        <p:spPr bwMode="auto">
          <a:xfrm>
            <a:off x="5181600" y="2590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2763" name="Object 11"/>
          <p:cNvGraphicFramePr>
            <a:graphicFrameLocks noChangeAspect="1"/>
          </p:cNvGraphicFramePr>
          <p:nvPr/>
        </p:nvGraphicFramePr>
        <p:xfrm>
          <a:off x="3962400" y="1828800"/>
          <a:ext cx="265113" cy="279400"/>
        </p:xfrm>
        <a:graphic>
          <a:graphicData uri="http://schemas.openxmlformats.org/presentationml/2006/ole">
            <p:oleObj spid="_x0000_s202763" name="Equation" r:id="rId4" imgW="266400" imgH="279360" progId="Equation.3">
              <p:embed/>
            </p:oleObj>
          </a:graphicData>
        </a:graphic>
      </p:graphicFrame>
      <p:graphicFrame>
        <p:nvGraphicFramePr>
          <p:cNvPr id="202764" name="Object 12"/>
          <p:cNvGraphicFramePr>
            <a:graphicFrameLocks noChangeAspect="1"/>
          </p:cNvGraphicFramePr>
          <p:nvPr/>
        </p:nvGraphicFramePr>
        <p:xfrm>
          <a:off x="4724400" y="2438400"/>
          <a:ext cx="252413" cy="392113"/>
        </p:xfrm>
        <a:graphic>
          <a:graphicData uri="http://schemas.openxmlformats.org/presentationml/2006/ole">
            <p:oleObj spid="_x0000_s202764" name="Equation" r:id="rId5" imgW="253800" imgH="393480" progId="Equation.3">
              <p:embed/>
            </p:oleObj>
          </a:graphicData>
        </a:graphic>
      </p:graphicFrame>
      <p:graphicFrame>
        <p:nvGraphicFramePr>
          <p:cNvPr id="202765" name="Object 13"/>
          <p:cNvGraphicFramePr>
            <a:graphicFrameLocks noChangeAspect="1"/>
          </p:cNvGraphicFramePr>
          <p:nvPr/>
        </p:nvGraphicFramePr>
        <p:xfrm>
          <a:off x="4648200" y="1066800"/>
          <a:ext cx="646113" cy="571500"/>
        </p:xfrm>
        <a:graphic>
          <a:graphicData uri="http://schemas.openxmlformats.org/presentationml/2006/ole">
            <p:oleObj spid="_x0000_s202765" name="Equation" r:id="rId6" imgW="647640" imgH="571320" progId="Equation.3">
              <p:embed/>
            </p:oleObj>
          </a:graphicData>
        </a:graphic>
      </p:graphicFrame>
      <p:graphicFrame>
        <p:nvGraphicFramePr>
          <p:cNvPr id="202766" name="Object 14"/>
          <p:cNvGraphicFramePr>
            <a:graphicFrameLocks noChangeAspect="1"/>
          </p:cNvGraphicFramePr>
          <p:nvPr/>
        </p:nvGraphicFramePr>
        <p:xfrm>
          <a:off x="596900" y="4984750"/>
          <a:ext cx="2413000" cy="736600"/>
        </p:xfrm>
        <a:graphic>
          <a:graphicData uri="http://schemas.openxmlformats.org/presentationml/2006/ole">
            <p:oleObj spid="_x0000_s202766" name="Equation" r:id="rId7" imgW="2412720" imgH="736560" progId="Equation.3">
              <p:embed/>
            </p:oleObj>
          </a:graphicData>
        </a:graphic>
      </p:graphicFrame>
      <p:sp>
        <p:nvSpPr>
          <p:cNvPr id="202767" name="Rectangle 15"/>
          <p:cNvSpPr>
            <a:spLocks noChangeArrowheads="1"/>
          </p:cNvSpPr>
          <p:nvPr/>
        </p:nvSpPr>
        <p:spPr bwMode="auto">
          <a:xfrm>
            <a:off x="3886200" y="4495800"/>
            <a:ext cx="2209800" cy="167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68" name="Oval 16"/>
          <p:cNvSpPr>
            <a:spLocks noChangeArrowheads="1"/>
          </p:cNvSpPr>
          <p:nvPr/>
        </p:nvSpPr>
        <p:spPr bwMode="auto">
          <a:xfrm>
            <a:off x="4267200" y="5486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69" name="Oval 17"/>
          <p:cNvSpPr>
            <a:spLocks noChangeArrowheads="1"/>
          </p:cNvSpPr>
          <p:nvPr/>
        </p:nvSpPr>
        <p:spPr bwMode="auto">
          <a:xfrm>
            <a:off x="5334000" y="5486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70" name="Line 18"/>
          <p:cNvSpPr>
            <a:spLocks noChangeShapeType="1"/>
          </p:cNvSpPr>
          <p:nvPr/>
        </p:nvSpPr>
        <p:spPr bwMode="auto">
          <a:xfrm>
            <a:off x="4724400" y="5638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71" name="Freeform 19"/>
          <p:cNvSpPr>
            <a:spLocks/>
          </p:cNvSpPr>
          <p:nvPr/>
        </p:nvSpPr>
        <p:spPr bwMode="auto">
          <a:xfrm>
            <a:off x="4191000" y="4800600"/>
            <a:ext cx="482600" cy="622300"/>
          </a:xfrm>
          <a:custGeom>
            <a:avLst/>
            <a:gdLst/>
            <a:ahLst/>
            <a:cxnLst>
              <a:cxn ang="0">
                <a:pos x="104" y="392"/>
              </a:cxn>
              <a:cxn ang="0">
                <a:pos x="8" y="152"/>
              </a:cxn>
              <a:cxn ang="0">
                <a:pos x="152" y="8"/>
              </a:cxn>
              <a:cxn ang="0">
                <a:pos x="296" y="104"/>
              </a:cxn>
              <a:cxn ang="0">
                <a:pos x="200" y="392"/>
              </a:cxn>
            </a:cxnLst>
            <a:rect l="0" t="0" r="r" b="b"/>
            <a:pathLst>
              <a:path w="304" h="392">
                <a:moveTo>
                  <a:pt x="104" y="392"/>
                </a:moveTo>
                <a:cubicBezTo>
                  <a:pt x="52" y="304"/>
                  <a:pt x="0" y="216"/>
                  <a:pt x="8" y="152"/>
                </a:cubicBezTo>
                <a:cubicBezTo>
                  <a:pt x="16" y="88"/>
                  <a:pt x="104" y="16"/>
                  <a:pt x="152" y="8"/>
                </a:cubicBezTo>
                <a:cubicBezTo>
                  <a:pt x="200" y="0"/>
                  <a:pt x="288" y="40"/>
                  <a:pt x="296" y="104"/>
                </a:cubicBezTo>
                <a:cubicBezTo>
                  <a:pt x="304" y="168"/>
                  <a:pt x="252" y="280"/>
                  <a:pt x="200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73" name="Oval 21"/>
          <p:cNvSpPr>
            <a:spLocks noChangeArrowheads="1"/>
          </p:cNvSpPr>
          <p:nvPr/>
        </p:nvSpPr>
        <p:spPr bwMode="auto">
          <a:xfrm>
            <a:off x="4191000" y="5410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2774" name="Object 22"/>
          <p:cNvGraphicFramePr>
            <a:graphicFrameLocks noChangeAspect="1"/>
          </p:cNvGraphicFramePr>
          <p:nvPr/>
        </p:nvGraphicFramePr>
        <p:xfrm>
          <a:off x="4038600" y="4572000"/>
          <a:ext cx="265113" cy="279400"/>
        </p:xfrm>
        <a:graphic>
          <a:graphicData uri="http://schemas.openxmlformats.org/presentationml/2006/ole">
            <p:oleObj spid="_x0000_s202774" name="Equation" r:id="rId8" imgW="266400" imgH="279360" progId="Equation.3">
              <p:embed/>
            </p:oleObj>
          </a:graphicData>
        </a:graphic>
      </p:graphicFrame>
      <p:graphicFrame>
        <p:nvGraphicFramePr>
          <p:cNvPr id="202775" name="Object 23"/>
          <p:cNvGraphicFramePr>
            <a:graphicFrameLocks noChangeAspect="1"/>
          </p:cNvGraphicFramePr>
          <p:nvPr/>
        </p:nvGraphicFramePr>
        <p:xfrm>
          <a:off x="5029200" y="5181600"/>
          <a:ext cx="252413" cy="392113"/>
        </p:xfrm>
        <a:graphic>
          <a:graphicData uri="http://schemas.openxmlformats.org/presentationml/2006/ole">
            <p:oleObj spid="_x0000_s202775" name="Equation" r:id="rId9" imgW="253800" imgH="393480" progId="Equation.3">
              <p:embed/>
            </p:oleObj>
          </a:graphicData>
        </a:graphic>
      </p:graphicFrame>
      <p:graphicFrame>
        <p:nvGraphicFramePr>
          <p:cNvPr id="202776" name="Object 24"/>
          <p:cNvGraphicFramePr>
            <a:graphicFrameLocks noChangeAspect="1"/>
          </p:cNvGraphicFramePr>
          <p:nvPr/>
        </p:nvGraphicFramePr>
        <p:xfrm>
          <a:off x="4648200" y="3733800"/>
          <a:ext cx="747713" cy="762000"/>
        </p:xfrm>
        <a:graphic>
          <a:graphicData uri="http://schemas.openxmlformats.org/presentationml/2006/ole">
            <p:oleObj spid="_x0000_s202776" name="Equation" r:id="rId10" imgW="749160" imgH="761760" progId="Equation.3">
              <p:embed/>
            </p:oleObj>
          </a:graphicData>
        </a:graphic>
      </p:graphicFrame>
      <p:sp>
        <p:nvSpPr>
          <p:cNvPr id="202777" name="Line 25"/>
          <p:cNvSpPr>
            <a:spLocks noChangeShapeType="1"/>
          </p:cNvSpPr>
          <p:nvPr/>
        </p:nvSpPr>
        <p:spPr bwMode="auto">
          <a:xfrm flipH="1">
            <a:off x="5715000" y="5638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A981DC-1CC6-490E-89CB-55AF0DB7140E}" type="slidenum">
              <a:rPr lang="en-US"/>
              <a:pPr/>
              <a:t>19</a:t>
            </a:fld>
            <a:endParaRPr lang="en-US"/>
          </a:p>
        </p:txBody>
      </p:sp>
      <p:sp>
        <p:nvSpPr>
          <p:cNvPr id="203778" name="Rectangle 2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 u="sng">
                <a:solidFill>
                  <a:schemeClr val="tx2"/>
                </a:solidFill>
              </a:rPr>
              <a:t>Complement</a:t>
            </a:r>
          </a:p>
        </p:txBody>
      </p:sp>
      <p:sp>
        <p:nvSpPr>
          <p:cNvPr id="203806" name="Text Box 30"/>
          <p:cNvSpPr txBox="1">
            <a:spLocks noChangeArrowheads="1"/>
          </p:cNvSpPr>
          <p:nvPr/>
        </p:nvSpPr>
        <p:spPr bwMode="auto">
          <a:xfrm>
            <a:off x="457200" y="4038600"/>
            <a:ext cx="60801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1. Take the </a:t>
            </a:r>
            <a:r>
              <a:rPr lang="en-US" sz="3600" b="1"/>
              <a:t>DFA </a:t>
            </a:r>
            <a:r>
              <a:rPr lang="en-US"/>
              <a:t>that accepts </a:t>
            </a:r>
            <a:endParaRPr lang="en-US" sz="3600" b="1"/>
          </a:p>
        </p:txBody>
      </p:sp>
      <p:graphicFrame>
        <p:nvGraphicFramePr>
          <p:cNvPr id="203807" name="Object 31"/>
          <p:cNvGraphicFramePr>
            <a:graphicFrameLocks noChangeAspect="1"/>
          </p:cNvGraphicFramePr>
          <p:nvPr/>
        </p:nvGraphicFramePr>
        <p:xfrm>
          <a:off x="6416675" y="4062413"/>
          <a:ext cx="431800" cy="571500"/>
        </p:xfrm>
        <a:graphic>
          <a:graphicData uri="http://schemas.openxmlformats.org/presentationml/2006/ole">
            <p:oleObj spid="_x0000_s203807" name="Equation" r:id="rId3" imgW="431640" imgH="571320" progId="Equation.3">
              <p:embed/>
            </p:oleObj>
          </a:graphicData>
        </a:graphic>
      </p:graphicFrame>
      <p:sp>
        <p:nvSpPr>
          <p:cNvPr id="203808" name="Rectangle 32"/>
          <p:cNvSpPr>
            <a:spLocks noChangeArrowheads="1"/>
          </p:cNvSpPr>
          <p:nvPr/>
        </p:nvSpPr>
        <p:spPr bwMode="auto">
          <a:xfrm>
            <a:off x="838200" y="1752600"/>
            <a:ext cx="2590800" cy="1447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809" name="Oval 33"/>
          <p:cNvSpPr>
            <a:spLocks noChangeArrowheads="1"/>
          </p:cNvSpPr>
          <p:nvPr/>
        </p:nvSpPr>
        <p:spPr bwMode="auto">
          <a:xfrm>
            <a:off x="1066800" y="2286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810" name="Oval 34"/>
          <p:cNvSpPr>
            <a:spLocks noChangeArrowheads="1"/>
          </p:cNvSpPr>
          <p:nvPr/>
        </p:nvSpPr>
        <p:spPr bwMode="auto">
          <a:xfrm>
            <a:off x="2743200" y="2286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811" name="Oval 35"/>
          <p:cNvSpPr>
            <a:spLocks noChangeArrowheads="1"/>
          </p:cNvSpPr>
          <p:nvPr/>
        </p:nvSpPr>
        <p:spPr bwMode="auto">
          <a:xfrm>
            <a:off x="2667000" y="2209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812" name="Line 36"/>
          <p:cNvSpPr>
            <a:spLocks noChangeShapeType="1"/>
          </p:cNvSpPr>
          <p:nvPr/>
        </p:nvSpPr>
        <p:spPr bwMode="auto">
          <a:xfrm>
            <a:off x="457200" y="2438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813" name="Freeform 37"/>
          <p:cNvSpPr>
            <a:spLocks/>
          </p:cNvSpPr>
          <p:nvPr/>
        </p:nvSpPr>
        <p:spPr bwMode="auto">
          <a:xfrm>
            <a:off x="1447800" y="2070100"/>
            <a:ext cx="1295400" cy="5969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96" y="88"/>
              </a:cxn>
              <a:cxn ang="0">
                <a:pos x="192" y="328"/>
              </a:cxn>
              <a:cxn ang="0">
                <a:pos x="384" y="40"/>
              </a:cxn>
              <a:cxn ang="0">
                <a:pos x="480" y="376"/>
              </a:cxn>
              <a:cxn ang="0">
                <a:pos x="672" y="40"/>
              </a:cxn>
              <a:cxn ang="0">
                <a:pos x="816" y="136"/>
              </a:cxn>
            </a:cxnLst>
            <a:rect l="0" t="0" r="r" b="b"/>
            <a:pathLst>
              <a:path w="816" h="376">
                <a:moveTo>
                  <a:pt x="0" y="232"/>
                </a:moveTo>
                <a:cubicBezTo>
                  <a:pt x="32" y="152"/>
                  <a:pt x="64" y="72"/>
                  <a:pt x="96" y="88"/>
                </a:cubicBezTo>
                <a:cubicBezTo>
                  <a:pt x="128" y="104"/>
                  <a:pt x="144" y="336"/>
                  <a:pt x="192" y="328"/>
                </a:cubicBezTo>
                <a:cubicBezTo>
                  <a:pt x="240" y="320"/>
                  <a:pt x="336" y="32"/>
                  <a:pt x="384" y="40"/>
                </a:cubicBezTo>
                <a:cubicBezTo>
                  <a:pt x="432" y="48"/>
                  <a:pt x="432" y="376"/>
                  <a:pt x="480" y="376"/>
                </a:cubicBezTo>
                <a:cubicBezTo>
                  <a:pt x="528" y="376"/>
                  <a:pt x="616" y="80"/>
                  <a:pt x="672" y="40"/>
                </a:cubicBezTo>
                <a:cubicBezTo>
                  <a:pt x="728" y="0"/>
                  <a:pt x="772" y="68"/>
                  <a:pt x="816" y="1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3814" name="Object 38"/>
          <p:cNvGraphicFramePr>
            <a:graphicFrameLocks noChangeAspect="1"/>
          </p:cNvGraphicFramePr>
          <p:nvPr/>
        </p:nvGraphicFramePr>
        <p:xfrm>
          <a:off x="1949450" y="1193800"/>
          <a:ext cx="646113" cy="571500"/>
        </p:xfrm>
        <a:graphic>
          <a:graphicData uri="http://schemas.openxmlformats.org/presentationml/2006/ole">
            <p:oleObj spid="_x0000_s203814" name="Equation" r:id="rId4" imgW="647640" imgH="571320" progId="Equation.3">
              <p:embed/>
            </p:oleObj>
          </a:graphicData>
        </a:graphic>
      </p:graphicFrame>
      <p:graphicFrame>
        <p:nvGraphicFramePr>
          <p:cNvPr id="203815" name="Object 39"/>
          <p:cNvGraphicFramePr>
            <a:graphicFrameLocks noChangeAspect="1"/>
          </p:cNvGraphicFramePr>
          <p:nvPr/>
        </p:nvGraphicFramePr>
        <p:xfrm>
          <a:off x="685800" y="1219200"/>
          <a:ext cx="431800" cy="571500"/>
        </p:xfrm>
        <a:graphic>
          <a:graphicData uri="http://schemas.openxmlformats.org/presentationml/2006/ole">
            <p:oleObj spid="_x0000_s203815" name="Equation" r:id="rId5" imgW="431640" imgH="571320" progId="Equation.3">
              <p:embed/>
            </p:oleObj>
          </a:graphicData>
        </a:graphic>
      </p:graphicFrame>
      <p:sp>
        <p:nvSpPr>
          <p:cNvPr id="203816" name="Rectangle 40"/>
          <p:cNvSpPr>
            <a:spLocks noChangeArrowheads="1"/>
          </p:cNvSpPr>
          <p:nvPr/>
        </p:nvSpPr>
        <p:spPr bwMode="auto">
          <a:xfrm>
            <a:off x="5562600" y="1752600"/>
            <a:ext cx="2590800" cy="1447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817" name="Oval 41"/>
          <p:cNvSpPr>
            <a:spLocks noChangeArrowheads="1"/>
          </p:cNvSpPr>
          <p:nvPr/>
        </p:nvSpPr>
        <p:spPr bwMode="auto">
          <a:xfrm>
            <a:off x="5791200" y="2286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818" name="Oval 42"/>
          <p:cNvSpPr>
            <a:spLocks noChangeArrowheads="1"/>
          </p:cNvSpPr>
          <p:nvPr/>
        </p:nvSpPr>
        <p:spPr bwMode="auto">
          <a:xfrm>
            <a:off x="7467600" y="2286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820" name="Line 44"/>
          <p:cNvSpPr>
            <a:spLocks noChangeShapeType="1"/>
          </p:cNvSpPr>
          <p:nvPr/>
        </p:nvSpPr>
        <p:spPr bwMode="auto">
          <a:xfrm>
            <a:off x="5105400" y="2438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821" name="Freeform 45"/>
          <p:cNvSpPr>
            <a:spLocks/>
          </p:cNvSpPr>
          <p:nvPr/>
        </p:nvSpPr>
        <p:spPr bwMode="auto">
          <a:xfrm>
            <a:off x="6248400" y="2133600"/>
            <a:ext cx="1295400" cy="5207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96" y="88"/>
              </a:cxn>
              <a:cxn ang="0">
                <a:pos x="192" y="328"/>
              </a:cxn>
              <a:cxn ang="0">
                <a:pos x="384" y="40"/>
              </a:cxn>
              <a:cxn ang="0">
                <a:pos x="480" y="376"/>
              </a:cxn>
              <a:cxn ang="0">
                <a:pos x="672" y="40"/>
              </a:cxn>
              <a:cxn ang="0">
                <a:pos x="816" y="136"/>
              </a:cxn>
            </a:cxnLst>
            <a:rect l="0" t="0" r="r" b="b"/>
            <a:pathLst>
              <a:path w="816" h="376">
                <a:moveTo>
                  <a:pt x="0" y="232"/>
                </a:moveTo>
                <a:cubicBezTo>
                  <a:pt x="32" y="152"/>
                  <a:pt x="64" y="72"/>
                  <a:pt x="96" y="88"/>
                </a:cubicBezTo>
                <a:cubicBezTo>
                  <a:pt x="128" y="104"/>
                  <a:pt x="144" y="336"/>
                  <a:pt x="192" y="328"/>
                </a:cubicBezTo>
                <a:cubicBezTo>
                  <a:pt x="240" y="320"/>
                  <a:pt x="336" y="32"/>
                  <a:pt x="384" y="40"/>
                </a:cubicBezTo>
                <a:cubicBezTo>
                  <a:pt x="432" y="48"/>
                  <a:pt x="432" y="376"/>
                  <a:pt x="480" y="376"/>
                </a:cubicBezTo>
                <a:cubicBezTo>
                  <a:pt x="528" y="376"/>
                  <a:pt x="616" y="80"/>
                  <a:pt x="672" y="40"/>
                </a:cubicBezTo>
                <a:cubicBezTo>
                  <a:pt x="728" y="0"/>
                  <a:pt x="772" y="68"/>
                  <a:pt x="816" y="1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3822" name="Object 46"/>
          <p:cNvGraphicFramePr>
            <a:graphicFrameLocks noChangeAspect="1"/>
          </p:cNvGraphicFramePr>
          <p:nvPr/>
        </p:nvGraphicFramePr>
        <p:xfrm>
          <a:off x="6705600" y="1066800"/>
          <a:ext cx="747713" cy="762000"/>
        </p:xfrm>
        <a:graphic>
          <a:graphicData uri="http://schemas.openxmlformats.org/presentationml/2006/ole">
            <p:oleObj spid="_x0000_s203822" name="Equation" r:id="rId6" imgW="749160" imgH="761760" progId="Equation.3">
              <p:embed/>
            </p:oleObj>
          </a:graphicData>
        </a:graphic>
      </p:graphicFrame>
      <p:graphicFrame>
        <p:nvGraphicFramePr>
          <p:cNvPr id="203823" name="Object 47"/>
          <p:cNvGraphicFramePr>
            <a:graphicFrameLocks noChangeAspect="1"/>
          </p:cNvGraphicFramePr>
          <p:nvPr/>
        </p:nvGraphicFramePr>
        <p:xfrm>
          <a:off x="5384800" y="1206500"/>
          <a:ext cx="482600" cy="596900"/>
        </p:xfrm>
        <a:graphic>
          <a:graphicData uri="http://schemas.openxmlformats.org/presentationml/2006/ole">
            <p:oleObj spid="_x0000_s203823" name="Equation" r:id="rId7" imgW="482400" imgH="596880" progId="Equation.3">
              <p:embed/>
            </p:oleObj>
          </a:graphicData>
        </a:graphic>
      </p:graphicFrame>
      <p:sp>
        <p:nvSpPr>
          <p:cNvPr id="203824" name="Text Box 48"/>
          <p:cNvSpPr txBox="1">
            <a:spLocks noChangeArrowheads="1"/>
          </p:cNvSpPr>
          <p:nvPr/>
        </p:nvSpPr>
        <p:spPr bwMode="auto">
          <a:xfrm>
            <a:off x="517525" y="5130800"/>
            <a:ext cx="5991225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2. Make final states non-final, </a:t>
            </a:r>
          </a:p>
          <a:p>
            <a:r>
              <a:rPr lang="en-US"/>
              <a:t>    and vice-versa</a:t>
            </a:r>
          </a:p>
        </p:txBody>
      </p:sp>
      <p:sp>
        <p:nvSpPr>
          <p:cNvPr id="203825" name="Oval 49"/>
          <p:cNvSpPr>
            <a:spLocks noChangeArrowheads="1"/>
          </p:cNvSpPr>
          <p:nvPr/>
        </p:nvSpPr>
        <p:spPr bwMode="auto">
          <a:xfrm>
            <a:off x="5715000" y="2209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2CCE85-38BD-408E-BD1B-676660917750}" type="slidenum">
              <a:rPr lang="en-US"/>
              <a:pPr/>
              <a:t>20</a:t>
            </a:fld>
            <a:endParaRPr lang="en-US"/>
          </a:p>
        </p:txBody>
      </p:sp>
      <p:sp>
        <p:nvSpPr>
          <p:cNvPr id="204802" name="Rectangle 2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Example</a:t>
            </a:r>
          </a:p>
        </p:txBody>
      </p:sp>
      <p:graphicFrame>
        <p:nvGraphicFramePr>
          <p:cNvPr id="204803" name="Object 3"/>
          <p:cNvGraphicFramePr>
            <a:graphicFrameLocks noChangeAspect="1"/>
          </p:cNvGraphicFramePr>
          <p:nvPr/>
        </p:nvGraphicFramePr>
        <p:xfrm>
          <a:off x="381000" y="2286000"/>
          <a:ext cx="2095500" cy="723900"/>
        </p:xfrm>
        <a:graphic>
          <a:graphicData uri="http://schemas.openxmlformats.org/presentationml/2006/ole">
            <p:oleObj spid="_x0000_s204803" name="Equation" r:id="rId3" imgW="2095200" imgH="723600" progId="Equation.3">
              <p:embed/>
            </p:oleObj>
          </a:graphicData>
        </a:graphic>
      </p:graphicFrame>
      <p:sp>
        <p:nvSpPr>
          <p:cNvPr id="204804" name="Rectangle 4"/>
          <p:cNvSpPr>
            <a:spLocks noChangeArrowheads="1"/>
          </p:cNvSpPr>
          <p:nvPr/>
        </p:nvSpPr>
        <p:spPr bwMode="auto">
          <a:xfrm>
            <a:off x="3962400" y="1600200"/>
            <a:ext cx="3505200" cy="167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05" name="Oval 5"/>
          <p:cNvSpPr>
            <a:spLocks noChangeArrowheads="1"/>
          </p:cNvSpPr>
          <p:nvPr/>
        </p:nvSpPr>
        <p:spPr bwMode="auto">
          <a:xfrm>
            <a:off x="4343400" y="2590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06" name="Oval 6"/>
          <p:cNvSpPr>
            <a:spLocks noChangeArrowheads="1"/>
          </p:cNvSpPr>
          <p:nvPr/>
        </p:nvSpPr>
        <p:spPr bwMode="auto">
          <a:xfrm>
            <a:off x="5410200" y="2590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07" name="Line 7"/>
          <p:cNvSpPr>
            <a:spLocks noChangeShapeType="1"/>
          </p:cNvSpPr>
          <p:nvPr/>
        </p:nvSpPr>
        <p:spPr bwMode="auto">
          <a:xfrm>
            <a:off x="4724400" y="2743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08" name="Freeform 8"/>
          <p:cNvSpPr>
            <a:spLocks/>
          </p:cNvSpPr>
          <p:nvPr/>
        </p:nvSpPr>
        <p:spPr bwMode="auto">
          <a:xfrm>
            <a:off x="4254500" y="1968500"/>
            <a:ext cx="482600" cy="622300"/>
          </a:xfrm>
          <a:custGeom>
            <a:avLst/>
            <a:gdLst/>
            <a:ahLst/>
            <a:cxnLst>
              <a:cxn ang="0">
                <a:pos x="104" y="392"/>
              </a:cxn>
              <a:cxn ang="0">
                <a:pos x="8" y="152"/>
              </a:cxn>
              <a:cxn ang="0">
                <a:pos x="152" y="8"/>
              </a:cxn>
              <a:cxn ang="0">
                <a:pos x="296" y="104"/>
              </a:cxn>
              <a:cxn ang="0">
                <a:pos x="200" y="392"/>
              </a:cxn>
            </a:cxnLst>
            <a:rect l="0" t="0" r="r" b="b"/>
            <a:pathLst>
              <a:path w="304" h="392">
                <a:moveTo>
                  <a:pt x="104" y="392"/>
                </a:moveTo>
                <a:cubicBezTo>
                  <a:pt x="52" y="304"/>
                  <a:pt x="0" y="216"/>
                  <a:pt x="8" y="152"/>
                </a:cubicBezTo>
                <a:cubicBezTo>
                  <a:pt x="16" y="88"/>
                  <a:pt x="104" y="16"/>
                  <a:pt x="152" y="8"/>
                </a:cubicBezTo>
                <a:cubicBezTo>
                  <a:pt x="200" y="0"/>
                  <a:pt x="288" y="40"/>
                  <a:pt x="296" y="104"/>
                </a:cubicBezTo>
                <a:cubicBezTo>
                  <a:pt x="304" y="168"/>
                  <a:pt x="252" y="280"/>
                  <a:pt x="200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09" name="Line 9"/>
          <p:cNvSpPr>
            <a:spLocks noChangeShapeType="1"/>
          </p:cNvSpPr>
          <p:nvPr/>
        </p:nvSpPr>
        <p:spPr bwMode="auto">
          <a:xfrm>
            <a:off x="3429000" y="2743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10" name="Oval 10"/>
          <p:cNvSpPr>
            <a:spLocks noChangeArrowheads="1"/>
          </p:cNvSpPr>
          <p:nvPr/>
        </p:nvSpPr>
        <p:spPr bwMode="auto">
          <a:xfrm>
            <a:off x="5334000" y="2514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11" name="Object 11"/>
          <p:cNvGraphicFramePr>
            <a:graphicFrameLocks noChangeAspect="1"/>
          </p:cNvGraphicFramePr>
          <p:nvPr/>
        </p:nvGraphicFramePr>
        <p:xfrm>
          <a:off x="4114800" y="1752600"/>
          <a:ext cx="265113" cy="279400"/>
        </p:xfrm>
        <a:graphic>
          <a:graphicData uri="http://schemas.openxmlformats.org/presentationml/2006/ole">
            <p:oleObj spid="_x0000_s204811" name="Equation" r:id="rId4" imgW="266400" imgH="279360" progId="Equation.3">
              <p:embed/>
            </p:oleObj>
          </a:graphicData>
        </a:graphic>
      </p:graphicFrame>
      <p:graphicFrame>
        <p:nvGraphicFramePr>
          <p:cNvPr id="204812" name="Object 12"/>
          <p:cNvGraphicFramePr>
            <a:graphicFrameLocks noChangeAspect="1"/>
          </p:cNvGraphicFramePr>
          <p:nvPr/>
        </p:nvGraphicFramePr>
        <p:xfrm>
          <a:off x="4876800" y="2362200"/>
          <a:ext cx="252413" cy="392113"/>
        </p:xfrm>
        <a:graphic>
          <a:graphicData uri="http://schemas.openxmlformats.org/presentationml/2006/ole">
            <p:oleObj spid="_x0000_s204812" name="Equation" r:id="rId5" imgW="253800" imgH="393480" progId="Equation.3">
              <p:embed/>
            </p:oleObj>
          </a:graphicData>
        </a:graphic>
      </p:graphicFrame>
      <p:graphicFrame>
        <p:nvGraphicFramePr>
          <p:cNvPr id="204813" name="Object 13"/>
          <p:cNvGraphicFramePr>
            <a:graphicFrameLocks noChangeAspect="1"/>
          </p:cNvGraphicFramePr>
          <p:nvPr/>
        </p:nvGraphicFramePr>
        <p:xfrm>
          <a:off x="6858000" y="990600"/>
          <a:ext cx="646113" cy="571500"/>
        </p:xfrm>
        <a:graphic>
          <a:graphicData uri="http://schemas.openxmlformats.org/presentationml/2006/ole">
            <p:oleObj spid="_x0000_s204813" name="Equation" r:id="rId6" imgW="647640" imgH="571320" progId="Equation.3">
              <p:embed/>
            </p:oleObj>
          </a:graphicData>
        </a:graphic>
      </p:graphicFrame>
      <p:sp>
        <p:nvSpPr>
          <p:cNvPr id="204814" name="Oval 14"/>
          <p:cNvSpPr>
            <a:spLocks noChangeArrowheads="1"/>
          </p:cNvSpPr>
          <p:nvPr/>
        </p:nvSpPr>
        <p:spPr bwMode="auto">
          <a:xfrm>
            <a:off x="6629400" y="2590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15" name="Line 15"/>
          <p:cNvSpPr>
            <a:spLocks noChangeShapeType="1"/>
          </p:cNvSpPr>
          <p:nvPr/>
        </p:nvSpPr>
        <p:spPr bwMode="auto">
          <a:xfrm>
            <a:off x="5867400" y="2743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16" name="Object 16"/>
          <p:cNvGraphicFramePr>
            <a:graphicFrameLocks noChangeAspect="1"/>
          </p:cNvGraphicFramePr>
          <p:nvPr/>
        </p:nvGraphicFramePr>
        <p:xfrm>
          <a:off x="5943600" y="2362200"/>
          <a:ext cx="608013" cy="436563"/>
        </p:xfrm>
        <a:graphic>
          <a:graphicData uri="http://schemas.openxmlformats.org/presentationml/2006/ole">
            <p:oleObj spid="_x0000_s204816" name="Equation" r:id="rId7" imgW="711000" imgH="507960" progId="Equation.3">
              <p:embed/>
            </p:oleObj>
          </a:graphicData>
        </a:graphic>
      </p:graphicFrame>
      <p:sp>
        <p:nvSpPr>
          <p:cNvPr id="204817" name="Freeform 17"/>
          <p:cNvSpPr>
            <a:spLocks/>
          </p:cNvSpPr>
          <p:nvPr/>
        </p:nvSpPr>
        <p:spPr bwMode="auto">
          <a:xfrm>
            <a:off x="6553200" y="1981200"/>
            <a:ext cx="482600" cy="622300"/>
          </a:xfrm>
          <a:custGeom>
            <a:avLst/>
            <a:gdLst/>
            <a:ahLst/>
            <a:cxnLst>
              <a:cxn ang="0">
                <a:pos x="104" y="392"/>
              </a:cxn>
              <a:cxn ang="0">
                <a:pos x="8" y="152"/>
              </a:cxn>
              <a:cxn ang="0">
                <a:pos x="152" y="8"/>
              </a:cxn>
              <a:cxn ang="0">
                <a:pos x="296" y="104"/>
              </a:cxn>
              <a:cxn ang="0">
                <a:pos x="200" y="392"/>
              </a:cxn>
            </a:cxnLst>
            <a:rect l="0" t="0" r="r" b="b"/>
            <a:pathLst>
              <a:path w="304" h="392">
                <a:moveTo>
                  <a:pt x="104" y="392"/>
                </a:moveTo>
                <a:cubicBezTo>
                  <a:pt x="52" y="304"/>
                  <a:pt x="0" y="216"/>
                  <a:pt x="8" y="152"/>
                </a:cubicBezTo>
                <a:cubicBezTo>
                  <a:pt x="16" y="88"/>
                  <a:pt x="104" y="16"/>
                  <a:pt x="152" y="8"/>
                </a:cubicBezTo>
                <a:cubicBezTo>
                  <a:pt x="200" y="0"/>
                  <a:pt x="288" y="40"/>
                  <a:pt x="296" y="104"/>
                </a:cubicBezTo>
                <a:cubicBezTo>
                  <a:pt x="304" y="168"/>
                  <a:pt x="252" y="280"/>
                  <a:pt x="200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18" name="Object 18"/>
          <p:cNvGraphicFramePr>
            <a:graphicFrameLocks noChangeAspect="1"/>
          </p:cNvGraphicFramePr>
          <p:nvPr/>
        </p:nvGraphicFramePr>
        <p:xfrm>
          <a:off x="6553200" y="1600200"/>
          <a:ext cx="608013" cy="436563"/>
        </p:xfrm>
        <a:graphic>
          <a:graphicData uri="http://schemas.openxmlformats.org/presentationml/2006/ole">
            <p:oleObj spid="_x0000_s204818" name="Equation" r:id="rId8" imgW="711000" imgH="507960" progId="Equation.3">
              <p:embed/>
            </p:oleObj>
          </a:graphicData>
        </a:graphic>
      </p:graphicFrame>
      <p:graphicFrame>
        <p:nvGraphicFramePr>
          <p:cNvPr id="204821" name="Object 21"/>
          <p:cNvGraphicFramePr>
            <a:graphicFrameLocks noChangeAspect="1"/>
          </p:cNvGraphicFramePr>
          <p:nvPr/>
        </p:nvGraphicFramePr>
        <p:xfrm>
          <a:off x="228600" y="4648200"/>
          <a:ext cx="3505200" cy="666750"/>
        </p:xfrm>
        <a:graphic>
          <a:graphicData uri="http://schemas.openxmlformats.org/presentationml/2006/ole">
            <p:oleObj spid="_x0000_s204821" name="Equation" r:id="rId9" imgW="3809880" imgH="723600" progId="Equation.3">
              <p:embed/>
            </p:oleObj>
          </a:graphicData>
        </a:graphic>
      </p:graphicFrame>
      <p:sp>
        <p:nvSpPr>
          <p:cNvPr id="204822" name="Rectangle 22"/>
          <p:cNvSpPr>
            <a:spLocks noChangeArrowheads="1"/>
          </p:cNvSpPr>
          <p:nvPr/>
        </p:nvSpPr>
        <p:spPr bwMode="auto">
          <a:xfrm>
            <a:off x="4038600" y="4572000"/>
            <a:ext cx="3505200" cy="1752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23" name="Oval 23"/>
          <p:cNvSpPr>
            <a:spLocks noChangeArrowheads="1"/>
          </p:cNvSpPr>
          <p:nvPr/>
        </p:nvSpPr>
        <p:spPr bwMode="auto">
          <a:xfrm>
            <a:off x="4419600" y="5638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24" name="Oval 24"/>
          <p:cNvSpPr>
            <a:spLocks noChangeArrowheads="1"/>
          </p:cNvSpPr>
          <p:nvPr/>
        </p:nvSpPr>
        <p:spPr bwMode="auto">
          <a:xfrm>
            <a:off x="5486400" y="5638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25" name="Line 25"/>
          <p:cNvSpPr>
            <a:spLocks noChangeShapeType="1"/>
          </p:cNvSpPr>
          <p:nvPr/>
        </p:nvSpPr>
        <p:spPr bwMode="auto">
          <a:xfrm>
            <a:off x="4876800" y="5791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26" name="Freeform 26"/>
          <p:cNvSpPr>
            <a:spLocks/>
          </p:cNvSpPr>
          <p:nvPr/>
        </p:nvSpPr>
        <p:spPr bwMode="auto">
          <a:xfrm>
            <a:off x="4343400" y="4953000"/>
            <a:ext cx="482600" cy="622300"/>
          </a:xfrm>
          <a:custGeom>
            <a:avLst/>
            <a:gdLst/>
            <a:ahLst/>
            <a:cxnLst>
              <a:cxn ang="0">
                <a:pos x="104" y="392"/>
              </a:cxn>
              <a:cxn ang="0">
                <a:pos x="8" y="152"/>
              </a:cxn>
              <a:cxn ang="0">
                <a:pos x="152" y="8"/>
              </a:cxn>
              <a:cxn ang="0">
                <a:pos x="296" y="104"/>
              </a:cxn>
              <a:cxn ang="0">
                <a:pos x="200" y="392"/>
              </a:cxn>
            </a:cxnLst>
            <a:rect l="0" t="0" r="r" b="b"/>
            <a:pathLst>
              <a:path w="304" h="392">
                <a:moveTo>
                  <a:pt x="104" y="392"/>
                </a:moveTo>
                <a:cubicBezTo>
                  <a:pt x="52" y="304"/>
                  <a:pt x="0" y="216"/>
                  <a:pt x="8" y="152"/>
                </a:cubicBezTo>
                <a:cubicBezTo>
                  <a:pt x="16" y="88"/>
                  <a:pt x="104" y="16"/>
                  <a:pt x="152" y="8"/>
                </a:cubicBezTo>
                <a:cubicBezTo>
                  <a:pt x="200" y="0"/>
                  <a:pt x="288" y="40"/>
                  <a:pt x="296" y="104"/>
                </a:cubicBezTo>
                <a:cubicBezTo>
                  <a:pt x="304" y="168"/>
                  <a:pt x="252" y="280"/>
                  <a:pt x="200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27" name="Line 27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28" name="Oval 28"/>
          <p:cNvSpPr>
            <a:spLocks noChangeArrowheads="1"/>
          </p:cNvSpPr>
          <p:nvPr/>
        </p:nvSpPr>
        <p:spPr bwMode="auto">
          <a:xfrm>
            <a:off x="43434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29" name="Object 29"/>
          <p:cNvGraphicFramePr>
            <a:graphicFrameLocks noChangeAspect="1"/>
          </p:cNvGraphicFramePr>
          <p:nvPr/>
        </p:nvGraphicFramePr>
        <p:xfrm>
          <a:off x="4191000" y="4724400"/>
          <a:ext cx="265113" cy="279400"/>
        </p:xfrm>
        <a:graphic>
          <a:graphicData uri="http://schemas.openxmlformats.org/presentationml/2006/ole">
            <p:oleObj spid="_x0000_s204829" name="Equation" r:id="rId10" imgW="266400" imgH="279360" progId="Equation.3">
              <p:embed/>
            </p:oleObj>
          </a:graphicData>
        </a:graphic>
      </p:graphicFrame>
      <p:graphicFrame>
        <p:nvGraphicFramePr>
          <p:cNvPr id="204830" name="Object 30"/>
          <p:cNvGraphicFramePr>
            <a:graphicFrameLocks noChangeAspect="1"/>
          </p:cNvGraphicFramePr>
          <p:nvPr/>
        </p:nvGraphicFramePr>
        <p:xfrm>
          <a:off x="5029200" y="5410200"/>
          <a:ext cx="252413" cy="392113"/>
        </p:xfrm>
        <a:graphic>
          <a:graphicData uri="http://schemas.openxmlformats.org/presentationml/2006/ole">
            <p:oleObj spid="_x0000_s204830" name="Equation" r:id="rId11" imgW="253800" imgH="393480" progId="Equation.3">
              <p:embed/>
            </p:oleObj>
          </a:graphicData>
        </a:graphic>
      </p:graphicFrame>
      <p:graphicFrame>
        <p:nvGraphicFramePr>
          <p:cNvPr id="204831" name="Object 31"/>
          <p:cNvGraphicFramePr>
            <a:graphicFrameLocks noChangeAspect="1"/>
          </p:cNvGraphicFramePr>
          <p:nvPr/>
        </p:nvGraphicFramePr>
        <p:xfrm>
          <a:off x="6858000" y="3886200"/>
          <a:ext cx="747713" cy="762000"/>
        </p:xfrm>
        <a:graphic>
          <a:graphicData uri="http://schemas.openxmlformats.org/presentationml/2006/ole">
            <p:oleObj spid="_x0000_s204831" name="Equation" r:id="rId12" imgW="749160" imgH="761760" progId="Equation.3">
              <p:embed/>
            </p:oleObj>
          </a:graphicData>
        </a:graphic>
      </p:graphicFrame>
      <p:sp>
        <p:nvSpPr>
          <p:cNvPr id="204832" name="Oval 32"/>
          <p:cNvSpPr>
            <a:spLocks noChangeArrowheads="1"/>
          </p:cNvSpPr>
          <p:nvPr/>
        </p:nvSpPr>
        <p:spPr bwMode="auto">
          <a:xfrm>
            <a:off x="6705600" y="5638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33" name="Line 33"/>
          <p:cNvSpPr>
            <a:spLocks noChangeShapeType="1"/>
          </p:cNvSpPr>
          <p:nvPr/>
        </p:nvSpPr>
        <p:spPr bwMode="auto">
          <a:xfrm>
            <a:off x="5867400" y="5791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34" name="Object 34"/>
          <p:cNvGraphicFramePr>
            <a:graphicFrameLocks noChangeAspect="1"/>
          </p:cNvGraphicFramePr>
          <p:nvPr/>
        </p:nvGraphicFramePr>
        <p:xfrm>
          <a:off x="5943600" y="5410200"/>
          <a:ext cx="608013" cy="436563"/>
        </p:xfrm>
        <a:graphic>
          <a:graphicData uri="http://schemas.openxmlformats.org/presentationml/2006/ole">
            <p:oleObj spid="_x0000_s204834" name="Equation" r:id="rId13" imgW="711000" imgH="507960" progId="Equation.3">
              <p:embed/>
            </p:oleObj>
          </a:graphicData>
        </a:graphic>
      </p:graphicFrame>
      <p:sp>
        <p:nvSpPr>
          <p:cNvPr id="204835" name="Freeform 35"/>
          <p:cNvSpPr>
            <a:spLocks/>
          </p:cNvSpPr>
          <p:nvPr/>
        </p:nvSpPr>
        <p:spPr bwMode="auto">
          <a:xfrm>
            <a:off x="6629400" y="4953000"/>
            <a:ext cx="482600" cy="622300"/>
          </a:xfrm>
          <a:custGeom>
            <a:avLst/>
            <a:gdLst/>
            <a:ahLst/>
            <a:cxnLst>
              <a:cxn ang="0">
                <a:pos x="104" y="392"/>
              </a:cxn>
              <a:cxn ang="0">
                <a:pos x="8" y="152"/>
              </a:cxn>
              <a:cxn ang="0">
                <a:pos x="152" y="8"/>
              </a:cxn>
              <a:cxn ang="0">
                <a:pos x="296" y="104"/>
              </a:cxn>
              <a:cxn ang="0">
                <a:pos x="200" y="392"/>
              </a:cxn>
            </a:cxnLst>
            <a:rect l="0" t="0" r="r" b="b"/>
            <a:pathLst>
              <a:path w="304" h="392">
                <a:moveTo>
                  <a:pt x="104" y="392"/>
                </a:moveTo>
                <a:cubicBezTo>
                  <a:pt x="52" y="304"/>
                  <a:pt x="0" y="216"/>
                  <a:pt x="8" y="152"/>
                </a:cubicBezTo>
                <a:cubicBezTo>
                  <a:pt x="16" y="88"/>
                  <a:pt x="104" y="16"/>
                  <a:pt x="152" y="8"/>
                </a:cubicBezTo>
                <a:cubicBezTo>
                  <a:pt x="200" y="0"/>
                  <a:pt x="288" y="40"/>
                  <a:pt x="296" y="104"/>
                </a:cubicBezTo>
                <a:cubicBezTo>
                  <a:pt x="304" y="168"/>
                  <a:pt x="252" y="280"/>
                  <a:pt x="200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36" name="Object 36"/>
          <p:cNvGraphicFramePr>
            <a:graphicFrameLocks noChangeAspect="1"/>
          </p:cNvGraphicFramePr>
          <p:nvPr/>
        </p:nvGraphicFramePr>
        <p:xfrm>
          <a:off x="6629400" y="4572000"/>
          <a:ext cx="608013" cy="436563"/>
        </p:xfrm>
        <a:graphic>
          <a:graphicData uri="http://schemas.openxmlformats.org/presentationml/2006/ole">
            <p:oleObj spid="_x0000_s204836" name="Equation" r:id="rId14" imgW="711000" imgH="507960" progId="Equation.3">
              <p:embed/>
            </p:oleObj>
          </a:graphicData>
        </a:graphic>
      </p:graphicFrame>
      <p:sp>
        <p:nvSpPr>
          <p:cNvPr id="204837" name="Oval 37"/>
          <p:cNvSpPr>
            <a:spLocks noChangeArrowheads="1"/>
          </p:cNvSpPr>
          <p:nvPr/>
        </p:nvSpPr>
        <p:spPr bwMode="auto">
          <a:xfrm>
            <a:off x="66294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426D1F-118A-4B88-BF4E-FE82BA754C05}" type="slidenum">
              <a:rPr lang="en-US"/>
              <a:pPr/>
              <a:t>21</a:t>
            </a:fld>
            <a:endParaRPr lang="en-US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Intersection</a:t>
            </a:r>
          </a:p>
        </p:txBody>
      </p:sp>
      <p:sp>
        <p:nvSpPr>
          <p:cNvPr id="205834" name="Text Box 10"/>
          <p:cNvSpPr txBox="1">
            <a:spLocks noChangeArrowheads="1"/>
          </p:cNvSpPr>
          <p:nvPr/>
        </p:nvSpPr>
        <p:spPr bwMode="auto">
          <a:xfrm>
            <a:off x="457200" y="990600"/>
            <a:ext cx="33305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DeMorgan’s Law:</a:t>
            </a:r>
          </a:p>
        </p:txBody>
      </p:sp>
      <p:graphicFrame>
        <p:nvGraphicFramePr>
          <p:cNvPr id="205835" name="Object 11"/>
          <p:cNvGraphicFramePr>
            <a:graphicFrameLocks noChangeAspect="1"/>
          </p:cNvGraphicFramePr>
          <p:nvPr/>
        </p:nvGraphicFramePr>
        <p:xfrm>
          <a:off x="4114800" y="990600"/>
          <a:ext cx="3543300" cy="571500"/>
        </p:xfrm>
        <a:graphic>
          <a:graphicData uri="http://schemas.openxmlformats.org/presentationml/2006/ole">
            <p:oleObj spid="_x0000_s205835" name="Equation" r:id="rId3" imgW="3543120" imgH="571320" progId="Equation.3">
              <p:embed/>
            </p:oleObj>
          </a:graphicData>
        </a:graphic>
      </p:graphicFrame>
      <p:sp>
        <p:nvSpPr>
          <p:cNvPr id="205836" name="Line 12"/>
          <p:cNvSpPr>
            <a:spLocks noChangeShapeType="1"/>
          </p:cNvSpPr>
          <p:nvPr/>
        </p:nvSpPr>
        <p:spPr bwMode="auto">
          <a:xfrm>
            <a:off x="6172200" y="990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5837" name="Line 13"/>
          <p:cNvSpPr>
            <a:spLocks noChangeShapeType="1"/>
          </p:cNvSpPr>
          <p:nvPr/>
        </p:nvSpPr>
        <p:spPr bwMode="auto">
          <a:xfrm>
            <a:off x="7162800" y="990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5838" name="Line 14"/>
          <p:cNvSpPr>
            <a:spLocks noChangeShapeType="1"/>
          </p:cNvSpPr>
          <p:nvPr/>
        </p:nvSpPr>
        <p:spPr bwMode="auto">
          <a:xfrm>
            <a:off x="6172200" y="8382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205839" name="Group 15"/>
          <p:cNvGrpSpPr>
            <a:grpSpLocks/>
          </p:cNvGrpSpPr>
          <p:nvPr/>
        </p:nvGrpSpPr>
        <p:grpSpPr bwMode="auto">
          <a:xfrm>
            <a:off x="2133600" y="1981200"/>
            <a:ext cx="4498975" cy="4403725"/>
            <a:chOff x="720" y="192"/>
            <a:chExt cx="3580" cy="3925"/>
          </a:xfrm>
        </p:grpSpPr>
        <p:graphicFrame>
          <p:nvGraphicFramePr>
            <p:cNvPr id="205840" name="Object 16"/>
            <p:cNvGraphicFramePr>
              <a:graphicFrameLocks noChangeAspect="1"/>
            </p:cNvGraphicFramePr>
            <p:nvPr/>
          </p:nvGraphicFramePr>
          <p:xfrm>
            <a:off x="1556" y="192"/>
            <a:ext cx="896" cy="360"/>
          </p:xfrm>
          <a:graphic>
            <a:graphicData uri="http://schemas.openxmlformats.org/presentationml/2006/ole">
              <p:oleObj spid="_x0000_s205840" name="Equation" r:id="rId4" imgW="1422360" imgH="571320" progId="Equation.3">
                <p:embed/>
              </p:oleObj>
            </a:graphicData>
          </a:graphic>
        </p:graphicFrame>
        <p:sp>
          <p:nvSpPr>
            <p:cNvPr id="205841" name="Text Box 17"/>
            <p:cNvSpPr txBox="1">
              <a:spLocks noChangeArrowheads="1"/>
            </p:cNvSpPr>
            <p:nvPr/>
          </p:nvSpPr>
          <p:spPr bwMode="auto">
            <a:xfrm>
              <a:off x="3072" y="192"/>
              <a:ext cx="1228" cy="5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regular</a:t>
              </a:r>
            </a:p>
          </p:txBody>
        </p:sp>
        <p:grpSp>
          <p:nvGrpSpPr>
            <p:cNvPr id="205842" name="Group 18"/>
            <p:cNvGrpSpPr>
              <a:grpSpLocks/>
            </p:cNvGrpSpPr>
            <p:nvPr/>
          </p:nvGrpSpPr>
          <p:grpSpPr bwMode="auto">
            <a:xfrm>
              <a:off x="720" y="1008"/>
              <a:ext cx="3580" cy="566"/>
              <a:chOff x="720" y="1008"/>
              <a:chExt cx="3580" cy="566"/>
            </a:xfrm>
          </p:grpSpPr>
          <p:sp>
            <p:nvSpPr>
              <p:cNvPr id="205843" name="AutoShape 19"/>
              <p:cNvSpPr>
                <a:spLocks noChangeArrowheads="1"/>
              </p:cNvSpPr>
              <p:nvPr/>
            </p:nvSpPr>
            <p:spPr bwMode="auto">
              <a:xfrm>
                <a:off x="720" y="1104"/>
                <a:ext cx="615" cy="306"/>
              </a:xfrm>
              <a:prstGeom prst="rightArrow">
                <a:avLst>
                  <a:gd name="adj1" fmla="val 50000"/>
                  <a:gd name="adj2" fmla="val 50245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5844" name="Line 20"/>
              <p:cNvSpPr>
                <a:spLocks noChangeShapeType="1"/>
              </p:cNvSpPr>
              <p:nvPr/>
            </p:nvSpPr>
            <p:spPr bwMode="auto">
              <a:xfrm>
                <a:off x="1536" y="1008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5845" name="Line 21"/>
              <p:cNvSpPr>
                <a:spLocks noChangeShapeType="1"/>
              </p:cNvSpPr>
              <p:nvPr/>
            </p:nvSpPr>
            <p:spPr bwMode="auto">
              <a:xfrm>
                <a:off x="2160" y="1008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205846" name="Object 22"/>
              <p:cNvGraphicFramePr>
                <a:graphicFrameLocks noChangeAspect="1"/>
              </p:cNvGraphicFramePr>
              <p:nvPr/>
            </p:nvGraphicFramePr>
            <p:xfrm>
              <a:off x="1536" y="1056"/>
              <a:ext cx="896" cy="360"/>
            </p:xfrm>
            <a:graphic>
              <a:graphicData uri="http://schemas.openxmlformats.org/presentationml/2006/ole">
                <p:oleObj spid="_x0000_s205846" name="Equation" r:id="rId5" imgW="1422360" imgH="571320" progId="Equation.3">
                  <p:embed/>
                </p:oleObj>
              </a:graphicData>
            </a:graphic>
          </p:graphicFrame>
          <p:sp>
            <p:nvSpPr>
              <p:cNvPr id="205847" name="Text Box 23"/>
              <p:cNvSpPr txBox="1">
                <a:spLocks noChangeArrowheads="1"/>
              </p:cNvSpPr>
              <p:nvPr/>
            </p:nvSpPr>
            <p:spPr bwMode="auto">
              <a:xfrm>
                <a:off x="3072" y="1058"/>
                <a:ext cx="1228" cy="5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/>
                  <a:t>regular</a:t>
                </a:r>
              </a:p>
            </p:txBody>
          </p:sp>
        </p:grpSp>
        <p:grpSp>
          <p:nvGrpSpPr>
            <p:cNvPr id="205848" name="Group 24"/>
            <p:cNvGrpSpPr>
              <a:grpSpLocks/>
            </p:cNvGrpSpPr>
            <p:nvPr/>
          </p:nvGrpSpPr>
          <p:grpSpPr bwMode="auto">
            <a:xfrm>
              <a:off x="720" y="1872"/>
              <a:ext cx="3580" cy="564"/>
              <a:chOff x="720" y="1872"/>
              <a:chExt cx="3580" cy="564"/>
            </a:xfrm>
          </p:grpSpPr>
          <p:graphicFrame>
            <p:nvGraphicFramePr>
              <p:cNvPr id="205849" name="Object 25"/>
              <p:cNvGraphicFramePr>
                <a:graphicFrameLocks noChangeAspect="1"/>
              </p:cNvGraphicFramePr>
              <p:nvPr/>
            </p:nvGraphicFramePr>
            <p:xfrm>
              <a:off x="1536" y="1920"/>
              <a:ext cx="952" cy="360"/>
            </p:xfrm>
            <a:graphic>
              <a:graphicData uri="http://schemas.openxmlformats.org/presentationml/2006/ole">
                <p:oleObj spid="_x0000_s205849" name="Equation" r:id="rId6" imgW="1511280" imgH="571320" progId="Equation.3">
                  <p:embed/>
                </p:oleObj>
              </a:graphicData>
            </a:graphic>
          </p:graphicFrame>
          <p:sp>
            <p:nvSpPr>
              <p:cNvPr id="205850" name="Line 26"/>
              <p:cNvSpPr>
                <a:spLocks noChangeShapeType="1"/>
              </p:cNvSpPr>
              <p:nvPr/>
            </p:nvSpPr>
            <p:spPr bwMode="auto">
              <a:xfrm>
                <a:off x="1536" y="187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5851" name="Line 27"/>
              <p:cNvSpPr>
                <a:spLocks noChangeShapeType="1"/>
              </p:cNvSpPr>
              <p:nvPr/>
            </p:nvSpPr>
            <p:spPr bwMode="auto">
              <a:xfrm>
                <a:off x="2160" y="187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5852" name="AutoShape 28"/>
              <p:cNvSpPr>
                <a:spLocks noChangeArrowheads="1"/>
              </p:cNvSpPr>
              <p:nvPr/>
            </p:nvSpPr>
            <p:spPr bwMode="auto">
              <a:xfrm>
                <a:off x="720" y="1920"/>
                <a:ext cx="615" cy="306"/>
              </a:xfrm>
              <a:prstGeom prst="rightArrow">
                <a:avLst>
                  <a:gd name="adj1" fmla="val 50000"/>
                  <a:gd name="adj2" fmla="val 50245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5853" name="Text Box 29"/>
              <p:cNvSpPr txBox="1">
                <a:spLocks noChangeArrowheads="1"/>
              </p:cNvSpPr>
              <p:nvPr/>
            </p:nvSpPr>
            <p:spPr bwMode="auto">
              <a:xfrm>
                <a:off x="3072" y="1920"/>
                <a:ext cx="1228" cy="5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/>
                  <a:t>regular</a:t>
                </a:r>
              </a:p>
            </p:txBody>
          </p:sp>
        </p:grpSp>
        <p:grpSp>
          <p:nvGrpSpPr>
            <p:cNvPr id="205854" name="Group 30"/>
            <p:cNvGrpSpPr>
              <a:grpSpLocks/>
            </p:cNvGrpSpPr>
            <p:nvPr/>
          </p:nvGrpSpPr>
          <p:grpSpPr bwMode="auto">
            <a:xfrm>
              <a:off x="720" y="2640"/>
              <a:ext cx="3580" cy="661"/>
              <a:chOff x="720" y="2640"/>
              <a:chExt cx="3580" cy="661"/>
            </a:xfrm>
          </p:grpSpPr>
          <p:sp>
            <p:nvSpPr>
              <p:cNvPr id="205855" name="Line 31"/>
              <p:cNvSpPr>
                <a:spLocks noChangeShapeType="1"/>
              </p:cNvSpPr>
              <p:nvPr/>
            </p:nvSpPr>
            <p:spPr bwMode="auto">
              <a:xfrm>
                <a:off x="1536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5856" name="Line 32"/>
              <p:cNvSpPr>
                <a:spLocks noChangeShapeType="1"/>
              </p:cNvSpPr>
              <p:nvPr/>
            </p:nvSpPr>
            <p:spPr bwMode="auto">
              <a:xfrm>
                <a:off x="2160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5857" name="Line 33"/>
              <p:cNvSpPr>
                <a:spLocks noChangeShapeType="1"/>
              </p:cNvSpPr>
              <p:nvPr/>
            </p:nvSpPr>
            <p:spPr bwMode="auto">
              <a:xfrm>
                <a:off x="1536" y="2640"/>
                <a:ext cx="9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205858" name="Object 34"/>
              <p:cNvGraphicFramePr>
                <a:graphicFrameLocks noChangeAspect="1"/>
              </p:cNvGraphicFramePr>
              <p:nvPr/>
            </p:nvGraphicFramePr>
            <p:xfrm>
              <a:off x="1536" y="2784"/>
              <a:ext cx="952" cy="360"/>
            </p:xfrm>
            <a:graphic>
              <a:graphicData uri="http://schemas.openxmlformats.org/presentationml/2006/ole">
                <p:oleObj spid="_x0000_s205858" name="Equation" r:id="rId7" imgW="1511280" imgH="571320" progId="Equation.3">
                  <p:embed/>
                </p:oleObj>
              </a:graphicData>
            </a:graphic>
          </p:graphicFrame>
          <p:sp>
            <p:nvSpPr>
              <p:cNvPr id="205859" name="AutoShape 35"/>
              <p:cNvSpPr>
                <a:spLocks noChangeArrowheads="1"/>
              </p:cNvSpPr>
              <p:nvPr/>
            </p:nvSpPr>
            <p:spPr bwMode="auto">
              <a:xfrm>
                <a:off x="720" y="2784"/>
                <a:ext cx="615" cy="306"/>
              </a:xfrm>
              <a:prstGeom prst="rightArrow">
                <a:avLst>
                  <a:gd name="adj1" fmla="val 50000"/>
                  <a:gd name="adj2" fmla="val 50245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5860" name="Text Box 36"/>
              <p:cNvSpPr txBox="1">
                <a:spLocks noChangeArrowheads="1"/>
              </p:cNvSpPr>
              <p:nvPr/>
            </p:nvSpPr>
            <p:spPr bwMode="auto">
              <a:xfrm>
                <a:off x="3072" y="2784"/>
                <a:ext cx="1228" cy="5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/>
                  <a:t>regular</a:t>
                </a:r>
              </a:p>
            </p:txBody>
          </p:sp>
        </p:grpSp>
        <p:grpSp>
          <p:nvGrpSpPr>
            <p:cNvPr id="205861" name="Group 37"/>
            <p:cNvGrpSpPr>
              <a:grpSpLocks/>
            </p:cNvGrpSpPr>
            <p:nvPr/>
          </p:nvGrpSpPr>
          <p:grpSpPr bwMode="auto">
            <a:xfrm>
              <a:off x="720" y="3600"/>
              <a:ext cx="3580" cy="517"/>
              <a:chOff x="720" y="3600"/>
              <a:chExt cx="3580" cy="517"/>
            </a:xfrm>
          </p:grpSpPr>
          <p:graphicFrame>
            <p:nvGraphicFramePr>
              <p:cNvPr id="205862" name="Object 38"/>
              <p:cNvGraphicFramePr>
                <a:graphicFrameLocks noChangeAspect="1"/>
              </p:cNvGraphicFramePr>
              <p:nvPr/>
            </p:nvGraphicFramePr>
            <p:xfrm>
              <a:off x="1536" y="3600"/>
              <a:ext cx="952" cy="360"/>
            </p:xfrm>
            <a:graphic>
              <a:graphicData uri="http://schemas.openxmlformats.org/presentationml/2006/ole">
                <p:oleObj spid="_x0000_s205862" name="Equation" r:id="rId8" imgW="1511280" imgH="571320" progId="Equation.3">
                  <p:embed/>
                </p:oleObj>
              </a:graphicData>
            </a:graphic>
          </p:graphicFrame>
          <p:sp>
            <p:nvSpPr>
              <p:cNvPr id="205863" name="AutoShape 39"/>
              <p:cNvSpPr>
                <a:spLocks noChangeArrowheads="1"/>
              </p:cNvSpPr>
              <p:nvPr/>
            </p:nvSpPr>
            <p:spPr bwMode="auto">
              <a:xfrm>
                <a:off x="720" y="3600"/>
                <a:ext cx="615" cy="306"/>
              </a:xfrm>
              <a:prstGeom prst="rightArrow">
                <a:avLst>
                  <a:gd name="adj1" fmla="val 50000"/>
                  <a:gd name="adj2" fmla="val 50245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5864" name="Text Box 40"/>
              <p:cNvSpPr txBox="1">
                <a:spLocks noChangeArrowheads="1"/>
              </p:cNvSpPr>
              <p:nvPr/>
            </p:nvSpPr>
            <p:spPr bwMode="auto">
              <a:xfrm>
                <a:off x="3072" y="3600"/>
                <a:ext cx="1228" cy="5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/>
                  <a:t>regular</a:t>
                </a:r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37802B-7BE7-4783-BBF0-354EB11C77AE}" type="slidenum">
              <a:rPr lang="en-US"/>
              <a:pPr/>
              <a:t>22</a:t>
            </a:fld>
            <a:endParaRPr lang="en-US"/>
          </a:p>
        </p:txBody>
      </p:sp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Example</a:t>
            </a:r>
          </a:p>
        </p:txBody>
      </p:sp>
      <p:graphicFrame>
        <p:nvGraphicFramePr>
          <p:cNvPr id="208899" name="Object 3"/>
          <p:cNvGraphicFramePr>
            <a:graphicFrameLocks noChangeAspect="1"/>
          </p:cNvGraphicFramePr>
          <p:nvPr/>
        </p:nvGraphicFramePr>
        <p:xfrm>
          <a:off x="320675" y="1803400"/>
          <a:ext cx="2095500" cy="723900"/>
        </p:xfrm>
        <a:graphic>
          <a:graphicData uri="http://schemas.openxmlformats.org/presentationml/2006/ole">
            <p:oleObj spid="_x0000_s208899" name="Equation" r:id="rId3" imgW="2095200" imgH="723600" progId="Equation.3">
              <p:embed/>
            </p:oleObj>
          </a:graphicData>
        </a:graphic>
      </p:graphicFrame>
      <p:graphicFrame>
        <p:nvGraphicFramePr>
          <p:cNvPr id="208932" name="Object 36"/>
          <p:cNvGraphicFramePr>
            <a:graphicFrameLocks noChangeAspect="1"/>
          </p:cNvGraphicFramePr>
          <p:nvPr/>
        </p:nvGraphicFramePr>
        <p:xfrm>
          <a:off x="152400" y="3200400"/>
          <a:ext cx="2616200" cy="571500"/>
        </p:xfrm>
        <a:graphic>
          <a:graphicData uri="http://schemas.openxmlformats.org/presentationml/2006/ole">
            <p:oleObj spid="_x0000_s208932" name="Equation" r:id="rId4" imgW="2616120" imgH="571320" progId="Equation.3">
              <p:embed/>
            </p:oleObj>
          </a:graphicData>
        </a:graphic>
      </p:graphicFrame>
      <p:sp>
        <p:nvSpPr>
          <p:cNvPr id="208933" name="Text Box 37"/>
          <p:cNvSpPr txBox="1">
            <a:spLocks noChangeArrowheads="1"/>
          </p:cNvSpPr>
          <p:nvPr/>
        </p:nvSpPr>
        <p:spPr bwMode="auto">
          <a:xfrm>
            <a:off x="2743200" y="1905000"/>
            <a:ext cx="15430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</p:txBody>
      </p:sp>
      <p:sp>
        <p:nvSpPr>
          <p:cNvPr id="208934" name="Text Box 38"/>
          <p:cNvSpPr txBox="1">
            <a:spLocks noChangeArrowheads="1"/>
          </p:cNvSpPr>
          <p:nvPr/>
        </p:nvSpPr>
        <p:spPr bwMode="auto">
          <a:xfrm>
            <a:off x="2819400" y="3200400"/>
            <a:ext cx="15430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</p:txBody>
      </p:sp>
      <p:sp>
        <p:nvSpPr>
          <p:cNvPr id="208935" name="AutoShape 39"/>
          <p:cNvSpPr>
            <a:spLocks/>
          </p:cNvSpPr>
          <p:nvPr/>
        </p:nvSpPr>
        <p:spPr bwMode="auto">
          <a:xfrm>
            <a:off x="4419600" y="2133600"/>
            <a:ext cx="381000" cy="1447800"/>
          </a:xfrm>
          <a:prstGeom prst="rightBrace">
            <a:avLst>
              <a:gd name="adj1" fmla="val 3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8936" name="Object 40"/>
          <p:cNvGraphicFramePr>
            <a:graphicFrameLocks noChangeAspect="1"/>
          </p:cNvGraphicFramePr>
          <p:nvPr/>
        </p:nvGraphicFramePr>
        <p:xfrm>
          <a:off x="5791200" y="2514600"/>
          <a:ext cx="2933700" cy="571500"/>
        </p:xfrm>
        <a:graphic>
          <a:graphicData uri="http://schemas.openxmlformats.org/presentationml/2006/ole">
            <p:oleObj spid="_x0000_s208936" name="Equation" r:id="rId5" imgW="2933640" imgH="571320" progId="Equation.3">
              <p:embed/>
            </p:oleObj>
          </a:graphicData>
        </a:graphic>
      </p:graphicFrame>
      <p:sp>
        <p:nvSpPr>
          <p:cNvPr id="208937" name="Text Box 41"/>
          <p:cNvSpPr txBox="1">
            <a:spLocks noChangeArrowheads="1"/>
          </p:cNvSpPr>
          <p:nvPr/>
        </p:nvSpPr>
        <p:spPr bwMode="auto">
          <a:xfrm>
            <a:off x="6172200" y="3352800"/>
            <a:ext cx="15430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</p:txBody>
      </p:sp>
      <p:sp>
        <p:nvSpPr>
          <p:cNvPr id="208938" name="AutoShape 42"/>
          <p:cNvSpPr>
            <a:spLocks noChangeArrowheads="1"/>
          </p:cNvSpPr>
          <p:nvPr/>
        </p:nvSpPr>
        <p:spPr bwMode="auto">
          <a:xfrm>
            <a:off x="4953000" y="2590800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Regular Expressions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31BDD4-2146-4F74-8729-6DE5DE38B01C}" type="slidenum">
              <a:rPr lang="en-US"/>
              <a:pPr/>
              <a:t>24</a:t>
            </a:fld>
            <a:endParaRPr lang="en-US"/>
          </a:p>
        </p:txBody>
      </p:sp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 Expressions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Regular expressions </a:t>
            </a:r>
          </a:p>
          <a:p>
            <a:r>
              <a:rPr lang="en-US"/>
              <a:t>describe regular languages  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Example:</a:t>
            </a:r>
          </a:p>
          <a:p>
            <a:endParaRPr lang="en-US"/>
          </a:p>
          <a:p>
            <a:r>
              <a:rPr lang="en-US"/>
              <a:t>                 describes the language</a:t>
            </a:r>
          </a:p>
          <a:p>
            <a:endParaRPr lang="en-US"/>
          </a:p>
          <a:p>
            <a:endParaRPr lang="en-US"/>
          </a:p>
        </p:txBody>
      </p:sp>
      <p:graphicFrame>
        <p:nvGraphicFramePr>
          <p:cNvPr id="210944" name="Object 1024"/>
          <p:cNvGraphicFramePr>
            <a:graphicFrameLocks noChangeAspect="1"/>
          </p:cNvGraphicFramePr>
          <p:nvPr/>
        </p:nvGraphicFramePr>
        <p:xfrm>
          <a:off x="2590800" y="3200400"/>
          <a:ext cx="2108200" cy="531813"/>
        </p:xfrm>
        <a:graphic>
          <a:graphicData uri="http://schemas.openxmlformats.org/presentationml/2006/ole">
            <p:oleObj spid="_x0000_s210944" name="Equation" r:id="rId3" imgW="2108160" imgH="533160" progId="Equation.3">
              <p:embed/>
            </p:oleObj>
          </a:graphicData>
        </a:graphic>
      </p:graphicFrame>
      <p:graphicFrame>
        <p:nvGraphicFramePr>
          <p:cNvPr id="210945" name="Object 1025"/>
          <p:cNvGraphicFramePr>
            <a:graphicFrameLocks noChangeAspect="1"/>
          </p:cNvGraphicFramePr>
          <p:nvPr/>
        </p:nvGraphicFramePr>
        <p:xfrm>
          <a:off x="2190750" y="5080000"/>
          <a:ext cx="6694488" cy="558800"/>
        </p:xfrm>
        <a:graphic>
          <a:graphicData uri="http://schemas.openxmlformats.org/presentationml/2006/ole">
            <p:oleObj spid="_x0000_s210945" name="Equation" r:id="rId4" imgW="6692760" imgH="558720" progId="Equation.3">
              <p:embed/>
            </p:oleObj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87D58E-7A1A-47F4-8CE5-E9CB842AC687}" type="slidenum">
              <a:rPr lang="en-US"/>
              <a:pPr/>
              <a:t>25</a:t>
            </a:fld>
            <a:endParaRPr lang="en-US"/>
          </a:p>
        </p:txBody>
      </p:sp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Recursive Definition</a:t>
            </a:r>
          </a:p>
        </p:txBody>
      </p:sp>
      <p:graphicFrame>
        <p:nvGraphicFramePr>
          <p:cNvPr id="211968" name="Object 1024"/>
          <p:cNvGraphicFramePr>
            <a:graphicFrameLocks noChangeAspect="1"/>
          </p:cNvGraphicFramePr>
          <p:nvPr/>
        </p:nvGraphicFramePr>
        <p:xfrm>
          <a:off x="6096000" y="990600"/>
          <a:ext cx="2082800" cy="531813"/>
        </p:xfrm>
        <a:graphic>
          <a:graphicData uri="http://schemas.openxmlformats.org/presentationml/2006/ole">
            <p:oleObj spid="_x0000_s211968" name="Equation" r:id="rId3" imgW="2082600" imgH="533160" progId="Equation.3">
              <p:embed/>
            </p:oleObj>
          </a:graphicData>
        </a:graphic>
      </p:graphicFrame>
      <p:graphicFrame>
        <p:nvGraphicFramePr>
          <p:cNvPr id="211969" name="Object 1025"/>
          <p:cNvGraphicFramePr>
            <a:graphicFrameLocks noChangeAspect="1"/>
          </p:cNvGraphicFramePr>
          <p:nvPr/>
        </p:nvGraphicFramePr>
        <p:xfrm>
          <a:off x="1847850" y="3321050"/>
          <a:ext cx="1168400" cy="2895600"/>
        </p:xfrm>
        <a:graphic>
          <a:graphicData uri="http://schemas.openxmlformats.org/presentationml/2006/ole">
            <p:oleObj spid="_x0000_s211969" name="Equation" r:id="rId4" imgW="1168200" imgH="2895480" progId="Equation.3">
              <p:embed/>
            </p:oleObj>
          </a:graphicData>
        </a:graphic>
      </p:graphicFrame>
      <p:grpSp>
        <p:nvGrpSpPr>
          <p:cNvPr id="151566" name="Group 14"/>
          <p:cNvGrpSpPr>
            <a:grpSpLocks/>
          </p:cNvGrpSpPr>
          <p:nvPr/>
        </p:nvGrpSpPr>
        <p:grpSpPr bwMode="auto">
          <a:xfrm>
            <a:off x="3124200" y="3429000"/>
            <a:ext cx="5421313" cy="2743200"/>
            <a:chOff x="1968" y="2160"/>
            <a:chExt cx="3415" cy="1728"/>
          </a:xfrm>
        </p:grpSpPr>
        <p:sp>
          <p:nvSpPr>
            <p:cNvPr id="151560" name="AutoShape 8"/>
            <p:cNvSpPr>
              <a:spLocks/>
            </p:cNvSpPr>
            <p:nvPr/>
          </p:nvSpPr>
          <p:spPr bwMode="auto">
            <a:xfrm>
              <a:off x="1968" y="2160"/>
              <a:ext cx="336" cy="1728"/>
            </a:xfrm>
            <a:prstGeom prst="rightBrace">
              <a:avLst>
                <a:gd name="adj1" fmla="val 4285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561" name="Text Box 9"/>
            <p:cNvSpPr txBox="1">
              <a:spLocks noChangeArrowheads="1"/>
            </p:cNvSpPr>
            <p:nvPr/>
          </p:nvSpPr>
          <p:spPr bwMode="auto">
            <a:xfrm>
              <a:off x="2400" y="2832"/>
              <a:ext cx="2983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Are regular expressions</a:t>
              </a:r>
            </a:p>
          </p:txBody>
        </p:sp>
      </p:grpSp>
      <p:sp>
        <p:nvSpPr>
          <p:cNvPr id="151563" name="Text Box 11"/>
          <p:cNvSpPr txBox="1">
            <a:spLocks noChangeArrowheads="1"/>
          </p:cNvSpPr>
          <p:nvPr/>
        </p:nvSpPr>
        <p:spPr bwMode="auto">
          <a:xfrm>
            <a:off x="0" y="914400"/>
            <a:ext cx="58213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Primitive regular expressions:</a:t>
            </a:r>
          </a:p>
        </p:txBody>
      </p:sp>
      <p:grpSp>
        <p:nvGrpSpPr>
          <p:cNvPr id="151565" name="Group 13"/>
          <p:cNvGrpSpPr>
            <a:grpSpLocks/>
          </p:cNvGrpSpPr>
          <p:nvPr/>
        </p:nvGrpSpPr>
        <p:grpSpPr bwMode="auto">
          <a:xfrm>
            <a:off x="0" y="2057400"/>
            <a:ext cx="7085013" cy="604838"/>
            <a:chOff x="96" y="1280"/>
            <a:chExt cx="4463" cy="381"/>
          </a:xfrm>
        </p:grpSpPr>
        <p:graphicFrame>
          <p:nvGraphicFramePr>
            <p:cNvPr id="211970" name="Object 1026"/>
            <p:cNvGraphicFramePr>
              <a:graphicFrameLocks noChangeAspect="1"/>
            </p:cNvGraphicFramePr>
            <p:nvPr/>
          </p:nvGraphicFramePr>
          <p:xfrm>
            <a:off x="4320" y="1296"/>
            <a:ext cx="239" cy="360"/>
          </p:xfrm>
          <a:graphic>
            <a:graphicData uri="http://schemas.openxmlformats.org/presentationml/2006/ole">
              <p:oleObj spid="_x0000_s211970" name="Equation" r:id="rId5" imgW="380880" imgH="571320" progId="Equation.3">
                <p:embed/>
              </p:oleObj>
            </a:graphicData>
          </a:graphic>
        </p:graphicFrame>
        <p:graphicFrame>
          <p:nvGraphicFramePr>
            <p:cNvPr id="211971" name="Object 1027"/>
            <p:cNvGraphicFramePr>
              <a:graphicFrameLocks noChangeAspect="1"/>
            </p:cNvGraphicFramePr>
            <p:nvPr/>
          </p:nvGraphicFramePr>
          <p:xfrm>
            <a:off x="3400" y="1280"/>
            <a:ext cx="192" cy="360"/>
          </p:xfrm>
          <a:graphic>
            <a:graphicData uri="http://schemas.openxmlformats.org/presentationml/2006/ole">
              <p:oleObj spid="_x0000_s211971" name="Equation" r:id="rId6" imgW="304560" imgH="571320" progId="Equation.3">
                <p:embed/>
              </p:oleObj>
            </a:graphicData>
          </a:graphic>
        </p:graphicFrame>
        <p:sp>
          <p:nvSpPr>
            <p:cNvPr id="151564" name="Text Box 12"/>
            <p:cNvSpPr txBox="1">
              <a:spLocks noChangeArrowheads="1"/>
            </p:cNvSpPr>
            <p:nvPr/>
          </p:nvSpPr>
          <p:spPr bwMode="auto">
            <a:xfrm>
              <a:off x="96" y="1296"/>
              <a:ext cx="4209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Given regular expressions       and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1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1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75B0507-88B5-4407-A308-9CC06C194CE8}" type="slidenum">
              <a:rPr lang="en-US"/>
              <a:pPr/>
              <a:t>26</a:t>
            </a:fld>
            <a:endParaRPr 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graphicFrame>
        <p:nvGraphicFramePr>
          <p:cNvPr id="212992" name="Object 1024"/>
          <p:cNvGraphicFramePr>
            <a:graphicFrameLocks noChangeAspect="1"/>
          </p:cNvGraphicFramePr>
          <p:nvPr/>
        </p:nvGraphicFramePr>
        <p:xfrm>
          <a:off x="5029200" y="1676400"/>
          <a:ext cx="3721100" cy="558800"/>
        </p:xfrm>
        <a:graphic>
          <a:graphicData uri="http://schemas.openxmlformats.org/presentationml/2006/ole">
            <p:oleObj spid="_x0000_s212992" name="Equation" r:id="rId3" imgW="3720960" imgH="558720" progId="Equation.3">
              <p:embed/>
            </p:oleObj>
          </a:graphicData>
        </a:graphic>
      </p:graphicFrame>
      <p:sp>
        <p:nvSpPr>
          <p:cNvPr id="152583" name="Text Box 7"/>
          <p:cNvSpPr txBox="1">
            <a:spLocks noChangeArrowheads="1"/>
          </p:cNvSpPr>
          <p:nvPr/>
        </p:nvSpPr>
        <p:spPr bwMode="auto">
          <a:xfrm>
            <a:off x="365125" y="1625600"/>
            <a:ext cx="4241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regular expression:</a:t>
            </a:r>
          </a:p>
        </p:txBody>
      </p:sp>
      <p:grpSp>
        <p:nvGrpSpPr>
          <p:cNvPr id="152585" name="Group 9"/>
          <p:cNvGrpSpPr>
            <a:grpSpLocks/>
          </p:cNvGrpSpPr>
          <p:nvPr/>
        </p:nvGrpSpPr>
        <p:grpSpPr bwMode="auto">
          <a:xfrm>
            <a:off x="288925" y="3886200"/>
            <a:ext cx="7280275" cy="604838"/>
            <a:chOff x="182" y="2448"/>
            <a:chExt cx="4586" cy="381"/>
          </a:xfrm>
        </p:grpSpPr>
        <p:graphicFrame>
          <p:nvGraphicFramePr>
            <p:cNvPr id="212993" name="Object 1025"/>
            <p:cNvGraphicFramePr>
              <a:graphicFrameLocks noChangeAspect="1"/>
            </p:cNvGraphicFramePr>
            <p:nvPr/>
          </p:nvGraphicFramePr>
          <p:xfrm>
            <a:off x="3696" y="2448"/>
            <a:ext cx="1072" cy="352"/>
          </p:xfrm>
          <a:graphic>
            <a:graphicData uri="http://schemas.openxmlformats.org/presentationml/2006/ole">
              <p:oleObj spid="_x0000_s212993" name="Equation" r:id="rId4" imgW="1701720" imgH="558720" progId="Equation.3">
                <p:embed/>
              </p:oleObj>
            </a:graphicData>
          </a:graphic>
        </p:graphicFrame>
        <p:sp>
          <p:nvSpPr>
            <p:cNvPr id="152584" name="Text Box 8"/>
            <p:cNvSpPr txBox="1">
              <a:spLocks noChangeArrowheads="1"/>
            </p:cNvSpPr>
            <p:nvPr/>
          </p:nvSpPr>
          <p:spPr bwMode="auto">
            <a:xfrm>
              <a:off x="182" y="2464"/>
              <a:ext cx="3153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Not a regular expression: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A01820-FDD6-473E-B1A6-32F5FE354A77}" type="slidenum">
              <a:rPr lang="en-US"/>
              <a:pPr/>
              <a:t>27</a:t>
            </a:fld>
            <a:endParaRPr lang="en-US"/>
          </a:p>
        </p:txBody>
      </p:sp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Languages of Regular Expressions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        </a:t>
            </a:r>
          </a:p>
          <a:p>
            <a:r>
              <a:rPr lang="en-US"/>
              <a:t>        :   language of regular expression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Example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</a:p>
        </p:txBody>
      </p:sp>
      <p:graphicFrame>
        <p:nvGraphicFramePr>
          <p:cNvPr id="214016" name="Object 1024"/>
          <p:cNvGraphicFramePr>
            <a:graphicFrameLocks noChangeAspect="1"/>
          </p:cNvGraphicFramePr>
          <p:nvPr/>
        </p:nvGraphicFramePr>
        <p:xfrm>
          <a:off x="192088" y="1422400"/>
          <a:ext cx="885825" cy="558800"/>
        </p:xfrm>
        <a:graphic>
          <a:graphicData uri="http://schemas.openxmlformats.org/presentationml/2006/ole">
            <p:oleObj spid="_x0000_s214016" name="Equation" r:id="rId3" imgW="888840" imgH="558720" progId="Equation.3">
              <p:embed/>
            </p:oleObj>
          </a:graphicData>
        </a:graphic>
      </p:graphicFrame>
      <p:graphicFrame>
        <p:nvGraphicFramePr>
          <p:cNvPr id="214017" name="Object 1025"/>
          <p:cNvGraphicFramePr>
            <a:graphicFrameLocks noChangeAspect="1"/>
          </p:cNvGraphicFramePr>
          <p:nvPr/>
        </p:nvGraphicFramePr>
        <p:xfrm>
          <a:off x="7689850" y="1587500"/>
          <a:ext cx="252413" cy="290513"/>
        </p:xfrm>
        <a:graphic>
          <a:graphicData uri="http://schemas.openxmlformats.org/presentationml/2006/ole">
            <p:oleObj spid="_x0000_s214017" name="Equation" r:id="rId4" imgW="253800" imgH="291960" progId="Equation.3">
              <p:embed/>
            </p:oleObj>
          </a:graphicData>
        </a:graphic>
      </p:graphicFrame>
      <p:graphicFrame>
        <p:nvGraphicFramePr>
          <p:cNvPr id="214018" name="Object 1026"/>
          <p:cNvGraphicFramePr>
            <a:graphicFrameLocks noChangeAspect="1"/>
          </p:cNvGraphicFramePr>
          <p:nvPr/>
        </p:nvGraphicFramePr>
        <p:xfrm>
          <a:off x="361950" y="4013200"/>
          <a:ext cx="7964488" cy="558800"/>
        </p:xfrm>
        <a:graphic>
          <a:graphicData uri="http://schemas.openxmlformats.org/presentationml/2006/ole">
            <p:oleObj spid="_x0000_s214018" name="Equation" r:id="rId5" imgW="7962840" imgH="558720" progId="Equation.3">
              <p:embed/>
            </p:oleObj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965AF5-5955-4188-B792-8B6212CF84E6}" type="slidenum">
              <a:rPr lang="en-US"/>
              <a:pPr/>
              <a:t>28</a:t>
            </a:fld>
            <a:endParaRPr lang="en-US"/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For primitive regular expressions:</a:t>
            </a:r>
          </a:p>
        </p:txBody>
      </p:sp>
      <p:graphicFrame>
        <p:nvGraphicFramePr>
          <p:cNvPr id="215040" name="Object 1024"/>
          <p:cNvGraphicFramePr>
            <a:graphicFrameLocks noChangeAspect="1"/>
          </p:cNvGraphicFramePr>
          <p:nvPr/>
        </p:nvGraphicFramePr>
        <p:xfrm>
          <a:off x="3200400" y="2438400"/>
          <a:ext cx="2120900" cy="3606800"/>
        </p:xfrm>
        <a:graphic>
          <a:graphicData uri="http://schemas.openxmlformats.org/presentationml/2006/ole">
            <p:oleObj spid="_x0000_s215040" name="Equation" r:id="rId3" imgW="2120760" imgH="3606480" progId="Equation.3">
              <p:embed/>
            </p:oleObj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F1FF8A-4122-4A12-9517-90ACB5FBD971}" type="slidenum">
              <a:rPr lang="en-US"/>
              <a:pPr/>
              <a:t>29</a:t>
            </a:fld>
            <a:endParaRPr lang="en-US"/>
          </a:p>
        </p:txBody>
      </p:sp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(continued)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For regular expressions       and</a:t>
            </a:r>
          </a:p>
          <a:p>
            <a:endParaRPr lang="en-US"/>
          </a:p>
          <a:p>
            <a:r>
              <a:rPr lang="en-US"/>
              <a:t>  </a:t>
            </a:r>
          </a:p>
        </p:txBody>
      </p:sp>
      <p:graphicFrame>
        <p:nvGraphicFramePr>
          <p:cNvPr id="216064" name="Object 1024"/>
          <p:cNvGraphicFramePr>
            <a:graphicFrameLocks noChangeAspect="1"/>
          </p:cNvGraphicFramePr>
          <p:nvPr/>
        </p:nvGraphicFramePr>
        <p:xfrm>
          <a:off x="4953000" y="1371600"/>
          <a:ext cx="304800" cy="571500"/>
        </p:xfrm>
        <a:graphic>
          <a:graphicData uri="http://schemas.openxmlformats.org/presentationml/2006/ole">
            <p:oleObj spid="_x0000_s216064" name="Equation" r:id="rId3" imgW="304560" imgH="571320" progId="Equation.3">
              <p:embed/>
            </p:oleObj>
          </a:graphicData>
        </a:graphic>
      </p:graphicFrame>
      <p:graphicFrame>
        <p:nvGraphicFramePr>
          <p:cNvPr id="216065" name="Object 1025"/>
          <p:cNvGraphicFramePr>
            <a:graphicFrameLocks noChangeAspect="1"/>
          </p:cNvGraphicFramePr>
          <p:nvPr/>
        </p:nvGraphicFramePr>
        <p:xfrm>
          <a:off x="6477000" y="1371600"/>
          <a:ext cx="379413" cy="571500"/>
        </p:xfrm>
        <a:graphic>
          <a:graphicData uri="http://schemas.openxmlformats.org/presentationml/2006/ole">
            <p:oleObj spid="_x0000_s216065" name="Equation" r:id="rId4" imgW="380880" imgH="571320" progId="Equation.3">
              <p:embed/>
            </p:oleObj>
          </a:graphicData>
        </a:graphic>
      </p:graphicFrame>
      <p:graphicFrame>
        <p:nvGraphicFramePr>
          <p:cNvPr id="216066" name="Object 1026"/>
          <p:cNvGraphicFramePr>
            <a:graphicFrameLocks noChangeAspect="1"/>
          </p:cNvGraphicFramePr>
          <p:nvPr/>
        </p:nvGraphicFramePr>
        <p:xfrm>
          <a:off x="1981200" y="2286000"/>
          <a:ext cx="4902200" cy="571500"/>
        </p:xfrm>
        <a:graphic>
          <a:graphicData uri="http://schemas.openxmlformats.org/presentationml/2006/ole">
            <p:oleObj spid="_x0000_s216066" name="Equation" r:id="rId5" imgW="4902120" imgH="571320" progId="Equation.3">
              <p:embed/>
            </p:oleObj>
          </a:graphicData>
        </a:graphic>
      </p:graphicFrame>
      <p:graphicFrame>
        <p:nvGraphicFramePr>
          <p:cNvPr id="216067" name="Object 1027"/>
          <p:cNvGraphicFramePr>
            <a:graphicFrameLocks noChangeAspect="1"/>
          </p:cNvGraphicFramePr>
          <p:nvPr/>
        </p:nvGraphicFramePr>
        <p:xfrm>
          <a:off x="2133600" y="3505200"/>
          <a:ext cx="4254500" cy="571500"/>
        </p:xfrm>
        <a:graphic>
          <a:graphicData uri="http://schemas.openxmlformats.org/presentationml/2006/ole">
            <p:oleObj spid="_x0000_s216067" name="Equation" r:id="rId6" imgW="4254480" imgH="571320" progId="Equation.3">
              <p:embed/>
            </p:oleObj>
          </a:graphicData>
        </a:graphic>
      </p:graphicFrame>
      <p:graphicFrame>
        <p:nvGraphicFramePr>
          <p:cNvPr id="216068" name="Object 1028"/>
          <p:cNvGraphicFramePr>
            <a:graphicFrameLocks noChangeAspect="1"/>
          </p:cNvGraphicFramePr>
          <p:nvPr/>
        </p:nvGraphicFramePr>
        <p:xfrm>
          <a:off x="2438400" y="4648200"/>
          <a:ext cx="3340100" cy="571500"/>
        </p:xfrm>
        <a:graphic>
          <a:graphicData uri="http://schemas.openxmlformats.org/presentationml/2006/ole">
            <p:oleObj spid="_x0000_s216068" name="Equation" r:id="rId7" imgW="3340080" imgH="571320" progId="Equation.3">
              <p:embed/>
            </p:oleObj>
          </a:graphicData>
        </a:graphic>
      </p:graphicFrame>
      <p:graphicFrame>
        <p:nvGraphicFramePr>
          <p:cNvPr id="216069" name="Object 1029"/>
          <p:cNvGraphicFramePr>
            <a:graphicFrameLocks noChangeAspect="1"/>
          </p:cNvGraphicFramePr>
          <p:nvPr/>
        </p:nvGraphicFramePr>
        <p:xfrm>
          <a:off x="2438400" y="5791200"/>
          <a:ext cx="2768600" cy="571500"/>
        </p:xfrm>
        <a:graphic>
          <a:graphicData uri="http://schemas.openxmlformats.org/presentationml/2006/ole">
            <p:oleObj spid="_x0000_s216069" name="Equation" r:id="rId8" imgW="2768400" imgH="5713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A0934A-BF7F-45ED-8647-E5CEAB31699A}" type="slidenum">
              <a:rPr lang="en-US"/>
              <a:pPr/>
              <a:t>30</a:t>
            </a:fld>
            <a:endParaRPr lang="en-US"/>
          </a:p>
        </p:txBody>
      </p:sp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Regular expression:  </a:t>
            </a:r>
          </a:p>
        </p:txBody>
      </p:sp>
      <p:graphicFrame>
        <p:nvGraphicFramePr>
          <p:cNvPr id="217088" name="Object 1024"/>
          <p:cNvGraphicFramePr>
            <a:graphicFrameLocks noChangeAspect="1"/>
          </p:cNvGraphicFramePr>
          <p:nvPr/>
        </p:nvGraphicFramePr>
        <p:xfrm>
          <a:off x="4057650" y="889000"/>
          <a:ext cx="2120900" cy="558800"/>
        </p:xfrm>
        <a:graphic>
          <a:graphicData uri="http://schemas.openxmlformats.org/presentationml/2006/ole">
            <p:oleObj spid="_x0000_s217088" name="Equation" r:id="rId3" imgW="2120760" imgH="558720" progId="Equation.3">
              <p:embed/>
            </p:oleObj>
          </a:graphicData>
        </a:graphic>
      </p:graphicFrame>
      <p:graphicFrame>
        <p:nvGraphicFramePr>
          <p:cNvPr id="217089" name="Object 1025"/>
          <p:cNvGraphicFramePr>
            <a:graphicFrameLocks noChangeAspect="1"/>
          </p:cNvGraphicFramePr>
          <p:nvPr/>
        </p:nvGraphicFramePr>
        <p:xfrm>
          <a:off x="381000" y="1981200"/>
          <a:ext cx="2768600" cy="558800"/>
        </p:xfrm>
        <a:graphic>
          <a:graphicData uri="http://schemas.openxmlformats.org/presentationml/2006/ole">
            <p:oleObj spid="_x0000_s217089" name="Equation" r:id="rId4" imgW="2768400" imgH="558720" progId="Equation.3">
              <p:embed/>
            </p:oleObj>
          </a:graphicData>
        </a:graphic>
      </p:graphicFrame>
      <p:graphicFrame>
        <p:nvGraphicFramePr>
          <p:cNvPr id="217090" name="Object 1026"/>
          <p:cNvGraphicFramePr>
            <a:graphicFrameLocks noChangeAspect="1"/>
          </p:cNvGraphicFramePr>
          <p:nvPr/>
        </p:nvGraphicFramePr>
        <p:xfrm>
          <a:off x="3352800" y="1981200"/>
          <a:ext cx="3644900" cy="571500"/>
        </p:xfrm>
        <a:graphic>
          <a:graphicData uri="http://schemas.openxmlformats.org/presentationml/2006/ole">
            <p:oleObj spid="_x0000_s217090" name="Equation" r:id="rId5" imgW="3644640" imgH="571320" progId="Equation.3">
              <p:embed/>
            </p:oleObj>
          </a:graphicData>
        </a:graphic>
      </p:graphicFrame>
      <p:graphicFrame>
        <p:nvGraphicFramePr>
          <p:cNvPr id="217091" name="Object 1027"/>
          <p:cNvGraphicFramePr>
            <a:graphicFrameLocks noChangeAspect="1"/>
          </p:cNvGraphicFramePr>
          <p:nvPr/>
        </p:nvGraphicFramePr>
        <p:xfrm>
          <a:off x="3352800" y="2743200"/>
          <a:ext cx="3327400" cy="571500"/>
        </p:xfrm>
        <a:graphic>
          <a:graphicData uri="http://schemas.openxmlformats.org/presentationml/2006/ole">
            <p:oleObj spid="_x0000_s217091" name="Equation" r:id="rId6" imgW="3327120" imgH="571320" progId="Equation.3">
              <p:embed/>
            </p:oleObj>
          </a:graphicData>
        </a:graphic>
      </p:graphicFrame>
      <p:graphicFrame>
        <p:nvGraphicFramePr>
          <p:cNvPr id="217092" name="Object 1028"/>
          <p:cNvGraphicFramePr>
            <a:graphicFrameLocks noChangeAspect="1"/>
          </p:cNvGraphicFramePr>
          <p:nvPr/>
        </p:nvGraphicFramePr>
        <p:xfrm>
          <a:off x="3352800" y="3505200"/>
          <a:ext cx="4699000" cy="571500"/>
        </p:xfrm>
        <a:graphic>
          <a:graphicData uri="http://schemas.openxmlformats.org/presentationml/2006/ole">
            <p:oleObj spid="_x0000_s217092" name="Equation" r:id="rId7" imgW="4698720" imgH="571320" progId="Equation.3">
              <p:embed/>
            </p:oleObj>
          </a:graphicData>
        </a:graphic>
      </p:graphicFrame>
      <p:graphicFrame>
        <p:nvGraphicFramePr>
          <p:cNvPr id="217093" name="Object 1029"/>
          <p:cNvGraphicFramePr>
            <a:graphicFrameLocks noChangeAspect="1"/>
          </p:cNvGraphicFramePr>
          <p:nvPr/>
        </p:nvGraphicFramePr>
        <p:xfrm>
          <a:off x="3352800" y="4267200"/>
          <a:ext cx="3784600" cy="571500"/>
        </p:xfrm>
        <a:graphic>
          <a:graphicData uri="http://schemas.openxmlformats.org/presentationml/2006/ole">
            <p:oleObj spid="_x0000_s217093" name="Equation" r:id="rId8" imgW="3784320" imgH="571320" progId="Equation.3">
              <p:embed/>
            </p:oleObj>
          </a:graphicData>
        </a:graphic>
      </p:graphicFrame>
      <p:graphicFrame>
        <p:nvGraphicFramePr>
          <p:cNvPr id="217094" name="Object 1030"/>
          <p:cNvGraphicFramePr>
            <a:graphicFrameLocks noChangeAspect="1"/>
          </p:cNvGraphicFramePr>
          <p:nvPr/>
        </p:nvGraphicFramePr>
        <p:xfrm>
          <a:off x="3352800" y="5029200"/>
          <a:ext cx="4749800" cy="571500"/>
        </p:xfrm>
        <a:graphic>
          <a:graphicData uri="http://schemas.openxmlformats.org/presentationml/2006/ole">
            <p:oleObj spid="_x0000_s217094" name="Equation" r:id="rId9" imgW="4749480" imgH="571320" progId="Equation.3">
              <p:embed/>
            </p:oleObj>
          </a:graphicData>
        </a:graphic>
      </p:graphicFrame>
      <p:graphicFrame>
        <p:nvGraphicFramePr>
          <p:cNvPr id="217095" name="Object 1031"/>
          <p:cNvGraphicFramePr>
            <a:graphicFrameLocks noChangeAspect="1"/>
          </p:cNvGraphicFramePr>
          <p:nvPr/>
        </p:nvGraphicFramePr>
        <p:xfrm>
          <a:off x="3352800" y="5867400"/>
          <a:ext cx="5664200" cy="558800"/>
        </p:xfrm>
        <a:graphic>
          <a:graphicData uri="http://schemas.openxmlformats.org/presentationml/2006/ole">
            <p:oleObj spid="_x0000_s217095" name="Equation" r:id="rId10" imgW="5663880" imgH="5587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7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7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7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7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7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7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7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7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7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7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06AAA2-A244-4DAC-B73B-74965B684F2E}" type="slidenum">
              <a:rPr lang="en-US"/>
              <a:pPr/>
              <a:t>31</a:t>
            </a:fld>
            <a:endParaRPr lang="en-US"/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Regular expression </a:t>
            </a:r>
          </a:p>
          <a:p>
            <a:endParaRPr lang="en-US"/>
          </a:p>
        </p:txBody>
      </p:sp>
      <p:graphicFrame>
        <p:nvGraphicFramePr>
          <p:cNvPr id="218112" name="Object 1024"/>
          <p:cNvGraphicFramePr>
            <a:graphicFrameLocks noChangeAspect="1"/>
          </p:cNvGraphicFramePr>
          <p:nvPr/>
        </p:nvGraphicFramePr>
        <p:xfrm>
          <a:off x="4229100" y="1498600"/>
          <a:ext cx="3962400" cy="558800"/>
        </p:xfrm>
        <a:graphic>
          <a:graphicData uri="http://schemas.openxmlformats.org/presentationml/2006/ole">
            <p:oleObj spid="_x0000_s218112" name="Equation" r:id="rId3" imgW="3962160" imgH="558720" progId="Equation.3">
              <p:embed/>
            </p:oleObj>
          </a:graphicData>
        </a:graphic>
      </p:graphicFrame>
      <p:graphicFrame>
        <p:nvGraphicFramePr>
          <p:cNvPr id="218113" name="Object 1025"/>
          <p:cNvGraphicFramePr>
            <a:graphicFrameLocks noChangeAspect="1"/>
          </p:cNvGraphicFramePr>
          <p:nvPr/>
        </p:nvGraphicFramePr>
        <p:xfrm>
          <a:off x="1371600" y="3784600"/>
          <a:ext cx="6376988" cy="558800"/>
        </p:xfrm>
        <a:graphic>
          <a:graphicData uri="http://schemas.openxmlformats.org/presentationml/2006/ole">
            <p:oleObj spid="_x0000_s218113" name="Equation" r:id="rId4" imgW="6375240" imgH="5587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8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8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DD8FAC-E788-4B3B-ADD6-43F991D5BA5D}" type="slidenum">
              <a:rPr lang="en-US"/>
              <a:pPr/>
              <a:t>32</a:t>
            </a:fld>
            <a:endParaRPr lang="en-US"/>
          </a:p>
        </p:txBody>
      </p:sp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Regular expression</a:t>
            </a:r>
          </a:p>
        </p:txBody>
      </p:sp>
      <p:graphicFrame>
        <p:nvGraphicFramePr>
          <p:cNvPr id="219136" name="Object 1024"/>
          <p:cNvGraphicFramePr>
            <a:graphicFrameLocks noChangeAspect="1"/>
          </p:cNvGraphicFramePr>
          <p:nvPr/>
        </p:nvGraphicFramePr>
        <p:xfrm>
          <a:off x="4406900" y="1422400"/>
          <a:ext cx="3390900" cy="558800"/>
        </p:xfrm>
        <a:graphic>
          <a:graphicData uri="http://schemas.openxmlformats.org/presentationml/2006/ole">
            <p:oleObj spid="_x0000_s219136" name="Equation" r:id="rId3" imgW="3390840" imgH="558720" progId="Equation.3">
              <p:embed/>
            </p:oleObj>
          </a:graphicData>
        </a:graphic>
      </p:graphicFrame>
      <p:graphicFrame>
        <p:nvGraphicFramePr>
          <p:cNvPr id="219137" name="Object 1025"/>
          <p:cNvGraphicFramePr>
            <a:graphicFrameLocks noChangeAspect="1"/>
          </p:cNvGraphicFramePr>
          <p:nvPr/>
        </p:nvGraphicFramePr>
        <p:xfrm>
          <a:off x="1778000" y="3390900"/>
          <a:ext cx="5765800" cy="723900"/>
        </p:xfrm>
        <a:graphic>
          <a:graphicData uri="http://schemas.openxmlformats.org/presentationml/2006/ole">
            <p:oleObj spid="_x0000_s219137" name="Equation" r:id="rId4" imgW="5765760" imgH="723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9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9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CD8546-13CC-4560-B8AA-3089438B9304}" type="slidenum">
              <a:rPr lang="en-US"/>
              <a:pPr/>
              <a:t>33</a:t>
            </a:fld>
            <a:endParaRPr lang="en-US"/>
          </a:p>
        </p:txBody>
      </p:sp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Regular expression</a:t>
            </a:r>
          </a:p>
        </p:txBody>
      </p:sp>
      <p:graphicFrame>
        <p:nvGraphicFramePr>
          <p:cNvPr id="159748" name="Object 4"/>
          <p:cNvGraphicFramePr>
            <a:graphicFrameLocks noChangeAspect="1"/>
          </p:cNvGraphicFramePr>
          <p:nvPr/>
        </p:nvGraphicFramePr>
        <p:xfrm>
          <a:off x="4267200" y="1447800"/>
          <a:ext cx="4432300" cy="542925"/>
        </p:xfrm>
        <a:graphic>
          <a:graphicData uri="http://schemas.openxmlformats.org/presentationml/2006/ole">
            <p:oleObj spid="_x0000_s159748" name="Equation" r:id="rId3" imgW="4431960" imgH="545760" progId="Equation.3">
              <p:embed/>
            </p:oleObj>
          </a:graphicData>
        </a:graphic>
      </p:graphicFrame>
      <p:grpSp>
        <p:nvGrpSpPr>
          <p:cNvPr id="159751" name="Group 7"/>
          <p:cNvGrpSpPr>
            <a:grpSpLocks/>
          </p:cNvGrpSpPr>
          <p:nvPr/>
        </p:nvGrpSpPr>
        <p:grpSpPr bwMode="auto">
          <a:xfrm>
            <a:off x="1327150" y="3378200"/>
            <a:ext cx="6202363" cy="1163638"/>
            <a:chOff x="836" y="2128"/>
            <a:chExt cx="3907" cy="733"/>
          </a:xfrm>
        </p:grpSpPr>
        <p:graphicFrame>
          <p:nvGraphicFramePr>
            <p:cNvPr id="159749" name="Object 5"/>
            <p:cNvGraphicFramePr>
              <a:graphicFrameLocks noChangeAspect="1"/>
            </p:cNvGraphicFramePr>
            <p:nvPr/>
          </p:nvGraphicFramePr>
          <p:xfrm>
            <a:off x="836" y="2144"/>
            <a:ext cx="584" cy="335"/>
          </p:xfrm>
          <a:graphic>
            <a:graphicData uri="http://schemas.openxmlformats.org/presentationml/2006/ole">
              <p:oleObj spid="_x0000_s159749" name="Equation" r:id="rId4" imgW="927000" imgH="533160" progId="Equation.3">
                <p:embed/>
              </p:oleObj>
            </a:graphicData>
          </a:graphic>
        </p:graphicFrame>
        <p:sp>
          <p:nvSpPr>
            <p:cNvPr id="159750" name="Text Box 6"/>
            <p:cNvSpPr txBox="1">
              <a:spLocks noChangeArrowheads="1"/>
            </p:cNvSpPr>
            <p:nvPr/>
          </p:nvSpPr>
          <p:spPr bwMode="auto">
            <a:xfrm>
              <a:off x="1478" y="2128"/>
              <a:ext cx="3265" cy="7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= { all strings with at least</a:t>
              </a:r>
            </a:p>
            <a:p>
              <a:r>
                <a:rPr lang="en-US"/>
                <a:t>      two consecutive 0 }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3F2096-6B2B-4ED9-8FB8-D51C78001D3B}" type="slidenum">
              <a:rPr lang="en-US"/>
              <a:pPr/>
              <a:t>34</a:t>
            </a:fld>
            <a:endParaRPr lang="en-US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Regular expression</a:t>
            </a:r>
          </a:p>
        </p:txBody>
      </p:sp>
      <p:graphicFrame>
        <p:nvGraphicFramePr>
          <p:cNvPr id="220160" name="Object 1024"/>
          <p:cNvGraphicFramePr>
            <a:graphicFrameLocks noChangeAspect="1"/>
          </p:cNvGraphicFramePr>
          <p:nvPr/>
        </p:nvGraphicFramePr>
        <p:xfrm>
          <a:off x="4267200" y="1447800"/>
          <a:ext cx="3911600" cy="531813"/>
        </p:xfrm>
        <a:graphic>
          <a:graphicData uri="http://schemas.openxmlformats.org/presentationml/2006/ole">
            <p:oleObj spid="_x0000_s220160" name="Equation" r:id="rId3" imgW="3911400" imgH="533160" progId="Equation.3">
              <p:embed/>
            </p:oleObj>
          </a:graphicData>
        </a:graphic>
      </p:graphicFrame>
      <p:grpSp>
        <p:nvGrpSpPr>
          <p:cNvPr id="160776" name="Group 8"/>
          <p:cNvGrpSpPr>
            <a:grpSpLocks/>
          </p:cNvGrpSpPr>
          <p:nvPr/>
        </p:nvGrpSpPr>
        <p:grpSpPr bwMode="auto">
          <a:xfrm>
            <a:off x="1327150" y="3378200"/>
            <a:ext cx="5711825" cy="1163638"/>
            <a:chOff x="836" y="2128"/>
            <a:chExt cx="3598" cy="733"/>
          </a:xfrm>
        </p:grpSpPr>
        <p:graphicFrame>
          <p:nvGraphicFramePr>
            <p:cNvPr id="220161" name="Object 1025"/>
            <p:cNvGraphicFramePr>
              <a:graphicFrameLocks noChangeAspect="1"/>
            </p:cNvGraphicFramePr>
            <p:nvPr/>
          </p:nvGraphicFramePr>
          <p:xfrm>
            <a:off x="836" y="2144"/>
            <a:ext cx="584" cy="335"/>
          </p:xfrm>
          <a:graphic>
            <a:graphicData uri="http://schemas.openxmlformats.org/presentationml/2006/ole">
              <p:oleObj spid="_x0000_s220161" name="Equation" r:id="rId4" imgW="927000" imgH="533160" progId="Equation.3">
                <p:embed/>
              </p:oleObj>
            </a:graphicData>
          </a:graphic>
        </p:graphicFrame>
        <p:sp>
          <p:nvSpPr>
            <p:cNvPr id="160774" name="Text Box 6"/>
            <p:cNvSpPr txBox="1">
              <a:spLocks noChangeArrowheads="1"/>
            </p:cNvSpPr>
            <p:nvPr/>
          </p:nvSpPr>
          <p:spPr bwMode="auto">
            <a:xfrm>
              <a:off x="1478" y="2128"/>
              <a:ext cx="2956" cy="7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= { all strings without</a:t>
              </a:r>
            </a:p>
            <a:p>
              <a:r>
                <a:rPr lang="en-US"/>
                <a:t>      two consecutive 0 }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B5EACC7-2400-427F-9FF6-FCCF749BFC36}" type="slidenum">
              <a:rPr lang="en-US"/>
              <a:pPr/>
              <a:t>35</a:t>
            </a:fld>
            <a:endParaRPr lang="en-US"/>
          </a:p>
        </p:txBody>
      </p:sp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Equivalent Regular Expressions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Definition:</a:t>
            </a:r>
          </a:p>
          <a:p>
            <a:endParaRPr lang="en-US"/>
          </a:p>
          <a:p>
            <a:r>
              <a:rPr lang="en-US"/>
              <a:t>    Regular expressions        and</a:t>
            </a:r>
          </a:p>
          <a:p>
            <a:endParaRPr lang="en-US"/>
          </a:p>
          <a:p>
            <a:r>
              <a:rPr lang="en-US"/>
              <a:t>    are </a:t>
            </a:r>
            <a:r>
              <a:rPr lang="en-US" sz="3600" b="1"/>
              <a:t>equivalent</a:t>
            </a:r>
            <a:r>
              <a:rPr lang="en-US"/>
              <a:t> if    </a:t>
            </a:r>
          </a:p>
        </p:txBody>
      </p:sp>
      <p:graphicFrame>
        <p:nvGraphicFramePr>
          <p:cNvPr id="221184" name="Object 1024"/>
          <p:cNvGraphicFramePr>
            <a:graphicFrameLocks noChangeAspect="1"/>
          </p:cNvGraphicFramePr>
          <p:nvPr/>
        </p:nvGraphicFramePr>
        <p:xfrm>
          <a:off x="4876800" y="2590800"/>
          <a:ext cx="304800" cy="571500"/>
        </p:xfrm>
        <a:graphic>
          <a:graphicData uri="http://schemas.openxmlformats.org/presentationml/2006/ole">
            <p:oleObj spid="_x0000_s221184" name="Equation" r:id="rId3" imgW="304560" imgH="571320" progId="Equation.3">
              <p:embed/>
            </p:oleObj>
          </a:graphicData>
        </a:graphic>
      </p:graphicFrame>
      <p:graphicFrame>
        <p:nvGraphicFramePr>
          <p:cNvPr id="221185" name="Object 1025"/>
          <p:cNvGraphicFramePr>
            <a:graphicFrameLocks noChangeAspect="1"/>
          </p:cNvGraphicFramePr>
          <p:nvPr/>
        </p:nvGraphicFramePr>
        <p:xfrm>
          <a:off x="6477000" y="2590800"/>
          <a:ext cx="379413" cy="571500"/>
        </p:xfrm>
        <a:graphic>
          <a:graphicData uri="http://schemas.openxmlformats.org/presentationml/2006/ole">
            <p:oleObj spid="_x0000_s221185" name="Equation" r:id="rId4" imgW="380880" imgH="571320" progId="Equation.3">
              <p:embed/>
            </p:oleObj>
          </a:graphicData>
        </a:graphic>
      </p:graphicFrame>
      <p:graphicFrame>
        <p:nvGraphicFramePr>
          <p:cNvPr id="221186" name="Object 1026"/>
          <p:cNvGraphicFramePr>
            <a:graphicFrameLocks noChangeAspect="1"/>
          </p:cNvGraphicFramePr>
          <p:nvPr/>
        </p:nvGraphicFramePr>
        <p:xfrm>
          <a:off x="4495800" y="3810000"/>
          <a:ext cx="2590800" cy="571500"/>
        </p:xfrm>
        <a:graphic>
          <a:graphicData uri="http://schemas.openxmlformats.org/presentationml/2006/ole">
            <p:oleObj spid="_x0000_s221186" name="Equation" r:id="rId5" imgW="2590560" imgH="571320" progId="Equation.3">
              <p:embed/>
            </p:oleObj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D155C-6F95-465E-AB18-BEB20F63C69E}" type="slidenum">
              <a:rPr lang="en-US"/>
              <a:pPr/>
              <a:t>36</a:t>
            </a:fld>
            <a:endParaRPr lang="en-US"/>
          </a:p>
        </p:txBody>
      </p:sp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222208" name="Object 1024"/>
          <p:cNvGraphicFramePr>
            <a:graphicFrameLocks noChangeAspect="1"/>
          </p:cNvGraphicFramePr>
          <p:nvPr/>
        </p:nvGraphicFramePr>
        <p:xfrm>
          <a:off x="469900" y="977900"/>
          <a:ext cx="328613" cy="393700"/>
        </p:xfrm>
        <a:graphic>
          <a:graphicData uri="http://schemas.openxmlformats.org/presentationml/2006/ole">
            <p:oleObj spid="_x0000_s222208" name="Equation" r:id="rId3" imgW="330120" imgH="393480" progId="Equation.3">
              <p:embed/>
            </p:oleObj>
          </a:graphicData>
        </a:graphic>
      </p:graphicFrame>
      <p:sp>
        <p:nvSpPr>
          <p:cNvPr id="162821" name="Text Box 5"/>
          <p:cNvSpPr txBox="1">
            <a:spLocks noChangeArrowheads="1"/>
          </p:cNvSpPr>
          <p:nvPr/>
        </p:nvSpPr>
        <p:spPr bwMode="auto">
          <a:xfrm>
            <a:off x="914400" y="914400"/>
            <a:ext cx="4692650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= { all strings without</a:t>
            </a:r>
          </a:p>
          <a:p>
            <a:r>
              <a:rPr lang="en-US"/>
              <a:t>      two consecutive 0 } </a:t>
            </a:r>
          </a:p>
        </p:txBody>
      </p:sp>
      <p:graphicFrame>
        <p:nvGraphicFramePr>
          <p:cNvPr id="222209" name="Object 1025"/>
          <p:cNvGraphicFramePr>
            <a:graphicFrameLocks noChangeAspect="1"/>
          </p:cNvGraphicFramePr>
          <p:nvPr/>
        </p:nvGraphicFramePr>
        <p:xfrm>
          <a:off x="1333500" y="2565400"/>
          <a:ext cx="4000500" cy="571500"/>
        </p:xfrm>
        <a:graphic>
          <a:graphicData uri="http://schemas.openxmlformats.org/presentationml/2006/ole">
            <p:oleObj spid="_x0000_s222209" name="Equation" r:id="rId4" imgW="4000320" imgH="571320" progId="Equation.3">
              <p:embed/>
            </p:oleObj>
          </a:graphicData>
        </a:graphic>
      </p:graphicFrame>
      <p:graphicFrame>
        <p:nvGraphicFramePr>
          <p:cNvPr id="222210" name="Object 1026"/>
          <p:cNvGraphicFramePr>
            <a:graphicFrameLocks noChangeAspect="1"/>
          </p:cNvGraphicFramePr>
          <p:nvPr/>
        </p:nvGraphicFramePr>
        <p:xfrm>
          <a:off x="1193800" y="3556000"/>
          <a:ext cx="6808788" cy="571500"/>
        </p:xfrm>
        <a:graphic>
          <a:graphicData uri="http://schemas.openxmlformats.org/presentationml/2006/ole">
            <p:oleObj spid="_x0000_s222210" name="Equation" r:id="rId5" imgW="6806880" imgH="571320" progId="Equation.3">
              <p:embed/>
            </p:oleObj>
          </a:graphicData>
        </a:graphic>
      </p:graphicFrame>
      <p:graphicFrame>
        <p:nvGraphicFramePr>
          <p:cNvPr id="222211" name="Object 1027"/>
          <p:cNvGraphicFramePr>
            <a:graphicFrameLocks noChangeAspect="1"/>
          </p:cNvGraphicFramePr>
          <p:nvPr/>
        </p:nvGraphicFramePr>
        <p:xfrm>
          <a:off x="285750" y="5156200"/>
          <a:ext cx="3390900" cy="571500"/>
        </p:xfrm>
        <a:graphic>
          <a:graphicData uri="http://schemas.openxmlformats.org/presentationml/2006/ole">
            <p:oleObj spid="_x0000_s222211" name="Equation" r:id="rId6" imgW="3390840" imgH="571320" progId="Equation.3">
              <p:embed/>
            </p:oleObj>
          </a:graphicData>
        </a:graphic>
      </p:graphicFrame>
      <p:grpSp>
        <p:nvGrpSpPr>
          <p:cNvPr id="162832" name="Group 16"/>
          <p:cNvGrpSpPr>
            <a:grpSpLocks/>
          </p:cNvGrpSpPr>
          <p:nvPr/>
        </p:nvGrpSpPr>
        <p:grpSpPr bwMode="auto">
          <a:xfrm>
            <a:off x="3962400" y="4800600"/>
            <a:ext cx="4206875" cy="1773238"/>
            <a:chOff x="2496" y="3024"/>
            <a:chExt cx="2650" cy="1117"/>
          </a:xfrm>
        </p:grpSpPr>
        <p:sp>
          <p:nvSpPr>
            <p:cNvPr id="162826" name="AutoShape 10"/>
            <p:cNvSpPr>
              <a:spLocks noChangeArrowheads="1"/>
            </p:cNvSpPr>
            <p:nvPr/>
          </p:nvSpPr>
          <p:spPr bwMode="auto">
            <a:xfrm>
              <a:off x="2496" y="3264"/>
              <a:ext cx="615" cy="306"/>
            </a:xfrm>
            <a:prstGeom prst="rightArrow">
              <a:avLst>
                <a:gd name="adj1" fmla="val 50000"/>
                <a:gd name="adj2" fmla="val 50245"/>
              </a:avLst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22212" name="Object 1028"/>
            <p:cNvGraphicFramePr>
              <a:graphicFrameLocks noChangeAspect="1"/>
            </p:cNvGraphicFramePr>
            <p:nvPr/>
          </p:nvGraphicFramePr>
          <p:xfrm>
            <a:off x="3504" y="3024"/>
            <a:ext cx="192" cy="360"/>
          </p:xfrm>
          <a:graphic>
            <a:graphicData uri="http://schemas.openxmlformats.org/presentationml/2006/ole">
              <p:oleObj spid="_x0000_s222212" name="Equation" r:id="rId7" imgW="304560" imgH="571320" progId="Equation.3">
                <p:embed/>
              </p:oleObj>
            </a:graphicData>
          </a:graphic>
        </p:graphicFrame>
        <p:graphicFrame>
          <p:nvGraphicFramePr>
            <p:cNvPr id="222213" name="Object 1029"/>
            <p:cNvGraphicFramePr>
              <a:graphicFrameLocks noChangeAspect="1"/>
            </p:cNvGraphicFramePr>
            <p:nvPr/>
          </p:nvGraphicFramePr>
          <p:xfrm>
            <a:off x="4560" y="3024"/>
            <a:ext cx="239" cy="360"/>
          </p:xfrm>
          <a:graphic>
            <a:graphicData uri="http://schemas.openxmlformats.org/presentationml/2006/ole">
              <p:oleObj spid="_x0000_s222213" name="Equation" r:id="rId8" imgW="380880" imgH="571320" progId="Equation.3">
                <p:embed/>
              </p:oleObj>
            </a:graphicData>
          </a:graphic>
        </p:graphicFrame>
        <p:sp>
          <p:nvSpPr>
            <p:cNvPr id="162829" name="Text Box 13"/>
            <p:cNvSpPr txBox="1">
              <a:spLocks noChangeArrowheads="1"/>
            </p:cNvSpPr>
            <p:nvPr/>
          </p:nvSpPr>
          <p:spPr bwMode="auto">
            <a:xfrm>
              <a:off x="3888" y="3024"/>
              <a:ext cx="53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and</a:t>
              </a:r>
            </a:p>
          </p:txBody>
        </p:sp>
        <p:sp>
          <p:nvSpPr>
            <p:cNvPr id="162830" name="Text Box 14"/>
            <p:cNvSpPr txBox="1">
              <a:spLocks noChangeArrowheads="1"/>
            </p:cNvSpPr>
            <p:nvPr/>
          </p:nvSpPr>
          <p:spPr bwMode="auto">
            <a:xfrm>
              <a:off x="3360" y="3408"/>
              <a:ext cx="1786" cy="7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are equivalent</a:t>
              </a:r>
            </a:p>
            <a:p>
              <a:r>
                <a:rPr lang="en-US"/>
                <a:t>regular expr.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2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2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2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2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Regular Expressions</a:t>
            </a:r>
            <a:br>
              <a:rPr lang="en-US" sz="4400"/>
            </a:br>
            <a:r>
              <a:rPr lang="en-US" sz="4400"/>
              <a:t>and</a:t>
            </a:r>
            <a:br>
              <a:rPr lang="en-US" sz="4400"/>
            </a:br>
            <a:r>
              <a:rPr lang="en-US" sz="4400"/>
              <a:t>Regular Languages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7A9841-F0BB-42D0-B9A3-7441087034F5}" type="slidenum">
              <a:rPr lang="en-US"/>
              <a:pPr/>
              <a:t>38</a:t>
            </a:fld>
            <a:endParaRPr lang="en-US"/>
          </a:p>
        </p:txBody>
      </p:sp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Theorem</a:t>
            </a:r>
          </a:p>
        </p:txBody>
      </p:sp>
      <p:sp>
        <p:nvSpPr>
          <p:cNvPr id="166922" name="AutoShape 10"/>
          <p:cNvSpPr>
            <a:spLocks/>
          </p:cNvSpPr>
          <p:nvPr/>
        </p:nvSpPr>
        <p:spPr bwMode="auto">
          <a:xfrm>
            <a:off x="168275" y="14224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6923" name="Text Box 11"/>
          <p:cNvSpPr txBox="1">
            <a:spLocks noChangeArrowheads="1"/>
          </p:cNvSpPr>
          <p:nvPr/>
        </p:nvSpPr>
        <p:spPr bwMode="auto">
          <a:xfrm>
            <a:off x="457200" y="1447800"/>
            <a:ext cx="3990975" cy="174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Languages</a:t>
            </a:r>
          </a:p>
          <a:p>
            <a:r>
              <a:rPr lang="en-US"/>
              <a:t>Generated by</a:t>
            </a:r>
          </a:p>
          <a:p>
            <a:r>
              <a:rPr lang="en-US"/>
              <a:t>Regular Expressions</a:t>
            </a:r>
          </a:p>
        </p:txBody>
      </p:sp>
      <p:sp>
        <p:nvSpPr>
          <p:cNvPr id="166924" name="AutoShape 12"/>
          <p:cNvSpPr>
            <a:spLocks/>
          </p:cNvSpPr>
          <p:nvPr/>
        </p:nvSpPr>
        <p:spPr bwMode="auto">
          <a:xfrm flipH="1">
            <a:off x="42672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6925" name="AutoShape 13"/>
          <p:cNvSpPr>
            <a:spLocks/>
          </p:cNvSpPr>
          <p:nvPr/>
        </p:nvSpPr>
        <p:spPr bwMode="auto">
          <a:xfrm>
            <a:off x="60960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6926" name="AutoShape 14"/>
          <p:cNvSpPr>
            <a:spLocks/>
          </p:cNvSpPr>
          <p:nvPr/>
        </p:nvSpPr>
        <p:spPr bwMode="auto">
          <a:xfrm flipH="1">
            <a:off x="86106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6927" name="Text Box 15"/>
          <p:cNvSpPr txBox="1">
            <a:spLocks noChangeArrowheads="1"/>
          </p:cNvSpPr>
          <p:nvPr/>
        </p:nvSpPr>
        <p:spPr bwMode="auto">
          <a:xfrm>
            <a:off x="6477000" y="1676400"/>
            <a:ext cx="2100263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  <a:p>
            <a:r>
              <a:rPr lang="en-US"/>
              <a:t>Languages</a:t>
            </a:r>
          </a:p>
        </p:txBody>
      </p:sp>
      <p:graphicFrame>
        <p:nvGraphicFramePr>
          <p:cNvPr id="223232" name="Object 1024"/>
          <p:cNvGraphicFramePr>
            <a:graphicFrameLocks noChangeAspect="1"/>
          </p:cNvGraphicFramePr>
          <p:nvPr/>
        </p:nvGraphicFramePr>
        <p:xfrm>
          <a:off x="4953000" y="1905000"/>
          <a:ext cx="762000" cy="609600"/>
        </p:xfrm>
        <a:graphic>
          <a:graphicData uri="http://schemas.openxmlformats.org/presentationml/2006/ole">
            <p:oleObj spid="_x0000_s223232" name="Equation" r:id="rId3" imgW="304560" imgH="177480" progId="Equation.3">
              <p:embed/>
            </p:oleObj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A20290C-6B3D-4797-9730-15F12CC5705B}" type="slidenum">
              <a:rPr lang="en-US"/>
              <a:pPr/>
              <a:t>39</a:t>
            </a:fld>
            <a:endParaRPr lang="en-US"/>
          </a:p>
        </p:txBody>
      </p:sp>
      <p:sp>
        <p:nvSpPr>
          <p:cNvPr id="191490" name="Rectangle 2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Theorem - Part 1</a:t>
            </a:r>
          </a:p>
        </p:txBody>
      </p:sp>
      <p:grpSp>
        <p:nvGrpSpPr>
          <p:cNvPr id="191491" name="Group 3"/>
          <p:cNvGrpSpPr>
            <a:grpSpLocks/>
          </p:cNvGrpSpPr>
          <p:nvPr/>
        </p:nvGrpSpPr>
        <p:grpSpPr bwMode="auto">
          <a:xfrm>
            <a:off x="381000" y="4114800"/>
            <a:ext cx="6310313" cy="1293813"/>
            <a:chOff x="96" y="912"/>
            <a:chExt cx="3975" cy="815"/>
          </a:xfrm>
        </p:grpSpPr>
        <p:graphicFrame>
          <p:nvGraphicFramePr>
            <p:cNvPr id="191492" name="Object 4"/>
            <p:cNvGraphicFramePr>
              <a:graphicFrameLocks noChangeAspect="1"/>
            </p:cNvGraphicFramePr>
            <p:nvPr/>
          </p:nvGraphicFramePr>
          <p:xfrm>
            <a:off x="3840" y="1056"/>
            <a:ext cx="159" cy="183"/>
          </p:xfrm>
          <a:graphic>
            <a:graphicData uri="http://schemas.openxmlformats.org/presentationml/2006/ole">
              <p:oleObj spid="_x0000_s191492" name="Equation" r:id="rId3" imgW="253800" imgH="291960" progId="Equation.3">
                <p:embed/>
              </p:oleObj>
            </a:graphicData>
          </a:graphic>
        </p:graphicFrame>
        <p:graphicFrame>
          <p:nvGraphicFramePr>
            <p:cNvPr id="191493" name="Object 5"/>
            <p:cNvGraphicFramePr>
              <a:graphicFrameLocks noChangeAspect="1"/>
            </p:cNvGraphicFramePr>
            <p:nvPr/>
          </p:nvGraphicFramePr>
          <p:xfrm>
            <a:off x="2160" y="1392"/>
            <a:ext cx="584" cy="335"/>
          </p:xfrm>
          <a:graphic>
            <a:graphicData uri="http://schemas.openxmlformats.org/presentationml/2006/ole">
              <p:oleObj spid="_x0000_s191493" name="Equation" r:id="rId4" imgW="927000" imgH="533160" progId="Equation.3">
                <p:embed/>
              </p:oleObj>
            </a:graphicData>
          </a:graphic>
        </p:graphicFrame>
        <p:sp>
          <p:nvSpPr>
            <p:cNvPr id="191494" name="Text Box 6"/>
            <p:cNvSpPr txBox="1">
              <a:spLocks noChangeArrowheads="1"/>
            </p:cNvSpPr>
            <p:nvPr/>
          </p:nvSpPr>
          <p:spPr bwMode="auto">
            <a:xfrm>
              <a:off x="96" y="912"/>
              <a:ext cx="3975" cy="8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4000">
                  <a:solidFill>
                    <a:srgbClr val="FF0000"/>
                  </a:solidFill>
                </a:rPr>
                <a:t>1.</a:t>
              </a:r>
              <a:r>
                <a:rPr lang="en-US"/>
                <a:t>  For any regular expression</a:t>
              </a:r>
            </a:p>
            <a:p>
              <a:r>
                <a:rPr lang="en-US"/>
                <a:t>     the language           is regular</a:t>
              </a:r>
            </a:p>
          </p:txBody>
        </p:sp>
      </p:grpSp>
      <p:sp>
        <p:nvSpPr>
          <p:cNvPr id="191515" name="AutoShape 27"/>
          <p:cNvSpPr>
            <a:spLocks/>
          </p:cNvSpPr>
          <p:nvPr/>
        </p:nvSpPr>
        <p:spPr bwMode="auto">
          <a:xfrm>
            <a:off x="168275" y="14224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1516" name="Text Box 28"/>
          <p:cNvSpPr txBox="1">
            <a:spLocks noChangeArrowheads="1"/>
          </p:cNvSpPr>
          <p:nvPr/>
        </p:nvSpPr>
        <p:spPr bwMode="auto">
          <a:xfrm>
            <a:off x="457200" y="1447800"/>
            <a:ext cx="3990975" cy="174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Languages</a:t>
            </a:r>
          </a:p>
          <a:p>
            <a:r>
              <a:rPr lang="en-US"/>
              <a:t>Generated by</a:t>
            </a:r>
          </a:p>
          <a:p>
            <a:r>
              <a:rPr lang="en-US"/>
              <a:t>Regular Expressions</a:t>
            </a:r>
          </a:p>
        </p:txBody>
      </p:sp>
      <p:sp>
        <p:nvSpPr>
          <p:cNvPr id="191517" name="AutoShape 29"/>
          <p:cNvSpPr>
            <a:spLocks/>
          </p:cNvSpPr>
          <p:nvPr/>
        </p:nvSpPr>
        <p:spPr bwMode="auto">
          <a:xfrm flipH="1">
            <a:off x="42672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1518" name="AutoShape 30"/>
          <p:cNvSpPr>
            <a:spLocks/>
          </p:cNvSpPr>
          <p:nvPr/>
        </p:nvSpPr>
        <p:spPr bwMode="auto">
          <a:xfrm>
            <a:off x="60960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1519" name="AutoShape 31"/>
          <p:cNvSpPr>
            <a:spLocks/>
          </p:cNvSpPr>
          <p:nvPr/>
        </p:nvSpPr>
        <p:spPr bwMode="auto">
          <a:xfrm flipH="1">
            <a:off x="86106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1520" name="Text Box 32"/>
          <p:cNvSpPr txBox="1">
            <a:spLocks noChangeArrowheads="1"/>
          </p:cNvSpPr>
          <p:nvPr/>
        </p:nvSpPr>
        <p:spPr bwMode="auto">
          <a:xfrm>
            <a:off x="6477000" y="1676400"/>
            <a:ext cx="2100263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  <a:p>
            <a:r>
              <a:rPr lang="en-US"/>
              <a:t>Languages</a:t>
            </a:r>
          </a:p>
        </p:txBody>
      </p:sp>
      <p:graphicFrame>
        <p:nvGraphicFramePr>
          <p:cNvPr id="191521" name="Object 33"/>
          <p:cNvGraphicFramePr>
            <a:graphicFrameLocks noChangeAspect="1"/>
          </p:cNvGraphicFramePr>
          <p:nvPr/>
        </p:nvGraphicFramePr>
        <p:xfrm>
          <a:off x="4953000" y="1828800"/>
          <a:ext cx="828675" cy="784225"/>
        </p:xfrm>
        <a:graphic>
          <a:graphicData uri="http://schemas.openxmlformats.org/presentationml/2006/ole">
            <p:oleObj spid="_x0000_s191521" name="Equation" r:id="rId5" imgW="393480" imgH="3682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22C972F-515E-4852-878F-64469DB361CA}" type="slidenum">
              <a:rPr lang="en-US"/>
              <a:pPr/>
              <a:t>40</a:t>
            </a:fld>
            <a:endParaRPr lang="en-US"/>
          </a:p>
        </p:txBody>
      </p:sp>
      <p:sp>
        <p:nvSpPr>
          <p:cNvPr id="192514" name="Rectangle 2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Theorem - Part 2</a:t>
            </a:r>
          </a:p>
        </p:txBody>
      </p:sp>
      <p:sp>
        <p:nvSpPr>
          <p:cNvPr id="192515" name="AutoShape 3"/>
          <p:cNvSpPr>
            <a:spLocks/>
          </p:cNvSpPr>
          <p:nvPr/>
        </p:nvSpPr>
        <p:spPr bwMode="auto">
          <a:xfrm>
            <a:off x="168275" y="14224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2516" name="Text Box 4"/>
          <p:cNvSpPr txBox="1">
            <a:spLocks noChangeArrowheads="1"/>
          </p:cNvSpPr>
          <p:nvPr/>
        </p:nvSpPr>
        <p:spPr bwMode="auto">
          <a:xfrm>
            <a:off x="457200" y="1447800"/>
            <a:ext cx="3990975" cy="174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Languages</a:t>
            </a:r>
          </a:p>
          <a:p>
            <a:r>
              <a:rPr lang="en-US"/>
              <a:t>Generated by</a:t>
            </a:r>
          </a:p>
          <a:p>
            <a:r>
              <a:rPr lang="en-US"/>
              <a:t>Regular Expressions</a:t>
            </a:r>
          </a:p>
        </p:txBody>
      </p:sp>
      <p:sp>
        <p:nvSpPr>
          <p:cNvPr id="192517" name="AutoShape 5"/>
          <p:cNvSpPr>
            <a:spLocks/>
          </p:cNvSpPr>
          <p:nvPr/>
        </p:nvSpPr>
        <p:spPr bwMode="auto">
          <a:xfrm flipH="1">
            <a:off x="42672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2518" name="AutoShape 6"/>
          <p:cNvSpPr>
            <a:spLocks/>
          </p:cNvSpPr>
          <p:nvPr/>
        </p:nvSpPr>
        <p:spPr bwMode="auto">
          <a:xfrm>
            <a:off x="60960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2519" name="AutoShape 7"/>
          <p:cNvSpPr>
            <a:spLocks/>
          </p:cNvSpPr>
          <p:nvPr/>
        </p:nvSpPr>
        <p:spPr bwMode="auto">
          <a:xfrm flipH="1">
            <a:off x="86106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2520" name="Text Box 8"/>
          <p:cNvSpPr txBox="1">
            <a:spLocks noChangeArrowheads="1"/>
          </p:cNvSpPr>
          <p:nvPr/>
        </p:nvSpPr>
        <p:spPr bwMode="auto">
          <a:xfrm>
            <a:off x="6477000" y="1676400"/>
            <a:ext cx="2100263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  <a:p>
            <a:r>
              <a:rPr lang="en-US"/>
              <a:t>Languages</a:t>
            </a:r>
          </a:p>
        </p:txBody>
      </p:sp>
      <p:graphicFrame>
        <p:nvGraphicFramePr>
          <p:cNvPr id="192521" name="Object 9"/>
          <p:cNvGraphicFramePr>
            <a:graphicFrameLocks noChangeAspect="1"/>
          </p:cNvGraphicFramePr>
          <p:nvPr/>
        </p:nvGraphicFramePr>
        <p:xfrm>
          <a:off x="4953000" y="1828800"/>
          <a:ext cx="828675" cy="784225"/>
        </p:xfrm>
        <a:graphic>
          <a:graphicData uri="http://schemas.openxmlformats.org/presentationml/2006/ole">
            <p:oleObj spid="_x0000_s192521" name="Equation" r:id="rId3" imgW="393480" imgH="368280" progId="Equation.3">
              <p:embed/>
            </p:oleObj>
          </a:graphicData>
        </a:graphic>
      </p:graphicFrame>
      <p:grpSp>
        <p:nvGrpSpPr>
          <p:cNvPr id="192522" name="Group 10"/>
          <p:cNvGrpSpPr>
            <a:grpSpLocks/>
          </p:cNvGrpSpPr>
          <p:nvPr/>
        </p:nvGrpSpPr>
        <p:grpSpPr bwMode="auto">
          <a:xfrm>
            <a:off x="304800" y="4114800"/>
            <a:ext cx="8356600" cy="1285875"/>
            <a:chOff x="96" y="2496"/>
            <a:chExt cx="5264" cy="810"/>
          </a:xfrm>
        </p:grpSpPr>
        <p:graphicFrame>
          <p:nvGraphicFramePr>
            <p:cNvPr id="192523" name="Object 11"/>
            <p:cNvGraphicFramePr>
              <a:graphicFrameLocks noChangeAspect="1"/>
            </p:cNvGraphicFramePr>
            <p:nvPr/>
          </p:nvGraphicFramePr>
          <p:xfrm>
            <a:off x="3648" y="2592"/>
            <a:ext cx="207" cy="248"/>
          </p:xfrm>
          <a:graphic>
            <a:graphicData uri="http://schemas.openxmlformats.org/presentationml/2006/ole">
              <p:oleObj spid="_x0000_s192523" name="Equation" r:id="rId4" imgW="330120" imgH="393480" progId="Equation.3">
                <p:embed/>
              </p:oleObj>
            </a:graphicData>
          </a:graphic>
        </p:graphicFrame>
        <p:graphicFrame>
          <p:nvGraphicFramePr>
            <p:cNvPr id="192524" name="Object 12"/>
            <p:cNvGraphicFramePr>
              <a:graphicFrameLocks noChangeAspect="1"/>
            </p:cNvGraphicFramePr>
            <p:nvPr/>
          </p:nvGraphicFramePr>
          <p:xfrm>
            <a:off x="3216" y="3024"/>
            <a:ext cx="159" cy="183"/>
          </p:xfrm>
          <a:graphic>
            <a:graphicData uri="http://schemas.openxmlformats.org/presentationml/2006/ole">
              <p:oleObj spid="_x0000_s192524" name="Equation" r:id="rId5" imgW="253800" imgH="291960" progId="Equation.3">
                <p:embed/>
              </p:oleObj>
            </a:graphicData>
          </a:graphic>
        </p:graphicFrame>
        <p:graphicFrame>
          <p:nvGraphicFramePr>
            <p:cNvPr id="192525" name="Object 13"/>
            <p:cNvGraphicFramePr>
              <a:graphicFrameLocks noChangeAspect="1"/>
            </p:cNvGraphicFramePr>
            <p:nvPr/>
          </p:nvGraphicFramePr>
          <p:xfrm>
            <a:off x="4272" y="2928"/>
            <a:ext cx="1088" cy="335"/>
          </p:xfrm>
          <a:graphic>
            <a:graphicData uri="http://schemas.openxmlformats.org/presentationml/2006/ole">
              <p:oleObj spid="_x0000_s192525" name="Equation" r:id="rId6" imgW="1726920" imgH="533160" progId="Equation.3">
                <p:embed/>
              </p:oleObj>
            </a:graphicData>
          </a:graphic>
        </p:graphicFrame>
        <p:sp>
          <p:nvSpPr>
            <p:cNvPr id="192526" name="Text Box 14"/>
            <p:cNvSpPr txBox="1">
              <a:spLocks noChangeArrowheads="1"/>
            </p:cNvSpPr>
            <p:nvPr/>
          </p:nvSpPr>
          <p:spPr bwMode="auto">
            <a:xfrm>
              <a:off x="96" y="2496"/>
              <a:ext cx="4939" cy="8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4000">
                  <a:solidFill>
                    <a:srgbClr val="FF0000"/>
                  </a:solidFill>
                </a:rPr>
                <a:t>2.</a:t>
              </a:r>
              <a:r>
                <a:rPr lang="en-US"/>
                <a:t>  For any regular language       there is</a:t>
              </a:r>
            </a:p>
            <a:p>
              <a:r>
                <a:rPr lang="en-US"/>
                <a:t>      a regular expression       with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2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2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3EE260-FA4A-4A5F-835D-D1AC9F1C02EB}" type="slidenum">
              <a:rPr lang="en-US"/>
              <a:pPr/>
              <a:t>41</a:t>
            </a:fld>
            <a:endParaRPr lang="en-US"/>
          </a:p>
        </p:txBody>
      </p:sp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 - Part 1</a:t>
            </a:r>
          </a:p>
        </p:txBody>
      </p:sp>
      <p:grpSp>
        <p:nvGrpSpPr>
          <p:cNvPr id="168969" name="Group 9"/>
          <p:cNvGrpSpPr>
            <a:grpSpLocks/>
          </p:cNvGrpSpPr>
          <p:nvPr/>
        </p:nvGrpSpPr>
        <p:grpSpPr bwMode="auto">
          <a:xfrm>
            <a:off x="152400" y="1447800"/>
            <a:ext cx="6310313" cy="1293813"/>
            <a:chOff x="96" y="912"/>
            <a:chExt cx="3975" cy="815"/>
          </a:xfrm>
        </p:grpSpPr>
        <p:graphicFrame>
          <p:nvGraphicFramePr>
            <p:cNvPr id="224257" name="Object 1025"/>
            <p:cNvGraphicFramePr>
              <a:graphicFrameLocks noChangeAspect="1"/>
            </p:cNvGraphicFramePr>
            <p:nvPr/>
          </p:nvGraphicFramePr>
          <p:xfrm>
            <a:off x="3840" y="1056"/>
            <a:ext cx="159" cy="183"/>
          </p:xfrm>
          <a:graphic>
            <a:graphicData uri="http://schemas.openxmlformats.org/presentationml/2006/ole">
              <p:oleObj spid="_x0000_s224257" name="Equation" r:id="rId3" imgW="253800" imgH="291960" progId="Equation.3">
                <p:embed/>
              </p:oleObj>
            </a:graphicData>
          </a:graphic>
        </p:graphicFrame>
        <p:graphicFrame>
          <p:nvGraphicFramePr>
            <p:cNvPr id="224258" name="Object 1026"/>
            <p:cNvGraphicFramePr>
              <a:graphicFrameLocks noChangeAspect="1"/>
            </p:cNvGraphicFramePr>
            <p:nvPr/>
          </p:nvGraphicFramePr>
          <p:xfrm>
            <a:off x="2160" y="1392"/>
            <a:ext cx="584" cy="335"/>
          </p:xfrm>
          <a:graphic>
            <a:graphicData uri="http://schemas.openxmlformats.org/presentationml/2006/ole">
              <p:oleObj spid="_x0000_s224258" name="Equation" r:id="rId4" imgW="927000" imgH="533160" progId="Equation.3">
                <p:embed/>
              </p:oleObj>
            </a:graphicData>
          </a:graphic>
        </p:graphicFrame>
        <p:sp>
          <p:nvSpPr>
            <p:cNvPr id="168972" name="Text Box 12"/>
            <p:cNvSpPr txBox="1">
              <a:spLocks noChangeArrowheads="1"/>
            </p:cNvSpPr>
            <p:nvPr/>
          </p:nvSpPr>
          <p:spPr bwMode="auto">
            <a:xfrm>
              <a:off x="96" y="912"/>
              <a:ext cx="3975" cy="8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4000">
                  <a:solidFill>
                    <a:srgbClr val="FF0000"/>
                  </a:solidFill>
                </a:rPr>
                <a:t>1.</a:t>
              </a:r>
              <a:r>
                <a:rPr lang="en-US"/>
                <a:t>  For any regular expression</a:t>
              </a:r>
            </a:p>
            <a:p>
              <a:r>
                <a:rPr lang="en-US"/>
                <a:t>     the language           is regular</a:t>
              </a:r>
            </a:p>
          </p:txBody>
        </p:sp>
      </p:grpSp>
      <p:grpSp>
        <p:nvGrpSpPr>
          <p:cNvPr id="168975" name="Group 15"/>
          <p:cNvGrpSpPr>
            <a:grpSpLocks/>
          </p:cNvGrpSpPr>
          <p:nvPr/>
        </p:nvGrpSpPr>
        <p:grpSpPr bwMode="auto">
          <a:xfrm>
            <a:off x="822325" y="4140200"/>
            <a:ext cx="6823075" cy="579438"/>
            <a:chOff x="518" y="2608"/>
            <a:chExt cx="4298" cy="365"/>
          </a:xfrm>
        </p:grpSpPr>
        <p:sp>
          <p:nvSpPr>
            <p:cNvPr id="168973" name="Text Box 13"/>
            <p:cNvSpPr txBox="1">
              <a:spLocks noChangeArrowheads="1"/>
            </p:cNvSpPr>
            <p:nvPr/>
          </p:nvSpPr>
          <p:spPr bwMode="auto">
            <a:xfrm>
              <a:off x="518" y="2608"/>
              <a:ext cx="402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Proof by induction on the size of</a:t>
              </a:r>
            </a:p>
          </p:txBody>
        </p:sp>
        <p:graphicFrame>
          <p:nvGraphicFramePr>
            <p:cNvPr id="224256" name="Object 1024"/>
            <p:cNvGraphicFramePr>
              <a:graphicFrameLocks noChangeAspect="1"/>
            </p:cNvGraphicFramePr>
            <p:nvPr/>
          </p:nvGraphicFramePr>
          <p:xfrm>
            <a:off x="4656" y="2736"/>
            <a:ext cx="160" cy="184"/>
          </p:xfrm>
          <a:graphic>
            <a:graphicData uri="http://schemas.openxmlformats.org/presentationml/2006/ole">
              <p:oleObj spid="_x0000_s224256" name="Equation" r:id="rId5" imgW="253800" imgH="29196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3FA6C0-1390-49D5-BC72-3FCFB6E4AD27}" type="slidenum">
              <a:rPr lang="en-US"/>
              <a:pPr/>
              <a:t>42</a:t>
            </a:fld>
            <a:endParaRPr lang="en-US"/>
          </a:p>
        </p:txBody>
      </p:sp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Induction Basis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Primitive Regular Expressions:</a:t>
            </a:r>
          </a:p>
        </p:txBody>
      </p:sp>
      <p:graphicFrame>
        <p:nvGraphicFramePr>
          <p:cNvPr id="225280" name="Object 0"/>
          <p:cNvGraphicFramePr>
            <a:graphicFrameLocks noChangeAspect="1"/>
          </p:cNvGraphicFramePr>
          <p:nvPr/>
        </p:nvGraphicFramePr>
        <p:xfrm>
          <a:off x="6216650" y="889000"/>
          <a:ext cx="2082800" cy="531813"/>
        </p:xfrm>
        <a:graphic>
          <a:graphicData uri="http://schemas.openxmlformats.org/presentationml/2006/ole">
            <p:oleObj spid="_x0000_s225280" name="Equation" r:id="rId3" imgW="2082600" imgH="533160" progId="Equation.3">
              <p:embed/>
            </p:oleObj>
          </a:graphicData>
        </a:graphic>
      </p:graphicFrame>
      <p:grpSp>
        <p:nvGrpSpPr>
          <p:cNvPr id="170013" name="Group 29"/>
          <p:cNvGrpSpPr>
            <a:grpSpLocks/>
          </p:cNvGrpSpPr>
          <p:nvPr/>
        </p:nvGrpSpPr>
        <p:grpSpPr bwMode="auto">
          <a:xfrm>
            <a:off x="152400" y="1600200"/>
            <a:ext cx="6362700" cy="1752600"/>
            <a:chOff x="96" y="1008"/>
            <a:chExt cx="4008" cy="1104"/>
          </a:xfrm>
        </p:grpSpPr>
        <p:sp>
          <p:nvSpPr>
            <p:cNvPr id="169989" name="Text Box 5"/>
            <p:cNvSpPr txBox="1">
              <a:spLocks noChangeArrowheads="1"/>
            </p:cNvSpPr>
            <p:nvPr/>
          </p:nvSpPr>
          <p:spPr bwMode="auto">
            <a:xfrm>
              <a:off x="288" y="1008"/>
              <a:ext cx="78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NFAs</a:t>
              </a:r>
            </a:p>
          </p:txBody>
        </p:sp>
        <p:grpSp>
          <p:nvGrpSpPr>
            <p:cNvPr id="170009" name="Group 25"/>
            <p:cNvGrpSpPr>
              <a:grpSpLocks/>
            </p:cNvGrpSpPr>
            <p:nvPr/>
          </p:nvGrpSpPr>
          <p:grpSpPr bwMode="auto">
            <a:xfrm>
              <a:off x="96" y="1632"/>
              <a:ext cx="4008" cy="480"/>
              <a:chOff x="96" y="1632"/>
              <a:chExt cx="4008" cy="480"/>
            </a:xfrm>
          </p:grpSpPr>
          <p:sp>
            <p:nvSpPr>
              <p:cNvPr id="169991" name="Oval 7"/>
              <p:cNvSpPr>
                <a:spLocks noChangeArrowheads="1"/>
              </p:cNvSpPr>
              <p:nvPr/>
            </p:nvSpPr>
            <p:spPr bwMode="auto">
              <a:xfrm>
                <a:off x="480" y="1728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9992" name="Line 8"/>
              <p:cNvSpPr>
                <a:spLocks noChangeShapeType="1"/>
              </p:cNvSpPr>
              <p:nvPr/>
            </p:nvSpPr>
            <p:spPr bwMode="auto">
              <a:xfrm>
                <a:off x="96" y="187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25284" name="Object 4"/>
              <p:cNvGraphicFramePr>
                <a:graphicFrameLocks noChangeAspect="1"/>
              </p:cNvGraphicFramePr>
              <p:nvPr/>
            </p:nvGraphicFramePr>
            <p:xfrm>
              <a:off x="1920" y="1680"/>
              <a:ext cx="2184" cy="328"/>
            </p:xfrm>
            <a:graphic>
              <a:graphicData uri="http://schemas.openxmlformats.org/presentationml/2006/ole">
                <p:oleObj spid="_x0000_s225284" name="Equation" r:id="rId4" imgW="3466800" imgH="520560" progId="Equation.3">
                  <p:embed/>
                </p:oleObj>
              </a:graphicData>
            </a:graphic>
          </p:graphicFrame>
          <p:sp>
            <p:nvSpPr>
              <p:cNvPr id="170003" name="Rectangle 19"/>
              <p:cNvSpPr>
                <a:spLocks noChangeArrowheads="1"/>
              </p:cNvSpPr>
              <p:nvPr/>
            </p:nvSpPr>
            <p:spPr bwMode="auto">
              <a:xfrm>
                <a:off x="288" y="1632"/>
                <a:ext cx="672" cy="48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70010" name="Group 26"/>
          <p:cNvGrpSpPr>
            <a:grpSpLocks/>
          </p:cNvGrpSpPr>
          <p:nvPr/>
        </p:nvGrpSpPr>
        <p:grpSpPr bwMode="auto">
          <a:xfrm>
            <a:off x="152400" y="3733800"/>
            <a:ext cx="6413500" cy="914400"/>
            <a:chOff x="96" y="2352"/>
            <a:chExt cx="4040" cy="576"/>
          </a:xfrm>
        </p:grpSpPr>
        <p:sp>
          <p:nvSpPr>
            <p:cNvPr id="169993" name="Oval 9"/>
            <p:cNvSpPr>
              <a:spLocks noChangeArrowheads="1"/>
            </p:cNvSpPr>
            <p:nvPr/>
          </p:nvSpPr>
          <p:spPr bwMode="auto">
            <a:xfrm>
              <a:off x="480" y="249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9994" name="Line 10"/>
            <p:cNvSpPr>
              <a:spLocks noChangeShapeType="1"/>
            </p:cNvSpPr>
            <p:nvPr/>
          </p:nvSpPr>
          <p:spPr bwMode="auto">
            <a:xfrm>
              <a:off x="96" y="264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0002" name="Oval 18"/>
            <p:cNvSpPr>
              <a:spLocks noChangeArrowheads="1"/>
            </p:cNvSpPr>
            <p:nvPr/>
          </p:nvSpPr>
          <p:spPr bwMode="auto">
            <a:xfrm>
              <a:off x="432" y="2448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0004" name="Rectangle 20"/>
            <p:cNvSpPr>
              <a:spLocks noChangeArrowheads="1"/>
            </p:cNvSpPr>
            <p:nvPr/>
          </p:nvSpPr>
          <p:spPr bwMode="auto">
            <a:xfrm>
              <a:off x="288" y="2352"/>
              <a:ext cx="672" cy="57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25283" name="Object 3"/>
            <p:cNvGraphicFramePr>
              <a:graphicFrameLocks noChangeAspect="1"/>
            </p:cNvGraphicFramePr>
            <p:nvPr/>
          </p:nvGraphicFramePr>
          <p:xfrm>
            <a:off x="1824" y="2496"/>
            <a:ext cx="2312" cy="328"/>
          </p:xfrm>
          <a:graphic>
            <a:graphicData uri="http://schemas.openxmlformats.org/presentationml/2006/ole">
              <p:oleObj spid="_x0000_s225283" name="Equation" r:id="rId5" imgW="3670200" imgH="520560" progId="Equation.3">
                <p:embed/>
              </p:oleObj>
            </a:graphicData>
          </a:graphic>
        </p:graphicFrame>
      </p:grpSp>
      <p:grpSp>
        <p:nvGrpSpPr>
          <p:cNvPr id="170011" name="Group 27"/>
          <p:cNvGrpSpPr>
            <a:grpSpLocks/>
          </p:cNvGrpSpPr>
          <p:nvPr/>
        </p:nvGrpSpPr>
        <p:grpSpPr bwMode="auto">
          <a:xfrm>
            <a:off x="152400" y="5105400"/>
            <a:ext cx="6400800" cy="914400"/>
            <a:chOff x="96" y="3216"/>
            <a:chExt cx="4032" cy="576"/>
          </a:xfrm>
        </p:grpSpPr>
        <p:sp>
          <p:nvSpPr>
            <p:cNvPr id="169995" name="Oval 11"/>
            <p:cNvSpPr>
              <a:spLocks noChangeArrowheads="1"/>
            </p:cNvSpPr>
            <p:nvPr/>
          </p:nvSpPr>
          <p:spPr bwMode="auto">
            <a:xfrm>
              <a:off x="480" y="336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9996" name="Line 12"/>
            <p:cNvSpPr>
              <a:spLocks noChangeShapeType="1"/>
            </p:cNvSpPr>
            <p:nvPr/>
          </p:nvSpPr>
          <p:spPr bwMode="auto">
            <a:xfrm>
              <a:off x="96" y="350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9997" name="Oval 13"/>
            <p:cNvSpPr>
              <a:spLocks noChangeArrowheads="1"/>
            </p:cNvSpPr>
            <p:nvPr/>
          </p:nvSpPr>
          <p:spPr bwMode="auto">
            <a:xfrm>
              <a:off x="1296" y="336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9998" name="Oval 14"/>
            <p:cNvSpPr>
              <a:spLocks noChangeArrowheads="1"/>
            </p:cNvSpPr>
            <p:nvPr/>
          </p:nvSpPr>
          <p:spPr bwMode="auto">
            <a:xfrm>
              <a:off x="1248" y="3312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9999" name="Line 15"/>
            <p:cNvSpPr>
              <a:spLocks noChangeShapeType="1"/>
            </p:cNvSpPr>
            <p:nvPr/>
          </p:nvSpPr>
          <p:spPr bwMode="auto">
            <a:xfrm>
              <a:off x="768" y="350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0001" name="Rectangle 17"/>
            <p:cNvSpPr>
              <a:spLocks noChangeArrowheads="1"/>
            </p:cNvSpPr>
            <p:nvPr/>
          </p:nvSpPr>
          <p:spPr bwMode="auto">
            <a:xfrm>
              <a:off x="288" y="3216"/>
              <a:ext cx="1440" cy="57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25282" name="Object 2"/>
            <p:cNvGraphicFramePr>
              <a:graphicFrameLocks noChangeAspect="1"/>
            </p:cNvGraphicFramePr>
            <p:nvPr/>
          </p:nvGraphicFramePr>
          <p:xfrm>
            <a:off x="1872" y="3360"/>
            <a:ext cx="2256" cy="335"/>
          </p:xfrm>
          <a:graphic>
            <a:graphicData uri="http://schemas.openxmlformats.org/presentationml/2006/ole">
              <p:oleObj spid="_x0000_s225282" name="Equation" r:id="rId6" imgW="3581280" imgH="533160" progId="Equation.3">
                <p:embed/>
              </p:oleObj>
            </a:graphicData>
          </a:graphic>
        </p:graphicFrame>
      </p:grpSp>
      <p:grpSp>
        <p:nvGrpSpPr>
          <p:cNvPr id="170012" name="Group 28"/>
          <p:cNvGrpSpPr>
            <a:grpSpLocks/>
          </p:cNvGrpSpPr>
          <p:nvPr/>
        </p:nvGrpSpPr>
        <p:grpSpPr bwMode="auto">
          <a:xfrm>
            <a:off x="6553200" y="2590800"/>
            <a:ext cx="2590800" cy="3276600"/>
            <a:chOff x="4128" y="1632"/>
            <a:chExt cx="1632" cy="2064"/>
          </a:xfrm>
        </p:grpSpPr>
        <p:sp>
          <p:nvSpPr>
            <p:cNvPr id="170007" name="AutoShape 23"/>
            <p:cNvSpPr>
              <a:spLocks/>
            </p:cNvSpPr>
            <p:nvPr/>
          </p:nvSpPr>
          <p:spPr bwMode="auto">
            <a:xfrm>
              <a:off x="4128" y="1632"/>
              <a:ext cx="336" cy="2064"/>
            </a:xfrm>
            <a:prstGeom prst="rightBrace">
              <a:avLst>
                <a:gd name="adj1" fmla="val 5119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0008" name="Text Box 24"/>
            <p:cNvSpPr txBox="1">
              <a:spLocks noChangeArrowheads="1"/>
            </p:cNvSpPr>
            <p:nvPr/>
          </p:nvSpPr>
          <p:spPr bwMode="auto">
            <a:xfrm>
              <a:off x="4508" y="2304"/>
              <a:ext cx="1252" cy="7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regular</a:t>
              </a:r>
            </a:p>
            <a:p>
              <a:r>
                <a:rPr lang="en-US"/>
                <a:t>languages</a:t>
              </a:r>
            </a:p>
          </p:txBody>
        </p:sp>
      </p:grpSp>
      <p:graphicFrame>
        <p:nvGraphicFramePr>
          <p:cNvPr id="225281" name="Object 1"/>
          <p:cNvGraphicFramePr>
            <a:graphicFrameLocks noChangeAspect="1"/>
          </p:cNvGraphicFramePr>
          <p:nvPr/>
        </p:nvGraphicFramePr>
        <p:xfrm>
          <a:off x="1447800" y="5257800"/>
          <a:ext cx="241300" cy="254000"/>
        </p:xfrm>
        <a:graphic>
          <a:graphicData uri="http://schemas.openxmlformats.org/presentationml/2006/ole">
            <p:oleObj spid="_x0000_s225281" name="Equation" r:id="rId7" imgW="241200" imgH="253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0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0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0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0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0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0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0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0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C63167-C094-42BA-8812-5DA3922998A7}" type="slidenum">
              <a:rPr lang="en-US"/>
              <a:pPr/>
              <a:t>43</a:t>
            </a:fld>
            <a:endParaRPr lang="en-US"/>
          </a:p>
        </p:txBody>
      </p:sp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Inductive Hypothesis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Assume </a:t>
            </a:r>
          </a:p>
          <a:p>
            <a:r>
              <a:rPr lang="en-US"/>
              <a:t>for regular expressions        and</a:t>
            </a:r>
          </a:p>
          <a:p>
            <a:r>
              <a:rPr lang="en-US"/>
              <a:t>that  </a:t>
            </a:r>
          </a:p>
          <a:p>
            <a:r>
              <a:rPr lang="en-US"/>
              <a:t>           and             are regular languages</a:t>
            </a:r>
          </a:p>
          <a:p>
            <a:endParaRPr lang="en-US"/>
          </a:p>
          <a:p>
            <a:r>
              <a:rPr lang="en-US"/>
              <a:t>   </a:t>
            </a:r>
          </a:p>
        </p:txBody>
      </p:sp>
      <p:graphicFrame>
        <p:nvGraphicFramePr>
          <p:cNvPr id="226304" name="Object 1024"/>
          <p:cNvGraphicFramePr>
            <a:graphicFrameLocks noChangeAspect="1"/>
          </p:cNvGraphicFramePr>
          <p:nvPr/>
        </p:nvGraphicFramePr>
        <p:xfrm>
          <a:off x="5029200" y="1981200"/>
          <a:ext cx="304800" cy="571500"/>
        </p:xfrm>
        <a:graphic>
          <a:graphicData uri="http://schemas.openxmlformats.org/presentationml/2006/ole">
            <p:oleObj spid="_x0000_s226304" name="Equation" r:id="rId3" imgW="304560" imgH="571320" progId="Equation.3">
              <p:embed/>
            </p:oleObj>
          </a:graphicData>
        </a:graphic>
      </p:graphicFrame>
      <p:graphicFrame>
        <p:nvGraphicFramePr>
          <p:cNvPr id="226305" name="Object 1025"/>
          <p:cNvGraphicFramePr>
            <a:graphicFrameLocks noChangeAspect="1"/>
          </p:cNvGraphicFramePr>
          <p:nvPr/>
        </p:nvGraphicFramePr>
        <p:xfrm>
          <a:off x="6610350" y="1955800"/>
          <a:ext cx="379413" cy="571500"/>
        </p:xfrm>
        <a:graphic>
          <a:graphicData uri="http://schemas.openxmlformats.org/presentationml/2006/ole">
            <p:oleObj spid="_x0000_s226305" name="Equation" r:id="rId4" imgW="380880" imgH="571320" progId="Equation.3">
              <p:embed/>
            </p:oleObj>
          </a:graphicData>
        </a:graphic>
      </p:graphicFrame>
      <p:graphicFrame>
        <p:nvGraphicFramePr>
          <p:cNvPr id="226306" name="Object 1026"/>
          <p:cNvGraphicFramePr>
            <a:graphicFrameLocks noChangeAspect="1"/>
          </p:cNvGraphicFramePr>
          <p:nvPr/>
        </p:nvGraphicFramePr>
        <p:xfrm>
          <a:off x="254000" y="3175000"/>
          <a:ext cx="1016000" cy="571500"/>
        </p:xfrm>
        <a:graphic>
          <a:graphicData uri="http://schemas.openxmlformats.org/presentationml/2006/ole">
            <p:oleObj spid="_x0000_s226306" name="Equation" r:id="rId5" imgW="1015920" imgH="571320" progId="Equation.3">
              <p:embed/>
            </p:oleObj>
          </a:graphicData>
        </a:graphic>
      </p:graphicFrame>
      <p:graphicFrame>
        <p:nvGraphicFramePr>
          <p:cNvPr id="226307" name="Object 1027"/>
          <p:cNvGraphicFramePr>
            <a:graphicFrameLocks noChangeAspect="1"/>
          </p:cNvGraphicFramePr>
          <p:nvPr/>
        </p:nvGraphicFramePr>
        <p:xfrm>
          <a:off x="2463800" y="3175000"/>
          <a:ext cx="1092200" cy="571500"/>
        </p:xfrm>
        <a:graphic>
          <a:graphicData uri="http://schemas.openxmlformats.org/presentationml/2006/ole">
            <p:oleObj spid="_x0000_s226307" name="Equation" r:id="rId6" imgW="1091880" imgH="571320" progId="Equation.3">
              <p:embed/>
            </p:oleObj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DB9471-1504-42F0-90EA-4A834B8F2533}" type="slidenum">
              <a:rPr lang="en-US"/>
              <a:pPr/>
              <a:t>44</a:t>
            </a:fld>
            <a:endParaRPr lang="en-US"/>
          </a:p>
        </p:txBody>
      </p:sp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Inductive Step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will prove:</a:t>
            </a:r>
          </a:p>
          <a:p>
            <a:endParaRPr lang="en-US"/>
          </a:p>
        </p:txBody>
      </p:sp>
      <p:graphicFrame>
        <p:nvGraphicFramePr>
          <p:cNvPr id="227328" name="Object 1024"/>
          <p:cNvGraphicFramePr>
            <a:graphicFrameLocks noChangeAspect="1"/>
          </p:cNvGraphicFramePr>
          <p:nvPr/>
        </p:nvGraphicFramePr>
        <p:xfrm>
          <a:off x="3181350" y="1422400"/>
          <a:ext cx="1854200" cy="5168900"/>
        </p:xfrm>
        <a:graphic>
          <a:graphicData uri="http://schemas.openxmlformats.org/presentationml/2006/ole">
            <p:oleObj spid="_x0000_s227328" name="Equation" r:id="rId3" imgW="1854000" imgH="5168880" progId="Equation.3">
              <p:embed/>
            </p:oleObj>
          </a:graphicData>
        </a:graphic>
      </p:graphicFrame>
      <p:sp>
        <p:nvSpPr>
          <p:cNvPr id="172037" name="AutoShape 5"/>
          <p:cNvSpPr>
            <a:spLocks/>
          </p:cNvSpPr>
          <p:nvPr/>
        </p:nvSpPr>
        <p:spPr bwMode="auto">
          <a:xfrm>
            <a:off x="5105400" y="1371600"/>
            <a:ext cx="457200" cy="5257800"/>
          </a:xfrm>
          <a:prstGeom prst="rightBrace">
            <a:avLst>
              <a:gd name="adj1" fmla="val 95833"/>
              <a:gd name="adj2" fmla="val 50000"/>
            </a:avLst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2038" name="Text Box 6"/>
          <p:cNvSpPr txBox="1">
            <a:spLocks noChangeArrowheads="1"/>
          </p:cNvSpPr>
          <p:nvPr/>
        </p:nvSpPr>
        <p:spPr bwMode="auto">
          <a:xfrm>
            <a:off x="5943600" y="3352800"/>
            <a:ext cx="2501900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Are regular </a:t>
            </a:r>
          </a:p>
          <a:p>
            <a:r>
              <a:rPr lang="en-US"/>
              <a:t>Languages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DFD317-F57C-4C1E-8629-8CB486FCF16E}" type="slidenum">
              <a:rPr lang="en-US"/>
              <a:pPr/>
              <a:t>45</a:t>
            </a:fld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8839200" cy="5486400"/>
          </a:xfrm>
        </p:spPr>
        <p:txBody>
          <a:bodyPr/>
          <a:lstStyle/>
          <a:p>
            <a:r>
              <a:rPr lang="en-US"/>
              <a:t>By definition of regular expressions:</a:t>
            </a:r>
          </a:p>
          <a:p>
            <a:endParaRPr lang="en-US"/>
          </a:p>
        </p:txBody>
      </p:sp>
      <p:graphicFrame>
        <p:nvGraphicFramePr>
          <p:cNvPr id="228352" name="Object 1024"/>
          <p:cNvGraphicFramePr>
            <a:graphicFrameLocks noChangeAspect="1"/>
          </p:cNvGraphicFramePr>
          <p:nvPr/>
        </p:nvGraphicFramePr>
        <p:xfrm>
          <a:off x="1828800" y="1143000"/>
          <a:ext cx="4902200" cy="5168900"/>
        </p:xfrm>
        <a:graphic>
          <a:graphicData uri="http://schemas.openxmlformats.org/presentationml/2006/ole">
            <p:oleObj spid="_x0000_s228352" name="Equation" r:id="rId3" imgW="4902120" imgH="5168880" progId="Equation.3">
              <p:embed/>
            </p:oleObj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78DEFA-64F5-4126-95DD-CF2831F64126}" type="slidenum">
              <a:rPr lang="en-US"/>
              <a:pPr/>
              <a:t>46</a:t>
            </a:fld>
            <a:endParaRPr lang="en-US"/>
          </a:p>
        </p:txBody>
      </p:sp>
      <p:graphicFrame>
        <p:nvGraphicFramePr>
          <p:cNvPr id="229376" name="Object 1024"/>
          <p:cNvGraphicFramePr>
            <a:graphicFrameLocks noChangeAspect="1"/>
          </p:cNvGraphicFramePr>
          <p:nvPr/>
        </p:nvGraphicFramePr>
        <p:xfrm>
          <a:off x="457200" y="838200"/>
          <a:ext cx="1016000" cy="571500"/>
        </p:xfrm>
        <a:graphic>
          <a:graphicData uri="http://schemas.openxmlformats.org/presentationml/2006/ole">
            <p:oleObj spid="_x0000_s229376" name="Equation" r:id="rId3" imgW="1015920" imgH="571320" progId="Equation.3">
              <p:embed/>
            </p:oleObj>
          </a:graphicData>
        </a:graphic>
      </p:graphicFrame>
      <p:graphicFrame>
        <p:nvGraphicFramePr>
          <p:cNvPr id="229377" name="Object 1025"/>
          <p:cNvGraphicFramePr>
            <a:graphicFrameLocks noChangeAspect="1"/>
          </p:cNvGraphicFramePr>
          <p:nvPr/>
        </p:nvGraphicFramePr>
        <p:xfrm>
          <a:off x="2590800" y="838200"/>
          <a:ext cx="1092200" cy="571500"/>
        </p:xfrm>
        <a:graphic>
          <a:graphicData uri="http://schemas.openxmlformats.org/presentationml/2006/ole">
            <p:oleObj spid="_x0000_s229377" name="Equation" r:id="rId4" imgW="1091880" imgH="571320" progId="Equation.3">
              <p:embed/>
            </p:oleObj>
          </a:graphicData>
        </a:graphic>
      </p:graphicFrame>
      <p:sp>
        <p:nvSpPr>
          <p:cNvPr id="174089" name="Text Box 9"/>
          <p:cNvSpPr txBox="1">
            <a:spLocks noChangeArrowheads="1"/>
          </p:cNvSpPr>
          <p:nvPr/>
        </p:nvSpPr>
        <p:spPr bwMode="auto">
          <a:xfrm>
            <a:off x="304800" y="228600"/>
            <a:ext cx="7808913" cy="174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By inductive hypothesis we know:</a:t>
            </a:r>
          </a:p>
          <a:p>
            <a:r>
              <a:rPr lang="en-US"/>
              <a:t>           and             are regular languages</a:t>
            </a:r>
          </a:p>
          <a:p>
            <a:endParaRPr lang="en-US"/>
          </a:p>
        </p:txBody>
      </p:sp>
      <p:grpSp>
        <p:nvGrpSpPr>
          <p:cNvPr id="174095" name="Group 15"/>
          <p:cNvGrpSpPr>
            <a:grpSpLocks/>
          </p:cNvGrpSpPr>
          <p:nvPr/>
        </p:nvGrpSpPr>
        <p:grpSpPr bwMode="auto">
          <a:xfrm>
            <a:off x="304800" y="2514600"/>
            <a:ext cx="6921500" cy="3416300"/>
            <a:chOff x="0" y="1584"/>
            <a:chExt cx="4360" cy="2152"/>
          </a:xfrm>
        </p:grpSpPr>
        <p:sp>
          <p:nvSpPr>
            <p:cNvPr id="174087" name="Text Box 7"/>
            <p:cNvSpPr txBox="1">
              <a:spLocks noChangeArrowheads="1"/>
            </p:cNvSpPr>
            <p:nvPr/>
          </p:nvSpPr>
          <p:spPr bwMode="auto">
            <a:xfrm>
              <a:off x="0" y="1968"/>
              <a:ext cx="435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Regular languages are closed under:</a:t>
              </a:r>
            </a:p>
          </p:txBody>
        </p:sp>
        <p:graphicFrame>
          <p:nvGraphicFramePr>
            <p:cNvPr id="229378" name="Object 1026"/>
            <p:cNvGraphicFramePr>
              <a:graphicFrameLocks noChangeAspect="1"/>
            </p:cNvGraphicFramePr>
            <p:nvPr/>
          </p:nvGraphicFramePr>
          <p:xfrm>
            <a:off x="2736" y="2400"/>
            <a:ext cx="1624" cy="1336"/>
          </p:xfrm>
          <a:graphic>
            <a:graphicData uri="http://schemas.openxmlformats.org/presentationml/2006/ole">
              <p:oleObj spid="_x0000_s229378" name="Equation" r:id="rId5" imgW="2577960" imgH="2120760" progId="Equation.3">
                <p:embed/>
              </p:oleObj>
            </a:graphicData>
          </a:graphic>
        </p:graphicFrame>
        <p:sp>
          <p:nvSpPr>
            <p:cNvPr id="174091" name="Text Box 11"/>
            <p:cNvSpPr txBox="1">
              <a:spLocks noChangeArrowheads="1"/>
            </p:cNvSpPr>
            <p:nvPr/>
          </p:nvSpPr>
          <p:spPr bwMode="auto">
            <a:xfrm>
              <a:off x="864" y="2400"/>
              <a:ext cx="85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>
                  <a:solidFill>
                    <a:srgbClr val="009900"/>
                  </a:solidFill>
                </a:rPr>
                <a:t>Union </a:t>
              </a:r>
            </a:p>
          </p:txBody>
        </p:sp>
        <p:sp>
          <p:nvSpPr>
            <p:cNvPr id="174092" name="Text Box 12"/>
            <p:cNvSpPr txBox="1">
              <a:spLocks noChangeArrowheads="1"/>
            </p:cNvSpPr>
            <p:nvPr/>
          </p:nvSpPr>
          <p:spPr bwMode="auto">
            <a:xfrm>
              <a:off x="816" y="2832"/>
              <a:ext cx="186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>
                  <a:solidFill>
                    <a:srgbClr val="009900"/>
                  </a:solidFill>
                </a:rPr>
                <a:t>Concatenation </a:t>
              </a:r>
            </a:p>
          </p:txBody>
        </p:sp>
        <p:sp>
          <p:nvSpPr>
            <p:cNvPr id="174093" name="Text Box 13"/>
            <p:cNvSpPr txBox="1">
              <a:spLocks noChangeArrowheads="1"/>
            </p:cNvSpPr>
            <p:nvPr/>
          </p:nvSpPr>
          <p:spPr bwMode="auto">
            <a:xfrm>
              <a:off x="864" y="3360"/>
              <a:ext cx="74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>
                  <a:solidFill>
                    <a:srgbClr val="009900"/>
                  </a:solidFill>
                </a:rPr>
                <a:t>Star </a:t>
              </a:r>
            </a:p>
          </p:txBody>
        </p:sp>
        <p:sp>
          <p:nvSpPr>
            <p:cNvPr id="174094" name="Text Box 14"/>
            <p:cNvSpPr txBox="1">
              <a:spLocks noChangeArrowheads="1"/>
            </p:cNvSpPr>
            <p:nvPr/>
          </p:nvSpPr>
          <p:spPr bwMode="auto">
            <a:xfrm>
              <a:off x="0" y="1584"/>
              <a:ext cx="179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We also know: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6632BD-B8A1-4585-8AAB-37A25CDFC327}" type="slidenum">
              <a:rPr lang="en-US"/>
              <a:pPr/>
              <a:t>47</a:t>
            </a:fld>
            <a:endParaRPr lang="en-US"/>
          </a:p>
        </p:txBody>
      </p:sp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Therefore: </a:t>
            </a:r>
          </a:p>
        </p:txBody>
      </p:sp>
      <p:sp>
        <p:nvSpPr>
          <p:cNvPr id="175109" name="AutoShape 5"/>
          <p:cNvSpPr>
            <a:spLocks/>
          </p:cNvSpPr>
          <p:nvPr/>
        </p:nvSpPr>
        <p:spPr bwMode="auto">
          <a:xfrm>
            <a:off x="5181600" y="2057400"/>
            <a:ext cx="609600" cy="3962400"/>
          </a:xfrm>
          <a:prstGeom prst="rightBrace">
            <a:avLst>
              <a:gd name="adj1" fmla="val 54167"/>
              <a:gd name="adj2" fmla="val 50000"/>
            </a:avLst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0400" name="Object 1024"/>
          <p:cNvGraphicFramePr>
            <a:graphicFrameLocks noChangeAspect="1"/>
          </p:cNvGraphicFramePr>
          <p:nvPr/>
        </p:nvGraphicFramePr>
        <p:xfrm>
          <a:off x="285750" y="2184400"/>
          <a:ext cx="4902200" cy="3644900"/>
        </p:xfrm>
        <a:graphic>
          <a:graphicData uri="http://schemas.openxmlformats.org/presentationml/2006/ole">
            <p:oleObj spid="_x0000_s230400" name="Equation" r:id="rId3" imgW="4902120" imgH="3644640" progId="Equation.3">
              <p:embed/>
            </p:oleObj>
          </a:graphicData>
        </a:graphic>
      </p:graphicFrame>
      <p:sp>
        <p:nvSpPr>
          <p:cNvPr id="175111" name="Text Box 7"/>
          <p:cNvSpPr txBox="1">
            <a:spLocks noChangeArrowheads="1"/>
          </p:cNvSpPr>
          <p:nvPr/>
        </p:nvSpPr>
        <p:spPr bwMode="auto">
          <a:xfrm>
            <a:off x="6019800" y="3429000"/>
            <a:ext cx="2379663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Are regular</a:t>
            </a:r>
          </a:p>
          <a:p>
            <a:r>
              <a:rPr lang="en-US"/>
              <a:t>languages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802F1D-008F-441C-84CF-D2B5163DA0C0}" type="slidenum">
              <a:rPr lang="en-US"/>
              <a:pPr/>
              <a:t>48</a:t>
            </a:fld>
            <a:endParaRPr lang="en-US"/>
          </a:p>
        </p:txBody>
      </p:sp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And trivially: </a:t>
            </a:r>
          </a:p>
          <a:p>
            <a:endParaRPr lang="en-US"/>
          </a:p>
          <a:p>
            <a:r>
              <a:rPr lang="en-US"/>
              <a:t>               </a:t>
            </a:r>
          </a:p>
          <a:p>
            <a:endParaRPr lang="en-US"/>
          </a:p>
          <a:p>
            <a:endParaRPr lang="en-US"/>
          </a:p>
        </p:txBody>
      </p:sp>
      <p:graphicFrame>
        <p:nvGraphicFramePr>
          <p:cNvPr id="231424" name="Object 1024"/>
          <p:cNvGraphicFramePr>
            <a:graphicFrameLocks noChangeAspect="1"/>
          </p:cNvGraphicFramePr>
          <p:nvPr/>
        </p:nvGraphicFramePr>
        <p:xfrm>
          <a:off x="2451100" y="2336800"/>
          <a:ext cx="1346200" cy="571500"/>
        </p:xfrm>
        <a:graphic>
          <a:graphicData uri="http://schemas.openxmlformats.org/presentationml/2006/ole">
            <p:oleObj spid="_x0000_s231424" name="Equation" r:id="rId3" imgW="1346040" imgH="571320" progId="Equation.3">
              <p:embed/>
            </p:oleObj>
          </a:graphicData>
        </a:graphic>
      </p:graphicFrame>
      <p:sp>
        <p:nvSpPr>
          <p:cNvPr id="176133" name="Text Box 5"/>
          <p:cNvSpPr txBox="1">
            <a:spLocks noChangeArrowheads="1"/>
          </p:cNvSpPr>
          <p:nvPr/>
        </p:nvSpPr>
        <p:spPr bwMode="auto">
          <a:xfrm>
            <a:off x="4114800" y="2362200"/>
            <a:ext cx="40354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a regular language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BCF54E-AC1A-4E83-8730-7A1A3FAE10FD}" type="slidenum">
              <a:rPr lang="en-US"/>
              <a:pPr/>
              <a:t>49</a:t>
            </a:fld>
            <a:endParaRPr lang="en-US"/>
          </a:p>
        </p:txBody>
      </p:sp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 – Part 2</a:t>
            </a:r>
          </a:p>
        </p:txBody>
      </p:sp>
      <p:graphicFrame>
        <p:nvGraphicFramePr>
          <p:cNvPr id="232448" name="Object 1024"/>
          <p:cNvGraphicFramePr>
            <a:graphicFrameLocks noChangeAspect="1"/>
          </p:cNvGraphicFramePr>
          <p:nvPr/>
        </p:nvGraphicFramePr>
        <p:xfrm>
          <a:off x="5638800" y="1447800"/>
          <a:ext cx="328613" cy="393700"/>
        </p:xfrm>
        <a:graphic>
          <a:graphicData uri="http://schemas.openxmlformats.org/presentationml/2006/ole">
            <p:oleObj spid="_x0000_s232448" name="Equation" r:id="rId3" imgW="330120" imgH="393480" progId="Equation.3">
              <p:embed/>
            </p:oleObj>
          </a:graphicData>
        </a:graphic>
      </p:graphicFrame>
      <p:graphicFrame>
        <p:nvGraphicFramePr>
          <p:cNvPr id="232449" name="Object 1025"/>
          <p:cNvGraphicFramePr>
            <a:graphicFrameLocks noChangeAspect="1"/>
          </p:cNvGraphicFramePr>
          <p:nvPr/>
        </p:nvGraphicFramePr>
        <p:xfrm>
          <a:off x="4953000" y="2133600"/>
          <a:ext cx="252413" cy="290513"/>
        </p:xfrm>
        <a:graphic>
          <a:graphicData uri="http://schemas.openxmlformats.org/presentationml/2006/ole">
            <p:oleObj spid="_x0000_s232449" name="Equation" r:id="rId4" imgW="253800" imgH="291960" progId="Equation.3">
              <p:embed/>
            </p:oleObj>
          </a:graphicData>
        </a:graphic>
      </p:graphicFrame>
      <p:graphicFrame>
        <p:nvGraphicFramePr>
          <p:cNvPr id="232450" name="Object 1026"/>
          <p:cNvGraphicFramePr>
            <a:graphicFrameLocks noChangeAspect="1"/>
          </p:cNvGraphicFramePr>
          <p:nvPr/>
        </p:nvGraphicFramePr>
        <p:xfrm>
          <a:off x="6629400" y="1981200"/>
          <a:ext cx="1727200" cy="531813"/>
        </p:xfrm>
        <a:graphic>
          <a:graphicData uri="http://schemas.openxmlformats.org/presentationml/2006/ole">
            <p:oleObj spid="_x0000_s232450" name="Equation" r:id="rId5" imgW="1726920" imgH="533160" progId="Equation.3">
              <p:embed/>
            </p:oleObj>
          </a:graphicData>
        </a:graphic>
      </p:graphicFrame>
      <p:sp>
        <p:nvSpPr>
          <p:cNvPr id="177164" name="Text Box 12"/>
          <p:cNvSpPr txBox="1">
            <a:spLocks noChangeArrowheads="1"/>
          </p:cNvSpPr>
          <p:nvPr/>
        </p:nvSpPr>
        <p:spPr bwMode="auto">
          <a:xfrm>
            <a:off x="0" y="1295400"/>
            <a:ext cx="7840663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4000">
                <a:solidFill>
                  <a:srgbClr val="FF0000"/>
                </a:solidFill>
              </a:rPr>
              <a:t>2.</a:t>
            </a:r>
            <a:r>
              <a:rPr lang="en-US"/>
              <a:t>  For any regular language       there is</a:t>
            </a:r>
          </a:p>
          <a:p>
            <a:r>
              <a:rPr lang="en-US"/>
              <a:t>      a regular expression       with</a:t>
            </a:r>
          </a:p>
        </p:txBody>
      </p:sp>
      <p:sp>
        <p:nvSpPr>
          <p:cNvPr id="177165" name="Text Box 13"/>
          <p:cNvSpPr txBox="1">
            <a:spLocks noChangeArrowheads="1"/>
          </p:cNvSpPr>
          <p:nvPr/>
        </p:nvSpPr>
        <p:spPr bwMode="auto">
          <a:xfrm>
            <a:off x="304800" y="4267200"/>
            <a:ext cx="84804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Proof by construction of regular expression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7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7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65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04203B-5F18-43C2-8331-D85DB9CB97BE}" type="slidenum">
              <a:rPr lang="en-US"/>
              <a:pPr/>
              <a:t>50</a:t>
            </a:fld>
            <a:endParaRPr lang="en-US"/>
          </a:p>
        </p:txBody>
      </p:sp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Since       is regular take the </a:t>
            </a:r>
          </a:p>
          <a:p>
            <a:r>
              <a:rPr lang="en-US"/>
              <a:t>NFA       that accepts it</a:t>
            </a:r>
          </a:p>
          <a:p>
            <a:r>
              <a:rPr lang="en-US"/>
              <a:t> </a:t>
            </a:r>
          </a:p>
        </p:txBody>
      </p:sp>
      <p:graphicFrame>
        <p:nvGraphicFramePr>
          <p:cNvPr id="233472" name="Object 1024"/>
          <p:cNvGraphicFramePr>
            <a:graphicFrameLocks noChangeAspect="1"/>
          </p:cNvGraphicFramePr>
          <p:nvPr/>
        </p:nvGraphicFramePr>
        <p:xfrm>
          <a:off x="1511300" y="901700"/>
          <a:ext cx="328613" cy="393700"/>
        </p:xfrm>
        <a:graphic>
          <a:graphicData uri="http://schemas.openxmlformats.org/presentationml/2006/ole">
            <p:oleObj spid="_x0000_s233472" name="Equation" r:id="rId3" imgW="330120" imgH="393480" progId="Equation.3">
              <p:embed/>
            </p:oleObj>
          </a:graphicData>
        </a:graphic>
      </p:graphicFrame>
      <p:graphicFrame>
        <p:nvGraphicFramePr>
          <p:cNvPr id="233473" name="Object 1025"/>
          <p:cNvGraphicFramePr>
            <a:graphicFrameLocks noChangeAspect="1"/>
          </p:cNvGraphicFramePr>
          <p:nvPr/>
        </p:nvGraphicFramePr>
        <p:xfrm>
          <a:off x="1270000" y="1511300"/>
          <a:ext cx="544513" cy="393700"/>
        </p:xfrm>
        <a:graphic>
          <a:graphicData uri="http://schemas.openxmlformats.org/presentationml/2006/ole">
            <p:oleObj spid="_x0000_s233473" name="Equation" r:id="rId4" imgW="545760" imgH="393480" progId="Equation.3">
              <p:embed/>
            </p:oleObj>
          </a:graphicData>
        </a:graphic>
      </p:graphicFrame>
      <p:sp>
        <p:nvSpPr>
          <p:cNvPr id="178182" name="Rectangle 6"/>
          <p:cNvSpPr>
            <a:spLocks noChangeArrowheads="1"/>
          </p:cNvSpPr>
          <p:nvPr/>
        </p:nvSpPr>
        <p:spPr bwMode="auto">
          <a:xfrm>
            <a:off x="2590800" y="3657600"/>
            <a:ext cx="2971800" cy="1219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8183" name="Oval 7"/>
          <p:cNvSpPr>
            <a:spLocks noChangeArrowheads="1"/>
          </p:cNvSpPr>
          <p:nvPr/>
        </p:nvSpPr>
        <p:spPr bwMode="auto">
          <a:xfrm>
            <a:off x="2819400" y="4038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8184" name="Oval 8"/>
          <p:cNvSpPr>
            <a:spLocks noChangeArrowheads="1"/>
          </p:cNvSpPr>
          <p:nvPr/>
        </p:nvSpPr>
        <p:spPr bwMode="auto">
          <a:xfrm>
            <a:off x="4724400" y="4038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8185" name="Oval 9"/>
          <p:cNvSpPr>
            <a:spLocks noChangeArrowheads="1"/>
          </p:cNvSpPr>
          <p:nvPr/>
        </p:nvSpPr>
        <p:spPr bwMode="auto">
          <a:xfrm>
            <a:off x="4648200" y="3962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8186" name="Line 10"/>
          <p:cNvSpPr>
            <a:spLocks noChangeShapeType="1"/>
          </p:cNvSpPr>
          <p:nvPr/>
        </p:nvSpPr>
        <p:spPr bwMode="auto">
          <a:xfrm>
            <a:off x="2057400" y="4267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3474" name="Object 1026"/>
          <p:cNvGraphicFramePr>
            <a:graphicFrameLocks noChangeAspect="1"/>
          </p:cNvGraphicFramePr>
          <p:nvPr/>
        </p:nvGraphicFramePr>
        <p:xfrm>
          <a:off x="3200400" y="3200400"/>
          <a:ext cx="1816100" cy="481013"/>
        </p:xfrm>
        <a:graphic>
          <a:graphicData uri="http://schemas.openxmlformats.org/presentationml/2006/ole">
            <p:oleObj spid="_x0000_s233474" name="Equation" r:id="rId5" imgW="1815840" imgH="482400" progId="Equation.3">
              <p:embed/>
            </p:oleObj>
          </a:graphicData>
        </a:graphic>
      </p:graphicFrame>
      <p:sp>
        <p:nvSpPr>
          <p:cNvPr id="178189" name="Freeform 13"/>
          <p:cNvSpPr>
            <a:spLocks/>
          </p:cNvSpPr>
          <p:nvPr/>
        </p:nvSpPr>
        <p:spPr bwMode="auto">
          <a:xfrm>
            <a:off x="3276600" y="3848100"/>
            <a:ext cx="1371600" cy="698500"/>
          </a:xfrm>
          <a:custGeom>
            <a:avLst/>
            <a:gdLst/>
            <a:ahLst/>
            <a:cxnLst>
              <a:cxn ang="0">
                <a:pos x="0" y="264"/>
              </a:cxn>
              <a:cxn ang="0">
                <a:pos x="144" y="120"/>
              </a:cxn>
              <a:cxn ang="0">
                <a:pos x="240" y="360"/>
              </a:cxn>
              <a:cxn ang="0">
                <a:pos x="384" y="216"/>
              </a:cxn>
              <a:cxn ang="0">
                <a:pos x="528" y="408"/>
              </a:cxn>
              <a:cxn ang="0">
                <a:pos x="624" y="24"/>
              </a:cxn>
              <a:cxn ang="0">
                <a:pos x="720" y="264"/>
              </a:cxn>
              <a:cxn ang="0">
                <a:pos x="864" y="264"/>
              </a:cxn>
            </a:cxnLst>
            <a:rect l="0" t="0" r="r" b="b"/>
            <a:pathLst>
              <a:path w="864" h="440">
                <a:moveTo>
                  <a:pt x="0" y="264"/>
                </a:moveTo>
                <a:cubicBezTo>
                  <a:pt x="52" y="184"/>
                  <a:pt x="104" y="104"/>
                  <a:pt x="144" y="120"/>
                </a:cubicBezTo>
                <a:cubicBezTo>
                  <a:pt x="184" y="136"/>
                  <a:pt x="200" y="344"/>
                  <a:pt x="240" y="360"/>
                </a:cubicBezTo>
                <a:cubicBezTo>
                  <a:pt x="280" y="376"/>
                  <a:pt x="336" y="208"/>
                  <a:pt x="384" y="216"/>
                </a:cubicBezTo>
                <a:cubicBezTo>
                  <a:pt x="432" y="224"/>
                  <a:pt x="488" y="440"/>
                  <a:pt x="528" y="408"/>
                </a:cubicBezTo>
                <a:cubicBezTo>
                  <a:pt x="568" y="376"/>
                  <a:pt x="592" y="48"/>
                  <a:pt x="624" y="24"/>
                </a:cubicBezTo>
                <a:cubicBezTo>
                  <a:pt x="656" y="0"/>
                  <a:pt x="680" y="224"/>
                  <a:pt x="720" y="264"/>
                </a:cubicBezTo>
                <a:cubicBezTo>
                  <a:pt x="760" y="304"/>
                  <a:pt x="812" y="284"/>
                  <a:pt x="864" y="26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8190" name="Text Box 14"/>
          <p:cNvSpPr txBox="1">
            <a:spLocks noChangeArrowheads="1"/>
          </p:cNvSpPr>
          <p:nvPr/>
        </p:nvSpPr>
        <p:spPr bwMode="auto">
          <a:xfrm>
            <a:off x="2286000" y="5715000"/>
            <a:ext cx="34528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Single final state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71E7DB-45E5-49B1-927B-F03F58470CF4}" type="slidenum">
              <a:rPr lang="en-US"/>
              <a:pPr/>
              <a:t>51</a:t>
            </a:fld>
            <a:endParaRPr lang="en-US"/>
          </a:p>
        </p:txBody>
      </p:sp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From       construct the equivalent</a:t>
            </a:r>
          </a:p>
          <a:p>
            <a:r>
              <a:rPr lang="en-US" b="1">
                <a:solidFill>
                  <a:srgbClr val="FF0000"/>
                </a:solidFill>
              </a:rPr>
              <a:t>Generalized Transition Graph</a:t>
            </a:r>
          </a:p>
          <a:p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sz="2800"/>
              <a:t>in which transition labels are regular expressions</a:t>
            </a:r>
            <a:r>
              <a:rPr lang="en-US"/>
              <a:t> </a:t>
            </a:r>
          </a:p>
        </p:txBody>
      </p:sp>
      <p:graphicFrame>
        <p:nvGraphicFramePr>
          <p:cNvPr id="234496" name="Object 1024"/>
          <p:cNvGraphicFramePr>
            <a:graphicFrameLocks noChangeAspect="1"/>
          </p:cNvGraphicFramePr>
          <p:nvPr/>
        </p:nvGraphicFramePr>
        <p:xfrm>
          <a:off x="1423988" y="901700"/>
          <a:ext cx="542925" cy="393700"/>
        </p:xfrm>
        <a:graphic>
          <a:graphicData uri="http://schemas.openxmlformats.org/presentationml/2006/ole">
            <p:oleObj spid="_x0000_s234496" name="Equation" r:id="rId3" imgW="545760" imgH="393480" progId="Equation.3">
              <p:embed/>
            </p:oleObj>
          </a:graphicData>
        </a:graphic>
      </p:graphicFrame>
      <p:sp>
        <p:nvSpPr>
          <p:cNvPr id="179205" name="Text Box 5"/>
          <p:cNvSpPr txBox="1">
            <a:spLocks noChangeArrowheads="1"/>
          </p:cNvSpPr>
          <p:nvPr/>
        </p:nvSpPr>
        <p:spPr bwMode="auto">
          <a:xfrm>
            <a:off x="0" y="35052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Example:</a:t>
            </a:r>
          </a:p>
        </p:txBody>
      </p:sp>
      <p:sp>
        <p:nvSpPr>
          <p:cNvPr id="179206" name="Oval 6"/>
          <p:cNvSpPr>
            <a:spLocks noChangeArrowheads="1"/>
          </p:cNvSpPr>
          <p:nvPr/>
        </p:nvSpPr>
        <p:spPr bwMode="auto">
          <a:xfrm>
            <a:off x="990600" y="5791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08" name="Oval 8"/>
          <p:cNvSpPr>
            <a:spLocks noChangeArrowheads="1"/>
          </p:cNvSpPr>
          <p:nvPr/>
        </p:nvSpPr>
        <p:spPr bwMode="auto">
          <a:xfrm>
            <a:off x="2819400" y="5791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09" name="Oval 9"/>
          <p:cNvSpPr>
            <a:spLocks noChangeArrowheads="1"/>
          </p:cNvSpPr>
          <p:nvPr/>
        </p:nvSpPr>
        <p:spPr bwMode="auto">
          <a:xfrm>
            <a:off x="2743200" y="5715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10" name="Line 10"/>
          <p:cNvSpPr>
            <a:spLocks noChangeShapeType="1"/>
          </p:cNvSpPr>
          <p:nvPr/>
        </p:nvSpPr>
        <p:spPr bwMode="auto">
          <a:xfrm>
            <a:off x="1447800" y="6019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11" name="Freeform 11"/>
          <p:cNvSpPr>
            <a:spLocks/>
          </p:cNvSpPr>
          <p:nvPr/>
        </p:nvSpPr>
        <p:spPr bwMode="auto">
          <a:xfrm>
            <a:off x="977900" y="5245100"/>
            <a:ext cx="482600" cy="546100"/>
          </a:xfrm>
          <a:custGeom>
            <a:avLst/>
            <a:gdLst/>
            <a:ahLst/>
            <a:cxnLst>
              <a:cxn ang="0">
                <a:pos x="200" y="344"/>
              </a:cxn>
              <a:cxn ang="0">
                <a:pos x="296" y="104"/>
              </a:cxn>
              <a:cxn ang="0">
                <a:pos x="152" y="8"/>
              </a:cxn>
              <a:cxn ang="0">
                <a:pos x="8" y="56"/>
              </a:cxn>
              <a:cxn ang="0">
                <a:pos x="104" y="344"/>
              </a:cxn>
            </a:cxnLst>
            <a:rect l="0" t="0" r="r" b="b"/>
            <a:pathLst>
              <a:path w="304" h="344">
                <a:moveTo>
                  <a:pt x="200" y="344"/>
                </a:moveTo>
                <a:cubicBezTo>
                  <a:pt x="252" y="252"/>
                  <a:pt x="304" y="160"/>
                  <a:pt x="296" y="104"/>
                </a:cubicBezTo>
                <a:cubicBezTo>
                  <a:pt x="288" y="48"/>
                  <a:pt x="200" y="16"/>
                  <a:pt x="152" y="8"/>
                </a:cubicBezTo>
                <a:cubicBezTo>
                  <a:pt x="104" y="0"/>
                  <a:pt x="16" y="0"/>
                  <a:pt x="8" y="56"/>
                </a:cubicBezTo>
                <a:cubicBezTo>
                  <a:pt x="0" y="112"/>
                  <a:pt x="52" y="228"/>
                  <a:pt x="104" y="3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12" name="Freeform 12"/>
          <p:cNvSpPr>
            <a:spLocks/>
          </p:cNvSpPr>
          <p:nvPr/>
        </p:nvSpPr>
        <p:spPr bwMode="auto">
          <a:xfrm>
            <a:off x="2743200" y="5181600"/>
            <a:ext cx="660400" cy="533400"/>
          </a:xfrm>
          <a:custGeom>
            <a:avLst/>
            <a:gdLst/>
            <a:ahLst/>
            <a:cxnLst>
              <a:cxn ang="0">
                <a:pos x="304" y="336"/>
              </a:cxn>
              <a:cxn ang="0">
                <a:pos x="400" y="96"/>
              </a:cxn>
              <a:cxn ang="0">
                <a:pos x="208" y="0"/>
              </a:cxn>
              <a:cxn ang="0">
                <a:pos x="16" y="96"/>
              </a:cxn>
              <a:cxn ang="0">
                <a:pos x="112" y="336"/>
              </a:cxn>
            </a:cxnLst>
            <a:rect l="0" t="0" r="r" b="b"/>
            <a:pathLst>
              <a:path w="416" h="336">
                <a:moveTo>
                  <a:pt x="304" y="336"/>
                </a:moveTo>
                <a:cubicBezTo>
                  <a:pt x="360" y="244"/>
                  <a:pt x="416" y="152"/>
                  <a:pt x="400" y="96"/>
                </a:cubicBezTo>
                <a:cubicBezTo>
                  <a:pt x="384" y="40"/>
                  <a:pt x="272" y="0"/>
                  <a:pt x="208" y="0"/>
                </a:cubicBezTo>
                <a:cubicBezTo>
                  <a:pt x="144" y="0"/>
                  <a:pt x="32" y="40"/>
                  <a:pt x="16" y="96"/>
                </a:cubicBezTo>
                <a:cubicBezTo>
                  <a:pt x="0" y="152"/>
                  <a:pt x="56" y="244"/>
                  <a:pt x="112" y="3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4497" name="Object 1025"/>
          <p:cNvGraphicFramePr>
            <a:graphicFrameLocks noChangeAspect="1"/>
          </p:cNvGraphicFramePr>
          <p:nvPr/>
        </p:nvGraphicFramePr>
        <p:xfrm>
          <a:off x="1066800" y="4876800"/>
          <a:ext cx="265113" cy="279400"/>
        </p:xfrm>
        <a:graphic>
          <a:graphicData uri="http://schemas.openxmlformats.org/presentationml/2006/ole">
            <p:oleObj spid="_x0000_s234497" name="Equation" r:id="rId4" imgW="266400" imgH="279360" progId="Equation.3">
              <p:embed/>
            </p:oleObj>
          </a:graphicData>
        </a:graphic>
      </p:graphicFrame>
      <p:graphicFrame>
        <p:nvGraphicFramePr>
          <p:cNvPr id="234498" name="Object 1026"/>
          <p:cNvGraphicFramePr>
            <a:graphicFrameLocks noChangeAspect="1"/>
          </p:cNvGraphicFramePr>
          <p:nvPr/>
        </p:nvGraphicFramePr>
        <p:xfrm>
          <a:off x="1733550" y="5524500"/>
          <a:ext cx="647700" cy="469900"/>
        </p:xfrm>
        <a:graphic>
          <a:graphicData uri="http://schemas.openxmlformats.org/presentationml/2006/ole">
            <p:oleObj spid="_x0000_s234498" name="Equation" r:id="rId5" imgW="647640" imgH="469800" progId="Equation.3">
              <p:embed/>
            </p:oleObj>
          </a:graphicData>
        </a:graphic>
      </p:graphicFrame>
      <p:sp>
        <p:nvSpPr>
          <p:cNvPr id="179215" name="Line 15"/>
          <p:cNvSpPr>
            <a:spLocks noChangeShapeType="1"/>
          </p:cNvSpPr>
          <p:nvPr/>
        </p:nvSpPr>
        <p:spPr bwMode="auto">
          <a:xfrm>
            <a:off x="457200" y="6019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16" name="Rectangle 16"/>
          <p:cNvSpPr>
            <a:spLocks noChangeArrowheads="1"/>
          </p:cNvSpPr>
          <p:nvPr/>
        </p:nvSpPr>
        <p:spPr bwMode="auto">
          <a:xfrm>
            <a:off x="685800" y="4648200"/>
            <a:ext cx="3048000" cy="1752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4499" name="Object 1027"/>
          <p:cNvGraphicFramePr>
            <a:graphicFrameLocks noChangeAspect="1"/>
          </p:cNvGraphicFramePr>
          <p:nvPr/>
        </p:nvGraphicFramePr>
        <p:xfrm>
          <a:off x="2971800" y="4876800"/>
          <a:ext cx="239713" cy="279400"/>
        </p:xfrm>
        <a:graphic>
          <a:graphicData uri="http://schemas.openxmlformats.org/presentationml/2006/ole">
            <p:oleObj spid="_x0000_s234499" name="Equation" r:id="rId6" imgW="241200" imgH="279360" progId="Equation.3">
              <p:embed/>
            </p:oleObj>
          </a:graphicData>
        </a:graphic>
      </p:graphicFrame>
      <p:graphicFrame>
        <p:nvGraphicFramePr>
          <p:cNvPr id="234500" name="Object 1028"/>
          <p:cNvGraphicFramePr>
            <a:graphicFrameLocks noChangeAspect="1"/>
          </p:cNvGraphicFramePr>
          <p:nvPr/>
        </p:nvGraphicFramePr>
        <p:xfrm>
          <a:off x="1803400" y="4178300"/>
          <a:ext cx="544513" cy="393700"/>
        </p:xfrm>
        <a:graphic>
          <a:graphicData uri="http://schemas.openxmlformats.org/presentationml/2006/ole">
            <p:oleObj spid="_x0000_s234500" name="Equation" r:id="rId7" imgW="545760" imgH="393480" progId="Equation.3">
              <p:embed/>
            </p:oleObj>
          </a:graphicData>
        </a:graphic>
      </p:graphicFrame>
      <p:sp>
        <p:nvSpPr>
          <p:cNvPr id="179219" name="Oval 19"/>
          <p:cNvSpPr>
            <a:spLocks noChangeArrowheads="1"/>
          </p:cNvSpPr>
          <p:nvPr/>
        </p:nvSpPr>
        <p:spPr bwMode="auto">
          <a:xfrm>
            <a:off x="5334000" y="5791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20" name="Oval 20"/>
          <p:cNvSpPr>
            <a:spLocks noChangeArrowheads="1"/>
          </p:cNvSpPr>
          <p:nvPr/>
        </p:nvSpPr>
        <p:spPr bwMode="auto">
          <a:xfrm>
            <a:off x="7162800" y="5791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21" name="Oval 21"/>
          <p:cNvSpPr>
            <a:spLocks noChangeArrowheads="1"/>
          </p:cNvSpPr>
          <p:nvPr/>
        </p:nvSpPr>
        <p:spPr bwMode="auto">
          <a:xfrm>
            <a:off x="7086600" y="5715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22" name="Line 22"/>
          <p:cNvSpPr>
            <a:spLocks noChangeShapeType="1"/>
          </p:cNvSpPr>
          <p:nvPr/>
        </p:nvSpPr>
        <p:spPr bwMode="auto">
          <a:xfrm>
            <a:off x="5791200" y="6019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23" name="Freeform 23"/>
          <p:cNvSpPr>
            <a:spLocks/>
          </p:cNvSpPr>
          <p:nvPr/>
        </p:nvSpPr>
        <p:spPr bwMode="auto">
          <a:xfrm>
            <a:off x="5321300" y="5245100"/>
            <a:ext cx="482600" cy="546100"/>
          </a:xfrm>
          <a:custGeom>
            <a:avLst/>
            <a:gdLst/>
            <a:ahLst/>
            <a:cxnLst>
              <a:cxn ang="0">
                <a:pos x="200" y="344"/>
              </a:cxn>
              <a:cxn ang="0">
                <a:pos x="296" y="104"/>
              </a:cxn>
              <a:cxn ang="0">
                <a:pos x="152" y="8"/>
              </a:cxn>
              <a:cxn ang="0">
                <a:pos x="8" y="56"/>
              </a:cxn>
              <a:cxn ang="0">
                <a:pos x="104" y="344"/>
              </a:cxn>
            </a:cxnLst>
            <a:rect l="0" t="0" r="r" b="b"/>
            <a:pathLst>
              <a:path w="304" h="344">
                <a:moveTo>
                  <a:pt x="200" y="344"/>
                </a:moveTo>
                <a:cubicBezTo>
                  <a:pt x="252" y="252"/>
                  <a:pt x="304" y="160"/>
                  <a:pt x="296" y="104"/>
                </a:cubicBezTo>
                <a:cubicBezTo>
                  <a:pt x="288" y="48"/>
                  <a:pt x="200" y="16"/>
                  <a:pt x="152" y="8"/>
                </a:cubicBezTo>
                <a:cubicBezTo>
                  <a:pt x="104" y="0"/>
                  <a:pt x="16" y="0"/>
                  <a:pt x="8" y="56"/>
                </a:cubicBezTo>
                <a:cubicBezTo>
                  <a:pt x="0" y="112"/>
                  <a:pt x="52" y="228"/>
                  <a:pt x="104" y="3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24" name="Freeform 24"/>
          <p:cNvSpPr>
            <a:spLocks/>
          </p:cNvSpPr>
          <p:nvPr/>
        </p:nvSpPr>
        <p:spPr bwMode="auto">
          <a:xfrm>
            <a:off x="7086600" y="5181600"/>
            <a:ext cx="660400" cy="533400"/>
          </a:xfrm>
          <a:custGeom>
            <a:avLst/>
            <a:gdLst/>
            <a:ahLst/>
            <a:cxnLst>
              <a:cxn ang="0">
                <a:pos x="304" y="336"/>
              </a:cxn>
              <a:cxn ang="0">
                <a:pos x="400" y="96"/>
              </a:cxn>
              <a:cxn ang="0">
                <a:pos x="208" y="0"/>
              </a:cxn>
              <a:cxn ang="0">
                <a:pos x="16" y="96"/>
              </a:cxn>
              <a:cxn ang="0">
                <a:pos x="112" y="336"/>
              </a:cxn>
            </a:cxnLst>
            <a:rect l="0" t="0" r="r" b="b"/>
            <a:pathLst>
              <a:path w="416" h="336">
                <a:moveTo>
                  <a:pt x="304" y="336"/>
                </a:moveTo>
                <a:cubicBezTo>
                  <a:pt x="360" y="244"/>
                  <a:pt x="416" y="152"/>
                  <a:pt x="400" y="96"/>
                </a:cubicBezTo>
                <a:cubicBezTo>
                  <a:pt x="384" y="40"/>
                  <a:pt x="272" y="0"/>
                  <a:pt x="208" y="0"/>
                </a:cubicBezTo>
                <a:cubicBezTo>
                  <a:pt x="144" y="0"/>
                  <a:pt x="32" y="40"/>
                  <a:pt x="16" y="96"/>
                </a:cubicBezTo>
                <a:cubicBezTo>
                  <a:pt x="0" y="152"/>
                  <a:pt x="56" y="244"/>
                  <a:pt x="112" y="3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4501" name="Object 1029"/>
          <p:cNvGraphicFramePr>
            <a:graphicFrameLocks noChangeAspect="1"/>
          </p:cNvGraphicFramePr>
          <p:nvPr/>
        </p:nvGraphicFramePr>
        <p:xfrm>
          <a:off x="5410200" y="4876800"/>
          <a:ext cx="265113" cy="279400"/>
        </p:xfrm>
        <a:graphic>
          <a:graphicData uri="http://schemas.openxmlformats.org/presentationml/2006/ole">
            <p:oleObj spid="_x0000_s234501" name="Equation" r:id="rId8" imgW="266400" imgH="279360" progId="Equation.3">
              <p:embed/>
            </p:oleObj>
          </a:graphicData>
        </a:graphic>
      </p:graphicFrame>
      <p:graphicFrame>
        <p:nvGraphicFramePr>
          <p:cNvPr id="234502" name="Object 1030"/>
          <p:cNvGraphicFramePr>
            <a:graphicFrameLocks noChangeAspect="1"/>
          </p:cNvGraphicFramePr>
          <p:nvPr/>
        </p:nvGraphicFramePr>
        <p:xfrm>
          <a:off x="5943600" y="5562600"/>
          <a:ext cx="914400" cy="392113"/>
        </p:xfrm>
        <a:graphic>
          <a:graphicData uri="http://schemas.openxmlformats.org/presentationml/2006/ole">
            <p:oleObj spid="_x0000_s234502" name="Equation" r:id="rId9" imgW="914400" imgH="393480" progId="Equation.3">
              <p:embed/>
            </p:oleObj>
          </a:graphicData>
        </a:graphic>
      </p:graphicFrame>
      <p:sp>
        <p:nvSpPr>
          <p:cNvPr id="179227" name="Rectangle 27"/>
          <p:cNvSpPr>
            <a:spLocks noChangeArrowheads="1"/>
          </p:cNvSpPr>
          <p:nvPr/>
        </p:nvSpPr>
        <p:spPr bwMode="auto">
          <a:xfrm>
            <a:off x="5029200" y="4648200"/>
            <a:ext cx="3048000" cy="1752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4503" name="Object 1031"/>
          <p:cNvGraphicFramePr>
            <a:graphicFrameLocks noChangeAspect="1"/>
          </p:cNvGraphicFramePr>
          <p:nvPr/>
        </p:nvGraphicFramePr>
        <p:xfrm>
          <a:off x="7315200" y="4876800"/>
          <a:ext cx="239713" cy="279400"/>
        </p:xfrm>
        <a:graphic>
          <a:graphicData uri="http://schemas.openxmlformats.org/presentationml/2006/ole">
            <p:oleObj spid="_x0000_s234503" name="Equation" r:id="rId10" imgW="241200" imgH="279360" progId="Equation.3">
              <p:embed/>
            </p:oleObj>
          </a:graphicData>
        </a:graphic>
      </p:graphicFrame>
      <p:sp>
        <p:nvSpPr>
          <p:cNvPr id="179230" name="Line 30"/>
          <p:cNvSpPr>
            <a:spLocks noChangeShapeType="1"/>
          </p:cNvSpPr>
          <p:nvPr/>
        </p:nvSpPr>
        <p:spPr bwMode="auto">
          <a:xfrm>
            <a:off x="4800600" y="6019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31" name="AutoShape 31"/>
          <p:cNvSpPr>
            <a:spLocks noChangeArrowheads="1"/>
          </p:cNvSpPr>
          <p:nvPr/>
        </p:nvSpPr>
        <p:spPr bwMode="auto">
          <a:xfrm>
            <a:off x="3886200" y="52578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EC640D-1D6E-4CA1-9DF5-CC30ABF35635}" type="slidenum">
              <a:rPr lang="en-US"/>
              <a:pPr/>
              <a:t>52</a:t>
            </a:fld>
            <a:endParaRPr lang="en-US"/>
          </a:p>
        </p:txBody>
      </p:sp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Another Example:</a:t>
            </a:r>
          </a:p>
        </p:txBody>
      </p:sp>
      <p:sp>
        <p:nvSpPr>
          <p:cNvPr id="180244" name="Oval 20"/>
          <p:cNvSpPr>
            <a:spLocks noChangeArrowheads="1"/>
          </p:cNvSpPr>
          <p:nvPr/>
        </p:nvSpPr>
        <p:spPr bwMode="auto">
          <a:xfrm>
            <a:off x="3886200" y="5181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245" name="Oval 21"/>
          <p:cNvSpPr>
            <a:spLocks noChangeArrowheads="1"/>
          </p:cNvSpPr>
          <p:nvPr/>
        </p:nvSpPr>
        <p:spPr bwMode="auto">
          <a:xfrm>
            <a:off x="7543800" y="5105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246" name="Oval 22"/>
          <p:cNvSpPr>
            <a:spLocks noChangeArrowheads="1"/>
          </p:cNvSpPr>
          <p:nvPr/>
        </p:nvSpPr>
        <p:spPr bwMode="auto">
          <a:xfrm>
            <a:off x="5715000" y="5181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248" name="Line 24"/>
          <p:cNvSpPr>
            <a:spLocks noChangeShapeType="1"/>
          </p:cNvSpPr>
          <p:nvPr/>
        </p:nvSpPr>
        <p:spPr bwMode="auto">
          <a:xfrm>
            <a:off x="3124200" y="5486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249" name="Line 25"/>
          <p:cNvSpPr>
            <a:spLocks noChangeShapeType="1"/>
          </p:cNvSpPr>
          <p:nvPr/>
        </p:nvSpPr>
        <p:spPr bwMode="auto">
          <a:xfrm>
            <a:off x="6248400" y="5486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250" name="Freeform 26"/>
          <p:cNvSpPr>
            <a:spLocks/>
          </p:cNvSpPr>
          <p:nvPr/>
        </p:nvSpPr>
        <p:spPr bwMode="auto">
          <a:xfrm>
            <a:off x="4343400" y="5638800"/>
            <a:ext cx="1447800" cy="3175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32" y="240"/>
              </a:cxn>
              <a:cxn ang="0">
                <a:pos x="912" y="48"/>
              </a:cxn>
            </a:cxnLst>
            <a:rect l="0" t="0" r="r" b="b"/>
            <a:pathLst>
              <a:path w="912" h="248">
                <a:moveTo>
                  <a:pt x="0" y="0"/>
                </a:moveTo>
                <a:cubicBezTo>
                  <a:pt x="140" y="116"/>
                  <a:pt x="280" y="232"/>
                  <a:pt x="432" y="240"/>
                </a:cubicBezTo>
                <a:cubicBezTo>
                  <a:pt x="584" y="248"/>
                  <a:pt x="748" y="148"/>
                  <a:pt x="912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251" name="Freeform 27"/>
          <p:cNvSpPr>
            <a:spLocks/>
          </p:cNvSpPr>
          <p:nvPr/>
        </p:nvSpPr>
        <p:spPr bwMode="auto">
          <a:xfrm>
            <a:off x="4419600" y="5105400"/>
            <a:ext cx="1295400" cy="304800"/>
          </a:xfrm>
          <a:custGeom>
            <a:avLst/>
            <a:gdLst/>
            <a:ahLst/>
            <a:cxnLst>
              <a:cxn ang="0">
                <a:pos x="912" y="248"/>
              </a:cxn>
              <a:cxn ang="0">
                <a:pos x="528" y="8"/>
              </a:cxn>
              <a:cxn ang="0">
                <a:pos x="0" y="200"/>
              </a:cxn>
            </a:cxnLst>
            <a:rect l="0" t="0" r="r" b="b"/>
            <a:pathLst>
              <a:path w="912" h="248">
                <a:moveTo>
                  <a:pt x="912" y="248"/>
                </a:moveTo>
                <a:cubicBezTo>
                  <a:pt x="796" y="132"/>
                  <a:pt x="680" y="16"/>
                  <a:pt x="528" y="8"/>
                </a:cubicBezTo>
                <a:cubicBezTo>
                  <a:pt x="376" y="0"/>
                  <a:pt x="188" y="100"/>
                  <a:pt x="0" y="2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252" name="Freeform 28"/>
          <p:cNvSpPr>
            <a:spLocks/>
          </p:cNvSpPr>
          <p:nvPr/>
        </p:nvSpPr>
        <p:spPr bwMode="auto">
          <a:xfrm>
            <a:off x="5638800" y="4572000"/>
            <a:ext cx="571500" cy="622300"/>
          </a:xfrm>
          <a:custGeom>
            <a:avLst/>
            <a:gdLst/>
            <a:ahLst/>
            <a:cxnLst>
              <a:cxn ang="0">
                <a:pos x="120" y="392"/>
              </a:cxn>
              <a:cxn ang="0">
                <a:pos x="24" y="104"/>
              </a:cxn>
              <a:cxn ang="0">
                <a:pos x="264" y="8"/>
              </a:cxn>
              <a:cxn ang="0">
                <a:pos x="360" y="152"/>
              </a:cxn>
              <a:cxn ang="0">
                <a:pos x="264" y="392"/>
              </a:cxn>
            </a:cxnLst>
            <a:rect l="0" t="0" r="r" b="b"/>
            <a:pathLst>
              <a:path w="360" h="392">
                <a:moveTo>
                  <a:pt x="120" y="392"/>
                </a:moveTo>
                <a:cubicBezTo>
                  <a:pt x="60" y="280"/>
                  <a:pt x="0" y="168"/>
                  <a:pt x="24" y="104"/>
                </a:cubicBezTo>
                <a:cubicBezTo>
                  <a:pt x="48" y="40"/>
                  <a:pt x="208" y="0"/>
                  <a:pt x="264" y="8"/>
                </a:cubicBezTo>
                <a:cubicBezTo>
                  <a:pt x="320" y="16"/>
                  <a:pt x="360" y="88"/>
                  <a:pt x="360" y="152"/>
                </a:cubicBezTo>
                <a:cubicBezTo>
                  <a:pt x="360" y="216"/>
                  <a:pt x="312" y="304"/>
                  <a:pt x="264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520" name="Object 1024"/>
          <p:cNvGraphicFramePr>
            <a:graphicFrameLocks noChangeAspect="1"/>
          </p:cNvGraphicFramePr>
          <p:nvPr/>
        </p:nvGraphicFramePr>
        <p:xfrm>
          <a:off x="6419850" y="5067300"/>
          <a:ext cx="914400" cy="392113"/>
        </p:xfrm>
        <a:graphic>
          <a:graphicData uri="http://schemas.openxmlformats.org/presentationml/2006/ole">
            <p:oleObj spid="_x0000_s235520" name="Equation" r:id="rId3" imgW="914400" imgH="393480" progId="Equation.3">
              <p:embed/>
            </p:oleObj>
          </a:graphicData>
        </a:graphic>
      </p:graphicFrame>
      <p:graphicFrame>
        <p:nvGraphicFramePr>
          <p:cNvPr id="235521" name="Object 1025"/>
          <p:cNvGraphicFramePr>
            <a:graphicFrameLocks noChangeAspect="1"/>
          </p:cNvGraphicFramePr>
          <p:nvPr/>
        </p:nvGraphicFramePr>
        <p:xfrm>
          <a:off x="4953000" y="4800600"/>
          <a:ext cx="265113" cy="279400"/>
        </p:xfrm>
        <a:graphic>
          <a:graphicData uri="http://schemas.openxmlformats.org/presentationml/2006/ole">
            <p:oleObj spid="_x0000_s235521" name="Equation" r:id="rId4" imgW="266400" imgH="279360" progId="Equation.3">
              <p:embed/>
            </p:oleObj>
          </a:graphicData>
        </a:graphic>
      </p:graphicFrame>
      <p:graphicFrame>
        <p:nvGraphicFramePr>
          <p:cNvPr id="235522" name="Object 1026"/>
          <p:cNvGraphicFramePr>
            <a:graphicFrameLocks noChangeAspect="1"/>
          </p:cNvGraphicFramePr>
          <p:nvPr/>
        </p:nvGraphicFramePr>
        <p:xfrm>
          <a:off x="5867400" y="4191000"/>
          <a:ext cx="252413" cy="392113"/>
        </p:xfrm>
        <a:graphic>
          <a:graphicData uri="http://schemas.openxmlformats.org/presentationml/2006/ole">
            <p:oleObj spid="_x0000_s235522" name="Equation" r:id="rId5" imgW="253800" imgH="393480" progId="Equation.3">
              <p:embed/>
            </p:oleObj>
          </a:graphicData>
        </a:graphic>
      </p:graphicFrame>
      <p:sp>
        <p:nvSpPr>
          <p:cNvPr id="180258" name="AutoShape 34"/>
          <p:cNvSpPr>
            <a:spLocks noChangeArrowheads="1"/>
          </p:cNvSpPr>
          <p:nvPr/>
        </p:nvSpPr>
        <p:spPr bwMode="auto">
          <a:xfrm>
            <a:off x="6400800" y="2971800"/>
            <a:ext cx="485775" cy="976313"/>
          </a:xfrm>
          <a:prstGeom prst="downArrow">
            <a:avLst>
              <a:gd name="adj1" fmla="val 50000"/>
              <a:gd name="adj2" fmla="val 50245"/>
            </a:avLst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523" name="Object 1027"/>
          <p:cNvGraphicFramePr>
            <a:graphicFrameLocks noChangeAspect="1"/>
          </p:cNvGraphicFramePr>
          <p:nvPr/>
        </p:nvGraphicFramePr>
        <p:xfrm>
          <a:off x="4978400" y="5969000"/>
          <a:ext cx="252413" cy="392113"/>
        </p:xfrm>
        <a:graphic>
          <a:graphicData uri="http://schemas.openxmlformats.org/presentationml/2006/ole">
            <p:oleObj spid="_x0000_s235523" name="Equation" r:id="rId6" imgW="253800" imgH="393480" progId="Equation.3">
              <p:embed/>
            </p:oleObj>
          </a:graphicData>
        </a:graphic>
      </p:graphicFrame>
      <p:sp>
        <p:nvSpPr>
          <p:cNvPr id="180260" name="Oval 36"/>
          <p:cNvSpPr>
            <a:spLocks noChangeArrowheads="1"/>
          </p:cNvSpPr>
          <p:nvPr/>
        </p:nvSpPr>
        <p:spPr bwMode="auto">
          <a:xfrm>
            <a:off x="7620000" y="5181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524" name="Object 1028"/>
          <p:cNvGraphicFramePr>
            <a:graphicFrameLocks noChangeAspect="1"/>
          </p:cNvGraphicFramePr>
          <p:nvPr/>
        </p:nvGraphicFramePr>
        <p:xfrm>
          <a:off x="3962400" y="5105400"/>
          <a:ext cx="430213" cy="531813"/>
        </p:xfrm>
        <a:graphic>
          <a:graphicData uri="http://schemas.openxmlformats.org/presentationml/2006/ole">
            <p:oleObj spid="_x0000_s235524" name="Equation" r:id="rId7" imgW="431640" imgH="533160" progId="Equation.3">
              <p:embed/>
            </p:oleObj>
          </a:graphicData>
        </a:graphic>
      </p:graphicFrame>
      <p:graphicFrame>
        <p:nvGraphicFramePr>
          <p:cNvPr id="235525" name="Object 1029"/>
          <p:cNvGraphicFramePr>
            <a:graphicFrameLocks noChangeAspect="1"/>
          </p:cNvGraphicFramePr>
          <p:nvPr/>
        </p:nvGraphicFramePr>
        <p:xfrm>
          <a:off x="5791200" y="5105400"/>
          <a:ext cx="368300" cy="520700"/>
        </p:xfrm>
        <a:graphic>
          <a:graphicData uri="http://schemas.openxmlformats.org/presentationml/2006/ole">
            <p:oleObj spid="_x0000_s235525" name="Equation" r:id="rId8" imgW="368280" imgH="520560" progId="Equation.3">
              <p:embed/>
            </p:oleObj>
          </a:graphicData>
        </a:graphic>
      </p:graphicFrame>
      <p:graphicFrame>
        <p:nvGraphicFramePr>
          <p:cNvPr id="235526" name="Object 1030"/>
          <p:cNvGraphicFramePr>
            <a:graphicFrameLocks noChangeAspect="1"/>
          </p:cNvGraphicFramePr>
          <p:nvPr/>
        </p:nvGraphicFramePr>
        <p:xfrm>
          <a:off x="7696200" y="5105400"/>
          <a:ext cx="442913" cy="520700"/>
        </p:xfrm>
        <a:graphic>
          <a:graphicData uri="http://schemas.openxmlformats.org/presentationml/2006/ole">
            <p:oleObj spid="_x0000_s235526" name="Equation" r:id="rId9" imgW="444240" imgH="520560" progId="Equation.3">
              <p:embed/>
            </p:oleObj>
          </a:graphicData>
        </a:graphic>
      </p:graphicFrame>
      <p:sp>
        <p:nvSpPr>
          <p:cNvPr id="180264" name="Oval 40"/>
          <p:cNvSpPr>
            <a:spLocks noChangeArrowheads="1"/>
          </p:cNvSpPr>
          <p:nvPr/>
        </p:nvSpPr>
        <p:spPr bwMode="auto">
          <a:xfrm>
            <a:off x="3886200" y="1676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265" name="Oval 41"/>
          <p:cNvSpPr>
            <a:spLocks noChangeArrowheads="1"/>
          </p:cNvSpPr>
          <p:nvPr/>
        </p:nvSpPr>
        <p:spPr bwMode="auto">
          <a:xfrm>
            <a:off x="7543800" y="1600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266" name="Oval 42"/>
          <p:cNvSpPr>
            <a:spLocks noChangeArrowheads="1"/>
          </p:cNvSpPr>
          <p:nvPr/>
        </p:nvSpPr>
        <p:spPr bwMode="auto">
          <a:xfrm>
            <a:off x="5715000" y="1676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267" name="Line 43"/>
          <p:cNvSpPr>
            <a:spLocks noChangeShapeType="1"/>
          </p:cNvSpPr>
          <p:nvPr/>
        </p:nvSpPr>
        <p:spPr bwMode="auto">
          <a:xfrm>
            <a:off x="3124200" y="1981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268" name="Line 44"/>
          <p:cNvSpPr>
            <a:spLocks noChangeShapeType="1"/>
          </p:cNvSpPr>
          <p:nvPr/>
        </p:nvSpPr>
        <p:spPr bwMode="auto">
          <a:xfrm>
            <a:off x="6248400" y="19812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269" name="Freeform 45"/>
          <p:cNvSpPr>
            <a:spLocks/>
          </p:cNvSpPr>
          <p:nvPr/>
        </p:nvSpPr>
        <p:spPr bwMode="auto">
          <a:xfrm>
            <a:off x="4343400" y="2133600"/>
            <a:ext cx="1447800" cy="3175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32" y="240"/>
              </a:cxn>
              <a:cxn ang="0">
                <a:pos x="912" y="48"/>
              </a:cxn>
            </a:cxnLst>
            <a:rect l="0" t="0" r="r" b="b"/>
            <a:pathLst>
              <a:path w="912" h="248">
                <a:moveTo>
                  <a:pt x="0" y="0"/>
                </a:moveTo>
                <a:cubicBezTo>
                  <a:pt x="140" y="116"/>
                  <a:pt x="280" y="232"/>
                  <a:pt x="432" y="240"/>
                </a:cubicBezTo>
                <a:cubicBezTo>
                  <a:pt x="584" y="248"/>
                  <a:pt x="748" y="148"/>
                  <a:pt x="912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270" name="Freeform 46"/>
          <p:cNvSpPr>
            <a:spLocks/>
          </p:cNvSpPr>
          <p:nvPr/>
        </p:nvSpPr>
        <p:spPr bwMode="auto">
          <a:xfrm>
            <a:off x="4419600" y="1600200"/>
            <a:ext cx="1295400" cy="304800"/>
          </a:xfrm>
          <a:custGeom>
            <a:avLst/>
            <a:gdLst/>
            <a:ahLst/>
            <a:cxnLst>
              <a:cxn ang="0">
                <a:pos x="912" y="248"/>
              </a:cxn>
              <a:cxn ang="0">
                <a:pos x="528" y="8"/>
              </a:cxn>
              <a:cxn ang="0">
                <a:pos x="0" y="200"/>
              </a:cxn>
            </a:cxnLst>
            <a:rect l="0" t="0" r="r" b="b"/>
            <a:pathLst>
              <a:path w="912" h="248">
                <a:moveTo>
                  <a:pt x="912" y="248"/>
                </a:moveTo>
                <a:cubicBezTo>
                  <a:pt x="796" y="132"/>
                  <a:pt x="680" y="16"/>
                  <a:pt x="528" y="8"/>
                </a:cubicBezTo>
                <a:cubicBezTo>
                  <a:pt x="376" y="0"/>
                  <a:pt x="188" y="100"/>
                  <a:pt x="0" y="2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271" name="Freeform 47"/>
          <p:cNvSpPr>
            <a:spLocks/>
          </p:cNvSpPr>
          <p:nvPr/>
        </p:nvSpPr>
        <p:spPr bwMode="auto">
          <a:xfrm>
            <a:off x="5638800" y="1066800"/>
            <a:ext cx="571500" cy="622300"/>
          </a:xfrm>
          <a:custGeom>
            <a:avLst/>
            <a:gdLst/>
            <a:ahLst/>
            <a:cxnLst>
              <a:cxn ang="0">
                <a:pos x="120" y="392"/>
              </a:cxn>
              <a:cxn ang="0">
                <a:pos x="24" y="104"/>
              </a:cxn>
              <a:cxn ang="0">
                <a:pos x="264" y="8"/>
              </a:cxn>
              <a:cxn ang="0">
                <a:pos x="360" y="152"/>
              </a:cxn>
              <a:cxn ang="0">
                <a:pos x="264" y="392"/>
              </a:cxn>
            </a:cxnLst>
            <a:rect l="0" t="0" r="r" b="b"/>
            <a:pathLst>
              <a:path w="360" h="392">
                <a:moveTo>
                  <a:pt x="120" y="392"/>
                </a:moveTo>
                <a:cubicBezTo>
                  <a:pt x="60" y="280"/>
                  <a:pt x="0" y="168"/>
                  <a:pt x="24" y="104"/>
                </a:cubicBezTo>
                <a:cubicBezTo>
                  <a:pt x="48" y="40"/>
                  <a:pt x="208" y="0"/>
                  <a:pt x="264" y="8"/>
                </a:cubicBezTo>
                <a:cubicBezTo>
                  <a:pt x="320" y="16"/>
                  <a:pt x="360" y="88"/>
                  <a:pt x="360" y="152"/>
                </a:cubicBezTo>
                <a:cubicBezTo>
                  <a:pt x="360" y="216"/>
                  <a:pt x="312" y="304"/>
                  <a:pt x="264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527" name="Object 1031"/>
          <p:cNvGraphicFramePr>
            <a:graphicFrameLocks noChangeAspect="1"/>
          </p:cNvGraphicFramePr>
          <p:nvPr/>
        </p:nvGraphicFramePr>
        <p:xfrm>
          <a:off x="6553200" y="1524000"/>
          <a:ext cx="647700" cy="469900"/>
        </p:xfrm>
        <a:graphic>
          <a:graphicData uri="http://schemas.openxmlformats.org/presentationml/2006/ole">
            <p:oleObj spid="_x0000_s235527" name="Equation" r:id="rId10" imgW="647640" imgH="469800" progId="Equation.3">
              <p:embed/>
            </p:oleObj>
          </a:graphicData>
        </a:graphic>
      </p:graphicFrame>
      <p:graphicFrame>
        <p:nvGraphicFramePr>
          <p:cNvPr id="235528" name="Object 1032"/>
          <p:cNvGraphicFramePr>
            <a:graphicFrameLocks noChangeAspect="1"/>
          </p:cNvGraphicFramePr>
          <p:nvPr/>
        </p:nvGraphicFramePr>
        <p:xfrm>
          <a:off x="4953000" y="1295400"/>
          <a:ext cx="265113" cy="279400"/>
        </p:xfrm>
        <a:graphic>
          <a:graphicData uri="http://schemas.openxmlformats.org/presentationml/2006/ole">
            <p:oleObj spid="_x0000_s235528" name="Equation" r:id="rId11" imgW="266400" imgH="279360" progId="Equation.3">
              <p:embed/>
            </p:oleObj>
          </a:graphicData>
        </a:graphic>
      </p:graphicFrame>
      <p:graphicFrame>
        <p:nvGraphicFramePr>
          <p:cNvPr id="235529" name="Object 1033"/>
          <p:cNvGraphicFramePr>
            <a:graphicFrameLocks noChangeAspect="1"/>
          </p:cNvGraphicFramePr>
          <p:nvPr/>
        </p:nvGraphicFramePr>
        <p:xfrm>
          <a:off x="5867400" y="685800"/>
          <a:ext cx="252413" cy="392113"/>
        </p:xfrm>
        <a:graphic>
          <a:graphicData uri="http://schemas.openxmlformats.org/presentationml/2006/ole">
            <p:oleObj spid="_x0000_s235529" name="Equation" r:id="rId12" imgW="253800" imgH="393480" progId="Equation.3">
              <p:embed/>
            </p:oleObj>
          </a:graphicData>
        </a:graphic>
      </p:graphicFrame>
      <p:graphicFrame>
        <p:nvGraphicFramePr>
          <p:cNvPr id="235530" name="Object 1034"/>
          <p:cNvGraphicFramePr>
            <a:graphicFrameLocks noChangeAspect="1"/>
          </p:cNvGraphicFramePr>
          <p:nvPr/>
        </p:nvGraphicFramePr>
        <p:xfrm>
          <a:off x="4978400" y="2463800"/>
          <a:ext cx="252413" cy="392113"/>
        </p:xfrm>
        <a:graphic>
          <a:graphicData uri="http://schemas.openxmlformats.org/presentationml/2006/ole">
            <p:oleObj spid="_x0000_s235530" name="Equation" r:id="rId13" imgW="253800" imgH="393480" progId="Equation.3">
              <p:embed/>
            </p:oleObj>
          </a:graphicData>
        </a:graphic>
      </p:graphicFrame>
      <p:sp>
        <p:nvSpPr>
          <p:cNvPr id="180276" name="Oval 52"/>
          <p:cNvSpPr>
            <a:spLocks noChangeArrowheads="1"/>
          </p:cNvSpPr>
          <p:nvPr/>
        </p:nvSpPr>
        <p:spPr bwMode="auto">
          <a:xfrm>
            <a:off x="7620000" y="1676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531" name="Object 1035"/>
          <p:cNvGraphicFramePr>
            <a:graphicFrameLocks noChangeAspect="1"/>
          </p:cNvGraphicFramePr>
          <p:nvPr/>
        </p:nvGraphicFramePr>
        <p:xfrm>
          <a:off x="3962400" y="1600200"/>
          <a:ext cx="430213" cy="531813"/>
        </p:xfrm>
        <a:graphic>
          <a:graphicData uri="http://schemas.openxmlformats.org/presentationml/2006/ole">
            <p:oleObj spid="_x0000_s235531" name="Equation" r:id="rId14" imgW="431640" imgH="533160" progId="Equation.3">
              <p:embed/>
            </p:oleObj>
          </a:graphicData>
        </a:graphic>
      </p:graphicFrame>
      <p:graphicFrame>
        <p:nvGraphicFramePr>
          <p:cNvPr id="235532" name="Object 1036"/>
          <p:cNvGraphicFramePr>
            <a:graphicFrameLocks noChangeAspect="1"/>
          </p:cNvGraphicFramePr>
          <p:nvPr/>
        </p:nvGraphicFramePr>
        <p:xfrm>
          <a:off x="5791200" y="1600200"/>
          <a:ext cx="368300" cy="520700"/>
        </p:xfrm>
        <a:graphic>
          <a:graphicData uri="http://schemas.openxmlformats.org/presentationml/2006/ole">
            <p:oleObj spid="_x0000_s235532" name="Equation" r:id="rId15" imgW="368280" imgH="520560" progId="Equation.3">
              <p:embed/>
            </p:oleObj>
          </a:graphicData>
        </a:graphic>
      </p:graphicFrame>
      <p:graphicFrame>
        <p:nvGraphicFramePr>
          <p:cNvPr id="235533" name="Object 1037"/>
          <p:cNvGraphicFramePr>
            <a:graphicFrameLocks noChangeAspect="1"/>
          </p:cNvGraphicFramePr>
          <p:nvPr/>
        </p:nvGraphicFramePr>
        <p:xfrm>
          <a:off x="7696200" y="1600200"/>
          <a:ext cx="442913" cy="520700"/>
        </p:xfrm>
        <a:graphic>
          <a:graphicData uri="http://schemas.openxmlformats.org/presentationml/2006/ole">
            <p:oleObj spid="_x0000_s235533" name="Equation" r:id="rId16" imgW="444240" imgH="520560" progId="Equation.3">
              <p:embed/>
            </p:oleObj>
          </a:graphicData>
        </a:graphic>
      </p:graphicFrame>
      <p:sp>
        <p:nvSpPr>
          <p:cNvPr id="180280" name="Freeform 56"/>
          <p:cNvSpPr>
            <a:spLocks/>
          </p:cNvSpPr>
          <p:nvPr/>
        </p:nvSpPr>
        <p:spPr bwMode="auto">
          <a:xfrm>
            <a:off x="7620000" y="990600"/>
            <a:ext cx="571500" cy="622300"/>
          </a:xfrm>
          <a:custGeom>
            <a:avLst/>
            <a:gdLst/>
            <a:ahLst/>
            <a:cxnLst>
              <a:cxn ang="0">
                <a:pos x="120" y="392"/>
              </a:cxn>
              <a:cxn ang="0">
                <a:pos x="24" y="104"/>
              </a:cxn>
              <a:cxn ang="0">
                <a:pos x="264" y="8"/>
              </a:cxn>
              <a:cxn ang="0">
                <a:pos x="360" y="152"/>
              </a:cxn>
              <a:cxn ang="0">
                <a:pos x="264" y="392"/>
              </a:cxn>
            </a:cxnLst>
            <a:rect l="0" t="0" r="r" b="b"/>
            <a:pathLst>
              <a:path w="360" h="392">
                <a:moveTo>
                  <a:pt x="120" y="392"/>
                </a:moveTo>
                <a:cubicBezTo>
                  <a:pt x="60" y="280"/>
                  <a:pt x="0" y="168"/>
                  <a:pt x="24" y="104"/>
                </a:cubicBezTo>
                <a:cubicBezTo>
                  <a:pt x="48" y="40"/>
                  <a:pt x="208" y="0"/>
                  <a:pt x="264" y="8"/>
                </a:cubicBezTo>
                <a:cubicBezTo>
                  <a:pt x="320" y="16"/>
                  <a:pt x="360" y="88"/>
                  <a:pt x="360" y="152"/>
                </a:cubicBezTo>
                <a:cubicBezTo>
                  <a:pt x="360" y="216"/>
                  <a:pt x="312" y="304"/>
                  <a:pt x="264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534" name="Object 1038"/>
          <p:cNvGraphicFramePr>
            <a:graphicFrameLocks noChangeAspect="1"/>
          </p:cNvGraphicFramePr>
          <p:nvPr/>
        </p:nvGraphicFramePr>
        <p:xfrm>
          <a:off x="7842250" y="630238"/>
          <a:ext cx="252413" cy="392112"/>
        </p:xfrm>
        <a:graphic>
          <a:graphicData uri="http://schemas.openxmlformats.org/presentationml/2006/ole">
            <p:oleObj spid="_x0000_s235534" name="Equation" r:id="rId17" imgW="253800" imgH="393480" progId="Equation.3">
              <p:embed/>
            </p:oleObj>
          </a:graphicData>
        </a:graphic>
      </p:graphicFrame>
      <p:sp>
        <p:nvSpPr>
          <p:cNvPr id="180282" name="Freeform 58"/>
          <p:cNvSpPr>
            <a:spLocks/>
          </p:cNvSpPr>
          <p:nvPr/>
        </p:nvSpPr>
        <p:spPr bwMode="auto">
          <a:xfrm>
            <a:off x="7543800" y="4495800"/>
            <a:ext cx="571500" cy="622300"/>
          </a:xfrm>
          <a:custGeom>
            <a:avLst/>
            <a:gdLst/>
            <a:ahLst/>
            <a:cxnLst>
              <a:cxn ang="0">
                <a:pos x="120" y="392"/>
              </a:cxn>
              <a:cxn ang="0">
                <a:pos x="24" y="104"/>
              </a:cxn>
              <a:cxn ang="0">
                <a:pos x="264" y="8"/>
              </a:cxn>
              <a:cxn ang="0">
                <a:pos x="360" y="152"/>
              </a:cxn>
              <a:cxn ang="0">
                <a:pos x="264" y="392"/>
              </a:cxn>
            </a:cxnLst>
            <a:rect l="0" t="0" r="r" b="b"/>
            <a:pathLst>
              <a:path w="360" h="392">
                <a:moveTo>
                  <a:pt x="120" y="392"/>
                </a:moveTo>
                <a:cubicBezTo>
                  <a:pt x="60" y="280"/>
                  <a:pt x="0" y="168"/>
                  <a:pt x="24" y="104"/>
                </a:cubicBezTo>
                <a:cubicBezTo>
                  <a:pt x="48" y="40"/>
                  <a:pt x="208" y="0"/>
                  <a:pt x="264" y="8"/>
                </a:cubicBezTo>
                <a:cubicBezTo>
                  <a:pt x="320" y="16"/>
                  <a:pt x="360" y="88"/>
                  <a:pt x="360" y="152"/>
                </a:cubicBezTo>
                <a:cubicBezTo>
                  <a:pt x="360" y="216"/>
                  <a:pt x="312" y="304"/>
                  <a:pt x="264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535" name="Object 1039"/>
          <p:cNvGraphicFramePr>
            <a:graphicFrameLocks noChangeAspect="1"/>
          </p:cNvGraphicFramePr>
          <p:nvPr/>
        </p:nvGraphicFramePr>
        <p:xfrm>
          <a:off x="7766050" y="4135438"/>
          <a:ext cx="252413" cy="392112"/>
        </p:xfrm>
        <a:graphic>
          <a:graphicData uri="http://schemas.openxmlformats.org/presentationml/2006/ole">
            <p:oleObj spid="_x0000_s235535" name="Equation" r:id="rId18" imgW="25380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8BAC38-446E-48EB-AC1B-57FCD4669BB3}" type="slidenum">
              <a:rPr lang="en-US"/>
              <a:pPr/>
              <a:t>53</a:t>
            </a:fld>
            <a:endParaRPr lang="en-US"/>
          </a:p>
        </p:txBody>
      </p:sp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Reducing the states:</a:t>
            </a:r>
          </a:p>
        </p:txBody>
      </p:sp>
      <p:sp>
        <p:nvSpPr>
          <p:cNvPr id="181277" name="AutoShape 29"/>
          <p:cNvSpPr>
            <a:spLocks noChangeArrowheads="1"/>
          </p:cNvSpPr>
          <p:nvPr/>
        </p:nvSpPr>
        <p:spPr bwMode="auto">
          <a:xfrm>
            <a:off x="6400800" y="3048000"/>
            <a:ext cx="485775" cy="976313"/>
          </a:xfrm>
          <a:prstGeom prst="downArrow">
            <a:avLst>
              <a:gd name="adj1" fmla="val 50000"/>
              <a:gd name="adj2" fmla="val 50245"/>
            </a:avLst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80" name="Oval 32"/>
          <p:cNvSpPr>
            <a:spLocks noChangeArrowheads="1"/>
          </p:cNvSpPr>
          <p:nvPr/>
        </p:nvSpPr>
        <p:spPr bwMode="auto">
          <a:xfrm>
            <a:off x="3943350" y="1714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81" name="Oval 33"/>
          <p:cNvSpPr>
            <a:spLocks noChangeArrowheads="1"/>
          </p:cNvSpPr>
          <p:nvPr/>
        </p:nvSpPr>
        <p:spPr bwMode="auto">
          <a:xfrm>
            <a:off x="7600950" y="16383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82" name="Oval 34"/>
          <p:cNvSpPr>
            <a:spLocks noChangeArrowheads="1"/>
          </p:cNvSpPr>
          <p:nvPr/>
        </p:nvSpPr>
        <p:spPr bwMode="auto">
          <a:xfrm>
            <a:off x="5772150" y="1714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83" name="Line 35"/>
          <p:cNvSpPr>
            <a:spLocks noChangeShapeType="1"/>
          </p:cNvSpPr>
          <p:nvPr/>
        </p:nvSpPr>
        <p:spPr bwMode="auto">
          <a:xfrm>
            <a:off x="3181350" y="20193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84" name="Line 36"/>
          <p:cNvSpPr>
            <a:spLocks noChangeShapeType="1"/>
          </p:cNvSpPr>
          <p:nvPr/>
        </p:nvSpPr>
        <p:spPr bwMode="auto">
          <a:xfrm>
            <a:off x="6305550" y="20193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85" name="Freeform 37"/>
          <p:cNvSpPr>
            <a:spLocks/>
          </p:cNvSpPr>
          <p:nvPr/>
        </p:nvSpPr>
        <p:spPr bwMode="auto">
          <a:xfrm>
            <a:off x="4400550" y="2171700"/>
            <a:ext cx="1447800" cy="3175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32" y="240"/>
              </a:cxn>
              <a:cxn ang="0">
                <a:pos x="912" y="48"/>
              </a:cxn>
            </a:cxnLst>
            <a:rect l="0" t="0" r="r" b="b"/>
            <a:pathLst>
              <a:path w="912" h="248">
                <a:moveTo>
                  <a:pt x="0" y="0"/>
                </a:moveTo>
                <a:cubicBezTo>
                  <a:pt x="140" y="116"/>
                  <a:pt x="280" y="232"/>
                  <a:pt x="432" y="240"/>
                </a:cubicBezTo>
                <a:cubicBezTo>
                  <a:pt x="584" y="248"/>
                  <a:pt x="748" y="148"/>
                  <a:pt x="912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86" name="Freeform 38"/>
          <p:cNvSpPr>
            <a:spLocks/>
          </p:cNvSpPr>
          <p:nvPr/>
        </p:nvSpPr>
        <p:spPr bwMode="auto">
          <a:xfrm>
            <a:off x="4476750" y="1638300"/>
            <a:ext cx="1295400" cy="304800"/>
          </a:xfrm>
          <a:custGeom>
            <a:avLst/>
            <a:gdLst/>
            <a:ahLst/>
            <a:cxnLst>
              <a:cxn ang="0">
                <a:pos x="912" y="248"/>
              </a:cxn>
              <a:cxn ang="0">
                <a:pos x="528" y="8"/>
              </a:cxn>
              <a:cxn ang="0">
                <a:pos x="0" y="200"/>
              </a:cxn>
            </a:cxnLst>
            <a:rect l="0" t="0" r="r" b="b"/>
            <a:pathLst>
              <a:path w="912" h="248">
                <a:moveTo>
                  <a:pt x="912" y="248"/>
                </a:moveTo>
                <a:cubicBezTo>
                  <a:pt x="796" y="132"/>
                  <a:pt x="680" y="16"/>
                  <a:pt x="528" y="8"/>
                </a:cubicBezTo>
                <a:cubicBezTo>
                  <a:pt x="376" y="0"/>
                  <a:pt x="188" y="100"/>
                  <a:pt x="0" y="2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87" name="Freeform 39"/>
          <p:cNvSpPr>
            <a:spLocks/>
          </p:cNvSpPr>
          <p:nvPr/>
        </p:nvSpPr>
        <p:spPr bwMode="auto">
          <a:xfrm>
            <a:off x="5695950" y="1104900"/>
            <a:ext cx="571500" cy="622300"/>
          </a:xfrm>
          <a:custGeom>
            <a:avLst/>
            <a:gdLst/>
            <a:ahLst/>
            <a:cxnLst>
              <a:cxn ang="0">
                <a:pos x="120" y="392"/>
              </a:cxn>
              <a:cxn ang="0">
                <a:pos x="24" y="104"/>
              </a:cxn>
              <a:cxn ang="0">
                <a:pos x="264" y="8"/>
              </a:cxn>
              <a:cxn ang="0">
                <a:pos x="360" y="152"/>
              </a:cxn>
              <a:cxn ang="0">
                <a:pos x="264" y="392"/>
              </a:cxn>
            </a:cxnLst>
            <a:rect l="0" t="0" r="r" b="b"/>
            <a:pathLst>
              <a:path w="360" h="392">
                <a:moveTo>
                  <a:pt x="120" y="392"/>
                </a:moveTo>
                <a:cubicBezTo>
                  <a:pt x="60" y="280"/>
                  <a:pt x="0" y="168"/>
                  <a:pt x="24" y="104"/>
                </a:cubicBezTo>
                <a:cubicBezTo>
                  <a:pt x="48" y="40"/>
                  <a:pt x="208" y="0"/>
                  <a:pt x="264" y="8"/>
                </a:cubicBezTo>
                <a:cubicBezTo>
                  <a:pt x="320" y="16"/>
                  <a:pt x="360" y="88"/>
                  <a:pt x="360" y="152"/>
                </a:cubicBezTo>
                <a:cubicBezTo>
                  <a:pt x="360" y="216"/>
                  <a:pt x="312" y="304"/>
                  <a:pt x="264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6544" name="Object 1024"/>
          <p:cNvGraphicFramePr>
            <a:graphicFrameLocks noChangeAspect="1"/>
          </p:cNvGraphicFramePr>
          <p:nvPr/>
        </p:nvGraphicFramePr>
        <p:xfrm>
          <a:off x="6477000" y="1600200"/>
          <a:ext cx="914400" cy="392113"/>
        </p:xfrm>
        <a:graphic>
          <a:graphicData uri="http://schemas.openxmlformats.org/presentationml/2006/ole">
            <p:oleObj spid="_x0000_s236544" name="Equation" r:id="rId3" imgW="914400" imgH="393480" progId="Equation.3">
              <p:embed/>
            </p:oleObj>
          </a:graphicData>
        </a:graphic>
      </p:graphicFrame>
      <p:graphicFrame>
        <p:nvGraphicFramePr>
          <p:cNvPr id="236545" name="Object 1025"/>
          <p:cNvGraphicFramePr>
            <a:graphicFrameLocks noChangeAspect="1"/>
          </p:cNvGraphicFramePr>
          <p:nvPr/>
        </p:nvGraphicFramePr>
        <p:xfrm>
          <a:off x="5010150" y="1333500"/>
          <a:ext cx="265113" cy="279400"/>
        </p:xfrm>
        <a:graphic>
          <a:graphicData uri="http://schemas.openxmlformats.org/presentationml/2006/ole">
            <p:oleObj spid="_x0000_s236545" name="Equation" r:id="rId4" imgW="266400" imgH="279360" progId="Equation.3">
              <p:embed/>
            </p:oleObj>
          </a:graphicData>
        </a:graphic>
      </p:graphicFrame>
      <p:graphicFrame>
        <p:nvGraphicFramePr>
          <p:cNvPr id="236546" name="Object 1026"/>
          <p:cNvGraphicFramePr>
            <a:graphicFrameLocks noChangeAspect="1"/>
          </p:cNvGraphicFramePr>
          <p:nvPr/>
        </p:nvGraphicFramePr>
        <p:xfrm>
          <a:off x="5924550" y="723900"/>
          <a:ext cx="252413" cy="392113"/>
        </p:xfrm>
        <a:graphic>
          <a:graphicData uri="http://schemas.openxmlformats.org/presentationml/2006/ole">
            <p:oleObj spid="_x0000_s236546" name="Equation" r:id="rId5" imgW="253800" imgH="393480" progId="Equation.3">
              <p:embed/>
            </p:oleObj>
          </a:graphicData>
        </a:graphic>
      </p:graphicFrame>
      <p:graphicFrame>
        <p:nvGraphicFramePr>
          <p:cNvPr id="236547" name="Object 1027"/>
          <p:cNvGraphicFramePr>
            <a:graphicFrameLocks noChangeAspect="1"/>
          </p:cNvGraphicFramePr>
          <p:nvPr/>
        </p:nvGraphicFramePr>
        <p:xfrm>
          <a:off x="5035550" y="2501900"/>
          <a:ext cx="252413" cy="392113"/>
        </p:xfrm>
        <a:graphic>
          <a:graphicData uri="http://schemas.openxmlformats.org/presentationml/2006/ole">
            <p:oleObj spid="_x0000_s236547" name="Equation" r:id="rId6" imgW="253800" imgH="393480" progId="Equation.3">
              <p:embed/>
            </p:oleObj>
          </a:graphicData>
        </a:graphic>
      </p:graphicFrame>
      <p:sp>
        <p:nvSpPr>
          <p:cNvPr id="181292" name="Oval 44"/>
          <p:cNvSpPr>
            <a:spLocks noChangeArrowheads="1"/>
          </p:cNvSpPr>
          <p:nvPr/>
        </p:nvSpPr>
        <p:spPr bwMode="auto">
          <a:xfrm>
            <a:off x="7677150" y="1714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6548" name="Object 1028"/>
          <p:cNvGraphicFramePr>
            <a:graphicFrameLocks noChangeAspect="1"/>
          </p:cNvGraphicFramePr>
          <p:nvPr/>
        </p:nvGraphicFramePr>
        <p:xfrm>
          <a:off x="4019550" y="1638300"/>
          <a:ext cx="430213" cy="531813"/>
        </p:xfrm>
        <a:graphic>
          <a:graphicData uri="http://schemas.openxmlformats.org/presentationml/2006/ole">
            <p:oleObj spid="_x0000_s236548" name="Equation" r:id="rId7" imgW="431640" imgH="533160" progId="Equation.3">
              <p:embed/>
            </p:oleObj>
          </a:graphicData>
        </a:graphic>
      </p:graphicFrame>
      <p:graphicFrame>
        <p:nvGraphicFramePr>
          <p:cNvPr id="236549" name="Object 1029"/>
          <p:cNvGraphicFramePr>
            <a:graphicFrameLocks noChangeAspect="1"/>
          </p:cNvGraphicFramePr>
          <p:nvPr/>
        </p:nvGraphicFramePr>
        <p:xfrm>
          <a:off x="5848350" y="1638300"/>
          <a:ext cx="368300" cy="520700"/>
        </p:xfrm>
        <a:graphic>
          <a:graphicData uri="http://schemas.openxmlformats.org/presentationml/2006/ole">
            <p:oleObj spid="_x0000_s236549" name="Equation" r:id="rId8" imgW="368280" imgH="520560" progId="Equation.3">
              <p:embed/>
            </p:oleObj>
          </a:graphicData>
        </a:graphic>
      </p:graphicFrame>
      <p:graphicFrame>
        <p:nvGraphicFramePr>
          <p:cNvPr id="236550" name="Object 1030"/>
          <p:cNvGraphicFramePr>
            <a:graphicFrameLocks noChangeAspect="1"/>
          </p:cNvGraphicFramePr>
          <p:nvPr/>
        </p:nvGraphicFramePr>
        <p:xfrm>
          <a:off x="7753350" y="1638300"/>
          <a:ext cx="442913" cy="520700"/>
        </p:xfrm>
        <a:graphic>
          <a:graphicData uri="http://schemas.openxmlformats.org/presentationml/2006/ole">
            <p:oleObj spid="_x0000_s236550" name="Equation" r:id="rId9" imgW="444240" imgH="520560" progId="Equation.3">
              <p:embed/>
            </p:oleObj>
          </a:graphicData>
        </a:graphic>
      </p:graphicFrame>
      <p:sp>
        <p:nvSpPr>
          <p:cNvPr id="181296" name="Freeform 48"/>
          <p:cNvSpPr>
            <a:spLocks/>
          </p:cNvSpPr>
          <p:nvPr/>
        </p:nvSpPr>
        <p:spPr bwMode="auto">
          <a:xfrm>
            <a:off x="7600950" y="1028700"/>
            <a:ext cx="571500" cy="622300"/>
          </a:xfrm>
          <a:custGeom>
            <a:avLst/>
            <a:gdLst/>
            <a:ahLst/>
            <a:cxnLst>
              <a:cxn ang="0">
                <a:pos x="120" y="392"/>
              </a:cxn>
              <a:cxn ang="0">
                <a:pos x="24" y="104"/>
              </a:cxn>
              <a:cxn ang="0">
                <a:pos x="264" y="8"/>
              </a:cxn>
              <a:cxn ang="0">
                <a:pos x="360" y="152"/>
              </a:cxn>
              <a:cxn ang="0">
                <a:pos x="264" y="392"/>
              </a:cxn>
            </a:cxnLst>
            <a:rect l="0" t="0" r="r" b="b"/>
            <a:pathLst>
              <a:path w="360" h="392">
                <a:moveTo>
                  <a:pt x="120" y="392"/>
                </a:moveTo>
                <a:cubicBezTo>
                  <a:pt x="60" y="280"/>
                  <a:pt x="0" y="168"/>
                  <a:pt x="24" y="104"/>
                </a:cubicBezTo>
                <a:cubicBezTo>
                  <a:pt x="48" y="40"/>
                  <a:pt x="208" y="0"/>
                  <a:pt x="264" y="8"/>
                </a:cubicBezTo>
                <a:cubicBezTo>
                  <a:pt x="320" y="16"/>
                  <a:pt x="360" y="88"/>
                  <a:pt x="360" y="152"/>
                </a:cubicBezTo>
                <a:cubicBezTo>
                  <a:pt x="360" y="216"/>
                  <a:pt x="312" y="304"/>
                  <a:pt x="264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6551" name="Object 1031"/>
          <p:cNvGraphicFramePr>
            <a:graphicFrameLocks noChangeAspect="1"/>
          </p:cNvGraphicFramePr>
          <p:nvPr/>
        </p:nvGraphicFramePr>
        <p:xfrm>
          <a:off x="7823200" y="668338"/>
          <a:ext cx="252413" cy="392112"/>
        </p:xfrm>
        <a:graphic>
          <a:graphicData uri="http://schemas.openxmlformats.org/presentationml/2006/ole">
            <p:oleObj spid="_x0000_s236551" name="Equation" r:id="rId10" imgW="253800" imgH="393480" progId="Equation.3">
              <p:embed/>
            </p:oleObj>
          </a:graphicData>
        </a:graphic>
      </p:graphicFrame>
      <p:sp>
        <p:nvSpPr>
          <p:cNvPr id="181298" name="Oval 50"/>
          <p:cNvSpPr>
            <a:spLocks noChangeArrowheads="1"/>
          </p:cNvSpPr>
          <p:nvPr/>
        </p:nvSpPr>
        <p:spPr bwMode="auto">
          <a:xfrm>
            <a:off x="3886200" y="5638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99" name="Oval 51"/>
          <p:cNvSpPr>
            <a:spLocks noChangeArrowheads="1"/>
          </p:cNvSpPr>
          <p:nvPr/>
        </p:nvSpPr>
        <p:spPr bwMode="auto">
          <a:xfrm>
            <a:off x="7543800" y="5562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301" name="Line 53"/>
          <p:cNvSpPr>
            <a:spLocks noChangeShapeType="1"/>
          </p:cNvSpPr>
          <p:nvPr/>
        </p:nvSpPr>
        <p:spPr bwMode="auto">
          <a:xfrm>
            <a:off x="3124200" y="5943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310" name="Oval 62"/>
          <p:cNvSpPr>
            <a:spLocks noChangeArrowheads="1"/>
          </p:cNvSpPr>
          <p:nvPr/>
        </p:nvSpPr>
        <p:spPr bwMode="auto">
          <a:xfrm>
            <a:off x="7620000" y="5638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6552" name="Object 1032"/>
          <p:cNvGraphicFramePr>
            <a:graphicFrameLocks noChangeAspect="1"/>
          </p:cNvGraphicFramePr>
          <p:nvPr/>
        </p:nvGraphicFramePr>
        <p:xfrm>
          <a:off x="3962400" y="5562600"/>
          <a:ext cx="430213" cy="531813"/>
        </p:xfrm>
        <a:graphic>
          <a:graphicData uri="http://schemas.openxmlformats.org/presentationml/2006/ole">
            <p:oleObj spid="_x0000_s236552" name="Equation" r:id="rId11" imgW="431640" imgH="533160" progId="Equation.3">
              <p:embed/>
            </p:oleObj>
          </a:graphicData>
        </a:graphic>
      </p:graphicFrame>
      <p:graphicFrame>
        <p:nvGraphicFramePr>
          <p:cNvPr id="236553" name="Object 1033"/>
          <p:cNvGraphicFramePr>
            <a:graphicFrameLocks noChangeAspect="1"/>
          </p:cNvGraphicFramePr>
          <p:nvPr/>
        </p:nvGraphicFramePr>
        <p:xfrm>
          <a:off x="7696200" y="5562600"/>
          <a:ext cx="442913" cy="520700"/>
        </p:xfrm>
        <a:graphic>
          <a:graphicData uri="http://schemas.openxmlformats.org/presentationml/2006/ole">
            <p:oleObj spid="_x0000_s236553" name="Equation" r:id="rId12" imgW="444240" imgH="520560" progId="Equation.3">
              <p:embed/>
            </p:oleObj>
          </a:graphicData>
        </a:graphic>
      </p:graphicFrame>
      <p:sp>
        <p:nvSpPr>
          <p:cNvPr id="181314" name="Freeform 66"/>
          <p:cNvSpPr>
            <a:spLocks/>
          </p:cNvSpPr>
          <p:nvPr/>
        </p:nvSpPr>
        <p:spPr bwMode="auto">
          <a:xfrm>
            <a:off x="7543800" y="4953000"/>
            <a:ext cx="571500" cy="622300"/>
          </a:xfrm>
          <a:custGeom>
            <a:avLst/>
            <a:gdLst/>
            <a:ahLst/>
            <a:cxnLst>
              <a:cxn ang="0">
                <a:pos x="120" y="392"/>
              </a:cxn>
              <a:cxn ang="0">
                <a:pos x="24" y="104"/>
              </a:cxn>
              <a:cxn ang="0">
                <a:pos x="264" y="8"/>
              </a:cxn>
              <a:cxn ang="0">
                <a:pos x="360" y="152"/>
              </a:cxn>
              <a:cxn ang="0">
                <a:pos x="264" y="392"/>
              </a:cxn>
            </a:cxnLst>
            <a:rect l="0" t="0" r="r" b="b"/>
            <a:pathLst>
              <a:path w="360" h="392">
                <a:moveTo>
                  <a:pt x="120" y="392"/>
                </a:moveTo>
                <a:cubicBezTo>
                  <a:pt x="60" y="280"/>
                  <a:pt x="0" y="168"/>
                  <a:pt x="24" y="104"/>
                </a:cubicBezTo>
                <a:cubicBezTo>
                  <a:pt x="48" y="40"/>
                  <a:pt x="208" y="0"/>
                  <a:pt x="264" y="8"/>
                </a:cubicBezTo>
                <a:cubicBezTo>
                  <a:pt x="320" y="16"/>
                  <a:pt x="360" y="88"/>
                  <a:pt x="360" y="152"/>
                </a:cubicBezTo>
                <a:cubicBezTo>
                  <a:pt x="360" y="216"/>
                  <a:pt x="312" y="304"/>
                  <a:pt x="264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6554" name="Object 1034"/>
          <p:cNvGraphicFramePr>
            <a:graphicFrameLocks noChangeAspect="1"/>
          </p:cNvGraphicFramePr>
          <p:nvPr/>
        </p:nvGraphicFramePr>
        <p:xfrm>
          <a:off x="7766050" y="4592638"/>
          <a:ext cx="252413" cy="392112"/>
        </p:xfrm>
        <a:graphic>
          <a:graphicData uri="http://schemas.openxmlformats.org/presentationml/2006/ole">
            <p:oleObj spid="_x0000_s236554" name="Equation" r:id="rId13" imgW="253800" imgH="393480" progId="Equation.3">
              <p:embed/>
            </p:oleObj>
          </a:graphicData>
        </a:graphic>
      </p:graphicFrame>
      <p:sp>
        <p:nvSpPr>
          <p:cNvPr id="181318" name="Freeform 70"/>
          <p:cNvSpPr>
            <a:spLocks/>
          </p:cNvSpPr>
          <p:nvPr/>
        </p:nvSpPr>
        <p:spPr bwMode="auto">
          <a:xfrm>
            <a:off x="3810000" y="5029200"/>
            <a:ext cx="571500" cy="622300"/>
          </a:xfrm>
          <a:custGeom>
            <a:avLst/>
            <a:gdLst/>
            <a:ahLst/>
            <a:cxnLst>
              <a:cxn ang="0">
                <a:pos x="120" y="392"/>
              </a:cxn>
              <a:cxn ang="0">
                <a:pos x="24" y="104"/>
              </a:cxn>
              <a:cxn ang="0">
                <a:pos x="264" y="8"/>
              </a:cxn>
              <a:cxn ang="0">
                <a:pos x="360" y="152"/>
              </a:cxn>
              <a:cxn ang="0">
                <a:pos x="264" y="392"/>
              </a:cxn>
            </a:cxnLst>
            <a:rect l="0" t="0" r="r" b="b"/>
            <a:pathLst>
              <a:path w="360" h="392">
                <a:moveTo>
                  <a:pt x="120" y="392"/>
                </a:moveTo>
                <a:cubicBezTo>
                  <a:pt x="60" y="280"/>
                  <a:pt x="0" y="168"/>
                  <a:pt x="24" y="104"/>
                </a:cubicBezTo>
                <a:cubicBezTo>
                  <a:pt x="48" y="40"/>
                  <a:pt x="208" y="0"/>
                  <a:pt x="264" y="8"/>
                </a:cubicBezTo>
                <a:cubicBezTo>
                  <a:pt x="320" y="16"/>
                  <a:pt x="360" y="88"/>
                  <a:pt x="360" y="152"/>
                </a:cubicBezTo>
                <a:cubicBezTo>
                  <a:pt x="360" y="216"/>
                  <a:pt x="312" y="304"/>
                  <a:pt x="264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6555" name="Object 1035"/>
          <p:cNvGraphicFramePr>
            <a:graphicFrameLocks noChangeAspect="1"/>
          </p:cNvGraphicFramePr>
          <p:nvPr/>
        </p:nvGraphicFramePr>
        <p:xfrm>
          <a:off x="3644900" y="4495800"/>
          <a:ext cx="1054100" cy="392113"/>
        </p:xfrm>
        <a:graphic>
          <a:graphicData uri="http://schemas.openxmlformats.org/presentationml/2006/ole">
            <p:oleObj spid="_x0000_s236555" name="Equation" r:id="rId14" imgW="1054080" imgH="393480" progId="Equation.3">
              <p:embed/>
            </p:oleObj>
          </a:graphicData>
        </a:graphic>
      </p:graphicFrame>
      <p:graphicFrame>
        <p:nvGraphicFramePr>
          <p:cNvPr id="236556" name="Object 1036"/>
          <p:cNvGraphicFramePr>
            <a:graphicFrameLocks noChangeAspect="1"/>
          </p:cNvGraphicFramePr>
          <p:nvPr/>
        </p:nvGraphicFramePr>
        <p:xfrm>
          <a:off x="4965700" y="5410200"/>
          <a:ext cx="2006600" cy="481013"/>
        </p:xfrm>
        <a:graphic>
          <a:graphicData uri="http://schemas.openxmlformats.org/presentationml/2006/ole">
            <p:oleObj spid="_x0000_s236556" name="Equation" r:id="rId15" imgW="2006280" imgH="482400" progId="Equation.3">
              <p:embed/>
            </p:oleObj>
          </a:graphicData>
        </a:graphic>
      </p:graphicFrame>
      <p:sp>
        <p:nvSpPr>
          <p:cNvPr id="181323" name="Line 75"/>
          <p:cNvSpPr>
            <a:spLocks noChangeShapeType="1"/>
          </p:cNvSpPr>
          <p:nvPr/>
        </p:nvSpPr>
        <p:spPr bwMode="auto">
          <a:xfrm>
            <a:off x="4419600" y="5943600"/>
            <a:ext cx="312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D8B24B-67CE-4D87-805D-53328B2E8D13}" type="slidenum">
              <a:rPr lang="en-US"/>
              <a:pPr/>
              <a:t>54</a:t>
            </a:fld>
            <a:endParaRPr lang="en-US"/>
          </a:p>
        </p:txBody>
      </p:sp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Resulting Regular Expression:</a:t>
            </a:r>
          </a:p>
          <a:p>
            <a:endParaRPr lang="en-US"/>
          </a:p>
        </p:txBody>
      </p:sp>
      <p:sp>
        <p:nvSpPr>
          <p:cNvPr id="182276" name="Oval 4"/>
          <p:cNvSpPr>
            <a:spLocks noChangeArrowheads="1"/>
          </p:cNvSpPr>
          <p:nvPr/>
        </p:nvSpPr>
        <p:spPr bwMode="auto">
          <a:xfrm>
            <a:off x="2514600" y="3048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277" name="Oval 5"/>
          <p:cNvSpPr>
            <a:spLocks noChangeArrowheads="1"/>
          </p:cNvSpPr>
          <p:nvPr/>
        </p:nvSpPr>
        <p:spPr bwMode="auto">
          <a:xfrm>
            <a:off x="6172200" y="29718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278" name="Line 6"/>
          <p:cNvSpPr>
            <a:spLocks noChangeShapeType="1"/>
          </p:cNvSpPr>
          <p:nvPr/>
        </p:nvSpPr>
        <p:spPr bwMode="auto">
          <a:xfrm>
            <a:off x="1752600" y="3352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279" name="Oval 7"/>
          <p:cNvSpPr>
            <a:spLocks noChangeArrowheads="1"/>
          </p:cNvSpPr>
          <p:nvPr/>
        </p:nvSpPr>
        <p:spPr bwMode="auto">
          <a:xfrm>
            <a:off x="6248400" y="3048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7568" name="Object 1024"/>
          <p:cNvGraphicFramePr>
            <a:graphicFrameLocks noChangeAspect="1"/>
          </p:cNvGraphicFramePr>
          <p:nvPr/>
        </p:nvGraphicFramePr>
        <p:xfrm>
          <a:off x="2590800" y="2971800"/>
          <a:ext cx="430213" cy="531813"/>
        </p:xfrm>
        <a:graphic>
          <a:graphicData uri="http://schemas.openxmlformats.org/presentationml/2006/ole">
            <p:oleObj spid="_x0000_s237568" name="Equation" r:id="rId3" imgW="431640" imgH="533160" progId="Equation.3">
              <p:embed/>
            </p:oleObj>
          </a:graphicData>
        </a:graphic>
      </p:graphicFrame>
      <p:graphicFrame>
        <p:nvGraphicFramePr>
          <p:cNvPr id="237569" name="Object 1025"/>
          <p:cNvGraphicFramePr>
            <a:graphicFrameLocks noChangeAspect="1"/>
          </p:cNvGraphicFramePr>
          <p:nvPr/>
        </p:nvGraphicFramePr>
        <p:xfrm>
          <a:off x="6324600" y="2971800"/>
          <a:ext cx="442913" cy="520700"/>
        </p:xfrm>
        <a:graphic>
          <a:graphicData uri="http://schemas.openxmlformats.org/presentationml/2006/ole">
            <p:oleObj spid="_x0000_s237569" name="Equation" r:id="rId4" imgW="444240" imgH="520560" progId="Equation.3">
              <p:embed/>
            </p:oleObj>
          </a:graphicData>
        </a:graphic>
      </p:graphicFrame>
      <p:sp>
        <p:nvSpPr>
          <p:cNvPr id="182282" name="Freeform 10"/>
          <p:cNvSpPr>
            <a:spLocks/>
          </p:cNvSpPr>
          <p:nvPr/>
        </p:nvSpPr>
        <p:spPr bwMode="auto">
          <a:xfrm>
            <a:off x="6172200" y="2362200"/>
            <a:ext cx="571500" cy="622300"/>
          </a:xfrm>
          <a:custGeom>
            <a:avLst/>
            <a:gdLst/>
            <a:ahLst/>
            <a:cxnLst>
              <a:cxn ang="0">
                <a:pos x="120" y="392"/>
              </a:cxn>
              <a:cxn ang="0">
                <a:pos x="24" y="104"/>
              </a:cxn>
              <a:cxn ang="0">
                <a:pos x="264" y="8"/>
              </a:cxn>
              <a:cxn ang="0">
                <a:pos x="360" y="152"/>
              </a:cxn>
              <a:cxn ang="0">
                <a:pos x="264" y="392"/>
              </a:cxn>
            </a:cxnLst>
            <a:rect l="0" t="0" r="r" b="b"/>
            <a:pathLst>
              <a:path w="360" h="392">
                <a:moveTo>
                  <a:pt x="120" y="392"/>
                </a:moveTo>
                <a:cubicBezTo>
                  <a:pt x="60" y="280"/>
                  <a:pt x="0" y="168"/>
                  <a:pt x="24" y="104"/>
                </a:cubicBezTo>
                <a:cubicBezTo>
                  <a:pt x="48" y="40"/>
                  <a:pt x="208" y="0"/>
                  <a:pt x="264" y="8"/>
                </a:cubicBezTo>
                <a:cubicBezTo>
                  <a:pt x="320" y="16"/>
                  <a:pt x="360" y="88"/>
                  <a:pt x="360" y="152"/>
                </a:cubicBezTo>
                <a:cubicBezTo>
                  <a:pt x="360" y="216"/>
                  <a:pt x="312" y="304"/>
                  <a:pt x="264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7570" name="Object 1026"/>
          <p:cNvGraphicFramePr>
            <a:graphicFrameLocks noChangeAspect="1"/>
          </p:cNvGraphicFramePr>
          <p:nvPr/>
        </p:nvGraphicFramePr>
        <p:xfrm>
          <a:off x="6394450" y="2001838"/>
          <a:ext cx="252413" cy="392112"/>
        </p:xfrm>
        <a:graphic>
          <a:graphicData uri="http://schemas.openxmlformats.org/presentationml/2006/ole">
            <p:oleObj spid="_x0000_s237570" name="Equation" r:id="rId5" imgW="253800" imgH="393480" progId="Equation.3">
              <p:embed/>
            </p:oleObj>
          </a:graphicData>
        </a:graphic>
      </p:graphicFrame>
      <p:sp>
        <p:nvSpPr>
          <p:cNvPr id="182284" name="Freeform 12"/>
          <p:cNvSpPr>
            <a:spLocks/>
          </p:cNvSpPr>
          <p:nvPr/>
        </p:nvSpPr>
        <p:spPr bwMode="auto">
          <a:xfrm>
            <a:off x="2438400" y="2438400"/>
            <a:ext cx="571500" cy="622300"/>
          </a:xfrm>
          <a:custGeom>
            <a:avLst/>
            <a:gdLst/>
            <a:ahLst/>
            <a:cxnLst>
              <a:cxn ang="0">
                <a:pos x="120" y="392"/>
              </a:cxn>
              <a:cxn ang="0">
                <a:pos x="24" y="104"/>
              </a:cxn>
              <a:cxn ang="0">
                <a:pos x="264" y="8"/>
              </a:cxn>
              <a:cxn ang="0">
                <a:pos x="360" y="152"/>
              </a:cxn>
              <a:cxn ang="0">
                <a:pos x="264" y="392"/>
              </a:cxn>
            </a:cxnLst>
            <a:rect l="0" t="0" r="r" b="b"/>
            <a:pathLst>
              <a:path w="360" h="392">
                <a:moveTo>
                  <a:pt x="120" y="392"/>
                </a:moveTo>
                <a:cubicBezTo>
                  <a:pt x="60" y="280"/>
                  <a:pt x="0" y="168"/>
                  <a:pt x="24" y="104"/>
                </a:cubicBezTo>
                <a:cubicBezTo>
                  <a:pt x="48" y="40"/>
                  <a:pt x="208" y="0"/>
                  <a:pt x="264" y="8"/>
                </a:cubicBezTo>
                <a:cubicBezTo>
                  <a:pt x="320" y="16"/>
                  <a:pt x="360" y="88"/>
                  <a:pt x="360" y="152"/>
                </a:cubicBezTo>
                <a:cubicBezTo>
                  <a:pt x="360" y="216"/>
                  <a:pt x="312" y="304"/>
                  <a:pt x="264" y="3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7571" name="Object 1027"/>
          <p:cNvGraphicFramePr>
            <a:graphicFrameLocks noChangeAspect="1"/>
          </p:cNvGraphicFramePr>
          <p:nvPr/>
        </p:nvGraphicFramePr>
        <p:xfrm>
          <a:off x="2273300" y="1905000"/>
          <a:ext cx="1054100" cy="392113"/>
        </p:xfrm>
        <a:graphic>
          <a:graphicData uri="http://schemas.openxmlformats.org/presentationml/2006/ole">
            <p:oleObj spid="_x0000_s237571" name="Equation" r:id="rId6" imgW="1054080" imgH="393480" progId="Equation.3">
              <p:embed/>
            </p:oleObj>
          </a:graphicData>
        </a:graphic>
      </p:graphicFrame>
      <p:graphicFrame>
        <p:nvGraphicFramePr>
          <p:cNvPr id="237572" name="Object 1028"/>
          <p:cNvGraphicFramePr>
            <a:graphicFrameLocks noChangeAspect="1"/>
          </p:cNvGraphicFramePr>
          <p:nvPr/>
        </p:nvGraphicFramePr>
        <p:xfrm>
          <a:off x="3594100" y="2819400"/>
          <a:ext cx="2006600" cy="481013"/>
        </p:xfrm>
        <a:graphic>
          <a:graphicData uri="http://schemas.openxmlformats.org/presentationml/2006/ole">
            <p:oleObj spid="_x0000_s237572" name="Equation" r:id="rId7" imgW="2006280" imgH="482400" progId="Equation.3">
              <p:embed/>
            </p:oleObj>
          </a:graphicData>
        </a:graphic>
      </p:graphicFrame>
      <p:sp>
        <p:nvSpPr>
          <p:cNvPr id="182287" name="Line 15"/>
          <p:cNvSpPr>
            <a:spLocks noChangeShapeType="1"/>
          </p:cNvSpPr>
          <p:nvPr/>
        </p:nvSpPr>
        <p:spPr bwMode="auto">
          <a:xfrm>
            <a:off x="3048000" y="3352800"/>
            <a:ext cx="312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7573" name="Object 1029"/>
          <p:cNvGraphicFramePr>
            <a:graphicFrameLocks noChangeAspect="1"/>
          </p:cNvGraphicFramePr>
          <p:nvPr/>
        </p:nvGraphicFramePr>
        <p:xfrm>
          <a:off x="1727200" y="4622800"/>
          <a:ext cx="5321300" cy="531813"/>
        </p:xfrm>
        <a:graphic>
          <a:graphicData uri="http://schemas.openxmlformats.org/presentationml/2006/ole">
            <p:oleObj spid="_x0000_s237573" name="Equation" r:id="rId8" imgW="5321160" imgH="533160" progId="Equation.3">
              <p:embed/>
            </p:oleObj>
          </a:graphicData>
        </a:graphic>
      </p:graphicFrame>
      <p:graphicFrame>
        <p:nvGraphicFramePr>
          <p:cNvPr id="237574" name="Object 1030"/>
          <p:cNvGraphicFramePr>
            <a:graphicFrameLocks noChangeAspect="1"/>
          </p:cNvGraphicFramePr>
          <p:nvPr/>
        </p:nvGraphicFramePr>
        <p:xfrm>
          <a:off x="1752600" y="5943600"/>
          <a:ext cx="3416300" cy="531813"/>
        </p:xfrm>
        <a:graphic>
          <a:graphicData uri="http://schemas.openxmlformats.org/presentationml/2006/ole">
            <p:oleObj spid="_x0000_s237574" name="Equation" r:id="rId9" imgW="3416040" imgH="5331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1355A4-4BE0-4693-9966-CD179513A969}" type="slidenum">
              <a:rPr lang="en-US"/>
              <a:pPr/>
              <a:t>55</a:t>
            </a:fld>
            <a:endParaRPr lang="en-US"/>
          </a:p>
        </p:txBody>
      </p:sp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 General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Removing states:</a:t>
            </a:r>
          </a:p>
        </p:txBody>
      </p:sp>
      <p:sp>
        <p:nvSpPr>
          <p:cNvPr id="183300" name="Oval 4"/>
          <p:cNvSpPr>
            <a:spLocks noChangeArrowheads="1"/>
          </p:cNvSpPr>
          <p:nvPr/>
        </p:nvSpPr>
        <p:spPr bwMode="auto">
          <a:xfrm>
            <a:off x="2895600" y="2133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1" name="Oval 5"/>
          <p:cNvSpPr>
            <a:spLocks noChangeArrowheads="1"/>
          </p:cNvSpPr>
          <p:nvPr/>
        </p:nvSpPr>
        <p:spPr bwMode="auto">
          <a:xfrm>
            <a:off x="5257800" y="2133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2" name="Oval 6"/>
          <p:cNvSpPr>
            <a:spLocks noChangeArrowheads="1"/>
          </p:cNvSpPr>
          <p:nvPr/>
        </p:nvSpPr>
        <p:spPr bwMode="auto">
          <a:xfrm>
            <a:off x="7543800" y="2133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3" name="Freeform 7"/>
          <p:cNvSpPr>
            <a:spLocks/>
          </p:cNvSpPr>
          <p:nvPr/>
        </p:nvSpPr>
        <p:spPr bwMode="auto">
          <a:xfrm>
            <a:off x="3505200" y="2667000"/>
            <a:ext cx="1905000" cy="54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24" y="336"/>
              </a:cxn>
              <a:cxn ang="0">
                <a:pos x="1248" y="48"/>
              </a:cxn>
            </a:cxnLst>
            <a:rect l="0" t="0" r="r" b="b"/>
            <a:pathLst>
              <a:path w="1248" h="344">
                <a:moveTo>
                  <a:pt x="0" y="0"/>
                </a:moveTo>
                <a:cubicBezTo>
                  <a:pt x="208" y="164"/>
                  <a:pt x="416" y="328"/>
                  <a:pt x="624" y="336"/>
                </a:cubicBezTo>
                <a:cubicBezTo>
                  <a:pt x="832" y="344"/>
                  <a:pt x="1040" y="196"/>
                  <a:pt x="1248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5" name="Freeform 9"/>
          <p:cNvSpPr>
            <a:spLocks/>
          </p:cNvSpPr>
          <p:nvPr/>
        </p:nvSpPr>
        <p:spPr bwMode="auto">
          <a:xfrm>
            <a:off x="3505200" y="1752600"/>
            <a:ext cx="1828800" cy="457200"/>
          </a:xfrm>
          <a:custGeom>
            <a:avLst/>
            <a:gdLst/>
            <a:ahLst/>
            <a:cxnLst>
              <a:cxn ang="0">
                <a:pos x="1248" y="288"/>
              </a:cxn>
              <a:cxn ang="0">
                <a:pos x="672" y="0"/>
              </a:cxn>
              <a:cxn ang="0">
                <a:pos x="0" y="288"/>
              </a:cxn>
            </a:cxnLst>
            <a:rect l="0" t="0" r="r" b="b"/>
            <a:pathLst>
              <a:path w="1248" h="288">
                <a:moveTo>
                  <a:pt x="1248" y="288"/>
                </a:moveTo>
                <a:cubicBezTo>
                  <a:pt x="1064" y="144"/>
                  <a:pt x="880" y="0"/>
                  <a:pt x="672" y="0"/>
                </a:cubicBezTo>
                <a:cubicBezTo>
                  <a:pt x="464" y="0"/>
                  <a:pt x="232" y="144"/>
                  <a:pt x="0" y="2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6" name="Freeform 10"/>
          <p:cNvSpPr>
            <a:spLocks/>
          </p:cNvSpPr>
          <p:nvPr/>
        </p:nvSpPr>
        <p:spPr bwMode="auto">
          <a:xfrm>
            <a:off x="5791200" y="2743200"/>
            <a:ext cx="1981200" cy="54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24" y="336"/>
              </a:cxn>
              <a:cxn ang="0">
                <a:pos x="1248" y="48"/>
              </a:cxn>
            </a:cxnLst>
            <a:rect l="0" t="0" r="r" b="b"/>
            <a:pathLst>
              <a:path w="1248" h="344">
                <a:moveTo>
                  <a:pt x="0" y="0"/>
                </a:moveTo>
                <a:cubicBezTo>
                  <a:pt x="208" y="164"/>
                  <a:pt x="416" y="328"/>
                  <a:pt x="624" y="336"/>
                </a:cubicBezTo>
                <a:cubicBezTo>
                  <a:pt x="832" y="344"/>
                  <a:pt x="1040" y="196"/>
                  <a:pt x="1248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Freeform 11"/>
          <p:cNvSpPr>
            <a:spLocks/>
          </p:cNvSpPr>
          <p:nvPr/>
        </p:nvSpPr>
        <p:spPr bwMode="auto">
          <a:xfrm>
            <a:off x="5867400" y="1752600"/>
            <a:ext cx="1828800" cy="457200"/>
          </a:xfrm>
          <a:custGeom>
            <a:avLst/>
            <a:gdLst/>
            <a:ahLst/>
            <a:cxnLst>
              <a:cxn ang="0">
                <a:pos x="1248" y="288"/>
              </a:cxn>
              <a:cxn ang="0">
                <a:pos x="672" y="0"/>
              </a:cxn>
              <a:cxn ang="0">
                <a:pos x="0" y="288"/>
              </a:cxn>
            </a:cxnLst>
            <a:rect l="0" t="0" r="r" b="b"/>
            <a:pathLst>
              <a:path w="1248" h="288">
                <a:moveTo>
                  <a:pt x="1248" y="288"/>
                </a:moveTo>
                <a:cubicBezTo>
                  <a:pt x="1064" y="144"/>
                  <a:pt x="880" y="0"/>
                  <a:pt x="672" y="0"/>
                </a:cubicBezTo>
                <a:cubicBezTo>
                  <a:pt x="464" y="0"/>
                  <a:pt x="232" y="144"/>
                  <a:pt x="0" y="2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8" name="Freeform 12"/>
          <p:cNvSpPr>
            <a:spLocks/>
          </p:cNvSpPr>
          <p:nvPr/>
        </p:nvSpPr>
        <p:spPr bwMode="auto">
          <a:xfrm>
            <a:off x="5168900" y="1193800"/>
            <a:ext cx="787400" cy="939800"/>
          </a:xfrm>
          <a:custGeom>
            <a:avLst/>
            <a:gdLst/>
            <a:ahLst/>
            <a:cxnLst>
              <a:cxn ang="0">
                <a:pos x="296" y="592"/>
              </a:cxn>
              <a:cxn ang="0">
                <a:pos x="488" y="256"/>
              </a:cxn>
              <a:cxn ang="0">
                <a:pos x="248" y="16"/>
              </a:cxn>
              <a:cxn ang="0">
                <a:pos x="8" y="160"/>
              </a:cxn>
              <a:cxn ang="0">
                <a:pos x="200" y="592"/>
              </a:cxn>
            </a:cxnLst>
            <a:rect l="0" t="0" r="r" b="b"/>
            <a:pathLst>
              <a:path w="496" h="592">
                <a:moveTo>
                  <a:pt x="296" y="592"/>
                </a:moveTo>
                <a:cubicBezTo>
                  <a:pt x="396" y="472"/>
                  <a:pt x="496" y="352"/>
                  <a:pt x="488" y="256"/>
                </a:cubicBezTo>
                <a:cubicBezTo>
                  <a:pt x="480" y="160"/>
                  <a:pt x="328" y="32"/>
                  <a:pt x="248" y="16"/>
                </a:cubicBezTo>
                <a:cubicBezTo>
                  <a:pt x="168" y="0"/>
                  <a:pt x="16" y="64"/>
                  <a:pt x="8" y="160"/>
                </a:cubicBezTo>
                <a:cubicBezTo>
                  <a:pt x="0" y="256"/>
                  <a:pt x="100" y="424"/>
                  <a:pt x="200" y="5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8592" name="Object 0"/>
          <p:cNvGraphicFramePr>
            <a:graphicFrameLocks noChangeAspect="1"/>
          </p:cNvGraphicFramePr>
          <p:nvPr/>
        </p:nvGraphicFramePr>
        <p:xfrm>
          <a:off x="3048000" y="2133600"/>
          <a:ext cx="354013" cy="531813"/>
        </p:xfrm>
        <a:graphic>
          <a:graphicData uri="http://schemas.openxmlformats.org/presentationml/2006/ole">
            <p:oleObj spid="_x0000_s238592" name="Equation" r:id="rId3" imgW="355320" imgH="533160" progId="Equation.3">
              <p:embed/>
            </p:oleObj>
          </a:graphicData>
        </a:graphic>
      </p:graphicFrame>
      <p:graphicFrame>
        <p:nvGraphicFramePr>
          <p:cNvPr id="238593" name="Object 1"/>
          <p:cNvGraphicFramePr>
            <a:graphicFrameLocks noChangeAspect="1"/>
          </p:cNvGraphicFramePr>
          <p:nvPr/>
        </p:nvGraphicFramePr>
        <p:xfrm>
          <a:off x="5486400" y="2286000"/>
          <a:ext cx="265113" cy="368300"/>
        </p:xfrm>
        <a:graphic>
          <a:graphicData uri="http://schemas.openxmlformats.org/presentationml/2006/ole">
            <p:oleObj spid="_x0000_s238593" name="Equation" r:id="rId4" imgW="266400" imgH="368280" progId="Equation.3">
              <p:embed/>
            </p:oleObj>
          </a:graphicData>
        </a:graphic>
      </p:graphicFrame>
      <p:graphicFrame>
        <p:nvGraphicFramePr>
          <p:cNvPr id="238594" name="Object 2"/>
          <p:cNvGraphicFramePr>
            <a:graphicFrameLocks noChangeAspect="1"/>
          </p:cNvGraphicFramePr>
          <p:nvPr/>
        </p:nvGraphicFramePr>
        <p:xfrm>
          <a:off x="7696200" y="2133600"/>
          <a:ext cx="442913" cy="609600"/>
        </p:xfrm>
        <a:graphic>
          <a:graphicData uri="http://schemas.openxmlformats.org/presentationml/2006/ole">
            <p:oleObj spid="_x0000_s238594" name="Equation" r:id="rId5" imgW="444240" imgH="609480" progId="Equation.3">
              <p:embed/>
            </p:oleObj>
          </a:graphicData>
        </a:graphic>
      </p:graphicFrame>
      <p:graphicFrame>
        <p:nvGraphicFramePr>
          <p:cNvPr id="238595" name="Object 3"/>
          <p:cNvGraphicFramePr>
            <a:graphicFrameLocks noChangeAspect="1"/>
          </p:cNvGraphicFramePr>
          <p:nvPr/>
        </p:nvGraphicFramePr>
        <p:xfrm>
          <a:off x="4343400" y="2819400"/>
          <a:ext cx="265113" cy="279400"/>
        </p:xfrm>
        <a:graphic>
          <a:graphicData uri="http://schemas.openxmlformats.org/presentationml/2006/ole">
            <p:oleObj spid="_x0000_s238595" name="Equation" r:id="rId6" imgW="266400" imgH="279360" progId="Equation.3">
              <p:embed/>
            </p:oleObj>
          </a:graphicData>
        </a:graphic>
      </p:graphicFrame>
      <p:graphicFrame>
        <p:nvGraphicFramePr>
          <p:cNvPr id="238596" name="Object 4"/>
          <p:cNvGraphicFramePr>
            <a:graphicFrameLocks noChangeAspect="1"/>
          </p:cNvGraphicFramePr>
          <p:nvPr/>
        </p:nvGraphicFramePr>
        <p:xfrm>
          <a:off x="6705600" y="2819400"/>
          <a:ext cx="252413" cy="392113"/>
        </p:xfrm>
        <a:graphic>
          <a:graphicData uri="http://schemas.openxmlformats.org/presentationml/2006/ole">
            <p:oleObj spid="_x0000_s238596" name="Equation" r:id="rId7" imgW="253800" imgH="393480" progId="Equation.3">
              <p:embed/>
            </p:oleObj>
          </a:graphicData>
        </a:graphic>
      </p:graphicFrame>
      <p:graphicFrame>
        <p:nvGraphicFramePr>
          <p:cNvPr id="238597" name="Object 5"/>
          <p:cNvGraphicFramePr>
            <a:graphicFrameLocks noChangeAspect="1"/>
          </p:cNvGraphicFramePr>
          <p:nvPr/>
        </p:nvGraphicFramePr>
        <p:xfrm>
          <a:off x="6705600" y="1447800"/>
          <a:ext cx="239713" cy="279400"/>
        </p:xfrm>
        <a:graphic>
          <a:graphicData uri="http://schemas.openxmlformats.org/presentationml/2006/ole">
            <p:oleObj spid="_x0000_s238597" name="Equation" r:id="rId8" imgW="241200" imgH="279360" progId="Equation.3">
              <p:embed/>
            </p:oleObj>
          </a:graphicData>
        </a:graphic>
      </p:graphicFrame>
      <p:graphicFrame>
        <p:nvGraphicFramePr>
          <p:cNvPr id="238598" name="Object 6"/>
          <p:cNvGraphicFramePr>
            <a:graphicFrameLocks noChangeAspect="1"/>
          </p:cNvGraphicFramePr>
          <p:nvPr/>
        </p:nvGraphicFramePr>
        <p:xfrm>
          <a:off x="4343400" y="1371600"/>
          <a:ext cx="303213" cy="392113"/>
        </p:xfrm>
        <a:graphic>
          <a:graphicData uri="http://schemas.openxmlformats.org/presentationml/2006/ole">
            <p:oleObj spid="_x0000_s238598" name="Equation" r:id="rId9" imgW="304560" imgH="393480" progId="Equation.3">
              <p:embed/>
            </p:oleObj>
          </a:graphicData>
        </a:graphic>
      </p:graphicFrame>
      <p:graphicFrame>
        <p:nvGraphicFramePr>
          <p:cNvPr id="238599" name="Object 7"/>
          <p:cNvGraphicFramePr>
            <a:graphicFrameLocks noChangeAspect="1"/>
          </p:cNvGraphicFramePr>
          <p:nvPr/>
        </p:nvGraphicFramePr>
        <p:xfrm>
          <a:off x="5562600" y="914400"/>
          <a:ext cx="228600" cy="279400"/>
        </p:xfrm>
        <a:graphic>
          <a:graphicData uri="http://schemas.openxmlformats.org/presentationml/2006/ole">
            <p:oleObj spid="_x0000_s238599" name="Equation" r:id="rId10" imgW="228600" imgH="279360" progId="Equation.3">
              <p:embed/>
            </p:oleObj>
          </a:graphicData>
        </a:graphic>
      </p:graphicFrame>
      <p:sp>
        <p:nvSpPr>
          <p:cNvPr id="183317" name="Oval 21"/>
          <p:cNvSpPr>
            <a:spLocks noChangeArrowheads="1"/>
          </p:cNvSpPr>
          <p:nvPr/>
        </p:nvSpPr>
        <p:spPr bwMode="auto">
          <a:xfrm>
            <a:off x="2895600" y="548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19" name="Oval 23"/>
          <p:cNvSpPr>
            <a:spLocks noChangeArrowheads="1"/>
          </p:cNvSpPr>
          <p:nvPr/>
        </p:nvSpPr>
        <p:spPr bwMode="auto">
          <a:xfrm>
            <a:off x="7543800" y="548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22" name="Freeform 26"/>
          <p:cNvSpPr>
            <a:spLocks/>
          </p:cNvSpPr>
          <p:nvPr/>
        </p:nvSpPr>
        <p:spPr bwMode="auto">
          <a:xfrm>
            <a:off x="3505200" y="6019800"/>
            <a:ext cx="4114800" cy="54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24" y="336"/>
              </a:cxn>
              <a:cxn ang="0">
                <a:pos x="1248" y="48"/>
              </a:cxn>
            </a:cxnLst>
            <a:rect l="0" t="0" r="r" b="b"/>
            <a:pathLst>
              <a:path w="1248" h="344">
                <a:moveTo>
                  <a:pt x="0" y="0"/>
                </a:moveTo>
                <a:cubicBezTo>
                  <a:pt x="208" y="164"/>
                  <a:pt x="416" y="328"/>
                  <a:pt x="624" y="336"/>
                </a:cubicBezTo>
                <a:cubicBezTo>
                  <a:pt x="832" y="344"/>
                  <a:pt x="1040" y="196"/>
                  <a:pt x="1248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23" name="Freeform 27"/>
          <p:cNvSpPr>
            <a:spLocks/>
          </p:cNvSpPr>
          <p:nvPr/>
        </p:nvSpPr>
        <p:spPr bwMode="auto">
          <a:xfrm>
            <a:off x="3581400" y="5181600"/>
            <a:ext cx="4038600" cy="457200"/>
          </a:xfrm>
          <a:custGeom>
            <a:avLst/>
            <a:gdLst/>
            <a:ahLst/>
            <a:cxnLst>
              <a:cxn ang="0">
                <a:pos x="1248" y="288"/>
              </a:cxn>
              <a:cxn ang="0">
                <a:pos x="672" y="0"/>
              </a:cxn>
              <a:cxn ang="0">
                <a:pos x="0" y="288"/>
              </a:cxn>
            </a:cxnLst>
            <a:rect l="0" t="0" r="r" b="b"/>
            <a:pathLst>
              <a:path w="1248" h="288">
                <a:moveTo>
                  <a:pt x="1248" y="288"/>
                </a:moveTo>
                <a:cubicBezTo>
                  <a:pt x="1064" y="144"/>
                  <a:pt x="880" y="0"/>
                  <a:pt x="672" y="0"/>
                </a:cubicBezTo>
                <a:cubicBezTo>
                  <a:pt x="464" y="0"/>
                  <a:pt x="232" y="144"/>
                  <a:pt x="0" y="2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8600" name="Object 8"/>
          <p:cNvGraphicFramePr>
            <a:graphicFrameLocks noChangeAspect="1"/>
          </p:cNvGraphicFramePr>
          <p:nvPr/>
        </p:nvGraphicFramePr>
        <p:xfrm>
          <a:off x="3048000" y="5486400"/>
          <a:ext cx="354013" cy="531813"/>
        </p:xfrm>
        <a:graphic>
          <a:graphicData uri="http://schemas.openxmlformats.org/presentationml/2006/ole">
            <p:oleObj spid="_x0000_s238600" name="Equation" r:id="rId11" imgW="355320" imgH="533160" progId="Equation.3">
              <p:embed/>
            </p:oleObj>
          </a:graphicData>
        </a:graphic>
      </p:graphicFrame>
      <p:graphicFrame>
        <p:nvGraphicFramePr>
          <p:cNvPr id="238601" name="Object 9"/>
          <p:cNvGraphicFramePr>
            <a:graphicFrameLocks noChangeAspect="1"/>
          </p:cNvGraphicFramePr>
          <p:nvPr/>
        </p:nvGraphicFramePr>
        <p:xfrm>
          <a:off x="7696200" y="5486400"/>
          <a:ext cx="442913" cy="609600"/>
        </p:xfrm>
        <a:graphic>
          <a:graphicData uri="http://schemas.openxmlformats.org/presentationml/2006/ole">
            <p:oleObj spid="_x0000_s238601" name="Equation" r:id="rId12" imgW="444240" imgH="609480" progId="Equation.3">
              <p:embed/>
            </p:oleObj>
          </a:graphicData>
        </a:graphic>
      </p:graphicFrame>
      <p:sp>
        <p:nvSpPr>
          <p:cNvPr id="183333" name="Freeform 37"/>
          <p:cNvSpPr>
            <a:spLocks/>
          </p:cNvSpPr>
          <p:nvPr/>
        </p:nvSpPr>
        <p:spPr bwMode="auto">
          <a:xfrm>
            <a:off x="2819400" y="4572000"/>
            <a:ext cx="787400" cy="939800"/>
          </a:xfrm>
          <a:custGeom>
            <a:avLst/>
            <a:gdLst/>
            <a:ahLst/>
            <a:cxnLst>
              <a:cxn ang="0">
                <a:pos x="296" y="592"/>
              </a:cxn>
              <a:cxn ang="0">
                <a:pos x="488" y="256"/>
              </a:cxn>
              <a:cxn ang="0">
                <a:pos x="248" y="16"/>
              </a:cxn>
              <a:cxn ang="0">
                <a:pos x="8" y="160"/>
              </a:cxn>
              <a:cxn ang="0">
                <a:pos x="200" y="592"/>
              </a:cxn>
            </a:cxnLst>
            <a:rect l="0" t="0" r="r" b="b"/>
            <a:pathLst>
              <a:path w="496" h="592">
                <a:moveTo>
                  <a:pt x="296" y="592"/>
                </a:moveTo>
                <a:cubicBezTo>
                  <a:pt x="396" y="472"/>
                  <a:pt x="496" y="352"/>
                  <a:pt x="488" y="256"/>
                </a:cubicBezTo>
                <a:cubicBezTo>
                  <a:pt x="480" y="160"/>
                  <a:pt x="328" y="32"/>
                  <a:pt x="248" y="16"/>
                </a:cubicBezTo>
                <a:cubicBezTo>
                  <a:pt x="168" y="0"/>
                  <a:pt x="16" y="64"/>
                  <a:pt x="8" y="160"/>
                </a:cubicBezTo>
                <a:cubicBezTo>
                  <a:pt x="0" y="256"/>
                  <a:pt x="100" y="424"/>
                  <a:pt x="200" y="5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34" name="Freeform 38"/>
          <p:cNvSpPr>
            <a:spLocks/>
          </p:cNvSpPr>
          <p:nvPr/>
        </p:nvSpPr>
        <p:spPr bwMode="auto">
          <a:xfrm>
            <a:off x="7467600" y="4572000"/>
            <a:ext cx="787400" cy="939800"/>
          </a:xfrm>
          <a:custGeom>
            <a:avLst/>
            <a:gdLst/>
            <a:ahLst/>
            <a:cxnLst>
              <a:cxn ang="0">
                <a:pos x="296" y="592"/>
              </a:cxn>
              <a:cxn ang="0">
                <a:pos x="488" y="256"/>
              </a:cxn>
              <a:cxn ang="0">
                <a:pos x="248" y="16"/>
              </a:cxn>
              <a:cxn ang="0">
                <a:pos x="8" y="160"/>
              </a:cxn>
              <a:cxn ang="0">
                <a:pos x="200" y="592"/>
              </a:cxn>
            </a:cxnLst>
            <a:rect l="0" t="0" r="r" b="b"/>
            <a:pathLst>
              <a:path w="496" h="592">
                <a:moveTo>
                  <a:pt x="296" y="592"/>
                </a:moveTo>
                <a:cubicBezTo>
                  <a:pt x="396" y="472"/>
                  <a:pt x="496" y="352"/>
                  <a:pt x="488" y="256"/>
                </a:cubicBezTo>
                <a:cubicBezTo>
                  <a:pt x="480" y="160"/>
                  <a:pt x="328" y="32"/>
                  <a:pt x="248" y="16"/>
                </a:cubicBezTo>
                <a:cubicBezTo>
                  <a:pt x="168" y="0"/>
                  <a:pt x="16" y="64"/>
                  <a:pt x="8" y="160"/>
                </a:cubicBezTo>
                <a:cubicBezTo>
                  <a:pt x="0" y="256"/>
                  <a:pt x="100" y="424"/>
                  <a:pt x="200" y="5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8602" name="Object 10"/>
          <p:cNvGraphicFramePr>
            <a:graphicFrameLocks noChangeAspect="1"/>
          </p:cNvGraphicFramePr>
          <p:nvPr/>
        </p:nvGraphicFramePr>
        <p:xfrm>
          <a:off x="2743200" y="4191000"/>
          <a:ext cx="1079500" cy="392113"/>
        </p:xfrm>
        <a:graphic>
          <a:graphicData uri="http://schemas.openxmlformats.org/presentationml/2006/ole">
            <p:oleObj spid="_x0000_s238602" name="Equation" r:id="rId13" imgW="1079280" imgH="393480" progId="Equation.3">
              <p:embed/>
            </p:oleObj>
          </a:graphicData>
        </a:graphic>
      </p:graphicFrame>
      <p:graphicFrame>
        <p:nvGraphicFramePr>
          <p:cNvPr id="238603" name="Object 11"/>
          <p:cNvGraphicFramePr>
            <a:graphicFrameLocks noChangeAspect="1"/>
          </p:cNvGraphicFramePr>
          <p:nvPr/>
        </p:nvGraphicFramePr>
        <p:xfrm>
          <a:off x="7467600" y="4191000"/>
          <a:ext cx="977900" cy="392113"/>
        </p:xfrm>
        <a:graphic>
          <a:graphicData uri="http://schemas.openxmlformats.org/presentationml/2006/ole">
            <p:oleObj spid="_x0000_s238603" name="Equation" r:id="rId14" imgW="977760" imgH="393480" progId="Equation.3">
              <p:embed/>
            </p:oleObj>
          </a:graphicData>
        </a:graphic>
      </p:graphicFrame>
      <p:graphicFrame>
        <p:nvGraphicFramePr>
          <p:cNvPr id="238604" name="Object 12"/>
          <p:cNvGraphicFramePr>
            <a:graphicFrameLocks noChangeAspect="1"/>
          </p:cNvGraphicFramePr>
          <p:nvPr/>
        </p:nvGraphicFramePr>
        <p:xfrm>
          <a:off x="5105400" y="4724400"/>
          <a:ext cx="1041400" cy="392113"/>
        </p:xfrm>
        <a:graphic>
          <a:graphicData uri="http://schemas.openxmlformats.org/presentationml/2006/ole">
            <p:oleObj spid="_x0000_s238604" name="Equation" r:id="rId15" imgW="1041120" imgH="393480" progId="Equation.3">
              <p:embed/>
            </p:oleObj>
          </a:graphicData>
        </a:graphic>
      </p:graphicFrame>
      <p:graphicFrame>
        <p:nvGraphicFramePr>
          <p:cNvPr id="238605" name="Object 13"/>
          <p:cNvGraphicFramePr>
            <a:graphicFrameLocks noChangeAspect="1"/>
          </p:cNvGraphicFramePr>
          <p:nvPr/>
        </p:nvGraphicFramePr>
        <p:xfrm>
          <a:off x="5105400" y="6096000"/>
          <a:ext cx="1016000" cy="392113"/>
        </p:xfrm>
        <a:graphic>
          <a:graphicData uri="http://schemas.openxmlformats.org/presentationml/2006/ole">
            <p:oleObj spid="_x0000_s238605" name="Equation" r:id="rId16" imgW="1015920" imgH="393480" progId="Equation.3">
              <p:embed/>
            </p:oleObj>
          </a:graphicData>
        </a:graphic>
      </p:graphicFrame>
      <p:sp>
        <p:nvSpPr>
          <p:cNvPr id="183340" name="AutoShape 44"/>
          <p:cNvSpPr>
            <a:spLocks noChangeArrowheads="1"/>
          </p:cNvSpPr>
          <p:nvPr/>
        </p:nvSpPr>
        <p:spPr bwMode="auto">
          <a:xfrm>
            <a:off x="5410200" y="3276600"/>
            <a:ext cx="485775" cy="976313"/>
          </a:xfrm>
          <a:prstGeom prst="downArrow">
            <a:avLst>
              <a:gd name="adj1" fmla="val 50000"/>
              <a:gd name="adj2" fmla="val 50245"/>
            </a:avLst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7396B8-9276-45D2-9C9C-5414FA266AFE}" type="slidenum">
              <a:rPr lang="en-US"/>
              <a:pPr/>
              <a:t>56</a:t>
            </a:fld>
            <a:endParaRPr lang="en-US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final transition graph:</a:t>
            </a:r>
          </a:p>
        </p:txBody>
      </p:sp>
      <p:sp>
        <p:nvSpPr>
          <p:cNvPr id="184324" name="Oval 4"/>
          <p:cNvSpPr>
            <a:spLocks noChangeArrowheads="1"/>
          </p:cNvSpPr>
          <p:nvPr/>
        </p:nvSpPr>
        <p:spPr bwMode="auto">
          <a:xfrm>
            <a:off x="3886200" y="2743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25" name="Oval 5"/>
          <p:cNvSpPr>
            <a:spLocks noChangeArrowheads="1"/>
          </p:cNvSpPr>
          <p:nvPr/>
        </p:nvSpPr>
        <p:spPr bwMode="auto">
          <a:xfrm>
            <a:off x="6096000" y="2743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26" name="Oval 6"/>
          <p:cNvSpPr>
            <a:spLocks noChangeArrowheads="1"/>
          </p:cNvSpPr>
          <p:nvPr/>
        </p:nvSpPr>
        <p:spPr bwMode="auto">
          <a:xfrm>
            <a:off x="6019800" y="26670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9616" name="Object 1024"/>
          <p:cNvGraphicFramePr>
            <a:graphicFrameLocks noChangeAspect="1"/>
          </p:cNvGraphicFramePr>
          <p:nvPr/>
        </p:nvGraphicFramePr>
        <p:xfrm>
          <a:off x="3962400" y="2743200"/>
          <a:ext cx="430213" cy="531813"/>
        </p:xfrm>
        <a:graphic>
          <a:graphicData uri="http://schemas.openxmlformats.org/presentationml/2006/ole">
            <p:oleObj spid="_x0000_s239616" name="Equation" r:id="rId3" imgW="431640" imgH="533160" progId="Equation.3">
              <p:embed/>
            </p:oleObj>
          </a:graphicData>
        </a:graphic>
      </p:graphicFrame>
      <p:graphicFrame>
        <p:nvGraphicFramePr>
          <p:cNvPr id="239617" name="Object 1025"/>
          <p:cNvGraphicFramePr>
            <a:graphicFrameLocks noChangeAspect="1"/>
          </p:cNvGraphicFramePr>
          <p:nvPr/>
        </p:nvGraphicFramePr>
        <p:xfrm>
          <a:off x="6172200" y="2743200"/>
          <a:ext cx="508000" cy="609600"/>
        </p:xfrm>
        <a:graphic>
          <a:graphicData uri="http://schemas.openxmlformats.org/presentationml/2006/ole">
            <p:oleObj spid="_x0000_s239617" name="Equation" r:id="rId4" imgW="507960" imgH="609480" progId="Equation.3">
              <p:embed/>
            </p:oleObj>
          </a:graphicData>
        </a:graphic>
      </p:graphicFrame>
      <p:sp>
        <p:nvSpPr>
          <p:cNvPr id="184329" name="Freeform 9"/>
          <p:cNvSpPr>
            <a:spLocks/>
          </p:cNvSpPr>
          <p:nvPr/>
        </p:nvSpPr>
        <p:spPr bwMode="auto">
          <a:xfrm>
            <a:off x="4419600" y="3276600"/>
            <a:ext cx="1676400" cy="3937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28" y="240"/>
              </a:cxn>
              <a:cxn ang="0">
                <a:pos x="1056" y="48"/>
              </a:cxn>
            </a:cxnLst>
            <a:rect l="0" t="0" r="r" b="b"/>
            <a:pathLst>
              <a:path w="1056" h="248">
                <a:moveTo>
                  <a:pt x="0" y="0"/>
                </a:moveTo>
                <a:cubicBezTo>
                  <a:pt x="176" y="116"/>
                  <a:pt x="352" y="232"/>
                  <a:pt x="528" y="240"/>
                </a:cubicBezTo>
                <a:cubicBezTo>
                  <a:pt x="704" y="248"/>
                  <a:pt x="880" y="148"/>
                  <a:pt x="1056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30" name="Freeform 10"/>
          <p:cNvSpPr>
            <a:spLocks/>
          </p:cNvSpPr>
          <p:nvPr/>
        </p:nvSpPr>
        <p:spPr bwMode="auto">
          <a:xfrm>
            <a:off x="4419600" y="2438400"/>
            <a:ext cx="1676400" cy="381000"/>
          </a:xfrm>
          <a:custGeom>
            <a:avLst/>
            <a:gdLst/>
            <a:ahLst/>
            <a:cxnLst>
              <a:cxn ang="0">
                <a:pos x="1056" y="240"/>
              </a:cxn>
              <a:cxn ang="0">
                <a:pos x="576" y="0"/>
              </a:cxn>
              <a:cxn ang="0">
                <a:pos x="0" y="240"/>
              </a:cxn>
            </a:cxnLst>
            <a:rect l="0" t="0" r="r" b="b"/>
            <a:pathLst>
              <a:path w="1056" h="240">
                <a:moveTo>
                  <a:pt x="1056" y="240"/>
                </a:moveTo>
                <a:cubicBezTo>
                  <a:pt x="904" y="120"/>
                  <a:pt x="752" y="0"/>
                  <a:pt x="576" y="0"/>
                </a:cubicBezTo>
                <a:cubicBezTo>
                  <a:pt x="400" y="0"/>
                  <a:pt x="200" y="120"/>
                  <a:pt x="0" y="24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31" name="Freeform 11"/>
          <p:cNvSpPr>
            <a:spLocks/>
          </p:cNvSpPr>
          <p:nvPr/>
        </p:nvSpPr>
        <p:spPr bwMode="auto">
          <a:xfrm>
            <a:off x="3860800" y="1879600"/>
            <a:ext cx="647700" cy="863600"/>
          </a:xfrm>
          <a:custGeom>
            <a:avLst/>
            <a:gdLst/>
            <a:ahLst/>
            <a:cxnLst>
              <a:cxn ang="0">
                <a:pos x="304" y="544"/>
              </a:cxn>
              <a:cxn ang="0">
                <a:pos x="400" y="208"/>
              </a:cxn>
              <a:cxn ang="0">
                <a:pos x="256" y="16"/>
              </a:cxn>
              <a:cxn ang="0">
                <a:pos x="16" y="112"/>
              </a:cxn>
              <a:cxn ang="0">
                <a:pos x="160" y="544"/>
              </a:cxn>
            </a:cxnLst>
            <a:rect l="0" t="0" r="r" b="b"/>
            <a:pathLst>
              <a:path w="408" h="544">
                <a:moveTo>
                  <a:pt x="304" y="544"/>
                </a:moveTo>
                <a:cubicBezTo>
                  <a:pt x="356" y="420"/>
                  <a:pt x="408" y="296"/>
                  <a:pt x="400" y="208"/>
                </a:cubicBezTo>
                <a:cubicBezTo>
                  <a:pt x="392" y="120"/>
                  <a:pt x="320" y="32"/>
                  <a:pt x="256" y="16"/>
                </a:cubicBezTo>
                <a:cubicBezTo>
                  <a:pt x="192" y="0"/>
                  <a:pt x="32" y="24"/>
                  <a:pt x="16" y="112"/>
                </a:cubicBezTo>
                <a:cubicBezTo>
                  <a:pt x="0" y="200"/>
                  <a:pt x="80" y="372"/>
                  <a:pt x="160" y="5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32" name="Freeform 12"/>
          <p:cNvSpPr>
            <a:spLocks/>
          </p:cNvSpPr>
          <p:nvPr/>
        </p:nvSpPr>
        <p:spPr bwMode="auto">
          <a:xfrm>
            <a:off x="6096000" y="1828800"/>
            <a:ext cx="647700" cy="863600"/>
          </a:xfrm>
          <a:custGeom>
            <a:avLst/>
            <a:gdLst/>
            <a:ahLst/>
            <a:cxnLst>
              <a:cxn ang="0">
                <a:pos x="304" y="544"/>
              </a:cxn>
              <a:cxn ang="0">
                <a:pos x="400" y="208"/>
              </a:cxn>
              <a:cxn ang="0">
                <a:pos x="256" y="16"/>
              </a:cxn>
              <a:cxn ang="0">
                <a:pos x="16" y="112"/>
              </a:cxn>
              <a:cxn ang="0">
                <a:pos x="160" y="544"/>
              </a:cxn>
            </a:cxnLst>
            <a:rect l="0" t="0" r="r" b="b"/>
            <a:pathLst>
              <a:path w="408" h="544">
                <a:moveTo>
                  <a:pt x="304" y="544"/>
                </a:moveTo>
                <a:cubicBezTo>
                  <a:pt x="356" y="420"/>
                  <a:pt x="408" y="296"/>
                  <a:pt x="400" y="208"/>
                </a:cubicBezTo>
                <a:cubicBezTo>
                  <a:pt x="392" y="120"/>
                  <a:pt x="320" y="32"/>
                  <a:pt x="256" y="16"/>
                </a:cubicBezTo>
                <a:cubicBezTo>
                  <a:pt x="192" y="0"/>
                  <a:pt x="32" y="24"/>
                  <a:pt x="16" y="112"/>
                </a:cubicBezTo>
                <a:cubicBezTo>
                  <a:pt x="0" y="200"/>
                  <a:pt x="80" y="372"/>
                  <a:pt x="160" y="5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33" name="Line 13"/>
          <p:cNvSpPr>
            <a:spLocks noChangeShapeType="1"/>
          </p:cNvSpPr>
          <p:nvPr/>
        </p:nvSpPr>
        <p:spPr bwMode="auto">
          <a:xfrm>
            <a:off x="3352800" y="3048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9618" name="Object 1026"/>
          <p:cNvGraphicFramePr>
            <a:graphicFrameLocks noChangeAspect="1"/>
          </p:cNvGraphicFramePr>
          <p:nvPr/>
        </p:nvGraphicFramePr>
        <p:xfrm>
          <a:off x="4038600" y="1371600"/>
          <a:ext cx="279400" cy="520700"/>
        </p:xfrm>
        <a:graphic>
          <a:graphicData uri="http://schemas.openxmlformats.org/presentationml/2006/ole">
            <p:oleObj spid="_x0000_s239618" name="Equation" r:id="rId5" imgW="279360" imgH="520560" progId="Equation.3">
              <p:embed/>
            </p:oleObj>
          </a:graphicData>
        </a:graphic>
      </p:graphicFrame>
      <p:graphicFrame>
        <p:nvGraphicFramePr>
          <p:cNvPr id="239619" name="Object 1027"/>
          <p:cNvGraphicFramePr>
            <a:graphicFrameLocks noChangeAspect="1"/>
          </p:cNvGraphicFramePr>
          <p:nvPr/>
        </p:nvGraphicFramePr>
        <p:xfrm>
          <a:off x="5105400" y="3124200"/>
          <a:ext cx="341313" cy="520700"/>
        </p:xfrm>
        <a:graphic>
          <a:graphicData uri="http://schemas.openxmlformats.org/presentationml/2006/ole">
            <p:oleObj spid="_x0000_s239619" name="Equation" r:id="rId6" imgW="342720" imgH="520560" progId="Equation.3">
              <p:embed/>
            </p:oleObj>
          </a:graphicData>
        </a:graphic>
      </p:graphicFrame>
      <p:graphicFrame>
        <p:nvGraphicFramePr>
          <p:cNvPr id="239620" name="Object 1028"/>
          <p:cNvGraphicFramePr>
            <a:graphicFrameLocks noChangeAspect="1"/>
          </p:cNvGraphicFramePr>
          <p:nvPr/>
        </p:nvGraphicFramePr>
        <p:xfrm>
          <a:off x="5105400" y="1905000"/>
          <a:ext cx="315913" cy="531813"/>
        </p:xfrm>
        <a:graphic>
          <a:graphicData uri="http://schemas.openxmlformats.org/presentationml/2006/ole">
            <p:oleObj spid="_x0000_s239620" name="Equation" r:id="rId7" imgW="317160" imgH="533160" progId="Equation.3">
              <p:embed/>
            </p:oleObj>
          </a:graphicData>
        </a:graphic>
      </p:graphicFrame>
      <p:graphicFrame>
        <p:nvGraphicFramePr>
          <p:cNvPr id="239621" name="Object 1029"/>
          <p:cNvGraphicFramePr>
            <a:graphicFrameLocks noChangeAspect="1"/>
          </p:cNvGraphicFramePr>
          <p:nvPr/>
        </p:nvGraphicFramePr>
        <p:xfrm>
          <a:off x="6172200" y="1295400"/>
          <a:ext cx="341313" cy="520700"/>
        </p:xfrm>
        <a:graphic>
          <a:graphicData uri="http://schemas.openxmlformats.org/presentationml/2006/ole">
            <p:oleObj spid="_x0000_s239621" name="Equation" r:id="rId8" imgW="342720" imgH="520560" progId="Equation.3">
              <p:embed/>
            </p:oleObj>
          </a:graphicData>
        </a:graphic>
      </p:graphicFrame>
      <p:graphicFrame>
        <p:nvGraphicFramePr>
          <p:cNvPr id="239622" name="Object 1030"/>
          <p:cNvGraphicFramePr>
            <a:graphicFrameLocks noChangeAspect="1"/>
          </p:cNvGraphicFramePr>
          <p:nvPr/>
        </p:nvGraphicFramePr>
        <p:xfrm>
          <a:off x="3276600" y="4876800"/>
          <a:ext cx="4775200" cy="582613"/>
        </p:xfrm>
        <a:graphic>
          <a:graphicData uri="http://schemas.openxmlformats.org/presentationml/2006/ole">
            <p:oleObj spid="_x0000_s239622" name="Equation" r:id="rId9" imgW="4775040" imgH="583920" progId="Equation.3">
              <p:embed/>
            </p:oleObj>
          </a:graphicData>
        </a:graphic>
      </p:graphicFrame>
      <p:graphicFrame>
        <p:nvGraphicFramePr>
          <p:cNvPr id="239623" name="Object 1031"/>
          <p:cNvGraphicFramePr>
            <a:graphicFrameLocks noChangeAspect="1"/>
          </p:cNvGraphicFramePr>
          <p:nvPr/>
        </p:nvGraphicFramePr>
        <p:xfrm>
          <a:off x="3200400" y="5943600"/>
          <a:ext cx="3416300" cy="531813"/>
        </p:xfrm>
        <a:graphic>
          <a:graphicData uri="http://schemas.openxmlformats.org/presentationml/2006/ole">
            <p:oleObj spid="_x0000_s239623" name="Equation" r:id="rId10" imgW="3416040" imgH="533160" progId="Equation.3">
              <p:embed/>
            </p:oleObj>
          </a:graphicData>
        </a:graphic>
      </p:graphicFrame>
      <p:sp>
        <p:nvSpPr>
          <p:cNvPr id="184340" name="Text Box 20"/>
          <p:cNvSpPr txBox="1">
            <a:spLocks noChangeArrowheads="1"/>
          </p:cNvSpPr>
          <p:nvPr/>
        </p:nvSpPr>
        <p:spPr bwMode="auto">
          <a:xfrm>
            <a:off x="212725" y="3987800"/>
            <a:ext cx="64738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resulting regular expression: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0" grpId="0" autoUpdateAnimBg="0"/>
    </p:bldLst>
  </p:timing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Office\Templates\class.pot</Template>
  <TotalTime>2439</TotalTime>
  <Words>598</Words>
  <Application>Microsoft Office PowerPoint</Application>
  <PresentationFormat>On-screen Show (4:3)</PresentationFormat>
  <Paragraphs>281</Paragraphs>
  <Slides>56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8" baseType="lpstr">
      <vt:lpstr>class</vt:lpstr>
      <vt:lpstr>Equation</vt:lpstr>
      <vt:lpstr>Single Final State for NFAs</vt:lpstr>
      <vt:lpstr>Slide 2</vt:lpstr>
      <vt:lpstr>Slide 3</vt:lpstr>
      <vt:lpstr>Slide 4</vt:lpstr>
      <vt:lpstr>Slide 5</vt:lpstr>
      <vt:lpstr>Properties of  Regular Languages</vt:lpstr>
      <vt:lpstr>Slide 7</vt:lpstr>
      <vt:lpstr>Slide 8</vt:lpstr>
      <vt:lpstr>Slide 9</vt:lpstr>
      <vt:lpstr>Example</vt:lpstr>
      <vt:lpstr>Union</vt:lpstr>
      <vt:lpstr>Example</vt:lpstr>
      <vt:lpstr>Concatenation</vt:lpstr>
      <vt:lpstr>Example</vt:lpstr>
      <vt:lpstr>Star Operation</vt:lpstr>
      <vt:lpstr>Example</vt:lpstr>
      <vt:lpstr>Reverse</vt:lpstr>
      <vt:lpstr>Slide 18</vt:lpstr>
      <vt:lpstr>Slide 19</vt:lpstr>
      <vt:lpstr>Slide 20</vt:lpstr>
      <vt:lpstr>Intersection</vt:lpstr>
      <vt:lpstr>Slide 22</vt:lpstr>
      <vt:lpstr>Regular Expressions</vt:lpstr>
      <vt:lpstr>Regular Expressions</vt:lpstr>
      <vt:lpstr>Recursive Definition</vt:lpstr>
      <vt:lpstr>Examples</vt:lpstr>
      <vt:lpstr>Languages of Regular Expressions</vt:lpstr>
      <vt:lpstr>Definition</vt:lpstr>
      <vt:lpstr>Definition (continued)</vt:lpstr>
      <vt:lpstr>Example</vt:lpstr>
      <vt:lpstr>Example</vt:lpstr>
      <vt:lpstr>Example</vt:lpstr>
      <vt:lpstr>Example</vt:lpstr>
      <vt:lpstr>Example</vt:lpstr>
      <vt:lpstr>Equivalent Regular Expressions</vt:lpstr>
      <vt:lpstr>Example</vt:lpstr>
      <vt:lpstr>Regular Expressions and Regular Languages</vt:lpstr>
      <vt:lpstr>Theorem</vt:lpstr>
      <vt:lpstr>Slide 39</vt:lpstr>
      <vt:lpstr>Slide 40</vt:lpstr>
      <vt:lpstr>Proof - Part 1</vt:lpstr>
      <vt:lpstr>Induction Basis</vt:lpstr>
      <vt:lpstr>Inductive Hypothesis</vt:lpstr>
      <vt:lpstr>Inductive Step</vt:lpstr>
      <vt:lpstr>Slide 45</vt:lpstr>
      <vt:lpstr>Slide 46</vt:lpstr>
      <vt:lpstr>Slide 47</vt:lpstr>
      <vt:lpstr>Slide 48</vt:lpstr>
      <vt:lpstr>Proof – Part 2</vt:lpstr>
      <vt:lpstr>Slide 50</vt:lpstr>
      <vt:lpstr>Slide 51</vt:lpstr>
      <vt:lpstr>Slide 52</vt:lpstr>
      <vt:lpstr>Slide 53</vt:lpstr>
      <vt:lpstr>Slide 54</vt:lpstr>
      <vt:lpstr>In General</vt:lpstr>
      <vt:lpstr>Slide 56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 and Finite Automata</dc:title>
  <dc:creator>Costas Busch</dc:creator>
  <cp:lastModifiedBy>mnaidjate</cp:lastModifiedBy>
  <cp:revision>623</cp:revision>
  <cp:lastPrinted>2000-09-14T14:50:03Z</cp:lastPrinted>
  <dcterms:created xsi:type="dcterms:W3CDTF">2000-08-31T01:12:33Z</dcterms:created>
  <dcterms:modified xsi:type="dcterms:W3CDTF">2014-01-11T18:20:28Z</dcterms:modified>
</cp:coreProperties>
</file>