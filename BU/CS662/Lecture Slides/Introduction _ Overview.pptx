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09" r:id="rId3"/>
    <p:sldId id="299" r:id="rId4"/>
    <p:sldId id="311" r:id="rId5"/>
    <p:sldId id="312" r:id="rId6"/>
    <p:sldId id="313" r:id="rId7"/>
    <p:sldId id="314" r:id="rId8"/>
    <p:sldId id="300" r:id="rId9"/>
    <p:sldId id="303" r:id="rId10"/>
    <p:sldId id="301" r:id="rId11"/>
    <p:sldId id="302" r:id="rId12"/>
    <p:sldId id="304" r:id="rId13"/>
    <p:sldId id="307" r:id="rId14"/>
  </p:sldIdLst>
  <p:sldSz cx="9144000" cy="6858000" type="letter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666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93" autoAdjust="0"/>
    <p:restoredTop sz="90947" autoAdjust="0"/>
  </p:normalViewPr>
  <p:slideViewPr>
    <p:cSldViewPr>
      <p:cViewPr varScale="1">
        <p:scale>
          <a:sx n="88" d="100"/>
          <a:sy n="88" d="100"/>
        </p:scale>
        <p:origin x="-182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8B3E4959-A097-463A-8455-9C81FF257D6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13FE9663-2C47-45D7-BB34-87FE0681580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DA9014-16F2-49EF-80E6-B94E7584BD9F}" type="slidenum">
              <a:rPr lang="en-US"/>
              <a:pPr/>
              <a:t>1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351600-B05F-448D-95E8-50E5F09600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7052A3-35F7-4B01-994C-E340E0207A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FBEB9E-6012-4D95-91E6-DC36B3E5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D9EFC35-551D-490E-BF3D-E516C5C6D4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8EAB715-28F5-4E9F-AB56-742AF40C344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C06054-E160-4758-A926-8307ED29D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96449B7-455C-4881-A166-D981223F19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B14CB9-1AA7-4685-A455-B4A6DEDD2E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9BA2D4-BFF6-4EC9-809A-F1E1A98721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FBB5F9-7BD8-4AF6-966E-A58C4BEC3BF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9156F5-E6DA-4D06-823D-B456C3C66A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fld id="{1D2F3634-AF7F-4CA1-8B2E-64F805FF8BA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7401EB-1403-42AF-B8DA-4FEC5E779B85}" type="slidenum">
              <a:rPr lang="en-US"/>
              <a:pPr/>
              <a:t>1</a:t>
            </a:fld>
            <a:endParaRPr lang="en-US"/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81000" y="1676400"/>
            <a:ext cx="8382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</a:rPr>
              <a:t>Models </a:t>
            </a:r>
            <a:r>
              <a:rPr lang="en-US" sz="4400" dirty="0">
                <a:solidFill>
                  <a:schemeClr val="tx1"/>
                </a:solidFill>
              </a:rPr>
              <a:t>of Computation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91E800-4591-4A74-AE2E-DD0141B43ACB}" type="slidenum">
              <a:rPr lang="en-US"/>
              <a:pPr/>
              <a:t>2</a:t>
            </a:fld>
            <a:endParaRPr lang="en-US"/>
          </a:p>
        </p:txBody>
      </p:sp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2895600" y="228600"/>
            <a:ext cx="33924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Computation</a:t>
            </a: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3352800" y="2819400"/>
            <a:ext cx="152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3657600" y="3352800"/>
            <a:ext cx="846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6096000" y="2895600"/>
            <a:ext cx="2819400" cy="1295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6781800" y="3276600"/>
            <a:ext cx="1476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memory</a:t>
            </a:r>
          </a:p>
        </p:txBody>
      </p:sp>
      <p:sp>
        <p:nvSpPr>
          <p:cNvPr id="64526" name="Line 14"/>
          <p:cNvSpPr>
            <a:spLocks noChangeShapeType="1"/>
          </p:cNvSpPr>
          <p:nvPr/>
        </p:nvSpPr>
        <p:spPr bwMode="auto">
          <a:xfrm flipV="1">
            <a:off x="4876800" y="3581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1BE487-EF5A-413B-BF26-6128C3A0A27B}" type="slidenum">
              <a:rPr lang="en-US"/>
              <a:pPr/>
              <a:t>3</a:t>
            </a:fld>
            <a:endParaRPr lang="en-US"/>
          </a:p>
        </p:txBody>
      </p:sp>
      <p:sp>
        <p:nvSpPr>
          <p:cNvPr id="52226" name="Rectangle 1026"/>
          <p:cNvSpPr>
            <a:spLocks noChangeArrowheads="1"/>
          </p:cNvSpPr>
          <p:nvPr/>
        </p:nvSpPr>
        <p:spPr bwMode="auto">
          <a:xfrm>
            <a:off x="3352800" y="2819400"/>
            <a:ext cx="152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28" name="Text Box 1028"/>
          <p:cNvSpPr txBox="1">
            <a:spLocks noChangeArrowheads="1"/>
          </p:cNvSpPr>
          <p:nvPr/>
        </p:nvSpPr>
        <p:spPr bwMode="auto">
          <a:xfrm>
            <a:off x="3657600" y="3352800"/>
            <a:ext cx="846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52229" name="Rectangle 1029"/>
          <p:cNvSpPr>
            <a:spLocks noChangeArrowheads="1"/>
          </p:cNvSpPr>
          <p:nvPr/>
        </p:nvSpPr>
        <p:spPr bwMode="auto">
          <a:xfrm>
            <a:off x="1905000" y="1600200"/>
            <a:ext cx="3657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0" name="Rectangle 1030"/>
          <p:cNvSpPr>
            <a:spLocks noChangeArrowheads="1"/>
          </p:cNvSpPr>
          <p:nvPr/>
        </p:nvSpPr>
        <p:spPr bwMode="auto">
          <a:xfrm>
            <a:off x="6096000" y="2590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1" name="Rectangle 1031"/>
          <p:cNvSpPr>
            <a:spLocks noChangeArrowheads="1"/>
          </p:cNvSpPr>
          <p:nvPr/>
        </p:nvSpPr>
        <p:spPr bwMode="auto">
          <a:xfrm>
            <a:off x="6096000" y="3886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2" name="Rectangle 1032"/>
          <p:cNvSpPr>
            <a:spLocks noChangeArrowheads="1"/>
          </p:cNvSpPr>
          <p:nvPr/>
        </p:nvSpPr>
        <p:spPr bwMode="auto">
          <a:xfrm>
            <a:off x="1981200" y="4876800"/>
            <a:ext cx="3581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3" name="Text Box 1033"/>
          <p:cNvSpPr txBox="1">
            <a:spLocks noChangeArrowheads="1"/>
          </p:cNvSpPr>
          <p:nvPr/>
        </p:nvSpPr>
        <p:spPr bwMode="auto">
          <a:xfrm>
            <a:off x="6248400" y="26670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52234" name="Text Box 1034"/>
          <p:cNvSpPr txBox="1">
            <a:spLocks noChangeArrowheads="1"/>
          </p:cNvSpPr>
          <p:nvPr/>
        </p:nvSpPr>
        <p:spPr bwMode="auto">
          <a:xfrm>
            <a:off x="6096000" y="39624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52236" name="Text Box 1036"/>
          <p:cNvSpPr txBox="1">
            <a:spLocks noChangeArrowheads="1"/>
          </p:cNvSpPr>
          <p:nvPr/>
        </p:nvSpPr>
        <p:spPr bwMode="auto">
          <a:xfrm>
            <a:off x="2362200" y="4953000"/>
            <a:ext cx="294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Program memory</a:t>
            </a:r>
          </a:p>
        </p:txBody>
      </p:sp>
      <p:sp>
        <p:nvSpPr>
          <p:cNvPr id="52237" name="Text Box 1037"/>
          <p:cNvSpPr txBox="1">
            <a:spLocks noChangeArrowheads="1"/>
          </p:cNvSpPr>
          <p:nvPr/>
        </p:nvSpPr>
        <p:spPr bwMode="auto">
          <a:xfrm>
            <a:off x="1981200" y="1676400"/>
            <a:ext cx="3311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temporary memory</a:t>
            </a:r>
          </a:p>
        </p:txBody>
      </p:sp>
      <p:sp>
        <p:nvSpPr>
          <p:cNvPr id="52238" name="Line 1038"/>
          <p:cNvSpPr>
            <a:spLocks noChangeShapeType="1"/>
          </p:cNvSpPr>
          <p:nvPr/>
        </p:nvSpPr>
        <p:spPr bwMode="auto">
          <a:xfrm flipH="1">
            <a:off x="41148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39" name="Line 1039"/>
          <p:cNvSpPr>
            <a:spLocks noChangeShapeType="1"/>
          </p:cNvSpPr>
          <p:nvPr/>
        </p:nvSpPr>
        <p:spPr bwMode="auto">
          <a:xfrm flipV="1">
            <a:off x="4876800" y="2895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40" name="Line 1040"/>
          <p:cNvSpPr>
            <a:spLocks noChangeShapeType="1"/>
          </p:cNvSpPr>
          <p:nvPr/>
        </p:nvSpPr>
        <p:spPr bwMode="auto">
          <a:xfrm>
            <a:off x="4876800" y="4038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2241" name="Line 1041"/>
          <p:cNvSpPr>
            <a:spLocks noChangeShapeType="1"/>
          </p:cNvSpPr>
          <p:nvPr/>
        </p:nvSpPr>
        <p:spPr bwMode="auto">
          <a:xfrm>
            <a:off x="41148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BDA213-D19D-4A26-AD5D-60C60F7651DC}" type="slidenum">
              <a:rPr lang="en-US"/>
              <a:pPr/>
              <a:t>4</a:t>
            </a:fld>
            <a:endParaRPr 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3352800" y="2819400"/>
            <a:ext cx="152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3657600" y="3352800"/>
            <a:ext cx="846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1905000" y="1600200"/>
            <a:ext cx="3657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6096000" y="2590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6096000" y="3886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1981200" y="4876800"/>
            <a:ext cx="3581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68" name="Text Box 8"/>
          <p:cNvSpPr txBox="1">
            <a:spLocks noChangeArrowheads="1"/>
          </p:cNvSpPr>
          <p:nvPr/>
        </p:nvSpPr>
        <p:spPr bwMode="auto">
          <a:xfrm>
            <a:off x="6248400" y="26670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6096000" y="39624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66570" name="Text Box 10"/>
          <p:cNvSpPr txBox="1">
            <a:spLocks noChangeArrowheads="1"/>
          </p:cNvSpPr>
          <p:nvPr/>
        </p:nvSpPr>
        <p:spPr bwMode="auto">
          <a:xfrm>
            <a:off x="914400" y="4343400"/>
            <a:ext cx="294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Program memory</a:t>
            </a:r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1981200" y="1676400"/>
            <a:ext cx="3311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temporary memory</a:t>
            </a:r>
          </a:p>
        </p:txBody>
      </p:sp>
      <p:sp>
        <p:nvSpPr>
          <p:cNvPr id="66572" name="Line 12"/>
          <p:cNvSpPr>
            <a:spLocks noChangeShapeType="1"/>
          </p:cNvSpPr>
          <p:nvPr/>
        </p:nvSpPr>
        <p:spPr bwMode="auto">
          <a:xfrm flipH="1">
            <a:off x="41148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73" name="Line 13"/>
          <p:cNvSpPr>
            <a:spLocks noChangeShapeType="1"/>
          </p:cNvSpPr>
          <p:nvPr/>
        </p:nvSpPr>
        <p:spPr bwMode="auto">
          <a:xfrm flipV="1">
            <a:off x="4876800" y="2895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74" name="Line 14"/>
          <p:cNvSpPr>
            <a:spLocks noChangeShapeType="1"/>
          </p:cNvSpPr>
          <p:nvPr/>
        </p:nvSpPr>
        <p:spPr bwMode="auto">
          <a:xfrm>
            <a:off x="4876800" y="4038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575" name="Line 15"/>
          <p:cNvSpPr>
            <a:spLocks noChangeShapeType="1"/>
          </p:cNvSpPr>
          <p:nvPr/>
        </p:nvSpPr>
        <p:spPr bwMode="auto">
          <a:xfrm>
            <a:off x="41148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848" name="Object 1024"/>
          <p:cNvGraphicFramePr>
            <a:graphicFrameLocks noChangeAspect="1"/>
          </p:cNvGraphicFramePr>
          <p:nvPr/>
        </p:nvGraphicFramePr>
        <p:xfrm>
          <a:off x="6629400" y="0"/>
          <a:ext cx="1955800" cy="711200"/>
        </p:xfrm>
        <a:graphic>
          <a:graphicData uri="http://schemas.openxmlformats.org/presentationml/2006/ole">
            <p:oleObj spid="_x0000_s78848" name="Equation" r:id="rId3" imgW="1955520" imgH="711000" progId="Equation.3">
              <p:embed/>
            </p:oleObj>
          </a:graphicData>
        </a:graphic>
      </p:graphicFrame>
      <p:sp>
        <p:nvSpPr>
          <p:cNvPr id="66577" name="Text Box 17"/>
          <p:cNvSpPr txBox="1">
            <a:spLocks noChangeArrowheads="1"/>
          </p:cNvSpPr>
          <p:nvPr/>
        </p:nvSpPr>
        <p:spPr bwMode="auto">
          <a:xfrm>
            <a:off x="2286000" y="50292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78849" name="Object 1025"/>
          <p:cNvGraphicFramePr>
            <a:graphicFrameLocks noChangeAspect="1"/>
          </p:cNvGraphicFramePr>
          <p:nvPr/>
        </p:nvGraphicFramePr>
        <p:xfrm>
          <a:off x="4114800" y="5105400"/>
          <a:ext cx="927100" cy="342900"/>
        </p:xfrm>
        <a:graphic>
          <a:graphicData uri="http://schemas.openxmlformats.org/presentationml/2006/ole">
            <p:oleObj spid="_x0000_s78849" name="Equation" r:id="rId4" imgW="927000" imgH="342720" progId="Equation.3">
              <p:embed/>
            </p:oleObj>
          </a:graphicData>
        </a:graphic>
      </p:graphicFrame>
      <p:sp>
        <p:nvSpPr>
          <p:cNvPr id="66579" name="Text Box 19"/>
          <p:cNvSpPr txBox="1">
            <a:spLocks noChangeArrowheads="1"/>
          </p:cNvSpPr>
          <p:nvPr/>
        </p:nvSpPr>
        <p:spPr bwMode="auto">
          <a:xfrm>
            <a:off x="2286000" y="59436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78850" name="Object 1026"/>
          <p:cNvGraphicFramePr>
            <a:graphicFrameLocks noChangeAspect="1"/>
          </p:cNvGraphicFramePr>
          <p:nvPr/>
        </p:nvGraphicFramePr>
        <p:xfrm>
          <a:off x="4114800" y="5791200"/>
          <a:ext cx="1193800" cy="609600"/>
        </p:xfrm>
        <a:graphic>
          <a:graphicData uri="http://schemas.openxmlformats.org/presentationml/2006/ole">
            <p:oleObj spid="_x0000_s78850" name="Equation" r:id="rId5" imgW="1193760" imgH="609480" progId="Equation.3">
              <p:embed/>
            </p:oleObj>
          </a:graphicData>
        </a:graphic>
      </p:graphicFrame>
      <p:sp>
        <p:nvSpPr>
          <p:cNvPr id="66581" name="Text Box 21"/>
          <p:cNvSpPr txBox="1">
            <a:spLocks noChangeArrowheads="1"/>
          </p:cNvSpPr>
          <p:nvPr/>
        </p:nvSpPr>
        <p:spPr bwMode="auto">
          <a:xfrm>
            <a:off x="4267200" y="152400"/>
            <a:ext cx="20859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Example: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2DC0C8-230F-4669-A5E7-7BC5F691AC7A}" type="slidenum">
              <a:rPr lang="en-US"/>
              <a:pPr/>
              <a:t>5</a:t>
            </a:fld>
            <a:endParaRPr lang="en-US"/>
          </a:p>
        </p:txBody>
      </p:sp>
      <p:sp>
        <p:nvSpPr>
          <p:cNvPr id="67586" name="Rectangle 1026"/>
          <p:cNvSpPr>
            <a:spLocks noChangeArrowheads="1"/>
          </p:cNvSpPr>
          <p:nvPr/>
        </p:nvSpPr>
        <p:spPr bwMode="auto">
          <a:xfrm>
            <a:off x="3352800" y="2819400"/>
            <a:ext cx="152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7" name="Text Box 1027"/>
          <p:cNvSpPr txBox="1">
            <a:spLocks noChangeArrowheads="1"/>
          </p:cNvSpPr>
          <p:nvPr/>
        </p:nvSpPr>
        <p:spPr bwMode="auto">
          <a:xfrm>
            <a:off x="3657600" y="3352800"/>
            <a:ext cx="846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67588" name="Rectangle 1028"/>
          <p:cNvSpPr>
            <a:spLocks noChangeArrowheads="1"/>
          </p:cNvSpPr>
          <p:nvPr/>
        </p:nvSpPr>
        <p:spPr bwMode="auto">
          <a:xfrm>
            <a:off x="1905000" y="1600200"/>
            <a:ext cx="3657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9" name="Rectangle 1029"/>
          <p:cNvSpPr>
            <a:spLocks noChangeArrowheads="1"/>
          </p:cNvSpPr>
          <p:nvPr/>
        </p:nvSpPr>
        <p:spPr bwMode="auto">
          <a:xfrm>
            <a:off x="6096000" y="2590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90" name="Rectangle 1030"/>
          <p:cNvSpPr>
            <a:spLocks noChangeArrowheads="1"/>
          </p:cNvSpPr>
          <p:nvPr/>
        </p:nvSpPr>
        <p:spPr bwMode="auto">
          <a:xfrm>
            <a:off x="6096000" y="3886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91" name="Rectangle 1031"/>
          <p:cNvSpPr>
            <a:spLocks noChangeArrowheads="1"/>
          </p:cNvSpPr>
          <p:nvPr/>
        </p:nvSpPr>
        <p:spPr bwMode="auto">
          <a:xfrm>
            <a:off x="1981200" y="4876800"/>
            <a:ext cx="3581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92" name="Text Box 1032"/>
          <p:cNvSpPr txBox="1">
            <a:spLocks noChangeArrowheads="1"/>
          </p:cNvSpPr>
          <p:nvPr/>
        </p:nvSpPr>
        <p:spPr bwMode="auto">
          <a:xfrm>
            <a:off x="6019800" y="19812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67593" name="Text Box 1033"/>
          <p:cNvSpPr txBox="1">
            <a:spLocks noChangeArrowheads="1"/>
          </p:cNvSpPr>
          <p:nvPr/>
        </p:nvSpPr>
        <p:spPr bwMode="auto">
          <a:xfrm>
            <a:off x="6096000" y="39624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67594" name="Text Box 1034"/>
          <p:cNvSpPr txBox="1">
            <a:spLocks noChangeArrowheads="1"/>
          </p:cNvSpPr>
          <p:nvPr/>
        </p:nvSpPr>
        <p:spPr bwMode="auto">
          <a:xfrm>
            <a:off x="914400" y="4343400"/>
            <a:ext cx="294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Program memory</a:t>
            </a:r>
          </a:p>
        </p:txBody>
      </p:sp>
      <p:sp>
        <p:nvSpPr>
          <p:cNvPr id="67595" name="Text Box 1035"/>
          <p:cNvSpPr txBox="1">
            <a:spLocks noChangeArrowheads="1"/>
          </p:cNvSpPr>
          <p:nvPr/>
        </p:nvSpPr>
        <p:spPr bwMode="auto">
          <a:xfrm>
            <a:off x="1981200" y="1676400"/>
            <a:ext cx="3311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temporary memory</a:t>
            </a:r>
          </a:p>
        </p:txBody>
      </p:sp>
      <p:sp>
        <p:nvSpPr>
          <p:cNvPr id="67596" name="Line 1036"/>
          <p:cNvSpPr>
            <a:spLocks noChangeShapeType="1"/>
          </p:cNvSpPr>
          <p:nvPr/>
        </p:nvSpPr>
        <p:spPr bwMode="auto">
          <a:xfrm flipH="1">
            <a:off x="41148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97" name="Line 1037"/>
          <p:cNvSpPr>
            <a:spLocks noChangeShapeType="1"/>
          </p:cNvSpPr>
          <p:nvPr/>
        </p:nvSpPr>
        <p:spPr bwMode="auto">
          <a:xfrm flipV="1">
            <a:off x="4876800" y="2895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98" name="Line 1038"/>
          <p:cNvSpPr>
            <a:spLocks noChangeShapeType="1"/>
          </p:cNvSpPr>
          <p:nvPr/>
        </p:nvSpPr>
        <p:spPr bwMode="auto">
          <a:xfrm>
            <a:off x="4876800" y="4038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99" name="Line 1039"/>
          <p:cNvSpPr>
            <a:spLocks noChangeShapeType="1"/>
          </p:cNvSpPr>
          <p:nvPr/>
        </p:nvSpPr>
        <p:spPr bwMode="auto">
          <a:xfrm>
            <a:off x="41148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872" name="Object 2048"/>
          <p:cNvGraphicFramePr>
            <a:graphicFrameLocks noChangeAspect="1"/>
          </p:cNvGraphicFramePr>
          <p:nvPr/>
        </p:nvGraphicFramePr>
        <p:xfrm>
          <a:off x="6629400" y="0"/>
          <a:ext cx="1955800" cy="711200"/>
        </p:xfrm>
        <a:graphic>
          <a:graphicData uri="http://schemas.openxmlformats.org/presentationml/2006/ole">
            <p:oleObj spid="_x0000_s79872" name="Equation" r:id="rId3" imgW="1955520" imgH="711000" progId="Equation.3">
              <p:embed/>
            </p:oleObj>
          </a:graphicData>
        </a:graphic>
      </p:graphicFrame>
      <p:sp>
        <p:nvSpPr>
          <p:cNvPr id="67601" name="Text Box 1041"/>
          <p:cNvSpPr txBox="1">
            <a:spLocks noChangeArrowheads="1"/>
          </p:cNvSpPr>
          <p:nvPr/>
        </p:nvSpPr>
        <p:spPr bwMode="auto">
          <a:xfrm>
            <a:off x="2286000" y="50292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79873" name="Object 2049"/>
          <p:cNvGraphicFramePr>
            <a:graphicFrameLocks noChangeAspect="1"/>
          </p:cNvGraphicFramePr>
          <p:nvPr/>
        </p:nvGraphicFramePr>
        <p:xfrm>
          <a:off x="4114800" y="5105400"/>
          <a:ext cx="927100" cy="342900"/>
        </p:xfrm>
        <a:graphic>
          <a:graphicData uri="http://schemas.openxmlformats.org/presentationml/2006/ole">
            <p:oleObj spid="_x0000_s79873" name="Equation" r:id="rId4" imgW="927000" imgH="342720" progId="Equation.3">
              <p:embed/>
            </p:oleObj>
          </a:graphicData>
        </a:graphic>
      </p:graphicFrame>
      <p:sp>
        <p:nvSpPr>
          <p:cNvPr id="67603" name="Text Box 1043"/>
          <p:cNvSpPr txBox="1">
            <a:spLocks noChangeArrowheads="1"/>
          </p:cNvSpPr>
          <p:nvPr/>
        </p:nvSpPr>
        <p:spPr bwMode="auto">
          <a:xfrm>
            <a:off x="2286000" y="59436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79874" name="Object 2050"/>
          <p:cNvGraphicFramePr>
            <a:graphicFrameLocks noChangeAspect="1"/>
          </p:cNvGraphicFramePr>
          <p:nvPr/>
        </p:nvGraphicFramePr>
        <p:xfrm>
          <a:off x="4114800" y="5791200"/>
          <a:ext cx="1193800" cy="609600"/>
        </p:xfrm>
        <a:graphic>
          <a:graphicData uri="http://schemas.openxmlformats.org/presentationml/2006/ole">
            <p:oleObj spid="_x0000_s79874" name="Equation" r:id="rId5" imgW="1193760" imgH="609480" progId="Equation.3">
              <p:embed/>
            </p:oleObj>
          </a:graphicData>
        </a:graphic>
      </p:graphicFrame>
      <p:graphicFrame>
        <p:nvGraphicFramePr>
          <p:cNvPr id="79875" name="Object 2051"/>
          <p:cNvGraphicFramePr>
            <a:graphicFrameLocks noChangeAspect="1"/>
          </p:cNvGraphicFramePr>
          <p:nvPr/>
        </p:nvGraphicFramePr>
        <p:xfrm>
          <a:off x="6858000" y="2667000"/>
          <a:ext cx="1041400" cy="419100"/>
        </p:xfrm>
        <a:graphic>
          <a:graphicData uri="http://schemas.openxmlformats.org/presentationml/2006/ole">
            <p:oleObj spid="_x0000_s79875" name="Equation" r:id="rId6" imgW="1041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64E984-6867-4D3A-B197-5564582609D3}" type="slidenum">
              <a:rPr lang="en-US"/>
              <a:pPr/>
              <a:t>6</a:t>
            </a:fld>
            <a:endParaRPr lang="en-US"/>
          </a:p>
        </p:txBody>
      </p:sp>
      <p:sp>
        <p:nvSpPr>
          <p:cNvPr id="68649" name="Rectangle 2089"/>
          <p:cNvSpPr>
            <a:spLocks noChangeArrowheads="1"/>
          </p:cNvSpPr>
          <p:nvPr/>
        </p:nvSpPr>
        <p:spPr bwMode="auto">
          <a:xfrm>
            <a:off x="3352800" y="2819400"/>
            <a:ext cx="152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0" name="Text Box 2090"/>
          <p:cNvSpPr txBox="1">
            <a:spLocks noChangeArrowheads="1"/>
          </p:cNvSpPr>
          <p:nvPr/>
        </p:nvSpPr>
        <p:spPr bwMode="auto">
          <a:xfrm>
            <a:off x="3657600" y="3352800"/>
            <a:ext cx="846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68651" name="Rectangle 2091"/>
          <p:cNvSpPr>
            <a:spLocks noChangeArrowheads="1"/>
          </p:cNvSpPr>
          <p:nvPr/>
        </p:nvSpPr>
        <p:spPr bwMode="auto">
          <a:xfrm>
            <a:off x="1905000" y="685800"/>
            <a:ext cx="36576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2" name="Rectangle 2092"/>
          <p:cNvSpPr>
            <a:spLocks noChangeArrowheads="1"/>
          </p:cNvSpPr>
          <p:nvPr/>
        </p:nvSpPr>
        <p:spPr bwMode="auto">
          <a:xfrm>
            <a:off x="6096000" y="2590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3" name="Rectangle 2093"/>
          <p:cNvSpPr>
            <a:spLocks noChangeArrowheads="1"/>
          </p:cNvSpPr>
          <p:nvPr/>
        </p:nvSpPr>
        <p:spPr bwMode="auto">
          <a:xfrm>
            <a:off x="6096000" y="3886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4" name="Rectangle 2094"/>
          <p:cNvSpPr>
            <a:spLocks noChangeArrowheads="1"/>
          </p:cNvSpPr>
          <p:nvPr/>
        </p:nvSpPr>
        <p:spPr bwMode="auto">
          <a:xfrm>
            <a:off x="1981200" y="4876800"/>
            <a:ext cx="3581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55" name="Text Box 2095"/>
          <p:cNvSpPr txBox="1">
            <a:spLocks noChangeArrowheads="1"/>
          </p:cNvSpPr>
          <p:nvPr/>
        </p:nvSpPr>
        <p:spPr bwMode="auto">
          <a:xfrm>
            <a:off x="6019800" y="19812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68656" name="Text Box 2096"/>
          <p:cNvSpPr txBox="1">
            <a:spLocks noChangeArrowheads="1"/>
          </p:cNvSpPr>
          <p:nvPr/>
        </p:nvSpPr>
        <p:spPr bwMode="auto">
          <a:xfrm>
            <a:off x="6096000" y="39624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68657" name="Text Box 2097"/>
          <p:cNvSpPr txBox="1">
            <a:spLocks noChangeArrowheads="1"/>
          </p:cNvSpPr>
          <p:nvPr/>
        </p:nvSpPr>
        <p:spPr bwMode="auto">
          <a:xfrm>
            <a:off x="914400" y="4343400"/>
            <a:ext cx="294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Program memory</a:t>
            </a:r>
          </a:p>
        </p:txBody>
      </p:sp>
      <p:sp>
        <p:nvSpPr>
          <p:cNvPr id="68658" name="Text Box 2098"/>
          <p:cNvSpPr txBox="1">
            <a:spLocks noChangeArrowheads="1"/>
          </p:cNvSpPr>
          <p:nvPr/>
        </p:nvSpPr>
        <p:spPr bwMode="auto">
          <a:xfrm>
            <a:off x="1981200" y="152400"/>
            <a:ext cx="3311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temporary memory</a:t>
            </a:r>
          </a:p>
        </p:txBody>
      </p:sp>
      <p:sp>
        <p:nvSpPr>
          <p:cNvPr id="68659" name="Line 2099"/>
          <p:cNvSpPr>
            <a:spLocks noChangeShapeType="1"/>
          </p:cNvSpPr>
          <p:nvPr/>
        </p:nvSpPr>
        <p:spPr bwMode="auto">
          <a:xfrm flipH="1">
            <a:off x="41148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60" name="Line 2100"/>
          <p:cNvSpPr>
            <a:spLocks noChangeShapeType="1"/>
          </p:cNvSpPr>
          <p:nvPr/>
        </p:nvSpPr>
        <p:spPr bwMode="auto">
          <a:xfrm flipV="1">
            <a:off x="4876800" y="2895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61" name="Line 2101"/>
          <p:cNvSpPr>
            <a:spLocks noChangeShapeType="1"/>
          </p:cNvSpPr>
          <p:nvPr/>
        </p:nvSpPr>
        <p:spPr bwMode="auto">
          <a:xfrm>
            <a:off x="4876800" y="4038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62" name="Line 2102"/>
          <p:cNvSpPr>
            <a:spLocks noChangeShapeType="1"/>
          </p:cNvSpPr>
          <p:nvPr/>
        </p:nvSpPr>
        <p:spPr bwMode="auto">
          <a:xfrm>
            <a:off x="41148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896" name="Object 2048"/>
          <p:cNvGraphicFramePr>
            <a:graphicFrameLocks noChangeAspect="1"/>
          </p:cNvGraphicFramePr>
          <p:nvPr/>
        </p:nvGraphicFramePr>
        <p:xfrm>
          <a:off x="6629400" y="0"/>
          <a:ext cx="1955800" cy="711200"/>
        </p:xfrm>
        <a:graphic>
          <a:graphicData uri="http://schemas.openxmlformats.org/presentationml/2006/ole">
            <p:oleObj spid="_x0000_s80896" name="Equation" r:id="rId3" imgW="1955520" imgH="711000" progId="Equation.3">
              <p:embed/>
            </p:oleObj>
          </a:graphicData>
        </a:graphic>
      </p:graphicFrame>
      <p:sp>
        <p:nvSpPr>
          <p:cNvPr id="68664" name="Text Box 2104"/>
          <p:cNvSpPr txBox="1">
            <a:spLocks noChangeArrowheads="1"/>
          </p:cNvSpPr>
          <p:nvPr/>
        </p:nvSpPr>
        <p:spPr bwMode="auto">
          <a:xfrm>
            <a:off x="2286000" y="50292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80897" name="Object 2049"/>
          <p:cNvGraphicFramePr>
            <a:graphicFrameLocks noChangeAspect="1"/>
          </p:cNvGraphicFramePr>
          <p:nvPr/>
        </p:nvGraphicFramePr>
        <p:xfrm>
          <a:off x="4114800" y="5105400"/>
          <a:ext cx="927100" cy="342900"/>
        </p:xfrm>
        <a:graphic>
          <a:graphicData uri="http://schemas.openxmlformats.org/presentationml/2006/ole">
            <p:oleObj spid="_x0000_s80897" name="Equation" r:id="rId4" imgW="927000" imgH="342720" progId="Equation.3">
              <p:embed/>
            </p:oleObj>
          </a:graphicData>
        </a:graphic>
      </p:graphicFrame>
      <p:sp>
        <p:nvSpPr>
          <p:cNvPr id="68666" name="Text Box 2106"/>
          <p:cNvSpPr txBox="1">
            <a:spLocks noChangeArrowheads="1"/>
          </p:cNvSpPr>
          <p:nvPr/>
        </p:nvSpPr>
        <p:spPr bwMode="auto">
          <a:xfrm>
            <a:off x="2286000" y="59436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80898" name="Object 2050"/>
          <p:cNvGraphicFramePr>
            <a:graphicFrameLocks noChangeAspect="1"/>
          </p:cNvGraphicFramePr>
          <p:nvPr/>
        </p:nvGraphicFramePr>
        <p:xfrm>
          <a:off x="4114800" y="5791200"/>
          <a:ext cx="1193800" cy="609600"/>
        </p:xfrm>
        <a:graphic>
          <a:graphicData uri="http://schemas.openxmlformats.org/presentationml/2006/ole">
            <p:oleObj spid="_x0000_s80898" name="Equation" r:id="rId5" imgW="1193760" imgH="609480" progId="Equation.3">
              <p:embed/>
            </p:oleObj>
          </a:graphicData>
        </a:graphic>
      </p:graphicFrame>
      <p:graphicFrame>
        <p:nvGraphicFramePr>
          <p:cNvPr id="80899" name="Object 2051"/>
          <p:cNvGraphicFramePr>
            <a:graphicFrameLocks noChangeAspect="1"/>
          </p:cNvGraphicFramePr>
          <p:nvPr/>
        </p:nvGraphicFramePr>
        <p:xfrm>
          <a:off x="6858000" y="2667000"/>
          <a:ext cx="1041400" cy="419100"/>
        </p:xfrm>
        <a:graphic>
          <a:graphicData uri="http://schemas.openxmlformats.org/presentationml/2006/ole">
            <p:oleObj spid="_x0000_s80899" name="Equation" r:id="rId6" imgW="1041120" imgH="419040" progId="Equation.3">
              <p:embed/>
            </p:oleObj>
          </a:graphicData>
        </a:graphic>
      </p:graphicFrame>
      <p:graphicFrame>
        <p:nvGraphicFramePr>
          <p:cNvPr id="80900" name="Object 2052"/>
          <p:cNvGraphicFramePr>
            <a:graphicFrameLocks noChangeAspect="1"/>
          </p:cNvGraphicFramePr>
          <p:nvPr/>
        </p:nvGraphicFramePr>
        <p:xfrm>
          <a:off x="2444750" y="762000"/>
          <a:ext cx="2387600" cy="419100"/>
        </p:xfrm>
        <a:graphic>
          <a:graphicData uri="http://schemas.openxmlformats.org/presentationml/2006/ole">
            <p:oleObj spid="_x0000_s80900" name="Equation" r:id="rId7" imgW="2387520" imgH="419040" progId="Equation.3">
              <p:embed/>
            </p:oleObj>
          </a:graphicData>
        </a:graphic>
      </p:graphicFrame>
      <p:graphicFrame>
        <p:nvGraphicFramePr>
          <p:cNvPr id="80901" name="Object 2053"/>
          <p:cNvGraphicFramePr>
            <a:graphicFrameLocks noChangeAspect="1"/>
          </p:cNvGraphicFramePr>
          <p:nvPr/>
        </p:nvGraphicFramePr>
        <p:xfrm>
          <a:off x="2133600" y="1447800"/>
          <a:ext cx="3086100" cy="533400"/>
        </p:xfrm>
        <a:graphic>
          <a:graphicData uri="http://schemas.openxmlformats.org/presentationml/2006/ole">
            <p:oleObj spid="_x0000_s80901" name="Equation" r:id="rId8" imgW="308592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DC90A9-2837-474C-9450-7FA8E424E6A7}" type="slidenum">
              <a:rPr lang="en-US"/>
              <a:pPr/>
              <a:t>7</a:t>
            </a:fld>
            <a:endParaRPr lang="en-US"/>
          </a:p>
        </p:txBody>
      </p:sp>
      <p:sp>
        <p:nvSpPr>
          <p:cNvPr id="69634" name="Rectangle 1026"/>
          <p:cNvSpPr>
            <a:spLocks noChangeArrowheads="1"/>
          </p:cNvSpPr>
          <p:nvPr/>
        </p:nvSpPr>
        <p:spPr bwMode="auto">
          <a:xfrm>
            <a:off x="3352800" y="2819400"/>
            <a:ext cx="152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35" name="Text Box 1027"/>
          <p:cNvSpPr txBox="1">
            <a:spLocks noChangeArrowheads="1"/>
          </p:cNvSpPr>
          <p:nvPr/>
        </p:nvSpPr>
        <p:spPr bwMode="auto">
          <a:xfrm>
            <a:off x="3657600" y="3352800"/>
            <a:ext cx="846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69636" name="Rectangle 1028"/>
          <p:cNvSpPr>
            <a:spLocks noChangeArrowheads="1"/>
          </p:cNvSpPr>
          <p:nvPr/>
        </p:nvSpPr>
        <p:spPr bwMode="auto">
          <a:xfrm>
            <a:off x="1905000" y="685800"/>
            <a:ext cx="36576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37" name="Rectangle 1029"/>
          <p:cNvSpPr>
            <a:spLocks noChangeArrowheads="1"/>
          </p:cNvSpPr>
          <p:nvPr/>
        </p:nvSpPr>
        <p:spPr bwMode="auto">
          <a:xfrm>
            <a:off x="6096000" y="2590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38" name="Rectangle 1030"/>
          <p:cNvSpPr>
            <a:spLocks noChangeArrowheads="1"/>
          </p:cNvSpPr>
          <p:nvPr/>
        </p:nvSpPr>
        <p:spPr bwMode="auto">
          <a:xfrm>
            <a:off x="6096000" y="3886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39" name="Rectangle 1031"/>
          <p:cNvSpPr>
            <a:spLocks noChangeArrowheads="1"/>
          </p:cNvSpPr>
          <p:nvPr/>
        </p:nvSpPr>
        <p:spPr bwMode="auto">
          <a:xfrm>
            <a:off x="1981200" y="4876800"/>
            <a:ext cx="35814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40" name="Text Box 1032"/>
          <p:cNvSpPr txBox="1">
            <a:spLocks noChangeArrowheads="1"/>
          </p:cNvSpPr>
          <p:nvPr/>
        </p:nvSpPr>
        <p:spPr bwMode="auto">
          <a:xfrm>
            <a:off x="6019800" y="19812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69641" name="Text Box 1033"/>
          <p:cNvSpPr txBox="1">
            <a:spLocks noChangeArrowheads="1"/>
          </p:cNvSpPr>
          <p:nvPr/>
        </p:nvSpPr>
        <p:spPr bwMode="auto">
          <a:xfrm>
            <a:off x="6019800" y="44958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69642" name="Text Box 1034"/>
          <p:cNvSpPr txBox="1">
            <a:spLocks noChangeArrowheads="1"/>
          </p:cNvSpPr>
          <p:nvPr/>
        </p:nvSpPr>
        <p:spPr bwMode="auto">
          <a:xfrm>
            <a:off x="914400" y="4343400"/>
            <a:ext cx="294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Program memory</a:t>
            </a:r>
          </a:p>
        </p:txBody>
      </p:sp>
      <p:sp>
        <p:nvSpPr>
          <p:cNvPr id="69643" name="Text Box 1035"/>
          <p:cNvSpPr txBox="1">
            <a:spLocks noChangeArrowheads="1"/>
          </p:cNvSpPr>
          <p:nvPr/>
        </p:nvSpPr>
        <p:spPr bwMode="auto">
          <a:xfrm>
            <a:off x="1981200" y="152400"/>
            <a:ext cx="3311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temporary memory</a:t>
            </a:r>
          </a:p>
        </p:txBody>
      </p:sp>
      <p:sp>
        <p:nvSpPr>
          <p:cNvPr id="69644" name="Line 1036"/>
          <p:cNvSpPr>
            <a:spLocks noChangeShapeType="1"/>
          </p:cNvSpPr>
          <p:nvPr/>
        </p:nvSpPr>
        <p:spPr bwMode="auto">
          <a:xfrm flipH="1">
            <a:off x="4114800" y="2209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45" name="Line 1037"/>
          <p:cNvSpPr>
            <a:spLocks noChangeShapeType="1"/>
          </p:cNvSpPr>
          <p:nvPr/>
        </p:nvSpPr>
        <p:spPr bwMode="auto">
          <a:xfrm flipV="1">
            <a:off x="4876800" y="2895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46" name="Line 1038"/>
          <p:cNvSpPr>
            <a:spLocks noChangeShapeType="1"/>
          </p:cNvSpPr>
          <p:nvPr/>
        </p:nvSpPr>
        <p:spPr bwMode="auto">
          <a:xfrm>
            <a:off x="4876800" y="4038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47" name="Line 1039"/>
          <p:cNvSpPr>
            <a:spLocks noChangeShapeType="1"/>
          </p:cNvSpPr>
          <p:nvPr/>
        </p:nvSpPr>
        <p:spPr bwMode="auto">
          <a:xfrm>
            <a:off x="41148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1920" name="Object 1024"/>
          <p:cNvGraphicFramePr>
            <a:graphicFrameLocks noChangeAspect="1"/>
          </p:cNvGraphicFramePr>
          <p:nvPr/>
        </p:nvGraphicFramePr>
        <p:xfrm>
          <a:off x="6629400" y="0"/>
          <a:ext cx="1955800" cy="711200"/>
        </p:xfrm>
        <a:graphic>
          <a:graphicData uri="http://schemas.openxmlformats.org/presentationml/2006/ole">
            <p:oleObj spid="_x0000_s81920" name="Equation" r:id="rId3" imgW="1955520" imgH="711000" progId="Equation.3">
              <p:embed/>
            </p:oleObj>
          </a:graphicData>
        </a:graphic>
      </p:graphicFrame>
      <p:sp>
        <p:nvSpPr>
          <p:cNvPr id="69649" name="Text Box 1041"/>
          <p:cNvSpPr txBox="1">
            <a:spLocks noChangeArrowheads="1"/>
          </p:cNvSpPr>
          <p:nvPr/>
        </p:nvSpPr>
        <p:spPr bwMode="auto">
          <a:xfrm>
            <a:off x="2286000" y="50292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81921" name="Object 1025"/>
          <p:cNvGraphicFramePr>
            <a:graphicFrameLocks noChangeAspect="1"/>
          </p:cNvGraphicFramePr>
          <p:nvPr/>
        </p:nvGraphicFramePr>
        <p:xfrm>
          <a:off x="4114800" y="5105400"/>
          <a:ext cx="927100" cy="342900"/>
        </p:xfrm>
        <a:graphic>
          <a:graphicData uri="http://schemas.openxmlformats.org/presentationml/2006/ole">
            <p:oleObj spid="_x0000_s81921" name="Equation" r:id="rId4" imgW="927000" imgH="342720" progId="Equation.3">
              <p:embed/>
            </p:oleObj>
          </a:graphicData>
        </a:graphic>
      </p:graphicFrame>
      <p:sp>
        <p:nvSpPr>
          <p:cNvPr id="69651" name="Text Box 1043"/>
          <p:cNvSpPr txBox="1">
            <a:spLocks noChangeArrowheads="1"/>
          </p:cNvSpPr>
          <p:nvPr/>
        </p:nvSpPr>
        <p:spPr bwMode="auto">
          <a:xfrm>
            <a:off x="2286000" y="5943600"/>
            <a:ext cx="156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compute</a:t>
            </a:r>
          </a:p>
        </p:txBody>
      </p:sp>
      <p:graphicFrame>
        <p:nvGraphicFramePr>
          <p:cNvPr id="81922" name="Object 1026"/>
          <p:cNvGraphicFramePr>
            <a:graphicFrameLocks noChangeAspect="1"/>
          </p:cNvGraphicFramePr>
          <p:nvPr/>
        </p:nvGraphicFramePr>
        <p:xfrm>
          <a:off x="4114800" y="5791200"/>
          <a:ext cx="1193800" cy="609600"/>
        </p:xfrm>
        <a:graphic>
          <a:graphicData uri="http://schemas.openxmlformats.org/presentationml/2006/ole">
            <p:oleObj spid="_x0000_s81922" name="Equation" r:id="rId5" imgW="1193760" imgH="609480" progId="Equation.3">
              <p:embed/>
            </p:oleObj>
          </a:graphicData>
        </a:graphic>
      </p:graphicFrame>
      <p:graphicFrame>
        <p:nvGraphicFramePr>
          <p:cNvPr id="81923" name="Object 1027"/>
          <p:cNvGraphicFramePr>
            <a:graphicFrameLocks noChangeAspect="1"/>
          </p:cNvGraphicFramePr>
          <p:nvPr/>
        </p:nvGraphicFramePr>
        <p:xfrm>
          <a:off x="6858000" y="2667000"/>
          <a:ext cx="1041400" cy="419100"/>
        </p:xfrm>
        <a:graphic>
          <a:graphicData uri="http://schemas.openxmlformats.org/presentationml/2006/ole">
            <p:oleObj spid="_x0000_s81923" name="Equation" r:id="rId6" imgW="1041120" imgH="419040" progId="Equation.3">
              <p:embed/>
            </p:oleObj>
          </a:graphicData>
        </a:graphic>
      </p:graphicFrame>
      <p:graphicFrame>
        <p:nvGraphicFramePr>
          <p:cNvPr id="81924" name="Object 1028"/>
          <p:cNvGraphicFramePr>
            <a:graphicFrameLocks noChangeAspect="1"/>
          </p:cNvGraphicFramePr>
          <p:nvPr/>
        </p:nvGraphicFramePr>
        <p:xfrm>
          <a:off x="2444750" y="762000"/>
          <a:ext cx="2387600" cy="419100"/>
        </p:xfrm>
        <a:graphic>
          <a:graphicData uri="http://schemas.openxmlformats.org/presentationml/2006/ole">
            <p:oleObj spid="_x0000_s81924" name="Equation" r:id="rId7" imgW="2387520" imgH="419040" progId="Equation.3">
              <p:embed/>
            </p:oleObj>
          </a:graphicData>
        </a:graphic>
      </p:graphicFrame>
      <p:graphicFrame>
        <p:nvGraphicFramePr>
          <p:cNvPr id="81925" name="Object 1029"/>
          <p:cNvGraphicFramePr>
            <a:graphicFrameLocks noChangeAspect="1"/>
          </p:cNvGraphicFramePr>
          <p:nvPr/>
        </p:nvGraphicFramePr>
        <p:xfrm>
          <a:off x="2133600" y="1447800"/>
          <a:ext cx="3086100" cy="533400"/>
        </p:xfrm>
        <a:graphic>
          <a:graphicData uri="http://schemas.openxmlformats.org/presentationml/2006/ole">
            <p:oleObj spid="_x0000_s81925" name="Equation" r:id="rId8" imgW="3085920" imgH="533160" progId="Equation.3">
              <p:embed/>
            </p:oleObj>
          </a:graphicData>
        </a:graphic>
      </p:graphicFrame>
      <p:graphicFrame>
        <p:nvGraphicFramePr>
          <p:cNvPr id="81926" name="Object 1030"/>
          <p:cNvGraphicFramePr>
            <a:graphicFrameLocks noChangeAspect="1"/>
          </p:cNvGraphicFramePr>
          <p:nvPr/>
        </p:nvGraphicFramePr>
        <p:xfrm>
          <a:off x="6553200" y="3886200"/>
          <a:ext cx="1727200" cy="533400"/>
        </p:xfrm>
        <a:graphic>
          <a:graphicData uri="http://schemas.openxmlformats.org/presentationml/2006/ole">
            <p:oleObj spid="_x0000_s81926" name="Equation" r:id="rId9" imgW="172692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7CF29B-35B0-44CB-BC1F-707B9BFDD95D}" type="slidenum">
              <a:rPr lang="en-US"/>
              <a:pPr/>
              <a:t>8</a:t>
            </a:fld>
            <a:endParaRPr lang="en-US"/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2895600" y="-38100"/>
            <a:ext cx="30083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Automaton</a:t>
            </a:r>
          </a:p>
        </p:txBody>
      </p:sp>
      <p:sp>
        <p:nvSpPr>
          <p:cNvPr id="53266" name="Rectangle 18"/>
          <p:cNvSpPr>
            <a:spLocks noChangeArrowheads="1"/>
          </p:cNvSpPr>
          <p:nvPr/>
        </p:nvSpPr>
        <p:spPr bwMode="auto">
          <a:xfrm>
            <a:off x="3352800" y="2819400"/>
            <a:ext cx="15240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67" name="Text Box 19"/>
          <p:cNvSpPr txBox="1">
            <a:spLocks noChangeArrowheads="1"/>
          </p:cNvSpPr>
          <p:nvPr/>
        </p:nvSpPr>
        <p:spPr bwMode="auto">
          <a:xfrm>
            <a:off x="3657600" y="3352800"/>
            <a:ext cx="846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53268" name="Rectangle 20"/>
          <p:cNvSpPr>
            <a:spLocks noChangeArrowheads="1"/>
          </p:cNvSpPr>
          <p:nvPr/>
        </p:nvSpPr>
        <p:spPr bwMode="auto">
          <a:xfrm>
            <a:off x="1905000" y="1066800"/>
            <a:ext cx="3657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69" name="Rectangle 21"/>
          <p:cNvSpPr>
            <a:spLocks noChangeArrowheads="1"/>
          </p:cNvSpPr>
          <p:nvPr/>
        </p:nvSpPr>
        <p:spPr bwMode="auto">
          <a:xfrm>
            <a:off x="6096000" y="2590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70" name="Rectangle 22"/>
          <p:cNvSpPr>
            <a:spLocks noChangeArrowheads="1"/>
          </p:cNvSpPr>
          <p:nvPr/>
        </p:nvSpPr>
        <p:spPr bwMode="auto">
          <a:xfrm>
            <a:off x="6096000" y="38862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71" name="Rectangle 23"/>
          <p:cNvSpPr>
            <a:spLocks noChangeArrowheads="1"/>
          </p:cNvSpPr>
          <p:nvPr/>
        </p:nvSpPr>
        <p:spPr bwMode="auto">
          <a:xfrm>
            <a:off x="1981200" y="4876800"/>
            <a:ext cx="3581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72" name="Text Box 24"/>
          <p:cNvSpPr txBox="1">
            <a:spLocks noChangeArrowheads="1"/>
          </p:cNvSpPr>
          <p:nvPr/>
        </p:nvSpPr>
        <p:spPr bwMode="auto">
          <a:xfrm>
            <a:off x="6248400" y="26670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53273" name="Text Box 25"/>
          <p:cNvSpPr txBox="1">
            <a:spLocks noChangeArrowheads="1"/>
          </p:cNvSpPr>
          <p:nvPr/>
        </p:nvSpPr>
        <p:spPr bwMode="auto">
          <a:xfrm>
            <a:off x="6096000" y="39624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53274" name="Text Box 26"/>
          <p:cNvSpPr txBox="1">
            <a:spLocks noChangeArrowheads="1"/>
          </p:cNvSpPr>
          <p:nvPr/>
        </p:nvSpPr>
        <p:spPr bwMode="auto">
          <a:xfrm>
            <a:off x="2362200" y="4953000"/>
            <a:ext cx="294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Program memory</a:t>
            </a:r>
          </a:p>
        </p:txBody>
      </p:sp>
      <p:sp>
        <p:nvSpPr>
          <p:cNvPr id="53275" name="Text Box 27"/>
          <p:cNvSpPr txBox="1">
            <a:spLocks noChangeArrowheads="1"/>
          </p:cNvSpPr>
          <p:nvPr/>
        </p:nvSpPr>
        <p:spPr bwMode="auto">
          <a:xfrm>
            <a:off x="1981200" y="1143000"/>
            <a:ext cx="3311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temporary memory</a:t>
            </a:r>
          </a:p>
        </p:txBody>
      </p:sp>
      <p:sp>
        <p:nvSpPr>
          <p:cNvPr id="53276" name="Line 28"/>
          <p:cNvSpPr>
            <a:spLocks noChangeShapeType="1"/>
          </p:cNvSpPr>
          <p:nvPr/>
        </p:nvSpPr>
        <p:spPr bwMode="auto">
          <a:xfrm flipH="1">
            <a:off x="4114800" y="16764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77" name="Line 29"/>
          <p:cNvSpPr>
            <a:spLocks noChangeShapeType="1"/>
          </p:cNvSpPr>
          <p:nvPr/>
        </p:nvSpPr>
        <p:spPr bwMode="auto">
          <a:xfrm flipV="1">
            <a:off x="4876800" y="2895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78" name="Line 30"/>
          <p:cNvSpPr>
            <a:spLocks noChangeShapeType="1"/>
          </p:cNvSpPr>
          <p:nvPr/>
        </p:nvSpPr>
        <p:spPr bwMode="auto">
          <a:xfrm>
            <a:off x="4876800" y="4038600"/>
            <a:ext cx="1219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79" name="Line 31"/>
          <p:cNvSpPr>
            <a:spLocks noChangeShapeType="1"/>
          </p:cNvSpPr>
          <p:nvPr/>
        </p:nvSpPr>
        <p:spPr bwMode="auto">
          <a:xfrm>
            <a:off x="41148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3280" name="Rectangle 32"/>
          <p:cNvSpPr>
            <a:spLocks noChangeArrowheads="1"/>
          </p:cNvSpPr>
          <p:nvPr/>
        </p:nvSpPr>
        <p:spPr bwMode="auto">
          <a:xfrm>
            <a:off x="1676400" y="2667000"/>
            <a:ext cx="4038600" cy="297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3281" name="Text Box 33"/>
          <p:cNvSpPr txBox="1">
            <a:spLocks noChangeArrowheads="1"/>
          </p:cNvSpPr>
          <p:nvPr/>
        </p:nvSpPr>
        <p:spPr bwMode="auto">
          <a:xfrm>
            <a:off x="1812925" y="2206625"/>
            <a:ext cx="19843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Automaton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457AE9-DD5D-4093-B8C7-6DDCBBEBAD55}" type="slidenum">
              <a:rPr lang="en-US"/>
              <a:pPr/>
              <a:t>9</a:t>
            </a:fld>
            <a:endParaRPr lang="en-US"/>
          </a:p>
        </p:txBody>
      </p:sp>
      <p:sp>
        <p:nvSpPr>
          <p:cNvPr id="56322" name="Text Box 1026"/>
          <p:cNvSpPr txBox="1">
            <a:spLocks noChangeArrowheads="1"/>
          </p:cNvSpPr>
          <p:nvPr/>
        </p:nvSpPr>
        <p:spPr bwMode="auto">
          <a:xfrm>
            <a:off x="1600200" y="0"/>
            <a:ext cx="6369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Different Kinds of Automata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56323" name="Text Box 1027"/>
          <p:cNvSpPr txBox="1">
            <a:spLocks noChangeArrowheads="1"/>
          </p:cNvSpPr>
          <p:nvPr/>
        </p:nvSpPr>
        <p:spPr bwMode="auto">
          <a:xfrm>
            <a:off x="60325" y="835025"/>
            <a:ext cx="9159875" cy="436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Automata are distinguished by the temporary memory</a:t>
            </a:r>
          </a:p>
          <a:p>
            <a:pPr lvl="1">
              <a:buFontTx/>
              <a:buChar char="•"/>
            </a:pPr>
            <a:endParaRPr lang="en-US" sz="2800"/>
          </a:p>
          <a:p>
            <a:pPr lvl="1"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chemeClr val="tx1"/>
                </a:solidFill>
              </a:rPr>
              <a:t>Finite Automata</a:t>
            </a:r>
            <a:r>
              <a:rPr lang="en-US" sz="2800">
                <a:solidFill>
                  <a:schemeClr val="tx1"/>
                </a:solidFill>
              </a:rPr>
              <a:t>:</a:t>
            </a:r>
            <a:r>
              <a:rPr lang="en-US" sz="2800"/>
              <a:t>          no temporary memory</a:t>
            </a:r>
          </a:p>
          <a:p>
            <a:pPr lvl="3"/>
            <a:endParaRPr lang="en-US" sz="2800"/>
          </a:p>
          <a:p>
            <a:pPr lvl="1"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chemeClr val="tx1"/>
                </a:solidFill>
              </a:rPr>
              <a:t>Pushdown Automata</a:t>
            </a:r>
            <a:r>
              <a:rPr lang="en-US" sz="2800">
                <a:solidFill>
                  <a:schemeClr val="tx1"/>
                </a:solidFill>
              </a:rPr>
              <a:t>:</a:t>
            </a:r>
            <a:r>
              <a:rPr lang="en-US" sz="2800"/>
              <a:t>    stack</a:t>
            </a:r>
          </a:p>
          <a:p>
            <a:pPr lvl="1"/>
            <a:endParaRPr lang="en-US" sz="2800"/>
          </a:p>
          <a:p>
            <a:pPr lvl="1">
              <a:buFontTx/>
              <a:buChar char="•"/>
            </a:pP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chemeClr val="tx1"/>
                </a:solidFill>
              </a:rPr>
              <a:t>Turing Machines</a:t>
            </a:r>
            <a:r>
              <a:rPr lang="en-US" sz="2800">
                <a:solidFill>
                  <a:schemeClr val="tx1"/>
                </a:solidFill>
              </a:rPr>
              <a:t>:</a:t>
            </a:r>
            <a:r>
              <a:rPr lang="en-US" sz="2800"/>
              <a:t>         random access memory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CC4AC2-E42F-400A-991B-79BD7D99AB68}" type="slidenum">
              <a:rPr lang="en-US"/>
              <a:pPr/>
              <a:t>10</a:t>
            </a:fld>
            <a:endParaRPr lang="en-US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2362200" y="1295400"/>
            <a:ext cx="3657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6096000" y="28194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6096000" y="41148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6248400" y="28956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6096000" y="41910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54283" name="Text Box 11"/>
          <p:cNvSpPr txBox="1">
            <a:spLocks noChangeArrowheads="1"/>
          </p:cNvSpPr>
          <p:nvPr/>
        </p:nvSpPr>
        <p:spPr bwMode="auto">
          <a:xfrm>
            <a:off x="2590800" y="1371600"/>
            <a:ext cx="3311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temporary memory</a:t>
            </a:r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 flipH="1">
            <a:off x="4114800" y="1905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 flipV="1">
            <a:off x="5334000" y="31242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5334000" y="42672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8" name="Rectangle 16"/>
          <p:cNvSpPr>
            <a:spLocks noChangeArrowheads="1"/>
          </p:cNvSpPr>
          <p:nvPr/>
        </p:nvSpPr>
        <p:spPr bwMode="auto">
          <a:xfrm>
            <a:off x="2819400" y="2895600"/>
            <a:ext cx="25146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4289" name="Text Box 17"/>
          <p:cNvSpPr txBox="1">
            <a:spLocks noChangeArrowheads="1"/>
          </p:cNvSpPr>
          <p:nvPr/>
        </p:nvSpPr>
        <p:spPr bwMode="auto">
          <a:xfrm>
            <a:off x="3048000" y="3124200"/>
            <a:ext cx="1984375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Finite</a:t>
            </a:r>
          </a:p>
          <a:p>
            <a:r>
              <a:rPr lang="en-US" sz="2800">
                <a:solidFill>
                  <a:schemeClr val="tx1"/>
                </a:solidFill>
              </a:rPr>
              <a:t>Automaton</a:t>
            </a:r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2133600" y="0"/>
            <a:ext cx="38750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Finite Automaton</a:t>
            </a:r>
          </a:p>
        </p:txBody>
      </p:sp>
      <p:sp>
        <p:nvSpPr>
          <p:cNvPr id="54292" name="Line 20"/>
          <p:cNvSpPr>
            <a:spLocks noChangeShapeType="1"/>
          </p:cNvSpPr>
          <p:nvPr/>
        </p:nvSpPr>
        <p:spPr bwMode="auto">
          <a:xfrm>
            <a:off x="2209800" y="990600"/>
            <a:ext cx="381000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93" name="Line 21"/>
          <p:cNvSpPr>
            <a:spLocks noChangeShapeType="1"/>
          </p:cNvSpPr>
          <p:nvPr/>
        </p:nvSpPr>
        <p:spPr bwMode="auto">
          <a:xfrm flipV="1">
            <a:off x="2286000" y="914400"/>
            <a:ext cx="3657600" cy="1447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4294" name="Text Box 22"/>
          <p:cNvSpPr txBox="1">
            <a:spLocks noChangeArrowheads="1"/>
          </p:cNvSpPr>
          <p:nvPr/>
        </p:nvSpPr>
        <p:spPr bwMode="auto">
          <a:xfrm>
            <a:off x="0" y="5410200"/>
            <a:ext cx="5729288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Example: Vending Machines   </a:t>
            </a:r>
          </a:p>
          <a:p>
            <a:r>
              <a:rPr lang="en-US" sz="2800">
                <a:solidFill>
                  <a:schemeClr val="tx1"/>
                </a:solidFill>
              </a:rPr>
              <a:t>               (small computing power)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EC0150-89EE-47FA-96C7-A3A7D64F3E98}" type="slidenum">
              <a:rPr lang="en-US"/>
              <a:pPr/>
              <a:t>11</a:t>
            </a:fld>
            <a:endParaRPr lang="en-US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6096000" y="28956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auto">
          <a:xfrm>
            <a:off x="6096000" y="41910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1" name="Text Box 5"/>
          <p:cNvSpPr txBox="1">
            <a:spLocks noChangeArrowheads="1"/>
          </p:cNvSpPr>
          <p:nvPr/>
        </p:nvSpPr>
        <p:spPr bwMode="auto">
          <a:xfrm>
            <a:off x="6248400" y="29718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55302" name="Text Box 6"/>
          <p:cNvSpPr txBox="1">
            <a:spLocks noChangeArrowheads="1"/>
          </p:cNvSpPr>
          <p:nvPr/>
        </p:nvSpPr>
        <p:spPr bwMode="auto">
          <a:xfrm>
            <a:off x="6096000" y="42672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2286000" y="838200"/>
            <a:ext cx="11699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/>
              <a:t>Stack</a:t>
            </a:r>
          </a:p>
        </p:txBody>
      </p:sp>
      <p:sp>
        <p:nvSpPr>
          <p:cNvPr id="55304" name="Line 8"/>
          <p:cNvSpPr>
            <a:spLocks noChangeShapeType="1"/>
          </p:cNvSpPr>
          <p:nvPr/>
        </p:nvSpPr>
        <p:spPr bwMode="auto">
          <a:xfrm flipH="1">
            <a:off x="4114800" y="2438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5" name="Line 9"/>
          <p:cNvSpPr>
            <a:spLocks noChangeShapeType="1"/>
          </p:cNvSpPr>
          <p:nvPr/>
        </p:nvSpPr>
        <p:spPr bwMode="auto">
          <a:xfrm flipV="1">
            <a:off x="5334000" y="32004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5334000" y="43434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7" name="Rectangle 11"/>
          <p:cNvSpPr>
            <a:spLocks noChangeArrowheads="1"/>
          </p:cNvSpPr>
          <p:nvPr/>
        </p:nvSpPr>
        <p:spPr bwMode="auto">
          <a:xfrm>
            <a:off x="2819400" y="2971800"/>
            <a:ext cx="25146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08" name="Text Box 12"/>
          <p:cNvSpPr txBox="1">
            <a:spLocks noChangeArrowheads="1"/>
          </p:cNvSpPr>
          <p:nvPr/>
        </p:nvSpPr>
        <p:spPr bwMode="auto">
          <a:xfrm>
            <a:off x="3048000" y="3200400"/>
            <a:ext cx="1984375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Pushdown</a:t>
            </a:r>
          </a:p>
          <a:p>
            <a:r>
              <a:rPr lang="en-US" sz="2800">
                <a:solidFill>
                  <a:schemeClr val="tx1"/>
                </a:solidFill>
              </a:rPr>
              <a:t>Automaton</a:t>
            </a:r>
          </a:p>
        </p:txBody>
      </p:sp>
      <p:sp>
        <p:nvSpPr>
          <p:cNvPr id="55309" name="Text Box 13"/>
          <p:cNvSpPr txBox="1">
            <a:spLocks noChangeArrowheads="1"/>
          </p:cNvSpPr>
          <p:nvPr/>
        </p:nvSpPr>
        <p:spPr bwMode="auto">
          <a:xfrm>
            <a:off x="2362200" y="0"/>
            <a:ext cx="46561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Pushdown Automaton</a:t>
            </a:r>
          </a:p>
        </p:txBody>
      </p:sp>
      <p:sp>
        <p:nvSpPr>
          <p:cNvPr id="55312" name="Text Box 16"/>
          <p:cNvSpPr txBox="1">
            <a:spLocks noChangeArrowheads="1"/>
          </p:cNvSpPr>
          <p:nvPr/>
        </p:nvSpPr>
        <p:spPr bwMode="auto">
          <a:xfrm>
            <a:off x="304800" y="5486400"/>
            <a:ext cx="8237538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Example: Compilers for Programming Languages  </a:t>
            </a:r>
          </a:p>
          <a:p>
            <a:r>
              <a:rPr lang="en-US" sz="2800">
                <a:solidFill>
                  <a:schemeClr val="tx1"/>
                </a:solidFill>
              </a:rPr>
              <a:t>               (medium computing power)</a:t>
            </a:r>
          </a:p>
        </p:txBody>
      </p:sp>
      <p:sp>
        <p:nvSpPr>
          <p:cNvPr id="55313" name="Rectangle 17"/>
          <p:cNvSpPr>
            <a:spLocks noChangeArrowheads="1"/>
          </p:cNvSpPr>
          <p:nvPr/>
        </p:nvSpPr>
        <p:spPr bwMode="auto">
          <a:xfrm>
            <a:off x="3581400" y="990600"/>
            <a:ext cx="10668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5314" name="Line 18"/>
          <p:cNvSpPr>
            <a:spLocks noChangeShapeType="1"/>
          </p:cNvSpPr>
          <p:nvPr/>
        </p:nvSpPr>
        <p:spPr bwMode="auto">
          <a:xfrm>
            <a:off x="3581400" y="2133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5315" name="Line 19"/>
          <p:cNvSpPr>
            <a:spLocks noChangeShapeType="1"/>
          </p:cNvSpPr>
          <p:nvPr/>
        </p:nvSpPr>
        <p:spPr bwMode="auto">
          <a:xfrm>
            <a:off x="3581400" y="1752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5316" name="Line 20"/>
          <p:cNvSpPr>
            <a:spLocks noChangeShapeType="1"/>
          </p:cNvSpPr>
          <p:nvPr/>
        </p:nvSpPr>
        <p:spPr bwMode="auto">
          <a:xfrm flipH="1">
            <a:off x="4648200" y="1143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5317" name="Line 21"/>
          <p:cNvSpPr>
            <a:spLocks noChangeShapeType="1"/>
          </p:cNvSpPr>
          <p:nvPr/>
        </p:nvSpPr>
        <p:spPr bwMode="auto">
          <a:xfrm>
            <a:off x="3581400" y="13716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5319" name="Text Box 23"/>
          <p:cNvSpPr txBox="1">
            <a:spLocks noChangeArrowheads="1"/>
          </p:cNvSpPr>
          <p:nvPr/>
        </p:nvSpPr>
        <p:spPr bwMode="auto">
          <a:xfrm>
            <a:off x="5562600" y="914400"/>
            <a:ext cx="17002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Push, Pop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F2E2F1-9A9B-43E2-AD57-783290125E67}" type="slidenum">
              <a:rPr lang="en-US"/>
              <a:pPr/>
              <a:t>12</a:t>
            </a:fld>
            <a:endParaRPr lang="en-US"/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2362200" y="1371600"/>
            <a:ext cx="4495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6096000" y="28956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6096000" y="4191000"/>
            <a:ext cx="28194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6248400" y="2971800"/>
            <a:ext cx="2411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input memory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6096000" y="4267200"/>
            <a:ext cx="2665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output memory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2438400" y="1447800"/>
            <a:ext cx="426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/>
              <a:t>Random Access Memory</a:t>
            </a:r>
          </a:p>
        </p:txBody>
      </p:sp>
      <p:sp>
        <p:nvSpPr>
          <p:cNvPr id="57352" name="Line 8"/>
          <p:cNvSpPr>
            <a:spLocks noChangeShapeType="1"/>
          </p:cNvSpPr>
          <p:nvPr/>
        </p:nvSpPr>
        <p:spPr bwMode="auto">
          <a:xfrm flipH="1">
            <a:off x="4114800" y="19812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 flipV="1">
            <a:off x="5334000" y="3200400"/>
            <a:ext cx="762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5334000" y="43434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2819400" y="2971800"/>
            <a:ext cx="25146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3048000" y="3200400"/>
            <a:ext cx="15494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Turing</a:t>
            </a:r>
          </a:p>
          <a:p>
            <a:r>
              <a:rPr lang="en-US" sz="2800">
                <a:solidFill>
                  <a:schemeClr val="tx1"/>
                </a:solidFill>
              </a:rPr>
              <a:t>Machine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2590800" y="0"/>
            <a:ext cx="34544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Turing Machine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57358" name="Text Box 14"/>
          <p:cNvSpPr txBox="1">
            <a:spLocks noChangeArrowheads="1"/>
          </p:cNvSpPr>
          <p:nvPr/>
        </p:nvSpPr>
        <p:spPr bwMode="auto">
          <a:xfrm>
            <a:off x="762000" y="5486400"/>
            <a:ext cx="6351588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chemeClr val="tx1"/>
                </a:solidFill>
              </a:rPr>
              <a:t>Examples: Any Algorithm </a:t>
            </a:r>
          </a:p>
          <a:p>
            <a:r>
              <a:rPr lang="en-US" sz="2800">
                <a:solidFill>
                  <a:schemeClr val="tx1"/>
                </a:solidFill>
              </a:rPr>
              <a:t>                 (highest computing power)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085027-83F7-4ED7-B43C-55981DD4477E}" type="slidenum">
              <a:rPr lang="en-US"/>
              <a:pPr/>
              <a:t>13</a:t>
            </a:fld>
            <a:endParaRPr lang="en-US"/>
          </a:p>
        </p:txBody>
      </p:sp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228600" y="2209800"/>
            <a:ext cx="1793875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Finite </a:t>
            </a:r>
          </a:p>
          <a:p>
            <a:r>
              <a:rPr lang="en-US" sz="2800"/>
              <a:t>Automata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3657600" y="2286000"/>
            <a:ext cx="1793875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Pushdown</a:t>
            </a:r>
          </a:p>
          <a:p>
            <a:r>
              <a:rPr lang="en-US" sz="2800"/>
              <a:t>Automata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6934200" y="2362200"/>
            <a:ext cx="15494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Turing</a:t>
            </a:r>
          </a:p>
          <a:p>
            <a:r>
              <a:rPr lang="en-US" sz="2800"/>
              <a:t>Machine</a:t>
            </a:r>
          </a:p>
        </p:txBody>
      </p:sp>
      <p:sp>
        <p:nvSpPr>
          <p:cNvPr id="60421" name="Line 5"/>
          <p:cNvSpPr>
            <a:spLocks noChangeShapeType="1"/>
          </p:cNvSpPr>
          <p:nvPr/>
        </p:nvSpPr>
        <p:spPr bwMode="auto">
          <a:xfrm flipH="1">
            <a:off x="2667000" y="2362200"/>
            <a:ext cx="533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422" name="Line 6"/>
          <p:cNvSpPr>
            <a:spLocks noChangeShapeType="1"/>
          </p:cNvSpPr>
          <p:nvPr/>
        </p:nvSpPr>
        <p:spPr bwMode="auto">
          <a:xfrm>
            <a:off x="2667000" y="2971800"/>
            <a:ext cx="533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0423" name="Line 7"/>
          <p:cNvSpPr>
            <a:spLocks noChangeShapeType="1"/>
          </p:cNvSpPr>
          <p:nvPr/>
        </p:nvSpPr>
        <p:spPr bwMode="auto">
          <a:xfrm flipH="1">
            <a:off x="5867400" y="2362200"/>
            <a:ext cx="533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0424" name="Line 8"/>
          <p:cNvSpPr>
            <a:spLocks noChangeShapeType="1"/>
          </p:cNvSpPr>
          <p:nvPr/>
        </p:nvSpPr>
        <p:spPr bwMode="auto">
          <a:xfrm>
            <a:off x="5867400" y="2971800"/>
            <a:ext cx="533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2590800" y="228600"/>
            <a:ext cx="42560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Power of Automata</a:t>
            </a:r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2895600" y="4876800"/>
            <a:ext cx="320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0427" name="Text Box 11"/>
          <p:cNvSpPr txBox="1">
            <a:spLocks noChangeArrowheads="1"/>
          </p:cNvSpPr>
          <p:nvPr/>
        </p:nvSpPr>
        <p:spPr bwMode="auto">
          <a:xfrm>
            <a:off x="228600" y="4572000"/>
            <a:ext cx="20145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Less power</a:t>
            </a:r>
          </a:p>
        </p:txBody>
      </p:sp>
      <p:sp>
        <p:nvSpPr>
          <p:cNvPr id="60428" name="Text Box 12"/>
          <p:cNvSpPr txBox="1">
            <a:spLocks noChangeArrowheads="1"/>
          </p:cNvSpPr>
          <p:nvPr/>
        </p:nvSpPr>
        <p:spPr bwMode="auto">
          <a:xfrm>
            <a:off x="6400800" y="4572000"/>
            <a:ext cx="21463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More power</a:t>
            </a:r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4572000" y="5105400"/>
            <a:ext cx="4084638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Solve more </a:t>
            </a:r>
          </a:p>
          <a:p>
            <a:r>
              <a:rPr lang="en-US" sz="2800"/>
              <a:t>computational problems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1220</TotalTime>
  <Words>198</Words>
  <Application>Microsoft Office PowerPoint</Application>
  <PresentationFormat>Letter Paper (8.5x11 in)</PresentationFormat>
  <Paragraphs>103</Paragraphs>
  <Slides>13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Blank Presentation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Costas Busch</dc:creator>
  <cp:lastModifiedBy>mnaidjate</cp:lastModifiedBy>
  <cp:revision>232</cp:revision>
  <cp:lastPrinted>2000-09-02T15:32:43Z</cp:lastPrinted>
  <dcterms:created xsi:type="dcterms:W3CDTF">2000-08-19T02:59:50Z</dcterms:created>
  <dcterms:modified xsi:type="dcterms:W3CDTF">2014-01-11T17:46:34Z</dcterms:modified>
</cp:coreProperties>
</file>