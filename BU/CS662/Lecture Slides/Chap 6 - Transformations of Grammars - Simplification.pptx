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83" r:id="rId2"/>
    <p:sldId id="284" r:id="rId3"/>
    <p:sldId id="334" r:id="rId4"/>
    <p:sldId id="285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33" r:id="rId45"/>
    <p:sldId id="326" r:id="rId46"/>
    <p:sldId id="327" r:id="rId47"/>
    <p:sldId id="328" r:id="rId48"/>
    <p:sldId id="329" r:id="rId49"/>
    <p:sldId id="330" r:id="rId50"/>
    <p:sldId id="331" r:id="rId51"/>
    <p:sldId id="332" r:id="rId52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90929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3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3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4" Type="http://schemas.openxmlformats.org/officeDocument/2006/relationships/image" Target="../media/image6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4" Type="http://schemas.openxmlformats.org/officeDocument/2006/relationships/image" Target="../media/image87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8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1AC5D263-1F1E-4F0C-B40D-0AD2B2DE0B8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4A27D53B-F891-4FF0-BA34-E7564E21344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BAE598-8635-4390-874F-EBFBF37BC4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F286A9-81F8-4621-9873-3C8C813559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15CB7B-FBCB-4AA1-9582-745E3DB808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4E8FC-01F8-439E-9830-95A6EAE767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F0480D-0101-4FE5-BCB3-C43BA05C63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A1AEB-9CD2-4C66-A9B4-79E78F5F762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53881-6E7E-478D-9ECA-72F6BFECD1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49DF7-B7FA-423B-AA3B-664CB5A613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4405F1-55EC-4FB0-9ECA-611FF70D71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A424C9-61F5-4C88-B45C-07947DDAC0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BDCC1-B0D4-4009-8DDA-E4D92547888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59C9FFB0-CA24-4BF0-9D76-AE33C043FCC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3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oleObject" Target="../embeddings/oleObject3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4.bin"/><Relationship Id="rId5" Type="http://schemas.openxmlformats.org/officeDocument/2006/relationships/oleObject" Target="../embeddings/oleObject43.bin"/><Relationship Id="rId4" Type="http://schemas.openxmlformats.org/officeDocument/2006/relationships/oleObject" Target="../embeddings/oleObject4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47.bin"/><Relationship Id="rId4" Type="http://schemas.openxmlformats.org/officeDocument/2006/relationships/oleObject" Target="../embeddings/oleObject4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1.bin"/><Relationship Id="rId5" Type="http://schemas.openxmlformats.org/officeDocument/2006/relationships/oleObject" Target="../embeddings/oleObject50.bin"/><Relationship Id="rId4" Type="http://schemas.openxmlformats.org/officeDocument/2006/relationships/oleObject" Target="../embeddings/oleObject4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oleObject" Target="../embeddings/oleObject54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4" Type="http://schemas.openxmlformats.org/officeDocument/2006/relationships/oleObject" Target="../embeddings/oleObject5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oleObject" Target="../embeddings/oleObject58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62.bin"/><Relationship Id="rId4" Type="http://schemas.openxmlformats.org/officeDocument/2006/relationships/oleObject" Target="../embeddings/oleObject6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5" Type="http://schemas.openxmlformats.org/officeDocument/2006/relationships/oleObject" Target="../embeddings/oleObject65.bin"/><Relationship Id="rId4" Type="http://schemas.openxmlformats.org/officeDocument/2006/relationships/oleObject" Target="../embeddings/oleObject64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5" Type="http://schemas.openxmlformats.org/officeDocument/2006/relationships/oleObject" Target="../embeddings/oleObject68.bin"/><Relationship Id="rId4" Type="http://schemas.openxmlformats.org/officeDocument/2006/relationships/oleObject" Target="../embeddings/oleObject6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7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oleObject" Target="../embeddings/oleObject7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4.vml"/><Relationship Id="rId4" Type="http://schemas.openxmlformats.org/officeDocument/2006/relationships/oleObject" Target="../embeddings/oleObject8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4" Type="http://schemas.openxmlformats.org/officeDocument/2006/relationships/oleObject" Target="../embeddings/oleObject84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oleObject" Target="../embeddings/oleObject86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5" Type="http://schemas.openxmlformats.org/officeDocument/2006/relationships/oleObject" Target="../embeddings/oleObject90.bin"/><Relationship Id="rId4" Type="http://schemas.openxmlformats.org/officeDocument/2006/relationships/oleObject" Target="../embeddings/oleObject89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94.bin"/><Relationship Id="rId5" Type="http://schemas.openxmlformats.org/officeDocument/2006/relationships/oleObject" Target="../embeddings/oleObject93.bin"/><Relationship Id="rId4" Type="http://schemas.openxmlformats.org/officeDocument/2006/relationships/oleObject" Target="../embeddings/oleObject9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4" Type="http://schemas.openxmlformats.org/officeDocument/2006/relationships/oleObject" Target="../embeddings/oleObject9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2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oleObject" Target="../embeddings/oleObject96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3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4" Type="http://schemas.openxmlformats.org/officeDocument/2006/relationships/oleObject" Target="../embeddings/oleObject9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4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4" Type="http://schemas.openxmlformats.org/officeDocument/2006/relationships/oleObject" Target="../embeddings/oleObject98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4" Type="http://schemas.openxmlformats.org/officeDocument/2006/relationships/oleObject" Target="../embeddings/oleObject10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Simplifications </a:t>
            </a:r>
            <a:br>
              <a:rPr lang="en-US" sz="4400"/>
            </a:br>
            <a:r>
              <a:rPr lang="en-US" sz="4400"/>
              <a:t>of </a:t>
            </a:r>
            <a:br>
              <a:rPr lang="en-US" sz="4400"/>
            </a:br>
            <a:r>
              <a:rPr lang="en-US" sz="4400"/>
              <a:t>Context-Free Grammars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B7D6-939B-44C4-829B-F4ABE534AD4C}" type="slidenum">
              <a:rPr lang="en-US"/>
              <a:pPr/>
              <a:t>2</a:t>
            </a:fld>
            <a:endParaRPr lang="en-US"/>
          </a:p>
        </p:txBody>
      </p:sp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Substitution Rule</a:t>
            </a:r>
          </a:p>
        </p:txBody>
      </p:sp>
      <p:graphicFrame>
        <p:nvGraphicFramePr>
          <p:cNvPr id="431107" name="Object 3"/>
          <p:cNvGraphicFramePr>
            <a:graphicFrameLocks noChangeAspect="1"/>
          </p:cNvGraphicFramePr>
          <p:nvPr/>
        </p:nvGraphicFramePr>
        <p:xfrm>
          <a:off x="158750" y="2590800"/>
          <a:ext cx="2120900" cy="3467100"/>
        </p:xfrm>
        <a:graphic>
          <a:graphicData uri="http://schemas.openxmlformats.org/presentationml/2006/ole">
            <p:oleObj spid="_x0000_s431107" name="Equation" r:id="rId3" imgW="2120760" imgH="3466800" progId="Equation.3">
              <p:embed/>
            </p:oleObj>
          </a:graphicData>
        </a:graphic>
      </p:graphicFrame>
      <p:sp>
        <p:nvSpPr>
          <p:cNvPr id="431109" name="AutoShape 5"/>
          <p:cNvSpPr>
            <a:spLocks noChangeArrowheads="1"/>
          </p:cNvSpPr>
          <p:nvPr/>
        </p:nvSpPr>
        <p:spPr bwMode="auto">
          <a:xfrm>
            <a:off x="2514600" y="3200400"/>
            <a:ext cx="2895600" cy="2246313"/>
          </a:xfrm>
          <a:prstGeom prst="rightArrow">
            <a:avLst>
              <a:gd name="adj1" fmla="val 50000"/>
              <a:gd name="adj2" fmla="val 32226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</a:t>
            </a:r>
          </a:p>
          <a:p>
            <a:pPr algn="ctr"/>
            <a:endParaRPr lang="en-US" i="1">
              <a:solidFill>
                <a:schemeClr val="tx1"/>
              </a:solidFill>
            </a:endParaRPr>
          </a:p>
        </p:txBody>
      </p:sp>
      <p:sp>
        <p:nvSpPr>
          <p:cNvPr id="431110" name="Text Box 6"/>
          <p:cNvSpPr txBox="1">
            <a:spLocks noChangeArrowheads="1"/>
          </p:cNvSpPr>
          <p:nvPr/>
        </p:nvSpPr>
        <p:spPr bwMode="auto">
          <a:xfrm>
            <a:off x="5791200" y="1447800"/>
            <a:ext cx="21193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</a:t>
            </a:r>
          </a:p>
          <a:p>
            <a:r>
              <a:rPr lang="en-US"/>
              <a:t>grammar</a:t>
            </a:r>
          </a:p>
        </p:txBody>
      </p:sp>
      <p:graphicFrame>
        <p:nvGraphicFramePr>
          <p:cNvPr id="431116" name="Object 12"/>
          <p:cNvGraphicFramePr>
            <a:graphicFrameLocks noChangeAspect="1"/>
          </p:cNvGraphicFramePr>
          <p:nvPr/>
        </p:nvGraphicFramePr>
        <p:xfrm>
          <a:off x="5638800" y="2895600"/>
          <a:ext cx="3390900" cy="2717800"/>
        </p:xfrm>
        <a:graphic>
          <a:graphicData uri="http://schemas.openxmlformats.org/presentationml/2006/ole">
            <p:oleObj spid="_x0000_s431116" name="Equation" r:id="rId4" imgW="3390840" imgH="2717640" progId="Equation.3">
              <p:embed/>
            </p:oleObj>
          </a:graphicData>
        </a:graphic>
      </p:graphicFrame>
      <p:graphicFrame>
        <p:nvGraphicFramePr>
          <p:cNvPr id="431117" name="Object 13"/>
          <p:cNvGraphicFramePr>
            <a:graphicFrameLocks noChangeAspect="1"/>
          </p:cNvGraphicFramePr>
          <p:nvPr/>
        </p:nvGraphicFramePr>
        <p:xfrm>
          <a:off x="3124200" y="4343400"/>
          <a:ext cx="1320800" cy="431800"/>
        </p:xfrm>
        <a:graphic>
          <a:graphicData uri="http://schemas.openxmlformats.org/presentationml/2006/ole">
            <p:oleObj spid="_x0000_s431117" name="Equation" r:id="rId5" imgW="13204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FB30-EB8C-4A2F-A811-BCE9BB59827A}" type="slidenum">
              <a:rPr lang="en-US"/>
              <a:pPr/>
              <a:t>3</a:t>
            </a:fld>
            <a:endParaRPr lang="en-US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Substitution Rule</a:t>
            </a:r>
          </a:p>
        </p:txBody>
      </p:sp>
      <p:sp>
        <p:nvSpPr>
          <p:cNvPr id="512005" name="Text Box 5"/>
          <p:cNvSpPr txBox="1">
            <a:spLocks noChangeArrowheads="1"/>
          </p:cNvSpPr>
          <p:nvPr/>
        </p:nvSpPr>
        <p:spPr bwMode="auto">
          <a:xfrm>
            <a:off x="6400800" y="5105400"/>
            <a:ext cx="21193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</a:t>
            </a:r>
          </a:p>
          <a:p>
            <a:r>
              <a:rPr lang="en-US"/>
              <a:t>grammar</a:t>
            </a:r>
          </a:p>
        </p:txBody>
      </p:sp>
      <p:graphicFrame>
        <p:nvGraphicFramePr>
          <p:cNvPr id="523264" name="Object 1024"/>
          <p:cNvGraphicFramePr>
            <a:graphicFrameLocks noChangeAspect="1"/>
          </p:cNvGraphicFramePr>
          <p:nvPr/>
        </p:nvGraphicFramePr>
        <p:xfrm>
          <a:off x="2133600" y="4876800"/>
          <a:ext cx="3733800" cy="1543050"/>
        </p:xfrm>
        <a:graphic>
          <a:graphicData uri="http://schemas.openxmlformats.org/presentationml/2006/ole">
            <p:oleObj spid="_x0000_s523264" name="Equation" r:id="rId3" imgW="4978080" imgH="2057400" progId="Equation.3">
              <p:embed/>
            </p:oleObj>
          </a:graphicData>
        </a:graphic>
      </p:graphicFrame>
      <p:graphicFrame>
        <p:nvGraphicFramePr>
          <p:cNvPr id="523265" name="Object 1025"/>
          <p:cNvGraphicFramePr>
            <a:graphicFrameLocks noChangeAspect="1"/>
          </p:cNvGraphicFramePr>
          <p:nvPr/>
        </p:nvGraphicFramePr>
        <p:xfrm>
          <a:off x="2667000" y="990600"/>
          <a:ext cx="2667000" cy="2136775"/>
        </p:xfrm>
        <a:graphic>
          <a:graphicData uri="http://schemas.openxmlformats.org/presentationml/2006/ole">
            <p:oleObj spid="_x0000_s523265" name="Equation" r:id="rId4" imgW="3390840" imgH="2717640" progId="Equation.3">
              <p:embed/>
            </p:oleObj>
          </a:graphicData>
        </a:graphic>
      </p:graphicFrame>
      <p:sp>
        <p:nvSpPr>
          <p:cNvPr id="512009" name="AutoShape 9"/>
          <p:cNvSpPr>
            <a:spLocks noChangeArrowheads="1"/>
          </p:cNvSpPr>
          <p:nvPr/>
        </p:nvSpPr>
        <p:spPr bwMode="auto">
          <a:xfrm>
            <a:off x="1524000" y="3303588"/>
            <a:ext cx="4568825" cy="132715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 </a:t>
            </a:r>
            <a:endParaRPr lang="en-US" i="1">
              <a:solidFill>
                <a:schemeClr val="tx1"/>
              </a:solidFill>
            </a:endParaRPr>
          </a:p>
          <a:p>
            <a:pPr algn="ctr"/>
            <a:endParaRPr lang="en-US" i="1">
              <a:solidFill>
                <a:schemeClr val="tx1"/>
              </a:solidFill>
            </a:endParaRPr>
          </a:p>
        </p:txBody>
      </p:sp>
      <p:graphicFrame>
        <p:nvGraphicFramePr>
          <p:cNvPr id="523266" name="Object 1026"/>
          <p:cNvGraphicFramePr>
            <a:graphicFrameLocks noChangeAspect="1"/>
          </p:cNvGraphicFramePr>
          <p:nvPr/>
        </p:nvGraphicFramePr>
        <p:xfrm>
          <a:off x="3048000" y="3886200"/>
          <a:ext cx="1625600" cy="419100"/>
        </p:xfrm>
        <a:graphic>
          <a:graphicData uri="http://schemas.openxmlformats.org/presentationml/2006/ole">
            <p:oleObj spid="_x0000_s523266" name="Equation" r:id="rId5" imgW="1625400" imgH="419040" progId="Equation.3">
              <p:embed/>
            </p:oleObj>
          </a:graphicData>
        </a:graphic>
      </p:graphicFrame>
      <p:grpSp>
        <p:nvGrpSpPr>
          <p:cNvPr id="512015" name="Group 15"/>
          <p:cNvGrpSpPr>
            <a:grpSpLocks/>
          </p:cNvGrpSpPr>
          <p:nvPr/>
        </p:nvGrpSpPr>
        <p:grpSpPr bwMode="auto">
          <a:xfrm>
            <a:off x="2895600" y="4724400"/>
            <a:ext cx="457200" cy="533400"/>
            <a:chOff x="1824" y="2976"/>
            <a:chExt cx="288" cy="336"/>
          </a:xfrm>
        </p:grpSpPr>
        <p:sp>
          <p:nvSpPr>
            <p:cNvPr id="512011" name="Line 11"/>
            <p:cNvSpPr>
              <a:spLocks noChangeShapeType="1"/>
            </p:cNvSpPr>
            <p:nvPr/>
          </p:nvSpPr>
          <p:spPr bwMode="auto">
            <a:xfrm>
              <a:off x="1824" y="2976"/>
              <a:ext cx="288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12012" name="Line 12"/>
            <p:cNvSpPr>
              <a:spLocks noChangeShapeType="1"/>
            </p:cNvSpPr>
            <p:nvPr/>
          </p:nvSpPr>
          <p:spPr bwMode="auto">
            <a:xfrm flipH="1">
              <a:off x="1824" y="2976"/>
              <a:ext cx="288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512016" name="Group 16"/>
          <p:cNvGrpSpPr>
            <a:grpSpLocks/>
          </p:cNvGrpSpPr>
          <p:nvPr/>
        </p:nvGrpSpPr>
        <p:grpSpPr bwMode="auto">
          <a:xfrm>
            <a:off x="2895600" y="5943600"/>
            <a:ext cx="762000" cy="533400"/>
            <a:chOff x="1824" y="3744"/>
            <a:chExt cx="480" cy="336"/>
          </a:xfrm>
        </p:grpSpPr>
        <p:sp>
          <p:nvSpPr>
            <p:cNvPr id="512013" name="Line 13"/>
            <p:cNvSpPr>
              <a:spLocks noChangeShapeType="1"/>
            </p:cNvSpPr>
            <p:nvPr/>
          </p:nvSpPr>
          <p:spPr bwMode="auto">
            <a:xfrm>
              <a:off x="1824" y="3744"/>
              <a:ext cx="432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12014" name="Line 14"/>
            <p:cNvSpPr>
              <a:spLocks noChangeShapeType="1"/>
            </p:cNvSpPr>
            <p:nvPr/>
          </p:nvSpPr>
          <p:spPr bwMode="auto">
            <a:xfrm flipH="1">
              <a:off x="1824" y="3744"/>
              <a:ext cx="480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1BBA-8CD1-4AAB-838B-09856F4FBB86}" type="slidenum">
              <a:rPr lang="en-US"/>
              <a:pPr/>
              <a:t>4</a:t>
            </a:fld>
            <a:endParaRPr lang="en-US"/>
          </a:p>
        </p:txBody>
      </p:sp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212725" y="25400"/>
            <a:ext cx="2251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general:</a:t>
            </a:r>
          </a:p>
        </p:txBody>
      </p:sp>
      <p:graphicFrame>
        <p:nvGraphicFramePr>
          <p:cNvPr id="432131" name="Object 3"/>
          <p:cNvGraphicFramePr>
            <a:graphicFrameLocks noChangeAspect="1"/>
          </p:cNvGraphicFramePr>
          <p:nvPr/>
        </p:nvGraphicFramePr>
        <p:xfrm>
          <a:off x="2819400" y="762000"/>
          <a:ext cx="1854200" cy="2057400"/>
        </p:xfrm>
        <a:graphic>
          <a:graphicData uri="http://schemas.openxmlformats.org/presentationml/2006/ole">
            <p:oleObj spid="_x0000_s432131" name="Equation" r:id="rId3" imgW="1854000" imgH="2057400" progId="Equation.3">
              <p:embed/>
            </p:oleObj>
          </a:graphicData>
        </a:graphic>
      </p:graphicFrame>
      <p:sp>
        <p:nvSpPr>
          <p:cNvPr id="432132" name="AutoShape 4"/>
          <p:cNvSpPr>
            <a:spLocks noChangeArrowheads="1"/>
          </p:cNvSpPr>
          <p:nvPr/>
        </p:nvSpPr>
        <p:spPr bwMode="auto">
          <a:xfrm>
            <a:off x="1295400" y="3455988"/>
            <a:ext cx="4568825" cy="132715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</a:t>
            </a:r>
          </a:p>
          <a:p>
            <a:pPr algn="ctr"/>
            <a:r>
              <a:rPr lang="en-US">
                <a:solidFill>
                  <a:srgbClr val="FF3300"/>
                </a:solidFill>
              </a:rPr>
              <a:t> </a:t>
            </a:r>
            <a:endParaRPr lang="en-US" i="1">
              <a:solidFill>
                <a:schemeClr val="tx1"/>
              </a:solidFill>
            </a:endParaRPr>
          </a:p>
        </p:txBody>
      </p:sp>
      <p:graphicFrame>
        <p:nvGraphicFramePr>
          <p:cNvPr id="432133" name="Object 5"/>
          <p:cNvGraphicFramePr>
            <a:graphicFrameLocks noChangeAspect="1"/>
          </p:cNvGraphicFramePr>
          <p:nvPr/>
        </p:nvGraphicFramePr>
        <p:xfrm>
          <a:off x="2286000" y="5562600"/>
          <a:ext cx="2984500" cy="569913"/>
        </p:xfrm>
        <a:graphic>
          <a:graphicData uri="http://schemas.openxmlformats.org/presentationml/2006/ole">
            <p:oleObj spid="_x0000_s432133" name="Equation" r:id="rId4" imgW="2984400" imgH="571320" progId="Equation.3">
              <p:embed/>
            </p:oleObj>
          </a:graphicData>
        </a:graphic>
      </p:graphicFrame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6324600" y="5181600"/>
            <a:ext cx="20875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</a:t>
            </a:r>
          </a:p>
          <a:p>
            <a:r>
              <a:rPr lang="en-US"/>
              <a:t>grammar</a:t>
            </a:r>
          </a:p>
        </p:txBody>
      </p:sp>
      <p:graphicFrame>
        <p:nvGraphicFramePr>
          <p:cNvPr id="432135" name="Object 7"/>
          <p:cNvGraphicFramePr>
            <a:graphicFrameLocks noChangeAspect="1"/>
          </p:cNvGraphicFramePr>
          <p:nvPr/>
        </p:nvGraphicFramePr>
        <p:xfrm>
          <a:off x="2819400" y="4038600"/>
          <a:ext cx="1485900" cy="571500"/>
        </p:xfrm>
        <a:graphic>
          <a:graphicData uri="http://schemas.openxmlformats.org/presentationml/2006/ole">
            <p:oleObj spid="_x0000_s432135" name="Equation" r:id="rId5" imgW="148572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7DA04-9C2E-4AF3-B9A9-512DB453E0E3}" type="slidenum">
              <a:rPr lang="en-US"/>
              <a:pPr/>
              <a:t>5</a:t>
            </a:fld>
            <a:endParaRPr lang="en-US"/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Nullable Variables</a:t>
            </a:r>
          </a:p>
        </p:txBody>
      </p:sp>
      <p:sp>
        <p:nvSpPr>
          <p:cNvPr id="513027" name="Text Box 3"/>
          <p:cNvSpPr txBox="1">
            <a:spLocks noChangeArrowheads="1"/>
          </p:cNvSpPr>
          <p:nvPr/>
        </p:nvSpPr>
        <p:spPr bwMode="auto">
          <a:xfrm>
            <a:off x="746125" y="16256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24288" name="Object 0"/>
          <p:cNvGraphicFramePr>
            <a:graphicFrameLocks noChangeAspect="1"/>
          </p:cNvGraphicFramePr>
          <p:nvPr/>
        </p:nvGraphicFramePr>
        <p:xfrm>
          <a:off x="374650" y="2032000"/>
          <a:ext cx="3187700" cy="531813"/>
        </p:xfrm>
        <a:graphic>
          <a:graphicData uri="http://schemas.openxmlformats.org/presentationml/2006/ole">
            <p:oleObj spid="_x0000_s524288" name="Equation" r:id="rId3" imgW="3187440" imgH="533160" progId="Equation.3">
              <p:embed/>
            </p:oleObj>
          </a:graphicData>
        </a:graphic>
      </p:graphicFrame>
      <p:graphicFrame>
        <p:nvGraphicFramePr>
          <p:cNvPr id="524289" name="Object 1"/>
          <p:cNvGraphicFramePr>
            <a:graphicFrameLocks noChangeAspect="1"/>
          </p:cNvGraphicFramePr>
          <p:nvPr/>
        </p:nvGraphicFramePr>
        <p:xfrm>
          <a:off x="5257800" y="2057400"/>
          <a:ext cx="1384300" cy="419100"/>
        </p:xfrm>
        <a:graphic>
          <a:graphicData uri="http://schemas.openxmlformats.org/presentationml/2006/ole">
            <p:oleObj spid="_x0000_s524289" name="Equation" r:id="rId4" imgW="1384200" imgH="419040" progId="Equation.3">
              <p:embed/>
            </p:oleObj>
          </a:graphicData>
        </a:graphic>
      </p:graphicFrame>
      <p:sp>
        <p:nvSpPr>
          <p:cNvPr id="513030" name="Text Box 6"/>
          <p:cNvSpPr txBox="1">
            <a:spLocks noChangeArrowheads="1"/>
          </p:cNvSpPr>
          <p:nvPr/>
        </p:nvSpPr>
        <p:spPr bwMode="auto">
          <a:xfrm>
            <a:off x="304800" y="3810000"/>
            <a:ext cx="3532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Nullable Variable:</a:t>
            </a:r>
          </a:p>
        </p:txBody>
      </p:sp>
      <p:graphicFrame>
        <p:nvGraphicFramePr>
          <p:cNvPr id="524290" name="Object 2"/>
          <p:cNvGraphicFramePr>
            <a:graphicFrameLocks noChangeAspect="1"/>
          </p:cNvGraphicFramePr>
          <p:nvPr/>
        </p:nvGraphicFramePr>
        <p:xfrm>
          <a:off x="5257800" y="3886200"/>
          <a:ext cx="2514600" cy="419100"/>
        </p:xfrm>
        <a:graphic>
          <a:graphicData uri="http://schemas.openxmlformats.org/presentationml/2006/ole">
            <p:oleObj spid="_x0000_s524290" name="Equation" r:id="rId5" imgW="251460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326CD-EE06-45F1-9428-A6B90C90BF34}" type="slidenum">
              <a:rPr lang="en-US"/>
              <a:pPr/>
              <a:t>6</a:t>
            </a:fld>
            <a:endParaRPr lang="en-US"/>
          </a:p>
        </p:txBody>
      </p:sp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Nullable Variables</a:t>
            </a:r>
          </a:p>
        </p:txBody>
      </p:sp>
      <p:sp>
        <p:nvSpPr>
          <p:cNvPr id="514051" name="Text Box 3"/>
          <p:cNvSpPr txBox="1">
            <a:spLocks noChangeArrowheads="1"/>
          </p:cNvSpPr>
          <p:nvPr/>
        </p:nvSpPr>
        <p:spPr bwMode="auto">
          <a:xfrm>
            <a:off x="228600" y="1524000"/>
            <a:ext cx="3711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Grammar:</a:t>
            </a:r>
          </a:p>
        </p:txBody>
      </p:sp>
      <p:graphicFrame>
        <p:nvGraphicFramePr>
          <p:cNvPr id="514052" name="Object 4"/>
          <p:cNvGraphicFramePr>
            <a:graphicFrameLocks noChangeAspect="1"/>
          </p:cNvGraphicFramePr>
          <p:nvPr/>
        </p:nvGraphicFramePr>
        <p:xfrm>
          <a:off x="3244850" y="2495550"/>
          <a:ext cx="2184400" cy="1955800"/>
        </p:xfrm>
        <a:graphic>
          <a:graphicData uri="http://schemas.openxmlformats.org/presentationml/2006/ole">
            <p:oleObj spid="_x0000_s514052" name="Equation" r:id="rId3" imgW="2184120" imgH="1955520" progId="Equation.3">
              <p:embed/>
            </p:oleObj>
          </a:graphicData>
        </a:graphic>
      </p:graphicFrame>
      <p:sp>
        <p:nvSpPr>
          <p:cNvPr id="514053" name="Line 5"/>
          <p:cNvSpPr>
            <a:spLocks noChangeShapeType="1"/>
          </p:cNvSpPr>
          <p:nvPr/>
        </p:nvSpPr>
        <p:spPr bwMode="auto">
          <a:xfrm flipV="1">
            <a:off x="2438400" y="4572000"/>
            <a:ext cx="7620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14054" name="Text Box 6"/>
          <p:cNvSpPr txBox="1">
            <a:spLocks noChangeArrowheads="1"/>
          </p:cNvSpPr>
          <p:nvPr/>
        </p:nvSpPr>
        <p:spPr bwMode="auto">
          <a:xfrm>
            <a:off x="762000" y="5334000"/>
            <a:ext cx="3344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Nullable 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AA3EA-CB59-4A02-B408-B2D2435B36D1}" type="slidenum">
              <a:rPr lang="en-US"/>
              <a:pPr/>
              <a:t>7</a:t>
            </a:fld>
            <a:endParaRPr lang="en-US"/>
          </a:p>
        </p:txBody>
      </p:sp>
      <p:graphicFrame>
        <p:nvGraphicFramePr>
          <p:cNvPr id="515074" name="Object 2"/>
          <p:cNvGraphicFramePr>
            <a:graphicFrameLocks noChangeAspect="1"/>
          </p:cNvGraphicFramePr>
          <p:nvPr/>
        </p:nvGraphicFramePr>
        <p:xfrm>
          <a:off x="3581400" y="3622675"/>
          <a:ext cx="1409700" cy="381000"/>
        </p:xfrm>
        <a:graphic>
          <a:graphicData uri="http://schemas.openxmlformats.org/presentationml/2006/ole">
            <p:oleObj spid="_x0000_s515074" name="Equation" r:id="rId3" imgW="1409400" imgH="380880" progId="Equation.3">
              <p:embed/>
            </p:oleObj>
          </a:graphicData>
        </a:graphic>
      </p:graphicFrame>
      <p:graphicFrame>
        <p:nvGraphicFramePr>
          <p:cNvPr id="515075" name="Object 3"/>
          <p:cNvGraphicFramePr>
            <a:graphicFrameLocks noChangeAspect="1"/>
          </p:cNvGraphicFramePr>
          <p:nvPr/>
        </p:nvGraphicFramePr>
        <p:xfrm>
          <a:off x="381000" y="2743200"/>
          <a:ext cx="2184400" cy="1955800"/>
        </p:xfrm>
        <a:graphic>
          <a:graphicData uri="http://schemas.openxmlformats.org/presentationml/2006/ole">
            <p:oleObj spid="_x0000_s515075" name="Equation" r:id="rId4" imgW="2184120" imgH="1955520" progId="Equation.3">
              <p:embed/>
            </p:oleObj>
          </a:graphicData>
        </a:graphic>
      </p:graphicFrame>
      <p:sp>
        <p:nvSpPr>
          <p:cNvPr id="515076" name="AutoShape 4"/>
          <p:cNvSpPr>
            <a:spLocks noChangeArrowheads="1"/>
          </p:cNvSpPr>
          <p:nvPr/>
        </p:nvSpPr>
        <p:spPr bwMode="auto">
          <a:xfrm>
            <a:off x="3124200" y="2514600"/>
            <a:ext cx="2895600" cy="2246313"/>
          </a:xfrm>
          <a:prstGeom prst="rightArrow">
            <a:avLst>
              <a:gd name="adj1" fmla="val 50000"/>
              <a:gd name="adj2" fmla="val 32226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</a:t>
            </a:r>
          </a:p>
          <a:p>
            <a:pPr algn="ctr"/>
            <a:endParaRPr lang="en-US"/>
          </a:p>
        </p:txBody>
      </p:sp>
      <p:graphicFrame>
        <p:nvGraphicFramePr>
          <p:cNvPr id="515077" name="Object 5"/>
          <p:cNvGraphicFramePr>
            <a:graphicFrameLocks noChangeAspect="1"/>
          </p:cNvGraphicFramePr>
          <p:nvPr/>
        </p:nvGraphicFramePr>
        <p:xfrm>
          <a:off x="6400800" y="2362200"/>
          <a:ext cx="2184400" cy="2717800"/>
        </p:xfrm>
        <a:graphic>
          <a:graphicData uri="http://schemas.openxmlformats.org/presentationml/2006/ole">
            <p:oleObj spid="_x0000_s515077" name="Equation" r:id="rId5" imgW="2184120" imgH="2717640" progId="Equation.3">
              <p:embed/>
            </p:oleObj>
          </a:graphicData>
        </a:graphic>
      </p:graphicFrame>
      <p:sp>
        <p:nvSpPr>
          <p:cNvPr id="515078" name="Text Box 6"/>
          <p:cNvSpPr txBox="1">
            <a:spLocks noChangeArrowheads="1"/>
          </p:cNvSpPr>
          <p:nvPr/>
        </p:nvSpPr>
        <p:spPr bwMode="auto">
          <a:xfrm>
            <a:off x="5943600" y="1371600"/>
            <a:ext cx="2913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Grammar</a:t>
            </a:r>
          </a:p>
        </p:txBody>
      </p:sp>
      <p:sp>
        <p:nvSpPr>
          <p:cNvPr id="515079" name="Line 7"/>
          <p:cNvSpPr>
            <a:spLocks noChangeShapeType="1"/>
          </p:cNvSpPr>
          <p:nvPr/>
        </p:nvSpPr>
        <p:spPr bwMode="auto">
          <a:xfrm>
            <a:off x="228600" y="4191000"/>
            <a:ext cx="19050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5080" name="Line 8"/>
          <p:cNvSpPr>
            <a:spLocks noChangeShapeType="1"/>
          </p:cNvSpPr>
          <p:nvPr/>
        </p:nvSpPr>
        <p:spPr bwMode="auto">
          <a:xfrm flipV="1">
            <a:off x="228600" y="4114800"/>
            <a:ext cx="19050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E509A-0344-499F-9CF9-47B9D453312F}" type="slidenum">
              <a:rPr lang="en-US"/>
              <a:pPr/>
              <a:t>8</a:t>
            </a:fld>
            <a:endParaRPr lang="en-US"/>
          </a:p>
        </p:txBody>
      </p:sp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Unit-Productions</a:t>
            </a:r>
          </a:p>
        </p:txBody>
      </p:sp>
      <p:graphicFrame>
        <p:nvGraphicFramePr>
          <p:cNvPr id="516099" name="Object 3"/>
          <p:cNvGraphicFramePr>
            <a:graphicFrameLocks noChangeAspect="1"/>
          </p:cNvGraphicFramePr>
          <p:nvPr/>
        </p:nvGraphicFramePr>
        <p:xfrm>
          <a:off x="4876800" y="2743200"/>
          <a:ext cx="1409700" cy="419100"/>
        </p:xfrm>
        <a:graphic>
          <a:graphicData uri="http://schemas.openxmlformats.org/presentationml/2006/ole">
            <p:oleObj spid="_x0000_s516099" name="Equation" r:id="rId3" imgW="1409400" imgH="419040" progId="Equation.3">
              <p:embed/>
            </p:oleObj>
          </a:graphicData>
        </a:graphic>
      </p:graphicFrame>
      <p:sp>
        <p:nvSpPr>
          <p:cNvPr id="516100" name="Text Box 4"/>
          <p:cNvSpPr txBox="1">
            <a:spLocks noChangeArrowheads="1"/>
          </p:cNvSpPr>
          <p:nvPr/>
        </p:nvSpPr>
        <p:spPr bwMode="auto">
          <a:xfrm>
            <a:off x="746125" y="2692400"/>
            <a:ext cx="3260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Unit Production:</a:t>
            </a:r>
          </a:p>
        </p:txBody>
      </p:sp>
      <p:sp>
        <p:nvSpPr>
          <p:cNvPr id="516101" name="Text Box 5"/>
          <p:cNvSpPr txBox="1">
            <a:spLocks noChangeArrowheads="1"/>
          </p:cNvSpPr>
          <p:nvPr/>
        </p:nvSpPr>
        <p:spPr bwMode="auto">
          <a:xfrm>
            <a:off x="1660525" y="4445000"/>
            <a:ext cx="6056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(a single variable in both sides)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3D005-A57C-4989-999C-4D07DA6CEA9A}" type="slidenum">
              <a:rPr lang="en-US"/>
              <a:pPr/>
              <a:t>9</a:t>
            </a:fld>
            <a:endParaRPr lang="en-US"/>
          </a:p>
        </p:txBody>
      </p:sp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Unit Productions</a:t>
            </a:r>
          </a:p>
        </p:txBody>
      </p:sp>
      <p:sp>
        <p:nvSpPr>
          <p:cNvPr id="517123" name="Text Box 3"/>
          <p:cNvSpPr txBox="1">
            <a:spLocks noChangeArrowheads="1"/>
          </p:cNvSpPr>
          <p:nvPr/>
        </p:nvSpPr>
        <p:spPr bwMode="auto">
          <a:xfrm>
            <a:off x="136525" y="15494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Observation:</a:t>
            </a:r>
          </a:p>
        </p:txBody>
      </p:sp>
      <p:sp>
        <p:nvSpPr>
          <p:cNvPr id="517124" name="Text Box 4"/>
          <p:cNvSpPr txBox="1">
            <a:spLocks noChangeArrowheads="1"/>
          </p:cNvSpPr>
          <p:nvPr/>
        </p:nvSpPr>
        <p:spPr bwMode="auto">
          <a:xfrm>
            <a:off x="2498725" y="29210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517125" name="Object 5"/>
          <p:cNvGraphicFramePr>
            <a:graphicFrameLocks noChangeAspect="1"/>
          </p:cNvGraphicFramePr>
          <p:nvPr/>
        </p:nvGraphicFramePr>
        <p:xfrm>
          <a:off x="3968750" y="2495550"/>
          <a:ext cx="1409700" cy="419100"/>
        </p:xfrm>
        <a:graphic>
          <a:graphicData uri="http://schemas.openxmlformats.org/presentationml/2006/ole">
            <p:oleObj spid="_x0000_s517125" name="Equation" r:id="rId3" imgW="1409400" imgH="419040" progId="Equation.3">
              <p:embed/>
            </p:oleObj>
          </a:graphicData>
        </a:graphic>
      </p:graphicFrame>
      <p:sp>
        <p:nvSpPr>
          <p:cNvPr id="517126" name="Text Box 6"/>
          <p:cNvSpPr txBox="1">
            <a:spLocks noChangeArrowheads="1"/>
          </p:cNvSpPr>
          <p:nvPr/>
        </p:nvSpPr>
        <p:spPr bwMode="auto">
          <a:xfrm>
            <a:off x="2438400" y="3657600"/>
            <a:ext cx="4721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removed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0276E-32A2-4921-9E25-42FD1AEDCE7E}" type="slidenum">
              <a:rPr lang="en-US"/>
              <a:pPr/>
              <a:t>10</a:t>
            </a:fld>
            <a:endParaRPr lang="en-US"/>
          </a:p>
        </p:txBody>
      </p:sp>
      <p:sp>
        <p:nvSpPr>
          <p:cNvPr id="518146" name="Text Box 2"/>
          <p:cNvSpPr txBox="1">
            <a:spLocks noChangeArrowheads="1"/>
          </p:cNvSpPr>
          <p:nvPr/>
        </p:nvSpPr>
        <p:spPr bwMode="auto">
          <a:xfrm>
            <a:off x="365125" y="558800"/>
            <a:ext cx="3711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Grammar:</a:t>
            </a:r>
          </a:p>
        </p:txBody>
      </p:sp>
      <p:graphicFrame>
        <p:nvGraphicFramePr>
          <p:cNvPr id="518147" name="Object 3"/>
          <p:cNvGraphicFramePr>
            <a:graphicFrameLocks noChangeAspect="1"/>
          </p:cNvGraphicFramePr>
          <p:nvPr/>
        </p:nvGraphicFramePr>
        <p:xfrm>
          <a:off x="3956050" y="2076450"/>
          <a:ext cx="1600200" cy="3467100"/>
        </p:xfrm>
        <a:graphic>
          <a:graphicData uri="http://schemas.openxmlformats.org/presentationml/2006/ole">
            <p:oleObj spid="_x0000_s518147" name="Equation" r:id="rId3" imgW="1600200" imgH="346680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3EC68-95E1-4FE1-8D0B-35CAA97A9D1C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519170" name="Object 2"/>
          <p:cNvGraphicFramePr>
            <a:graphicFrameLocks noChangeAspect="1"/>
          </p:cNvGraphicFramePr>
          <p:nvPr/>
        </p:nvGraphicFramePr>
        <p:xfrm>
          <a:off x="298450" y="2076450"/>
          <a:ext cx="1600200" cy="3467100"/>
        </p:xfrm>
        <a:graphic>
          <a:graphicData uri="http://schemas.openxmlformats.org/presentationml/2006/ole">
            <p:oleObj spid="_x0000_s519170" name="Equation" r:id="rId3" imgW="1600200" imgH="3466800" progId="Equation.3">
              <p:embed/>
            </p:oleObj>
          </a:graphicData>
        </a:graphic>
      </p:graphicFrame>
      <p:sp>
        <p:nvSpPr>
          <p:cNvPr id="519171" name="AutoShape 3"/>
          <p:cNvSpPr>
            <a:spLocks noChangeArrowheads="1"/>
          </p:cNvSpPr>
          <p:nvPr/>
        </p:nvSpPr>
        <p:spPr bwMode="auto">
          <a:xfrm>
            <a:off x="2743200" y="2590800"/>
            <a:ext cx="2971800" cy="2246313"/>
          </a:xfrm>
          <a:prstGeom prst="rightArrow">
            <a:avLst>
              <a:gd name="adj1" fmla="val 50000"/>
              <a:gd name="adj2" fmla="val 3307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</a:t>
            </a:r>
          </a:p>
          <a:p>
            <a:pPr algn="ctr"/>
            <a:endParaRPr lang="en-US"/>
          </a:p>
        </p:txBody>
      </p:sp>
      <p:graphicFrame>
        <p:nvGraphicFramePr>
          <p:cNvPr id="519172" name="Object 4"/>
          <p:cNvGraphicFramePr>
            <a:graphicFrameLocks noChangeAspect="1"/>
          </p:cNvGraphicFramePr>
          <p:nvPr/>
        </p:nvGraphicFramePr>
        <p:xfrm>
          <a:off x="3352800" y="3775075"/>
          <a:ext cx="1270000" cy="381000"/>
        </p:xfrm>
        <a:graphic>
          <a:graphicData uri="http://schemas.openxmlformats.org/presentationml/2006/ole">
            <p:oleObj spid="_x0000_s519172" name="Equation" r:id="rId4" imgW="1269720" imgH="380880" progId="Equation.3">
              <p:embed/>
            </p:oleObj>
          </a:graphicData>
        </a:graphic>
      </p:graphicFrame>
      <p:graphicFrame>
        <p:nvGraphicFramePr>
          <p:cNvPr id="519173" name="Object 5"/>
          <p:cNvGraphicFramePr>
            <a:graphicFrameLocks noChangeAspect="1"/>
          </p:cNvGraphicFramePr>
          <p:nvPr/>
        </p:nvGraphicFramePr>
        <p:xfrm>
          <a:off x="6203950" y="2419350"/>
          <a:ext cx="2438400" cy="2717800"/>
        </p:xfrm>
        <a:graphic>
          <a:graphicData uri="http://schemas.openxmlformats.org/presentationml/2006/ole">
            <p:oleObj spid="_x0000_s519173" name="Equation" r:id="rId5" imgW="2438280" imgH="2717640" progId="Equation.3">
              <p:embed/>
            </p:oleObj>
          </a:graphicData>
        </a:graphic>
      </p:graphicFrame>
      <p:sp>
        <p:nvSpPr>
          <p:cNvPr id="519174" name="Line 6"/>
          <p:cNvSpPr>
            <a:spLocks noChangeShapeType="1"/>
          </p:cNvSpPr>
          <p:nvPr/>
        </p:nvSpPr>
        <p:spPr bwMode="auto">
          <a:xfrm>
            <a:off x="152400" y="3505200"/>
            <a:ext cx="18288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19175" name="Line 7"/>
          <p:cNvSpPr>
            <a:spLocks noChangeShapeType="1"/>
          </p:cNvSpPr>
          <p:nvPr/>
        </p:nvSpPr>
        <p:spPr bwMode="auto">
          <a:xfrm flipV="1">
            <a:off x="228600" y="3505200"/>
            <a:ext cx="18288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38FE-13FA-4C57-B339-8B6369478435}" type="slidenum">
              <a:rPr lang="en-US"/>
              <a:pPr/>
              <a:t>12</a:t>
            </a:fld>
            <a:endParaRPr lang="en-US"/>
          </a:p>
        </p:txBody>
      </p:sp>
      <p:sp>
        <p:nvSpPr>
          <p:cNvPr id="520194" name="AutoShape 2"/>
          <p:cNvSpPr>
            <a:spLocks noChangeArrowheads="1"/>
          </p:cNvSpPr>
          <p:nvPr/>
        </p:nvSpPr>
        <p:spPr bwMode="auto">
          <a:xfrm>
            <a:off x="2971800" y="2667000"/>
            <a:ext cx="2971800" cy="2246313"/>
          </a:xfrm>
          <a:prstGeom prst="rightArrow">
            <a:avLst>
              <a:gd name="adj1" fmla="val 50000"/>
              <a:gd name="adj2" fmla="val 3307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Remove</a:t>
            </a:r>
          </a:p>
          <a:p>
            <a:pPr algn="ctr"/>
            <a:endParaRPr lang="en-US"/>
          </a:p>
        </p:txBody>
      </p:sp>
      <p:graphicFrame>
        <p:nvGraphicFramePr>
          <p:cNvPr id="520195" name="Object 3"/>
          <p:cNvGraphicFramePr>
            <a:graphicFrameLocks noChangeAspect="1"/>
          </p:cNvGraphicFramePr>
          <p:nvPr/>
        </p:nvGraphicFramePr>
        <p:xfrm>
          <a:off x="228600" y="2438400"/>
          <a:ext cx="2438400" cy="2717800"/>
        </p:xfrm>
        <a:graphic>
          <a:graphicData uri="http://schemas.openxmlformats.org/presentationml/2006/ole">
            <p:oleObj spid="_x0000_s520195" name="Equation" r:id="rId3" imgW="2438280" imgH="2717640" progId="Equation.3">
              <p:embed/>
            </p:oleObj>
          </a:graphicData>
        </a:graphic>
      </p:graphicFrame>
      <p:graphicFrame>
        <p:nvGraphicFramePr>
          <p:cNvPr id="520196" name="Object 4"/>
          <p:cNvGraphicFramePr>
            <a:graphicFrameLocks noChangeAspect="1"/>
          </p:cNvGraphicFramePr>
          <p:nvPr/>
        </p:nvGraphicFramePr>
        <p:xfrm>
          <a:off x="6432550" y="2419350"/>
          <a:ext cx="2438400" cy="2717800"/>
        </p:xfrm>
        <a:graphic>
          <a:graphicData uri="http://schemas.openxmlformats.org/presentationml/2006/ole">
            <p:oleObj spid="_x0000_s520196" name="Equation" r:id="rId4" imgW="2438280" imgH="2717640" progId="Equation.3">
              <p:embed/>
            </p:oleObj>
          </a:graphicData>
        </a:graphic>
      </p:graphicFrame>
      <p:sp>
        <p:nvSpPr>
          <p:cNvPr id="520197" name="Line 5"/>
          <p:cNvSpPr>
            <a:spLocks noChangeShapeType="1"/>
          </p:cNvSpPr>
          <p:nvPr/>
        </p:nvSpPr>
        <p:spPr bwMode="auto">
          <a:xfrm>
            <a:off x="1828800" y="3886200"/>
            <a:ext cx="4572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0198" name="Line 6"/>
          <p:cNvSpPr>
            <a:spLocks noChangeShapeType="1"/>
          </p:cNvSpPr>
          <p:nvPr/>
        </p:nvSpPr>
        <p:spPr bwMode="auto">
          <a:xfrm flipV="1">
            <a:off x="1828800" y="3886200"/>
            <a:ext cx="5334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0199" name="Object 7"/>
          <p:cNvGraphicFramePr>
            <a:graphicFrameLocks noChangeAspect="1"/>
          </p:cNvGraphicFramePr>
          <p:nvPr/>
        </p:nvGraphicFramePr>
        <p:xfrm>
          <a:off x="3581400" y="3810000"/>
          <a:ext cx="1409700" cy="406400"/>
        </p:xfrm>
        <a:graphic>
          <a:graphicData uri="http://schemas.openxmlformats.org/presentationml/2006/ole">
            <p:oleObj spid="_x0000_s520199" name="Equation" r:id="rId5" imgW="1409400" imgH="40608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D852B-F829-42D0-93EA-9209D984B429}" type="slidenum">
              <a:rPr lang="en-US"/>
              <a:pPr/>
              <a:t>13</a:t>
            </a:fld>
            <a:endParaRPr lang="en-US"/>
          </a:p>
        </p:txBody>
      </p:sp>
      <p:sp>
        <p:nvSpPr>
          <p:cNvPr id="521218" name="AutoShape 2"/>
          <p:cNvSpPr>
            <a:spLocks noChangeArrowheads="1"/>
          </p:cNvSpPr>
          <p:nvPr/>
        </p:nvSpPr>
        <p:spPr bwMode="auto">
          <a:xfrm>
            <a:off x="2667000" y="2819400"/>
            <a:ext cx="2971800" cy="2246313"/>
          </a:xfrm>
          <a:prstGeom prst="rightArrow">
            <a:avLst>
              <a:gd name="adj1" fmla="val 50000"/>
              <a:gd name="adj2" fmla="val 33074"/>
            </a:avLst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pPr algn="ctr"/>
            <a:r>
              <a:rPr lang="en-US">
                <a:solidFill>
                  <a:srgbClr val="FF3300"/>
                </a:solidFill>
              </a:rPr>
              <a:t>Substitute</a:t>
            </a:r>
          </a:p>
          <a:p>
            <a:pPr algn="ctr"/>
            <a:endParaRPr lang="en-US"/>
          </a:p>
        </p:txBody>
      </p:sp>
      <p:graphicFrame>
        <p:nvGraphicFramePr>
          <p:cNvPr id="521219" name="Object 3"/>
          <p:cNvGraphicFramePr>
            <a:graphicFrameLocks noChangeAspect="1"/>
          </p:cNvGraphicFramePr>
          <p:nvPr/>
        </p:nvGraphicFramePr>
        <p:xfrm>
          <a:off x="3352800" y="3927475"/>
          <a:ext cx="1270000" cy="381000"/>
        </p:xfrm>
        <a:graphic>
          <a:graphicData uri="http://schemas.openxmlformats.org/presentationml/2006/ole">
            <p:oleObj spid="_x0000_s521219" name="Equation" r:id="rId3" imgW="1269720" imgH="380880" progId="Equation.3">
              <p:embed/>
            </p:oleObj>
          </a:graphicData>
        </a:graphic>
      </p:graphicFrame>
      <p:graphicFrame>
        <p:nvGraphicFramePr>
          <p:cNvPr id="521220" name="Object 4"/>
          <p:cNvGraphicFramePr>
            <a:graphicFrameLocks noChangeAspect="1"/>
          </p:cNvGraphicFramePr>
          <p:nvPr/>
        </p:nvGraphicFramePr>
        <p:xfrm>
          <a:off x="5715000" y="2895600"/>
          <a:ext cx="3263900" cy="1955800"/>
        </p:xfrm>
        <a:graphic>
          <a:graphicData uri="http://schemas.openxmlformats.org/presentationml/2006/ole">
            <p:oleObj spid="_x0000_s521220" name="Equation" r:id="rId4" imgW="3263760" imgH="1955520" progId="Equation.3">
              <p:embed/>
            </p:oleObj>
          </a:graphicData>
        </a:graphic>
      </p:graphicFrame>
      <p:graphicFrame>
        <p:nvGraphicFramePr>
          <p:cNvPr id="521221" name="Object 5"/>
          <p:cNvGraphicFramePr>
            <a:graphicFrameLocks noChangeAspect="1"/>
          </p:cNvGraphicFramePr>
          <p:nvPr/>
        </p:nvGraphicFramePr>
        <p:xfrm>
          <a:off x="228600" y="2438400"/>
          <a:ext cx="2438400" cy="2717800"/>
        </p:xfrm>
        <a:graphic>
          <a:graphicData uri="http://schemas.openxmlformats.org/presentationml/2006/ole">
            <p:oleObj spid="_x0000_s521221" name="Equation" r:id="rId5" imgW="2438280" imgH="2717640" progId="Equation.3">
              <p:embed/>
            </p:oleObj>
          </a:graphicData>
        </a:graphic>
      </p:graphicFrame>
      <p:sp>
        <p:nvSpPr>
          <p:cNvPr id="521222" name="Line 6"/>
          <p:cNvSpPr>
            <a:spLocks noChangeShapeType="1"/>
          </p:cNvSpPr>
          <p:nvPr/>
        </p:nvSpPr>
        <p:spPr bwMode="auto">
          <a:xfrm>
            <a:off x="152400" y="3810000"/>
            <a:ext cx="18288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1223" name="Line 7"/>
          <p:cNvSpPr>
            <a:spLocks noChangeShapeType="1"/>
          </p:cNvSpPr>
          <p:nvPr/>
        </p:nvSpPr>
        <p:spPr bwMode="auto">
          <a:xfrm flipV="1">
            <a:off x="152400" y="3810000"/>
            <a:ext cx="17526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15DD7-5C98-4323-BEC2-FA2C2DA521B6}" type="slidenum">
              <a:rPr lang="en-US"/>
              <a:pPr/>
              <a:t>14</a:t>
            </a:fld>
            <a:endParaRPr lang="en-US"/>
          </a:p>
        </p:txBody>
      </p:sp>
      <p:sp>
        <p:nvSpPr>
          <p:cNvPr id="522242" name="Text Box 2"/>
          <p:cNvSpPr txBox="1">
            <a:spLocks noChangeArrowheads="1"/>
          </p:cNvSpPr>
          <p:nvPr/>
        </p:nvSpPr>
        <p:spPr bwMode="auto">
          <a:xfrm>
            <a:off x="288925" y="254000"/>
            <a:ext cx="5792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Remove repeated productions</a:t>
            </a:r>
          </a:p>
        </p:txBody>
      </p:sp>
      <p:sp>
        <p:nvSpPr>
          <p:cNvPr id="522243" name="AutoShape 3"/>
          <p:cNvSpPr>
            <a:spLocks noChangeArrowheads="1"/>
          </p:cNvSpPr>
          <p:nvPr/>
        </p:nvSpPr>
        <p:spPr bwMode="auto">
          <a:xfrm>
            <a:off x="3810000" y="3733800"/>
            <a:ext cx="1981200" cy="485775"/>
          </a:xfrm>
          <a:prstGeom prst="rightArrow">
            <a:avLst>
              <a:gd name="adj1" fmla="val 50000"/>
              <a:gd name="adj2" fmla="val 101961"/>
            </a:avLst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522244" name="Object 4"/>
          <p:cNvGraphicFramePr>
            <a:graphicFrameLocks noChangeAspect="1"/>
          </p:cNvGraphicFramePr>
          <p:nvPr/>
        </p:nvGraphicFramePr>
        <p:xfrm>
          <a:off x="6432550" y="2952750"/>
          <a:ext cx="2438400" cy="1955800"/>
        </p:xfrm>
        <a:graphic>
          <a:graphicData uri="http://schemas.openxmlformats.org/presentationml/2006/ole">
            <p:oleObj spid="_x0000_s522244" name="Equation" r:id="rId3" imgW="2438280" imgH="1955520" progId="Equation.3">
              <p:embed/>
            </p:oleObj>
          </a:graphicData>
        </a:graphic>
      </p:graphicFrame>
      <p:graphicFrame>
        <p:nvGraphicFramePr>
          <p:cNvPr id="522245" name="Object 5"/>
          <p:cNvGraphicFramePr>
            <a:graphicFrameLocks noChangeAspect="1"/>
          </p:cNvGraphicFramePr>
          <p:nvPr/>
        </p:nvGraphicFramePr>
        <p:xfrm>
          <a:off x="228600" y="2895600"/>
          <a:ext cx="3263900" cy="1955800"/>
        </p:xfrm>
        <a:graphic>
          <a:graphicData uri="http://schemas.openxmlformats.org/presentationml/2006/ole">
            <p:oleObj spid="_x0000_s522245" name="Equation" r:id="rId4" imgW="3263760" imgH="1955520" progId="Equation.3">
              <p:embed/>
            </p:oleObj>
          </a:graphicData>
        </a:graphic>
      </p:graphicFrame>
      <p:sp>
        <p:nvSpPr>
          <p:cNvPr id="522246" name="Text Box 6"/>
          <p:cNvSpPr txBox="1">
            <a:spLocks noChangeArrowheads="1"/>
          </p:cNvSpPr>
          <p:nvPr/>
        </p:nvSpPr>
        <p:spPr bwMode="auto">
          <a:xfrm>
            <a:off x="6291263" y="2057400"/>
            <a:ext cx="285273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grammar</a:t>
            </a:r>
          </a:p>
        </p:txBody>
      </p:sp>
      <p:sp>
        <p:nvSpPr>
          <p:cNvPr id="522247" name="Line 7"/>
          <p:cNvSpPr>
            <a:spLocks noChangeShapeType="1"/>
          </p:cNvSpPr>
          <p:nvPr/>
        </p:nvSpPr>
        <p:spPr bwMode="auto">
          <a:xfrm>
            <a:off x="2895600" y="28194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48" name="Line 8"/>
          <p:cNvSpPr>
            <a:spLocks noChangeShapeType="1"/>
          </p:cNvSpPr>
          <p:nvPr/>
        </p:nvSpPr>
        <p:spPr bwMode="auto">
          <a:xfrm flipV="1">
            <a:off x="2895600" y="2819400"/>
            <a:ext cx="7620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DBBC5-1499-4941-A2CF-8AE2CAA05930}" type="slidenum">
              <a:rPr lang="en-US"/>
              <a:pPr/>
              <a:t>15</a:t>
            </a:fld>
            <a:endParaRPr lang="en-US"/>
          </a:p>
        </p:txBody>
      </p:sp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Useless Productions</a:t>
            </a:r>
          </a:p>
        </p:txBody>
      </p:sp>
      <p:graphicFrame>
        <p:nvGraphicFramePr>
          <p:cNvPr id="525312" name="Object 0"/>
          <p:cNvGraphicFramePr>
            <a:graphicFrameLocks noChangeAspect="1"/>
          </p:cNvGraphicFramePr>
          <p:nvPr/>
        </p:nvGraphicFramePr>
        <p:xfrm>
          <a:off x="3429000" y="1219200"/>
          <a:ext cx="1803400" cy="2717800"/>
        </p:xfrm>
        <a:graphic>
          <a:graphicData uri="http://schemas.openxmlformats.org/presentationml/2006/ole">
            <p:oleObj spid="_x0000_s525312" name="Equation" r:id="rId3" imgW="1803240" imgH="2717640" progId="Equation.3">
              <p:embed/>
            </p:oleObj>
          </a:graphicData>
        </a:graphic>
      </p:graphicFrame>
      <p:grpSp>
        <p:nvGrpSpPr>
          <p:cNvPr id="433156" name="Group 4"/>
          <p:cNvGrpSpPr>
            <a:grpSpLocks/>
          </p:cNvGrpSpPr>
          <p:nvPr/>
        </p:nvGrpSpPr>
        <p:grpSpPr bwMode="auto">
          <a:xfrm>
            <a:off x="0" y="4876800"/>
            <a:ext cx="8891588" cy="1409700"/>
            <a:chOff x="0" y="3072"/>
            <a:chExt cx="5601" cy="888"/>
          </a:xfrm>
        </p:grpSpPr>
        <p:graphicFrame>
          <p:nvGraphicFramePr>
            <p:cNvPr id="525313" name="Object 1"/>
            <p:cNvGraphicFramePr>
              <a:graphicFrameLocks noChangeAspect="1"/>
            </p:cNvGraphicFramePr>
            <p:nvPr/>
          </p:nvGraphicFramePr>
          <p:xfrm>
            <a:off x="96" y="3696"/>
            <a:ext cx="5505" cy="264"/>
          </p:xfrm>
          <a:graphic>
            <a:graphicData uri="http://schemas.openxmlformats.org/presentationml/2006/ole">
              <p:oleObj spid="_x0000_s525313" name="Equation" r:id="rId4" imgW="8737560" imgH="419040" progId="Equation.3">
                <p:embed/>
              </p:oleObj>
            </a:graphicData>
          </a:graphic>
        </p:graphicFrame>
        <p:sp>
          <p:nvSpPr>
            <p:cNvPr id="433158" name="Text Box 6"/>
            <p:cNvSpPr txBox="1">
              <a:spLocks noChangeArrowheads="1"/>
            </p:cNvSpPr>
            <p:nvPr/>
          </p:nvSpPr>
          <p:spPr bwMode="auto">
            <a:xfrm>
              <a:off x="0" y="3072"/>
              <a:ext cx="436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Some derivations never terminate...</a:t>
              </a:r>
            </a:p>
          </p:txBody>
        </p:sp>
      </p:grpSp>
      <p:grpSp>
        <p:nvGrpSpPr>
          <p:cNvPr id="433159" name="Group 7"/>
          <p:cNvGrpSpPr>
            <a:grpSpLocks/>
          </p:cNvGrpSpPr>
          <p:nvPr/>
        </p:nvGrpSpPr>
        <p:grpSpPr bwMode="auto">
          <a:xfrm>
            <a:off x="3048000" y="3276600"/>
            <a:ext cx="6096000" cy="990600"/>
            <a:chOff x="1920" y="2064"/>
            <a:chExt cx="3840" cy="624"/>
          </a:xfrm>
        </p:grpSpPr>
        <p:sp>
          <p:nvSpPr>
            <p:cNvPr id="433160" name="Oval 8"/>
            <p:cNvSpPr>
              <a:spLocks noChangeArrowheads="1"/>
            </p:cNvSpPr>
            <p:nvPr/>
          </p:nvSpPr>
          <p:spPr bwMode="auto">
            <a:xfrm>
              <a:off x="1920" y="2064"/>
              <a:ext cx="144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3161" name="Text Box 9"/>
            <p:cNvSpPr txBox="1">
              <a:spLocks noChangeArrowheads="1"/>
            </p:cNvSpPr>
            <p:nvPr/>
          </p:nvSpPr>
          <p:spPr bwMode="auto">
            <a:xfrm>
              <a:off x="3385" y="2160"/>
              <a:ext cx="237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Useless Production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9A85D-A1BA-4EBF-B053-8E6A5AC5AB7E}" type="slidenum">
              <a:rPr lang="en-US"/>
              <a:pPr/>
              <a:t>16</a:t>
            </a:fld>
            <a:endParaRPr lang="en-US"/>
          </a:p>
        </p:txBody>
      </p:sp>
      <p:graphicFrame>
        <p:nvGraphicFramePr>
          <p:cNvPr id="434178" name="Object 2"/>
          <p:cNvGraphicFramePr>
            <a:graphicFrameLocks noChangeAspect="1"/>
          </p:cNvGraphicFramePr>
          <p:nvPr/>
        </p:nvGraphicFramePr>
        <p:xfrm>
          <a:off x="3352800" y="1219200"/>
          <a:ext cx="1625600" cy="2717800"/>
        </p:xfrm>
        <a:graphic>
          <a:graphicData uri="http://schemas.openxmlformats.org/presentationml/2006/ole">
            <p:oleObj spid="_x0000_s434178" name="Equation" r:id="rId3" imgW="1625400" imgH="2717640" progId="Equation.3">
              <p:embed/>
            </p:oleObj>
          </a:graphicData>
        </a:graphic>
      </p:graphicFrame>
      <p:sp>
        <p:nvSpPr>
          <p:cNvPr id="434179" name="Text Box 3"/>
          <p:cNvSpPr txBox="1">
            <a:spLocks noChangeArrowheads="1"/>
          </p:cNvSpPr>
          <p:nvPr/>
        </p:nvSpPr>
        <p:spPr bwMode="auto">
          <a:xfrm>
            <a:off x="288925" y="101600"/>
            <a:ext cx="3651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Another grammar:</a:t>
            </a:r>
          </a:p>
        </p:txBody>
      </p:sp>
      <p:sp>
        <p:nvSpPr>
          <p:cNvPr id="434180" name="Text Box 4"/>
          <p:cNvSpPr txBox="1">
            <a:spLocks noChangeArrowheads="1"/>
          </p:cNvSpPr>
          <p:nvPr/>
        </p:nvSpPr>
        <p:spPr bwMode="auto">
          <a:xfrm>
            <a:off x="2438400" y="4419600"/>
            <a:ext cx="4470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Not reachable from S </a:t>
            </a:r>
          </a:p>
        </p:txBody>
      </p:sp>
      <p:grpSp>
        <p:nvGrpSpPr>
          <p:cNvPr id="434181" name="Group 5"/>
          <p:cNvGrpSpPr>
            <a:grpSpLocks/>
          </p:cNvGrpSpPr>
          <p:nvPr/>
        </p:nvGrpSpPr>
        <p:grpSpPr bwMode="auto">
          <a:xfrm>
            <a:off x="3048000" y="3276600"/>
            <a:ext cx="6096000" cy="990600"/>
            <a:chOff x="1920" y="2064"/>
            <a:chExt cx="3840" cy="624"/>
          </a:xfrm>
        </p:grpSpPr>
        <p:sp>
          <p:nvSpPr>
            <p:cNvPr id="434182" name="Oval 6"/>
            <p:cNvSpPr>
              <a:spLocks noChangeArrowheads="1"/>
            </p:cNvSpPr>
            <p:nvPr/>
          </p:nvSpPr>
          <p:spPr bwMode="auto">
            <a:xfrm>
              <a:off x="1920" y="2064"/>
              <a:ext cx="144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4183" name="Text Box 7"/>
            <p:cNvSpPr txBox="1">
              <a:spLocks noChangeArrowheads="1"/>
            </p:cNvSpPr>
            <p:nvPr/>
          </p:nvSpPr>
          <p:spPr bwMode="auto">
            <a:xfrm>
              <a:off x="3385" y="2160"/>
              <a:ext cx="237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3300"/>
                  </a:solidFill>
                </a:rPr>
                <a:t>Useless Production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0561-574B-42BD-9B99-7E71F52F54B6}" type="slidenum">
              <a:rPr lang="en-US"/>
              <a:pPr/>
              <a:t>17</a:t>
            </a:fld>
            <a:endParaRPr lang="en-US"/>
          </a:p>
        </p:txBody>
      </p:sp>
      <p:sp>
        <p:nvSpPr>
          <p:cNvPr id="435202" name="Text Box 2"/>
          <p:cNvSpPr txBox="1">
            <a:spLocks noChangeArrowheads="1"/>
          </p:cNvSpPr>
          <p:nvPr/>
        </p:nvSpPr>
        <p:spPr bwMode="auto">
          <a:xfrm>
            <a:off x="365125" y="254000"/>
            <a:ext cx="2251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general:</a:t>
            </a:r>
          </a:p>
        </p:txBody>
      </p:sp>
      <p:sp>
        <p:nvSpPr>
          <p:cNvPr id="435203" name="Text Box 3"/>
          <p:cNvSpPr txBox="1">
            <a:spLocks noChangeArrowheads="1"/>
          </p:cNvSpPr>
          <p:nvPr/>
        </p:nvSpPr>
        <p:spPr bwMode="auto">
          <a:xfrm>
            <a:off x="1774825" y="11684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graphicFrame>
        <p:nvGraphicFramePr>
          <p:cNvPr id="435204" name="Object 4"/>
          <p:cNvGraphicFramePr>
            <a:graphicFrameLocks noChangeAspect="1"/>
          </p:cNvGraphicFramePr>
          <p:nvPr/>
        </p:nvGraphicFramePr>
        <p:xfrm>
          <a:off x="3219450" y="1270000"/>
          <a:ext cx="4127500" cy="419100"/>
        </p:xfrm>
        <a:graphic>
          <a:graphicData uri="http://schemas.openxmlformats.org/presentationml/2006/ole">
            <p:oleObj spid="_x0000_s435204" name="Equation" r:id="rId3" imgW="4127400" imgH="419040" progId="Equation.3">
              <p:embed/>
            </p:oleObj>
          </a:graphicData>
        </a:graphic>
      </p:graphicFrame>
      <p:sp>
        <p:nvSpPr>
          <p:cNvPr id="435205" name="Text Box 5"/>
          <p:cNvSpPr txBox="1">
            <a:spLocks noChangeArrowheads="1"/>
          </p:cNvSpPr>
          <p:nvPr/>
        </p:nvSpPr>
        <p:spPr bwMode="auto">
          <a:xfrm>
            <a:off x="1676400" y="3429000"/>
            <a:ext cx="5240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variable        is useful</a:t>
            </a:r>
          </a:p>
        </p:txBody>
      </p:sp>
      <p:graphicFrame>
        <p:nvGraphicFramePr>
          <p:cNvPr id="435206" name="Object 6"/>
          <p:cNvGraphicFramePr>
            <a:graphicFrameLocks noChangeAspect="1"/>
          </p:cNvGraphicFramePr>
          <p:nvPr/>
        </p:nvGraphicFramePr>
        <p:xfrm>
          <a:off x="4648200" y="3505200"/>
          <a:ext cx="368300" cy="406400"/>
        </p:xfrm>
        <a:graphic>
          <a:graphicData uri="http://schemas.openxmlformats.org/presentationml/2006/ole">
            <p:oleObj spid="_x0000_s435206" name="Equation" r:id="rId4" imgW="368280" imgH="406080" progId="Equation.3">
              <p:embed/>
            </p:oleObj>
          </a:graphicData>
        </a:graphic>
      </p:graphicFrame>
      <p:sp>
        <p:nvSpPr>
          <p:cNvPr id="435207" name="Text Box 7"/>
          <p:cNvSpPr txBox="1">
            <a:spLocks noChangeArrowheads="1"/>
          </p:cNvSpPr>
          <p:nvPr/>
        </p:nvSpPr>
        <p:spPr bwMode="auto">
          <a:xfrm>
            <a:off x="533400" y="4495800"/>
            <a:ext cx="6564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otherwise, variable        is useless</a:t>
            </a:r>
          </a:p>
        </p:txBody>
      </p:sp>
      <p:graphicFrame>
        <p:nvGraphicFramePr>
          <p:cNvPr id="435208" name="Object 8"/>
          <p:cNvGraphicFramePr>
            <a:graphicFrameLocks noChangeAspect="1"/>
          </p:cNvGraphicFramePr>
          <p:nvPr/>
        </p:nvGraphicFramePr>
        <p:xfrm>
          <a:off x="4572000" y="4572000"/>
          <a:ext cx="368300" cy="406400"/>
        </p:xfrm>
        <a:graphic>
          <a:graphicData uri="http://schemas.openxmlformats.org/presentationml/2006/ole">
            <p:oleObj spid="_x0000_s435208" name="Equation" r:id="rId5" imgW="368280" imgH="406080" progId="Equation.3">
              <p:embed/>
            </p:oleObj>
          </a:graphicData>
        </a:graphic>
      </p:graphicFrame>
      <p:sp>
        <p:nvSpPr>
          <p:cNvPr id="435209" name="Line 9"/>
          <p:cNvSpPr>
            <a:spLocks noChangeShapeType="1"/>
          </p:cNvSpPr>
          <p:nvPr/>
        </p:nvSpPr>
        <p:spPr bwMode="auto">
          <a:xfrm flipH="1" flipV="1">
            <a:off x="7734300" y="1752600"/>
            <a:ext cx="1143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5210" name="Object 10"/>
          <p:cNvGraphicFramePr>
            <a:graphicFrameLocks noChangeAspect="1"/>
          </p:cNvGraphicFramePr>
          <p:nvPr/>
        </p:nvGraphicFramePr>
        <p:xfrm>
          <a:off x="7264400" y="2209800"/>
          <a:ext cx="1879600" cy="531813"/>
        </p:xfrm>
        <a:graphic>
          <a:graphicData uri="http://schemas.openxmlformats.org/presentationml/2006/ole">
            <p:oleObj spid="_x0000_s435210" name="Equation" r:id="rId6" imgW="1879560" imgH="533160" progId="Equation.3">
              <p:embed/>
            </p:oleObj>
          </a:graphicData>
        </a:graphic>
      </p:graphicFrame>
      <p:sp>
        <p:nvSpPr>
          <p:cNvPr id="435211" name="Text Box 11"/>
          <p:cNvSpPr txBox="1">
            <a:spLocks noChangeArrowheads="1"/>
          </p:cNvSpPr>
          <p:nvPr/>
        </p:nvSpPr>
        <p:spPr bwMode="auto">
          <a:xfrm>
            <a:off x="6934200" y="228600"/>
            <a:ext cx="2098675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contains only </a:t>
            </a:r>
          </a:p>
          <a:p>
            <a:r>
              <a:rPr lang="en-US" sz="2400"/>
              <a:t>terminals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C2521-61F5-4369-9626-3E37025CD52C}" type="slidenum">
              <a:rPr lang="en-US"/>
              <a:pPr/>
              <a:t>18</a:t>
            </a:fld>
            <a:endParaRPr lang="en-US"/>
          </a:p>
        </p:txBody>
      </p:sp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914400" y="228600"/>
            <a:ext cx="63754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A production               is useless </a:t>
            </a:r>
          </a:p>
          <a:p>
            <a:r>
              <a:rPr lang="en-US">
                <a:solidFill>
                  <a:srgbClr val="FF3300"/>
                </a:solidFill>
              </a:rPr>
              <a:t>if any of its variables is useless</a:t>
            </a:r>
          </a:p>
        </p:txBody>
      </p:sp>
      <p:graphicFrame>
        <p:nvGraphicFramePr>
          <p:cNvPr id="436227" name="Object 3"/>
          <p:cNvGraphicFramePr>
            <a:graphicFrameLocks noChangeAspect="1"/>
          </p:cNvGraphicFramePr>
          <p:nvPr/>
        </p:nvGraphicFramePr>
        <p:xfrm>
          <a:off x="3657600" y="304800"/>
          <a:ext cx="1333500" cy="419100"/>
        </p:xfrm>
        <a:graphic>
          <a:graphicData uri="http://schemas.openxmlformats.org/presentationml/2006/ole">
            <p:oleObj spid="_x0000_s436227" name="Equation" r:id="rId3" imgW="1333440" imgH="419040" progId="Equation.3">
              <p:embed/>
            </p:oleObj>
          </a:graphicData>
        </a:graphic>
      </p:graphicFrame>
      <p:graphicFrame>
        <p:nvGraphicFramePr>
          <p:cNvPr id="436228" name="Object 4"/>
          <p:cNvGraphicFramePr>
            <a:graphicFrameLocks noChangeAspect="1"/>
          </p:cNvGraphicFramePr>
          <p:nvPr/>
        </p:nvGraphicFramePr>
        <p:xfrm>
          <a:off x="3200400" y="1905000"/>
          <a:ext cx="1803400" cy="4241800"/>
        </p:xfrm>
        <a:graphic>
          <a:graphicData uri="http://schemas.openxmlformats.org/presentationml/2006/ole">
            <p:oleObj spid="_x0000_s436228" name="Equation" r:id="rId4" imgW="1803240" imgH="4241520" progId="Equation.3">
              <p:embed/>
            </p:oleObj>
          </a:graphicData>
        </a:graphic>
      </p:graphicFrame>
      <p:grpSp>
        <p:nvGrpSpPr>
          <p:cNvPr id="436254" name="Group 30"/>
          <p:cNvGrpSpPr>
            <a:grpSpLocks/>
          </p:cNvGrpSpPr>
          <p:nvPr/>
        </p:nvGrpSpPr>
        <p:grpSpPr bwMode="auto">
          <a:xfrm>
            <a:off x="2819400" y="2692400"/>
            <a:ext cx="5046663" cy="3708400"/>
            <a:chOff x="1776" y="1696"/>
            <a:chExt cx="3179" cy="2336"/>
          </a:xfrm>
        </p:grpSpPr>
        <p:sp>
          <p:nvSpPr>
            <p:cNvPr id="436243" name="Text Box 19"/>
            <p:cNvSpPr txBox="1">
              <a:spLocks noChangeArrowheads="1"/>
            </p:cNvSpPr>
            <p:nvPr/>
          </p:nvSpPr>
          <p:spPr bwMode="auto">
            <a:xfrm>
              <a:off x="3446" y="1696"/>
              <a:ext cx="150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Productions</a:t>
              </a:r>
            </a:p>
          </p:txBody>
        </p:sp>
        <p:grpSp>
          <p:nvGrpSpPr>
            <p:cNvPr id="436252" name="Group 28"/>
            <p:cNvGrpSpPr>
              <a:grpSpLocks/>
            </p:cNvGrpSpPr>
            <p:nvPr/>
          </p:nvGrpSpPr>
          <p:grpSpPr bwMode="auto">
            <a:xfrm>
              <a:off x="1776" y="2080"/>
              <a:ext cx="2654" cy="1952"/>
              <a:chOff x="1776" y="2080"/>
              <a:chExt cx="2654" cy="1952"/>
            </a:xfrm>
          </p:grpSpPr>
          <p:sp>
            <p:nvSpPr>
              <p:cNvPr id="436238" name="Oval 14"/>
              <p:cNvSpPr>
                <a:spLocks noChangeArrowheads="1"/>
              </p:cNvSpPr>
              <p:nvPr/>
            </p:nvSpPr>
            <p:spPr bwMode="auto">
              <a:xfrm>
                <a:off x="1872" y="2112"/>
                <a:ext cx="129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6239" name="Oval 15"/>
              <p:cNvSpPr>
                <a:spLocks noChangeArrowheads="1"/>
              </p:cNvSpPr>
              <p:nvPr/>
            </p:nvSpPr>
            <p:spPr bwMode="auto">
              <a:xfrm>
                <a:off x="1824" y="2592"/>
                <a:ext cx="1488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6240" name="Oval 16"/>
              <p:cNvSpPr>
                <a:spLocks noChangeArrowheads="1"/>
              </p:cNvSpPr>
              <p:nvPr/>
            </p:nvSpPr>
            <p:spPr bwMode="auto">
              <a:xfrm>
                <a:off x="1776" y="3072"/>
                <a:ext cx="153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6241" name="Oval 17"/>
              <p:cNvSpPr>
                <a:spLocks noChangeArrowheads="1"/>
              </p:cNvSpPr>
              <p:nvPr/>
            </p:nvSpPr>
            <p:spPr bwMode="auto">
              <a:xfrm>
                <a:off x="1776" y="3552"/>
                <a:ext cx="1536" cy="4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6244" name="Text Box 20"/>
              <p:cNvSpPr txBox="1">
                <a:spLocks noChangeArrowheads="1"/>
              </p:cNvSpPr>
              <p:nvPr/>
            </p:nvSpPr>
            <p:spPr bwMode="auto">
              <a:xfrm>
                <a:off x="3446" y="2080"/>
                <a:ext cx="97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useless</a:t>
                </a:r>
              </a:p>
            </p:txBody>
          </p:sp>
          <p:sp>
            <p:nvSpPr>
              <p:cNvPr id="436245" name="Text Box 21"/>
              <p:cNvSpPr txBox="1">
                <a:spLocks noChangeArrowheads="1"/>
              </p:cNvSpPr>
              <p:nvPr/>
            </p:nvSpPr>
            <p:spPr bwMode="auto">
              <a:xfrm>
                <a:off x="3456" y="2592"/>
                <a:ext cx="97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useless</a:t>
                </a:r>
              </a:p>
            </p:txBody>
          </p:sp>
          <p:sp>
            <p:nvSpPr>
              <p:cNvPr id="436246" name="Text Box 22"/>
              <p:cNvSpPr txBox="1">
                <a:spLocks noChangeArrowheads="1"/>
              </p:cNvSpPr>
              <p:nvPr/>
            </p:nvSpPr>
            <p:spPr bwMode="auto">
              <a:xfrm>
                <a:off x="3408" y="3072"/>
                <a:ext cx="97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useless</a:t>
                </a:r>
              </a:p>
            </p:txBody>
          </p:sp>
          <p:sp>
            <p:nvSpPr>
              <p:cNvPr id="436247" name="Text Box 23"/>
              <p:cNvSpPr txBox="1">
                <a:spLocks noChangeArrowheads="1"/>
              </p:cNvSpPr>
              <p:nvPr/>
            </p:nvSpPr>
            <p:spPr bwMode="auto">
              <a:xfrm>
                <a:off x="3456" y="3600"/>
                <a:ext cx="97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 type="none" w="lg" len="lg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/>
                  <a:t>useless</a:t>
                </a:r>
              </a:p>
            </p:txBody>
          </p:sp>
        </p:grpSp>
      </p:grpSp>
      <p:grpSp>
        <p:nvGrpSpPr>
          <p:cNvPr id="436253" name="Group 29"/>
          <p:cNvGrpSpPr>
            <a:grpSpLocks/>
          </p:cNvGrpSpPr>
          <p:nvPr/>
        </p:nvGrpSpPr>
        <p:grpSpPr bwMode="auto">
          <a:xfrm>
            <a:off x="762000" y="3429000"/>
            <a:ext cx="4038600" cy="2865438"/>
            <a:chOff x="480" y="2160"/>
            <a:chExt cx="2544" cy="1805"/>
          </a:xfrm>
        </p:grpSpPr>
        <p:sp>
          <p:nvSpPr>
            <p:cNvPr id="436236" name="Text Box 12"/>
            <p:cNvSpPr txBox="1">
              <a:spLocks noChangeArrowheads="1"/>
            </p:cNvSpPr>
            <p:nvPr/>
          </p:nvSpPr>
          <p:spPr bwMode="auto">
            <a:xfrm>
              <a:off x="480" y="2160"/>
              <a:ext cx="122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Variables</a:t>
              </a:r>
            </a:p>
          </p:txBody>
        </p:sp>
        <p:grpSp>
          <p:nvGrpSpPr>
            <p:cNvPr id="436251" name="Group 27"/>
            <p:cNvGrpSpPr>
              <a:grpSpLocks/>
            </p:cNvGrpSpPr>
            <p:nvPr/>
          </p:nvGrpSpPr>
          <p:grpSpPr bwMode="auto">
            <a:xfrm>
              <a:off x="816" y="2592"/>
              <a:ext cx="2208" cy="1373"/>
              <a:chOff x="816" y="2592"/>
              <a:chExt cx="2208" cy="1373"/>
            </a:xfrm>
          </p:grpSpPr>
          <p:grpSp>
            <p:nvGrpSpPr>
              <p:cNvPr id="436250" name="Group 26"/>
              <p:cNvGrpSpPr>
                <a:grpSpLocks/>
              </p:cNvGrpSpPr>
              <p:nvPr/>
            </p:nvGrpSpPr>
            <p:grpSpPr bwMode="auto">
              <a:xfrm>
                <a:off x="816" y="2592"/>
                <a:ext cx="974" cy="1373"/>
                <a:chOff x="816" y="2592"/>
                <a:chExt cx="974" cy="1373"/>
              </a:xfrm>
            </p:grpSpPr>
            <p:sp>
              <p:nvSpPr>
                <p:cNvPr id="43623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816" y="2592"/>
                  <a:ext cx="97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lg" len="lg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useless</a:t>
                  </a:r>
                </a:p>
              </p:txBody>
            </p:sp>
            <p:sp>
              <p:nvSpPr>
                <p:cNvPr id="43623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816" y="3072"/>
                  <a:ext cx="97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lg" len="lg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useless</a:t>
                  </a:r>
                </a:p>
              </p:txBody>
            </p:sp>
            <p:sp>
              <p:nvSpPr>
                <p:cNvPr id="43623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816" y="3600"/>
                  <a:ext cx="974" cy="36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 type="none" w="lg" len="lg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US"/>
                    <a:t>useless</a:t>
                  </a:r>
                </a:p>
              </p:txBody>
            </p:sp>
          </p:grpSp>
          <p:grpSp>
            <p:nvGrpSpPr>
              <p:cNvPr id="436249" name="Group 25"/>
              <p:cNvGrpSpPr>
                <a:grpSpLocks/>
              </p:cNvGrpSpPr>
              <p:nvPr/>
            </p:nvGrpSpPr>
            <p:grpSpPr bwMode="auto">
              <a:xfrm>
                <a:off x="1920" y="2592"/>
                <a:ext cx="1104" cy="1344"/>
                <a:chOff x="1920" y="2592"/>
                <a:chExt cx="1104" cy="1344"/>
              </a:xfrm>
            </p:grpSpPr>
            <p:sp>
              <p:nvSpPr>
                <p:cNvPr id="436231" name="Oval 7"/>
                <p:cNvSpPr>
                  <a:spLocks noChangeArrowheads="1"/>
                </p:cNvSpPr>
                <p:nvPr/>
              </p:nvSpPr>
              <p:spPr bwMode="auto">
                <a:xfrm>
                  <a:off x="1920" y="307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36232" name="Oval 8"/>
                <p:cNvSpPr>
                  <a:spLocks noChangeArrowheads="1"/>
                </p:cNvSpPr>
                <p:nvPr/>
              </p:nvSpPr>
              <p:spPr bwMode="auto">
                <a:xfrm>
                  <a:off x="1920" y="355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36233" name="Oval 9"/>
                <p:cNvSpPr>
                  <a:spLocks noChangeArrowheads="1"/>
                </p:cNvSpPr>
                <p:nvPr/>
              </p:nvSpPr>
              <p:spPr bwMode="auto">
                <a:xfrm>
                  <a:off x="1920" y="2592"/>
                  <a:ext cx="384" cy="432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436248" name="Oval 24"/>
                <p:cNvSpPr>
                  <a:spLocks noChangeArrowheads="1"/>
                </p:cNvSpPr>
                <p:nvPr/>
              </p:nvSpPr>
              <p:spPr bwMode="auto">
                <a:xfrm>
                  <a:off x="2640" y="355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6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6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145DE-B532-4657-83DC-1401A3EB186A}" type="slidenum">
              <a:rPr lang="en-US"/>
              <a:pPr/>
              <a:t>19</a:t>
            </a:fld>
            <a:endParaRPr 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Useless Productions</a:t>
            </a:r>
          </a:p>
        </p:txBody>
      </p:sp>
      <p:sp>
        <p:nvSpPr>
          <p:cNvPr id="437251" name="Text Box 3"/>
          <p:cNvSpPr txBox="1">
            <a:spLocks noChangeArrowheads="1"/>
          </p:cNvSpPr>
          <p:nvPr/>
        </p:nvSpPr>
        <p:spPr bwMode="auto">
          <a:xfrm>
            <a:off x="0" y="1295400"/>
            <a:ext cx="3711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Grammar:</a:t>
            </a:r>
          </a:p>
        </p:txBody>
      </p:sp>
      <p:graphicFrame>
        <p:nvGraphicFramePr>
          <p:cNvPr id="437252" name="Object 4"/>
          <p:cNvGraphicFramePr>
            <a:graphicFrameLocks noChangeAspect="1"/>
          </p:cNvGraphicFramePr>
          <p:nvPr/>
        </p:nvGraphicFramePr>
        <p:xfrm>
          <a:off x="3124200" y="2362200"/>
          <a:ext cx="2832100" cy="2717800"/>
        </p:xfrm>
        <a:graphic>
          <a:graphicData uri="http://schemas.openxmlformats.org/presentationml/2006/ole">
            <p:oleObj spid="_x0000_s437252" name="Equation" r:id="rId3" imgW="2831760" imgH="271764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8CA64-36C1-4D11-8634-5DABA6DC703D}" type="slidenum">
              <a:rPr lang="en-US"/>
              <a:pPr/>
              <a:t>20</a:t>
            </a:fld>
            <a:endParaRPr lang="en-US"/>
          </a:p>
        </p:txBody>
      </p:sp>
      <p:sp>
        <p:nvSpPr>
          <p:cNvPr id="438274" name="Text Box 2"/>
          <p:cNvSpPr txBox="1">
            <a:spLocks noChangeArrowheads="1"/>
          </p:cNvSpPr>
          <p:nvPr/>
        </p:nvSpPr>
        <p:spPr bwMode="auto">
          <a:xfrm>
            <a:off x="685800" y="179388"/>
            <a:ext cx="144621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First:</a:t>
            </a:r>
          </a:p>
        </p:txBody>
      </p:sp>
      <p:sp>
        <p:nvSpPr>
          <p:cNvPr id="438275" name="Text Box 3"/>
          <p:cNvSpPr txBox="1">
            <a:spLocks noChangeArrowheads="1"/>
          </p:cNvSpPr>
          <p:nvPr/>
        </p:nvSpPr>
        <p:spPr bwMode="auto">
          <a:xfrm>
            <a:off x="2438400" y="228600"/>
            <a:ext cx="66595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find all variables that can produce</a:t>
            </a:r>
          </a:p>
          <a:p>
            <a:r>
              <a:rPr lang="en-US"/>
              <a:t>strings with only terminals</a:t>
            </a:r>
          </a:p>
        </p:txBody>
      </p:sp>
      <p:graphicFrame>
        <p:nvGraphicFramePr>
          <p:cNvPr id="438276" name="Object 4"/>
          <p:cNvGraphicFramePr>
            <a:graphicFrameLocks noChangeAspect="1"/>
          </p:cNvGraphicFramePr>
          <p:nvPr/>
        </p:nvGraphicFramePr>
        <p:xfrm>
          <a:off x="393700" y="2984500"/>
          <a:ext cx="2832100" cy="2717800"/>
        </p:xfrm>
        <a:graphic>
          <a:graphicData uri="http://schemas.openxmlformats.org/presentationml/2006/ole">
            <p:oleObj spid="_x0000_s438276" name="Equation" r:id="rId3" imgW="2831760" imgH="2717640" progId="Equation.3">
              <p:embed/>
            </p:oleObj>
          </a:graphicData>
        </a:graphic>
      </p:graphicFrame>
      <p:graphicFrame>
        <p:nvGraphicFramePr>
          <p:cNvPr id="438277" name="Object 5"/>
          <p:cNvGraphicFramePr>
            <a:graphicFrameLocks noChangeAspect="1"/>
          </p:cNvGraphicFramePr>
          <p:nvPr/>
        </p:nvGraphicFramePr>
        <p:xfrm>
          <a:off x="6019800" y="2819400"/>
          <a:ext cx="1244600" cy="531813"/>
        </p:xfrm>
        <a:graphic>
          <a:graphicData uri="http://schemas.openxmlformats.org/presentationml/2006/ole">
            <p:oleObj spid="_x0000_s438277" name="Equation" r:id="rId4" imgW="1244520" imgH="533160" progId="Equation.3">
              <p:embed/>
            </p:oleObj>
          </a:graphicData>
        </a:graphic>
      </p:graphicFrame>
      <p:sp>
        <p:nvSpPr>
          <p:cNvPr id="438283" name="Oval 11"/>
          <p:cNvSpPr>
            <a:spLocks noChangeArrowheads="1"/>
          </p:cNvSpPr>
          <p:nvPr/>
        </p:nvSpPr>
        <p:spPr bwMode="auto">
          <a:xfrm>
            <a:off x="152400" y="3581400"/>
            <a:ext cx="1828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8284" name="Oval 12"/>
          <p:cNvSpPr>
            <a:spLocks noChangeArrowheads="1"/>
          </p:cNvSpPr>
          <p:nvPr/>
        </p:nvSpPr>
        <p:spPr bwMode="auto">
          <a:xfrm>
            <a:off x="76200" y="4419600"/>
            <a:ext cx="2133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38286" name="Object 14"/>
          <p:cNvGraphicFramePr>
            <a:graphicFrameLocks noChangeAspect="1"/>
          </p:cNvGraphicFramePr>
          <p:nvPr/>
        </p:nvGraphicFramePr>
        <p:xfrm>
          <a:off x="6019800" y="4038600"/>
          <a:ext cx="1143000" cy="346075"/>
        </p:xfrm>
        <a:graphic>
          <a:graphicData uri="http://schemas.openxmlformats.org/presentationml/2006/ole">
            <p:oleObj spid="_x0000_s438286" name="Equation" r:id="rId5" imgW="1384200" imgH="419040" progId="Equation.3">
              <p:embed/>
            </p:oleObj>
          </a:graphicData>
        </a:graphic>
      </p:graphicFrame>
      <p:graphicFrame>
        <p:nvGraphicFramePr>
          <p:cNvPr id="438287" name="Object 15"/>
          <p:cNvGraphicFramePr>
            <a:graphicFrameLocks noChangeAspect="1"/>
          </p:cNvGraphicFramePr>
          <p:nvPr/>
        </p:nvGraphicFramePr>
        <p:xfrm>
          <a:off x="5943600" y="5105400"/>
          <a:ext cx="1727200" cy="531813"/>
        </p:xfrm>
        <a:graphic>
          <a:graphicData uri="http://schemas.openxmlformats.org/presentationml/2006/ole">
            <p:oleObj spid="_x0000_s438287" name="Equation" r:id="rId6" imgW="1726920" imgH="533160" progId="Equation.3">
              <p:embed/>
            </p:oleObj>
          </a:graphicData>
        </a:graphic>
      </p:graphicFrame>
      <p:sp>
        <p:nvSpPr>
          <p:cNvPr id="438288" name="Text Box 16"/>
          <p:cNvSpPr txBox="1">
            <a:spLocks noChangeArrowheads="1"/>
          </p:cNvSpPr>
          <p:nvPr/>
        </p:nvSpPr>
        <p:spPr bwMode="auto">
          <a:xfrm>
            <a:off x="4038600" y="2743200"/>
            <a:ext cx="1743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Round 1:</a:t>
            </a:r>
          </a:p>
        </p:txBody>
      </p:sp>
      <p:sp>
        <p:nvSpPr>
          <p:cNvPr id="438289" name="Text Box 17"/>
          <p:cNvSpPr txBox="1">
            <a:spLocks noChangeArrowheads="1"/>
          </p:cNvSpPr>
          <p:nvPr/>
        </p:nvSpPr>
        <p:spPr bwMode="auto">
          <a:xfrm>
            <a:off x="4038600" y="5105400"/>
            <a:ext cx="18081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Round 2: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8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8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3" grpId="0" animBg="1"/>
      <p:bldP spid="438284" grpId="0" animBg="1"/>
      <p:bldP spid="438288" grpId="0" autoUpdateAnimBg="0"/>
      <p:bldP spid="43828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763A-8B76-4DEB-B674-8733A9EC4F04}" type="slidenum">
              <a:rPr lang="en-US"/>
              <a:pPr/>
              <a:t>21</a:t>
            </a:fld>
            <a:endParaRPr lang="en-US"/>
          </a:p>
        </p:txBody>
      </p:sp>
      <p:sp>
        <p:nvSpPr>
          <p:cNvPr id="439298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60706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Keep only the variables</a:t>
            </a:r>
          </a:p>
          <a:p>
            <a:r>
              <a:rPr lang="en-US"/>
              <a:t>that produce terminal symbols:</a:t>
            </a:r>
          </a:p>
        </p:txBody>
      </p:sp>
      <p:graphicFrame>
        <p:nvGraphicFramePr>
          <p:cNvPr id="439299" name="Object 3"/>
          <p:cNvGraphicFramePr>
            <a:graphicFrameLocks noChangeAspect="1"/>
          </p:cNvGraphicFramePr>
          <p:nvPr/>
        </p:nvGraphicFramePr>
        <p:xfrm>
          <a:off x="393700" y="2984500"/>
          <a:ext cx="2832100" cy="2717800"/>
        </p:xfrm>
        <a:graphic>
          <a:graphicData uri="http://schemas.openxmlformats.org/presentationml/2006/ole">
            <p:oleObj spid="_x0000_s439299" name="Equation" r:id="rId3" imgW="2831760" imgH="2717640" progId="Equation.3">
              <p:embed/>
            </p:oleObj>
          </a:graphicData>
        </a:graphic>
      </p:graphicFrame>
      <p:graphicFrame>
        <p:nvGraphicFramePr>
          <p:cNvPr id="439300" name="Object 4"/>
          <p:cNvGraphicFramePr>
            <a:graphicFrameLocks noChangeAspect="1"/>
          </p:cNvGraphicFramePr>
          <p:nvPr/>
        </p:nvGraphicFramePr>
        <p:xfrm>
          <a:off x="7086600" y="1143000"/>
          <a:ext cx="1727200" cy="531813"/>
        </p:xfrm>
        <a:graphic>
          <a:graphicData uri="http://schemas.openxmlformats.org/presentationml/2006/ole">
            <p:oleObj spid="_x0000_s439300" name="Equation" r:id="rId4" imgW="1726920" imgH="533160" progId="Equation.3">
              <p:embed/>
            </p:oleObj>
          </a:graphicData>
        </a:graphic>
      </p:graphicFrame>
      <p:sp>
        <p:nvSpPr>
          <p:cNvPr id="439301" name="Line 5"/>
          <p:cNvSpPr>
            <a:spLocks noChangeShapeType="1"/>
          </p:cNvSpPr>
          <p:nvPr/>
        </p:nvSpPr>
        <p:spPr bwMode="auto">
          <a:xfrm flipV="1">
            <a:off x="228600" y="5105400"/>
            <a:ext cx="22860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9302" name="Line 6"/>
          <p:cNvSpPr>
            <a:spLocks noChangeShapeType="1"/>
          </p:cNvSpPr>
          <p:nvPr/>
        </p:nvSpPr>
        <p:spPr bwMode="auto">
          <a:xfrm>
            <a:off x="304800" y="5105400"/>
            <a:ext cx="22098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9303" name="AutoShape 7"/>
          <p:cNvSpPr>
            <a:spLocks noChangeArrowheads="1"/>
          </p:cNvSpPr>
          <p:nvPr/>
        </p:nvSpPr>
        <p:spPr bwMode="auto">
          <a:xfrm>
            <a:off x="4191000" y="42672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39304" name="Object 8"/>
          <p:cNvGraphicFramePr>
            <a:graphicFrameLocks noChangeAspect="1"/>
          </p:cNvGraphicFramePr>
          <p:nvPr/>
        </p:nvGraphicFramePr>
        <p:xfrm>
          <a:off x="6292850" y="3562350"/>
          <a:ext cx="2209800" cy="1955800"/>
        </p:xfrm>
        <a:graphic>
          <a:graphicData uri="http://schemas.openxmlformats.org/presentationml/2006/ole">
            <p:oleObj spid="_x0000_s439304" name="Equation" r:id="rId5" imgW="2209680" imgH="1955520" progId="Equation.3">
              <p:embed/>
            </p:oleObj>
          </a:graphicData>
        </a:graphic>
      </p:graphicFrame>
      <p:sp>
        <p:nvSpPr>
          <p:cNvPr id="439305" name="Line 9"/>
          <p:cNvSpPr>
            <a:spLocks noChangeShapeType="1"/>
          </p:cNvSpPr>
          <p:nvPr/>
        </p:nvSpPr>
        <p:spPr bwMode="auto">
          <a:xfrm>
            <a:off x="2667000" y="28956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39306" name="Line 10"/>
          <p:cNvSpPr>
            <a:spLocks noChangeShapeType="1"/>
          </p:cNvSpPr>
          <p:nvPr/>
        </p:nvSpPr>
        <p:spPr bwMode="auto">
          <a:xfrm flipH="1">
            <a:off x="2667000" y="28956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39307" name="Text Box 11"/>
          <p:cNvSpPr txBox="1">
            <a:spLocks noChangeArrowheads="1"/>
          </p:cNvSpPr>
          <p:nvPr/>
        </p:nvSpPr>
        <p:spPr bwMode="auto">
          <a:xfrm>
            <a:off x="1584325" y="1798638"/>
            <a:ext cx="46148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(the rest variables are useless)</a:t>
            </a:r>
          </a:p>
        </p:txBody>
      </p:sp>
      <p:sp>
        <p:nvSpPr>
          <p:cNvPr id="439308" name="Text Box 12"/>
          <p:cNvSpPr txBox="1">
            <a:spLocks noChangeArrowheads="1"/>
          </p:cNvSpPr>
          <p:nvPr/>
        </p:nvSpPr>
        <p:spPr bwMode="auto">
          <a:xfrm>
            <a:off x="2133600" y="5867400"/>
            <a:ext cx="4778375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Remove useless productions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80F6-4E7E-467A-813B-BA37700A7407}" type="slidenum">
              <a:rPr lang="en-US"/>
              <a:pPr/>
              <a:t>22</a:t>
            </a:fld>
            <a:endParaRPr lang="en-US"/>
          </a:p>
        </p:txBody>
      </p:sp>
      <p:sp>
        <p:nvSpPr>
          <p:cNvPr id="440322" name="Text Box 2"/>
          <p:cNvSpPr txBox="1">
            <a:spLocks noChangeArrowheads="1"/>
          </p:cNvSpPr>
          <p:nvPr/>
        </p:nvSpPr>
        <p:spPr bwMode="auto">
          <a:xfrm>
            <a:off x="457200" y="255588"/>
            <a:ext cx="193833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Second:</a:t>
            </a:r>
          </a:p>
        </p:txBody>
      </p:sp>
      <p:sp>
        <p:nvSpPr>
          <p:cNvPr id="440323" name="Text Box 3"/>
          <p:cNvSpPr txBox="1">
            <a:spLocks noChangeArrowheads="1"/>
          </p:cNvSpPr>
          <p:nvPr/>
        </p:nvSpPr>
        <p:spPr bwMode="auto">
          <a:xfrm>
            <a:off x="2514600" y="304800"/>
            <a:ext cx="33670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Find all variables</a:t>
            </a:r>
          </a:p>
          <a:p>
            <a:r>
              <a:rPr lang="en-US"/>
              <a:t>reachable from</a:t>
            </a:r>
          </a:p>
        </p:txBody>
      </p:sp>
      <p:graphicFrame>
        <p:nvGraphicFramePr>
          <p:cNvPr id="440324" name="Object 4"/>
          <p:cNvGraphicFramePr>
            <a:graphicFrameLocks noChangeAspect="1"/>
          </p:cNvGraphicFramePr>
          <p:nvPr/>
        </p:nvGraphicFramePr>
        <p:xfrm>
          <a:off x="425450" y="3486150"/>
          <a:ext cx="2209800" cy="1955800"/>
        </p:xfrm>
        <a:graphic>
          <a:graphicData uri="http://schemas.openxmlformats.org/presentationml/2006/ole">
            <p:oleObj spid="_x0000_s440324" name="Equation" r:id="rId3" imgW="2209680" imgH="1955520" progId="Equation.3">
              <p:embed/>
            </p:oleObj>
          </a:graphicData>
        </a:graphic>
      </p:graphicFrame>
      <p:sp>
        <p:nvSpPr>
          <p:cNvPr id="440325" name="Oval 5"/>
          <p:cNvSpPr>
            <a:spLocks noChangeArrowheads="1"/>
          </p:cNvSpPr>
          <p:nvPr/>
        </p:nvSpPr>
        <p:spPr bwMode="auto">
          <a:xfrm>
            <a:off x="44958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0326" name="Object 6"/>
          <p:cNvGraphicFramePr>
            <a:graphicFrameLocks noChangeAspect="1"/>
          </p:cNvGraphicFramePr>
          <p:nvPr/>
        </p:nvGraphicFramePr>
        <p:xfrm>
          <a:off x="4648200" y="4191000"/>
          <a:ext cx="303213" cy="381000"/>
        </p:xfrm>
        <a:graphic>
          <a:graphicData uri="http://schemas.openxmlformats.org/presentationml/2006/ole">
            <p:oleObj spid="_x0000_s440326" name="Equation" r:id="rId4" imgW="304560" imgH="380880" progId="Equation.3">
              <p:embed/>
            </p:oleObj>
          </a:graphicData>
        </a:graphic>
      </p:graphicFrame>
      <p:sp>
        <p:nvSpPr>
          <p:cNvPr id="440327" name="Oval 7"/>
          <p:cNvSpPr>
            <a:spLocks noChangeArrowheads="1"/>
          </p:cNvSpPr>
          <p:nvPr/>
        </p:nvSpPr>
        <p:spPr bwMode="auto">
          <a:xfrm>
            <a:off x="59436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0328" name="Object 8"/>
          <p:cNvGraphicFramePr>
            <a:graphicFrameLocks noChangeAspect="1"/>
          </p:cNvGraphicFramePr>
          <p:nvPr/>
        </p:nvGraphicFramePr>
        <p:xfrm>
          <a:off x="6083300" y="4197350"/>
          <a:ext cx="330200" cy="368300"/>
        </p:xfrm>
        <a:graphic>
          <a:graphicData uri="http://schemas.openxmlformats.org/presentationml/2006/ole">
            <p:oleObj spid="_x0000_s440328" name="Equation" r:id="rId5" imgW="330120" imgH="368280" progId="Equation.3">
              <p:embed/>
            </p:oleObj>
          </a:graphicData>
        </a:graphic>
      </p:graphicFrame>
      <p:sp>
        <p:nvSpPr>
          <p:cNvPr id="440329" name="Oval 9"/>
          <p:cNvSpPr>
            <a:spLocks noChangeArrowheads="1"/>
          </p:cNvSpPr>
          <p:nvPr/>
        </p:nvSpPr>
        <p:spPr bwMode="auto">
          <a:xfrm>
            <a:off x="76962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0330" name="Object 10"/>
          <p:cNvGraphicFramePr>
            <a:graphicFrameLocks noChangeAspect="1"/>
          </p:cNvGraphicFramePr>
          <p:nvPr/>
        </p:nvGraphicFramePr>
        <p:xfrm>
          <a:off x="7835900" y="4197350"/>
          <a:ext cx="330200" cy="368300"/>
        </p:xfrm>
        <a:graphic>
          <a:graphicData uri="http://schemas.openxmlformats.org/presentationml/2006/ole">
            <p:oleObj spid="_x0000_s440330" name="Equation" r:id="rId6" imgW="330120" imgH="368280" progId="Equation.3">
              <p:embed/>
            </p:oleObj>
          </a:graphicData>
        </a:graphic>
      </p:graphicFrame>
      <p:sp>
        <p:nvSpPr>
          <p:cNvPr id="440331" name="Freeform 11"/>
          <p:cNvSpPr>
            <a:spLocks/>
          </p:cNvSpPr>
          <p:nvPr/>
        </p:nvSpPr>
        <p:spPr bwMode="auto">
          <a:xfrm>
            <a:off x="4394200" y="3251200"/>
            <a:ext cx="812800" cy="863600"/>
          </a:xfrm>
          <a:custGeom>
            <a:avLst/>
            <a:gdLst/>
            <a:ahLst/>
            <a:cxnLst>
              <a:cxn ang="0">
                <a:pos x="352" y="544"/>
              </a:cxn>
              <a:cxn ang="0">
                <a:pos x="496" y="256"/>
              </a:cxn>
              <a:cxn ang="0">
                <a:pos x="256" y="16"/>
              </a:cxn>
              <a:cxn ang="0">
                <a:pos x="16" y="160"/>
              </a:cxn>
              <a:cxn ang="0">
                <a:pos x="160" y="544"/>
              </a:cxn>
            </a:cxnLst>
            <a:rect l="0" t="0" r="r" b="b"/>
            <a:pathLst>
              <a:path w="512" h="544">
                <a:moveTo>
                  <a:pt x="352" y="544"/>
                </a:moveTo>
                <a:cubicBezTo>
                  <a:pt x="432" y="444"/>
                  <a:pt x="512" y="344"/>
                  <a:pt x="496" y="256"/>
                </a:cubicBezTo>
                <a:cubicBezTo>
                  <a:pt x="480" y="168"/>
                  <a:pt x="336" y="32"/>
                  <a:pt x="256" y="16"/>
                </a:cubicBezTo>
                <a:cubicBezTo>
                  <a:pt x="176" y="0"/>
                  <a:pt x="32" y="72"/>
                  <a:pt x="16" y="160"/>
                </a:cubicBezTo>
                <a:cubicBezTo>
                  <a:pt x="0" y="248"/>
                  <a:pt x="80" y="396"/>
                  <a:pt x="160" y="5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0332" name="Line 12"/>
          <p:cNvSpPr>
            <a:spLocks noChangeShapeType="1"/>
          </p:cNvSpPr>
          <p:nvPr/>
        </p:nvSpPr>
        <p:spPr bwMode="auto">
          <a:xfrm>
            <a:off x="5029200" y="4419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0333" name="Text Box 13"/>
          <p:cNvSpPr txBox="1">
            <a:spLocks noChangeArrowheads="1"/>
          </p:cNvSpPr>
          <p:nvPr/>
        </p:nvSpPr>
        <p:spPr bwMode="auto">
          <a:xfrm>
            <a:off x="3886200" y="2362200"/>
            <a:ext cx="4873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Use a Dependency Graph</a:t>
            </a:r>
          </a:p>
        </p:txBody>
      </p:sp>
      <p:sp>
        <p:nvSpPr>
          <p:cNvPr id="440334" name="Text Box 14"/>
          <p:cNvSpPr txBox="1">
            <a:spLocks noChangeArrowheads="1"/>
          </p:cNvSpPr>
          <p:nvPr/>
        </p:nvSpPr>
        <p:spPr bwMode="auto">
          <a:xfrm>
            <a:off x="7107238" y="4876800"/>
            <a:ext cx="2036762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   not</a:t>
            </a:r>
          </a:p>
          <a:p>
            <a:r>
              <a:rPr lang="en-US"/>
              <a:t>reachable</a:t>
            </a:r>
          </a:p>
        </p:txBody>
      </p:sp>
      <p:graphicFrame>
        <p:nvGraphicFramePr>
          <p:cNvPr id="440335" name="Object 15"/>
          <p:cNvGraphicFramePr>
            <a:graphicFrameLocks noChangeAspect="1"/>
          </p:cNvGraphicFramePr>
          <p:nvPr/>
        </p:nvGraphicFramePr>
        <p:xfrm>
          <a:off x="5638800" y="990600"/>
          <a:ext cx="330200" cy="419100"/>
        </p:xfrm>
        <a:graphic>
          <a:graphicData uri="http://schemas.openxmlformats.org/presentationml/2006/ole">
            <p:oleObj spid="_x0000_s440335" name="Equation" r:id="rId7" imgW="330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8CBE4-885A-4C1E-8717-524414EFE4D1}" type="slidenum">
              <a:rPr lang="en-US"/>
              <a:pPr/>
              <a:t>23</a:t>
            </a:fld>
            <a:endParaRPr lang="en-US"/>
          </a:p>
        </p:txBody>
      </p:sp>
      <p:sp>
        <p:nvSpPr>
          <p:cNvPr id="441346" name="Text Box 2"/>
          <p:cNvSpPr txBox="1">
            <a:spLocks noChangeArrowheads="1"/>
          </p:cNvSpPr>
          <p:nvPr/>
        </p:nvSpPr>
        <p:spPr bwMode="auto">
          <a:xfrm>
            <a:off x="1981200" y="152400"/>
            <a:ext cx="45561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Keep only the variables</a:t>
            </a:r>
          </a:p>
          <a:p>
            <a:r>
              <a:rPr lang="en-US"/>
              <a:t>reachable from S</a:t>
            </a:r>
          </a:p>
        </p:txBody>
      </p:sp>
      <p:graphicFrame>
        <p:nvGraphicFramePr>
          <p:cNvPr id="441347" name="Object 3"/>
          <p:cNvGraphicFramePr>
            <a:graphicFrameLocks noChangeAspect="1"/>
          </p:cNvGraphicFramePr>
          <p:nvPr/>
        </p:nvGraphicFramePr>
        <p:xfrm>
          <a:off x="577850" y="2800350"/>
          <a:ext cx="2209800" cy="1955800"/>
        </p:xfrm>
        <a:graphic>
          <a:graphicData uri="http://schemas.openxmlformats.org/presentationml/2006/ole">
            <p:oleObj spid="_x0000_s441347" name="Equation" r:id="rId3" imgW="2209680" imgH="1955520" progId="Equation.3">
              <p:embed/>
            </p:oleObj>
          </a:graphicData>
        </a:graphic>
      </p:graphicFrame>
      <p:sp>
        <p:nvSpPr>
          <p:cNvPr id="441348" name="Line 4"/>
          <p:cNvSpPr>
            <a:spLocks noChangeShapeType="1"/>
          </p:cNvSpPr>
          <p:nvPr/>
        </p:nvSpPr>
        <p:spPr bwMode="auto">
          <a:xfrm flipV="1">
            <a:off x="457200" y="4267200"/>
            <a:ext cx="19050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41349" name="Line 5"/>
          <p:cNvSpPr>
            <a:spLocks noChangeShapeType="1"/>
          </p:cNvSpPr>
          <p:nvPr/>
        </p:nvSpPr>
        <p:spPr bwMode="auto">
          <a:xfrm>
            <a:off x="381000" y="4267200"/>
            <a:ext cx="19812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41350" name="AutoShape 6"/>
          <p:cNvSpPr>
            <a:spLocks noChangeArrowheads="1"/>
          </p:cNvSpPr>
          <p:nvPr/>
        </p:nvSpPr>
        <p:spPr bwMode="auto">
          <a:xfrm>
            <a:off x="4038600" y="3657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41351" name="Object 7"/>
          <p:cNvGraphicFramePr>
            <a:graphicFrameLocks noChangeAspect="1"/>
          </p:cNvGraphicFramePr>
          <p:nvPr/>
        </p:nvGraphicFramePr>
        <p:xfrm>
          <a:off x="6216650" y="3257550"/>
          <a:ext cx="2209800" cy="1193800"/>
        </p:xfrm>
        <a:graphic>
          <a:graphicData uri="http://schemas.openxmlformats.org/presentationml/2006/ole">
            <p:oleObj spid="_x0000_s441351" name="Equation" r:id="rId4" imgW="2209680" imgH="1193760" progId="Equation.3">
              <p:embed/>
            </p:oleObj>
          </a:graphicData>
        </a:graphic>
      </p:graphicFrame>
      <p:sp>
        <p:nvSpPr>
          <p:cNvPr id="441352" name="Text Box 8"/>
          <p:cNvSpPr txBox="1">
            <a:spLocks noChangeArrowheads="1"/>
          </p:cNvSpPr>
          <p:nvPr/>
        </p:nvSpPr>
        <p:spPr bwMode="auto">
          <a:xfrm>
            <a:off x="5791200" y="2133600"/>
            <a:ext cx="2913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Final Grammar</a:t>
            </a:r>
          </a:p>
        </p:txBody>
      </p:sp>
      <p:sp>
        <p:nvSpPr>
          <p:cNvPr id="441353" name="Text Box 9"/>
          <p:cNvSpPr txBox="1">
            <a:spLocks noChangeArrowheads="1"/>
          </p:cNvSpPr>
          <p:nvPr/>
        </p:nvSpPr>
        <p:spPr bwMode="auto">
          <a:xfrm>
            <a:off x="2422525" y="1341438"/>
            <a:ext cx="46148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(the rest variables are useless)</a:t>
            </a:r>
          </a:p>
        </p:txBody>
      </p:sp>
      <p:sp>
        <p:nvSpPr>
          <p:cNvPr id="441354" name="Text Box 10"/>
          <p:cNvSpPr txBox="1">
            <a:spLocks noChangeArrowheads="1"/>
          </p:cNvSpPr>
          <p:nvPr/>
        </p:nvSpPr>
        <p:spPr bwMode="auto">
          <a:xfrm>
            <a:off x="2133600" y="5410200"/>
            <a:ext cx="4778375" cy="519113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Remove useless productions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B16-1C88-4BF6-822A-D13D9F59D0DE}" type="slidenum">
              <a:rPr lang="en-US"/>
              <a:pPr/>
              <a:t>24</a:t>
            </a:fld>
            <a:endParaRPr lang="en-US"/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All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 sz="3600" b="1">
                <a:solidFill>
                  <a:srgbClr val="FF3300"/>
                </a:solidFill>
              </a:rPr>
              <a:t>Step 1:</a:t>
            </a:r>
            <a:r>
              <a:rPr lang="en-US"/>
              <a:t>  Remove Nullable Variables</a:t>
            </a:r>
          </a:p>
          <a:p>
            <a:endParaRPr lang="en-US"/>
          </a:p>
          <a:p>
            <a:r>
              <a:rPr lang="en-US" sz="3600" b="1">
                <a:solidFill>
                  <a:srgbClr val="FF3300"/>
                </a:solidFill>
              </a:rPr>
              <a:t>Step 2:</a:t>
            </a:r>
            <a:r>
              <a:rPr lang="en-US"/>
              <a:t>  Remove Unit-Productions</a:t>
            </a:r>
          </a:p>
          <a:p>
            <a:endParaRPr lang="en-US"/>
          </a:p>
          <a:p>
            <a:r>
              <a:rPr lang="en-US" sz="3600" b="1">
                <a:solidFill>
                  <a:srgbClr val="FF3300"/>
                </a:solidFill>
              </a:rPr>
              <a:t>Step 3:</a:t>
            </a:r>
            <a:r>
              <a:rPr lang="en-US"/>
              <a:t>  Remove Useless Variables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Normal Forms</a:t>
            </a:r>
            <a:br>
              <a:rPr lang="en-US" sz="4400"/>
            </a:br>
            <a:r>
              <a:rPr lang="en-US" sz="4400"/>
              <a:t>for</a:t>
            </a:r>
            <a:br>
              <a:rPr lang="en-US" sz="4400"/>
            </a:br>
            <a:r>
              <a:rPr lang="en-US" sz="4400"/>
              <a:t>Context-free Grammars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090E2-EF3D-47DF-B672-B93CEEEFC9FC}" type="slidenum">
              <a:rPr lang="en-US"/>
              <a:pPr/>
              <a:t>26</a:t>
            </a:fld>
            <a:endParaRPr lang="en-US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Chomsky Normal Form</a:t>
            </a:r>
          </a:p>
        </p:txBody>
      </p:sp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0" y="1295400"/>
            <a:ext cx="5370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Each productions has form:</a:t>
            </a:r>
          </a:p>
        </p:txBody>
      </p:sp>
      <p:graphicFrame>
        <p:nvGraphicFramePr>
          <p:cNvPr id="482308" name="Object 4"/>
          <p:cNvGraphicFramePr>
            <a:graphicFrameLocks noChangeAspect="1"/>
          </p:cNvGraphicFramePr>
          <p:nvPr/>
        </p:nvGraphicFramePr>
        <p:xfrm>
          <a:off x="1371600" y="3124200"/>
          <a:ext cx="1765300" cy="419100"/>
        </p:xfrm>
        <a:graphic>
          <a:graphicData uri="http://schemas.openxmlformats.org/presentationml/2006/ole">
            <p:oleObj spid="_x0000_s482308" name="Equation" r:id="rId3" imgW="1765080" imgH="419040" progId="Equation.3">
              <p:embed/>
            </p:oleObj>
          </a:graphicData>
        </a:graphic>
      </p:graphicFrame>
      <p:sp>
        <p:nvSpPr>
          <p:cNvPr id="482309" name="Line 5"/>
          <p:cNvSpPr>
            <a:spLocks noChangeShapeType="1"/>
          </p:cNvSpPr>
          <p:nvPr/>
        </p:nvSpPr>
        <p:spPr bwMode="auto">
          <a:xfrm flipV="1">
            <a:off x="1752600" y="3581400"/>
            <a:ext cx="7620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82310" name="Line 6"/>
          <p:cNvSpPr>
            <a:spLocks noChangeShapeType="1"/>
          </p:cNvSpPr>
          <p:nvPr/>
        </p:nvSpPr>
        <p:spPr bwMode="auto">
          <a:xfrm flipH="1" flipV="1">
            <a:off x="2971800" y="3581400"/>
            <a:ext cx="609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82311" name="Text Box 7"/>
          <p:cNvSpPr txBox="1">
            <a:spLocks noChangeArrowheads="1"/>
          </p:cNvSpPr>
          <p:nvPr/>
        </p:nvSpPr>
        <p:spPr bwMode="auto">
          <a:xfrm>
            <a:off x="533400" y="4572000"/>
            <a:ext cx="1682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  <p:sp>
        <p:nvSpPr>
          <p:cNvPr id="482312" name="Text Box 8"/>
          <p:cNvSpPr txBox="1">
            <a:spLocks noChangeArrowheads="1"/>
          </p:cNvSpPr>
          <p:nvPr/>
        </p:nvSpPr>
        <p:spPr bwMode="auto">
          <a:xfrm>
            <a:off x="3124200" y="4572000"/>
            <a:ext cx="1682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</a:t>
            </a:r>
          </a:p>
        </p:txBody>
      </p:sp>
      <p:graphicFrame>
        <p:nvGraphicFramePr>
          <p:cNvPr id="482313" name="Object 9"/>
          <p:cNvGraphicFramePr>
            <a:graphicFrameLocks noChangeAspect="1"/>
          </p:cNvGraphicFramePr>
          <p:nvPr/>
        </p:nvGraphicFramePr>
        <p:xfrm>
          <a:off x="6559550" y="3105150"/>
          <a:ext cx="1346200" cy="419100"/>
        </p:xfrm>
        <a:graphic>
          <a:graphicData uri="http://schemas.openxmlformats.org/presentationml/2006/ole">
            <p:oleObj spid="_x0000_s482313" name="Equation" r:id="rId4" imgW="1346040" imgH="419040" progId="Equation.3">
              <p:embed/>
            </p:oleObj>
          </a:graphicData>
        </a:graphic>
      </p:graphicFrame>
      <p:sp>
        <p:nvSpPr>
          <p:cNvPr id="482314" name="Text Box 10"/>
          <p:cNvSpPr txBox="1">
            <a:spLocks noChangeArrowheads="1"/>
          </p:cNvSpPr>
          <p:nvPr/>
        </p:nvSpPr>
        <p:spPr bwMode="auto">
          <a:xfrm>
            <a:off x="4495800" y="304800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482315" name="Line 11"/>
          <p:cNvSpPr>
            <a:spLocks noChangeShapeType="1"/>
          </p:cNvSpPr>
          <p:nvPr/>
        </p:nvSpPr>
        <p:spPr bwMode="auto">
          <a:xfrm flipV="1">
            <a:off x="7772400" y="3581400"/>
            <a:ext cx="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82316" name="Text Box 12"/>
          <p:cNvSpPr txBox="1">
            <a:spLocks noChangeArrowheads="1"/>
          </p:cNvSpPr>
          <p:nvPr/>
        </p:nvSpPr>
        <p:spPr bwMode="auto">
          <a:xfrm>
            <a:off x="6934200" y="4572000"/>
            <a:ext cx="1755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terminal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AEA6-9801-4506-8142-7B4C4AC83473}" type="slidenum">
              <a:rPr lang="en-US"/>
              <a:pPr/>
              <a:t>27</a:t>
            </a:fld>
            <a:endParaRPr lang="en-US"/>
          </a:p>
        </p:txBody>
      </p:sp>
      <p:sp>
        <p:nvSpPr>
          <p:cNvPr id="483330" name="Text Box 2"/>
          <p:cNvSpPr txBox="1">
            <a:spLocks noChangeArrowheads="1"/>
          </p:cNvSpPr>
          <p:nvPr/>
        </p:nvSpPr>
        <p:spPr bwMode="auto">
          <a:xfrm>
            <a:off x="365125" y="25400"/>
            <a:ext cx="2073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Examples:</a:t>
            </a:r>
          </a:p>
        </p:txBody>
      </p:sp>
      <p:graphicFrame>
        <p:nvGraphicFramePr>
          <p:cNvPr id="483331" name="Object 3"/>
          <p:cNvGraphicFramePr>
            <a:graphicFrameLocks noChangeAspect="1"/>
          </p:cNvGraphicFramePr>
          <p:nvPr/>
        </p:nvGraphicFramePr>
        <p:xfrm>
          <a:off x="984250" y="1308100"/>
          <a:ext cx="1689100" cy="2717800"/>
        </p:xfrm>
        <a:graphic>
          <a:graphicData uri="http://schemas.openxmlformats.org/presentationml/2006/ole">
            <p:oleObj spid="_x0000_s483331" name="Equation" r:id="rId3" imgW="1688760" imgH="2717640" progId="Equation.3">
              <p:embed/>
            </p:oleObj>
          </a:graphicData>
        </a:graphic>
      </p:graphicFrame>
      <p:sp>
        <p:nvSpPr>
          <p:cNvPr id="483332" name="Text Box 4"/>
          <p:cNvSpPr txBox="1">
            <a:spLocks noChangeArrowheads="1"/>
          </p:cNvSpPr>
          <p:nvPr/>
        </p:nvSpPr>
        <p:spPr bwMode="auto">
          <a:xfrm>
            <a:off x="5867400" y="4572000"/>
            <a:ext cx="27686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Chomsky</a:t>
            </a:r>
          </a:p>
          <a:p>
            <a:r>
              <a:rPr lang="en-US"/>
              <a:t>Normal Form </a:t>
            </a:r>
          </a:p>
        </p:txBody>
      </p:sp>
      <p:graphicFrame>
        <p:nvGraphicFramePr>
          <p:cNvPr id="483333" name="Object 5"/>
          <p:cNvGraphicFramePr>
            <a:graphicFrameLocks noChangeAspect="1"/>
          </p:cNvGraphicFramePr>
          <p:nvPr/>
        </p:nvGraphicFramePr>
        <p:xfrm>
          <a:off x="6153150" y="1308100"/>
          <a:ext cx="1993900" cy="2717800"/>
        </p:xfrm>
        <a:graphic>
          <a:graphicData uri="http://schemas.openxmlformats.org/presentationml/2006/ole">
            <p:oleObj spid="_x0000_s483333" name="Equation" r:id="rId4" imgW="1993680" imgH="2717640" progId="Equation.3">
              <p:embed/>
            </p:oleObj>
          </a:graphicData>
        </a:graphic>
      </p:graphicFrame>
      <p:sp>
        <p:nvSpPr>
          <p:cNvPr id="483334" name="Oval 6"/>
          <p:cNvSpPr>
            <a:spLocks noChangeArrowheads="1"/>
          </p:cNvSpPr>
          <p:nvPr/>
        </p:nvSpPr>
        <p:spPr bwMode="auto">
          <a:xfrm>
            <a:off x="7086600" y="1905000"/>
            <a:ext cx="12192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83335" name="Oval 7"/>
          <p:cNvSpPr>
            <a:spLocks noChangeArrowheads="1"/>
          </p:cNvSpPr>
          <p:nvPr/>
        </p:nvSpPr>
        <p:spPr bwMode="auto">
          <a:xfrm>
            <a:off x="7086600" y="3581400"/>
            <a:ext cx="990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483336" name="Text Box 8"/>
          <p:cNvSpPr txBox="1">
            <a:spLocks noChangeArrowheads="1"/>
          </p:cNvSpPr>
          <p:nvPr/>
        </p:nvSpPr>
        <p:spPr bwMode="auto">
          <a:xfrm>
            <a:off x="838200" y="4495800"/>
            <a:ext cx="27686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Chomsky </a:t>
            </a:r>
          </a:p>
          <a:p>
            <a:r>
              <a:rPr lang="en-US"/>
              <a:t>Normal Form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3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3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4" grpId="0" animBg="1"/>
      <p:bldP spid="4833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56B0F-9669-40C2-A172-3181646CE973}" type="slidenum">
              <a:rPr lang="en-US"/>
              <a:pPr/>
              <a:t>28</a:t>
            </a:fld>
            <a:endParaRPr lang="en-US"/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Convertion to Chomsky Normal Form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Example:</a:t>
            </a:r>
          </a:p>
        </p:txBody>
      </p:sp>
      <p:graphicFrame>
        <p:nvGraphicFramePr>
          <p:cNvPr id="484356" name="Object 4"/>
          <p:cNvGraphicFramePr>
            <a:graphicFrameLocks noChangeAspect="1"/>
          </p:cNvGraphicFramePr>
          <p:nvPr/>
        </p:nvGraphicFramePr>
        <p:xfrm>
          <a:off x="2971800" y="1524000"/>
          <a:ext cx="1968500" cy="1943100"/>
        </p:xfrm>
        <a:graphic>
          <a:graphicData uri="http://schemas.openxmlformats.org/presentationml/2006/ole">
            <p:oleObj spid="_x0000_s484356" name="Equation" r:id="rId3" imgW="1968480" imgH="1942920" progId="Equation.3">
              <p:embed/>
            </p:oleObj>
          </a:graphicData>
        </a:graphic>
      </p:graphicFrame>
      <p:sp>
        <p:nvSpPr>
          <p:cNvPr id="484357" name="Text Box 5"/>
          <p:cNvSpPr txBox="1">
            <a:spLocks noChangeArrowheads="1"/>
          </p:cNvSpPr>
          <p:nvPr/>
        </p:nvSpPr>
        <p:spPr bwMode="auto">
          <a:xfrm>
            <a:off x="2438400" y="4114800"/>
            <a:ext cx="27686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Chomsky</a:t>
            </a:r>
          </a:p>
          <a:p>
            <a:r>
              <a:rPr lang="en-US"/>
              <a:t>Normal Form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5CBE2-CF84-44F0-82B5-20B367EA748D}" type="slidenum">
              <a:rPr lang="en-US"/>
              <a:pPr/>
              <a:t>29</a:t>
            </a:fld>
            <a:endParaRPr lang="en-US"/>
          </a:p>
        </p:txBody>
      </p:sp>
      <p:graphicFrame>
        <p:nvGraphicFramePr>
          <p:cNvPr id="485378" name="Object 2050"/>
          <p:cNvGraphicFramePr>
            <a:graphicFrameLocks noChangeAspect="1"/>
          </p:cNvGraphicFramePr>
          <p:nvPr/>
        </p:nvGraphicFramePr>
        <p:xfrm>
          <a:off x="666750" y="2800350"/>
          <a:ext cx="1968500" cy="1943100"/>
        </p:xfrm>
        <a:graphic>
          <a:graphicData uri="http://schemas.openxmlformats.org/presentationml/2006/ole">
            <p:oleObj spid="_x0000_s485378" name="Equation" r:id="rId3" imgW="1968480" imgH="1942920" progId="Equation.3">
              <p:embed/>
            </p:oleObj>
          </a:graphicData>
        </a:graphic>
      </p:graphicFrame>
      <p:sp>
        <p:nvSpPr>
          <p:cNvPr id="485379" name="Text Box 2051"/>
          <p:cNvSpPr txBox="1">
            <a:spLocks noChangeArrowheads="1"/>
          </p:cNvSpPr>
          <p:nvPr/>
        </p:nvSpPr>
        <p:spPr bwMode="auto">
          <a:xfrm>
            <a:off x="0" y="304800"/>
            <a:ext cx="66738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Introduce variables for terminals:</a:t>
            </a:r>
          </a:p>
        </p:txBody>
      </p:sp>
      <p:sp>
        <p:nvSpPr>
          <p:cNvPr id="485380" name="AutoShape 2052"/>
          <p:cNvSpPr>
            <a:spLocks noChangeArrowheads="1"/>
          </p:cNvSpPr>
          <p:nvPr/>
        </p:nvSpPr>
        <p:spPr bwMode="auto">
          <a:xfrm>
            <a:off x="3581400" y="3657600"/>
            <a:ext cx="1524000" cy="485775"/>
          </a:xfrm>
          <a:prstGeom prst="rightArrow">
            <a:avLst>
              <a:gd name="adj1" fmla="val 50000"/>
              <a:gd name="adj2" fmla="val 784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85381" name="Object 2053"/>
          <p:cNvGraphicFramePr>
            <a:graphicFrameLocks noChangeAspect="1"/>
          </p:cNvGraphicFramePr>
          <p:nvPr/>
        </p:nvGraphicFramePr>
        <p:xfrm>
          <a:off x="6286500" y="1765300"/>
          <a:ext cx="2451100" cy="4470400"/>
        </p:xfrm>
        <a:graphic>
          <a:graphicData uri="http://schemas.openxmlformats.org/presentationml/2006/ole">
            <p:oleObj spid="_x0000_s485381" name="Equation" r:id="rId4" imgW="2450880" imgH="4470120" progId="Equation.3">
              <p:embed/>
            </p:oleObj>
          </a:graphicData>
        </a:graphic>
      </p:graphicFrame>
      <p:graphicFrame>
        <p:nvGraphicFramePr>
          <p:cNvPr id="485382" name="Object 2054"/>
          <p:cNvGraphicFramePr>
            <a:graphicFrameLocks noChangeAspect="1"/>
          </p:cNvGraphicFramePr>
          <p:nvPr/>
        </p:nvGraphicFramePr>
        <p:xfrm>
          <a:off x="6781800" y="304800"/>
          <a:ext cx="1727200" cy="582613"/>
        </p:xfrm>
        <a:graphic>
          <a:graphicData uri="http://schemas.openxmlformats.org/presentationml/2006/ole">
            <p:oleObj spid="_x0000_s485382" name="Equation" r:id="rId5" imgW="172692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67156-B547-436E-B427-7F537CF9DC16}" type="slidenum">
              <a:rPr lang="en-US"/>
              <a:pPr/>
              <a:t>30</a:t>
            </a:fld>
            <a:endParaRPr lang="en-US"/>
          </a:p>
        </p:txBody>
      </p:sp>
      <p:sp>
        <p:nvSpPr>
          <p:cNvPr id="486402" name="Text Box 2"/>
          <p:cNvSpPr txBox="1">
            <a:spLocks noChangeArrowheads="1"/>
          </p:cNvSpPr>
          <p:nvPr/>
        </p:nvSpPr>
        <p:spPr bwMode="auto">
          <a:xfrm>
            <a:off x="0" y="0"/>
            <a:ext cx="6416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Introduce intermediate variable:</a:t>
            </a:r>
          </a:p>
        </p:txBody>
      </p:sp>
      <p:graphicFrame>
        <p:nvGraphicFramePr>
          <p:cNvPr id="486403" name="Object 3"/>
          <p:cNvGraphicFramePr>
            <a:graphicFrameLocks noChangeAspect="1"/>
          </p:cNvGraphicFramePr>
          <p:nvPr/>
        </p:nvGraphicFramePr>
        <p:xfrm>
          <a:off x="266700" y="1612900"/>
          <a:ext cx="2451100" cy="4470400"/>
        </p:xfrm>
        <a:graphic>
          <a:graphicData uri="http://schemas.openxmlformats.org/presentationml/2006/ole">
            <p:oleObj spid="_x0000_s486403" name="Equation" r:id="rId3" imgW="2450880" imgH="4470120" progId="Equation.3">
              <p:embed/>
            </p:oleObj>
          </a:graphicData>
        </a:graphic>
      </p:graphicFrame>
      <p:sp>
        <p:nvSpPr>
          <p:cNvPr id="486404" name="AutoShape 4"/>
          <p:cNvSpPr>
            <a:spLocks noChangeArrowheads="1"/>
          </p:cNvSpPr>
          <p:nvPr/>
        </p:nvSpPr>
        <p:spPr bwMode="auto">
          <a:xfrm>
            <a:off x="3581400" y="3581400"/>
            <a:ext cx="1676400" cy="485775"/>
          </a:xfrm>
          <a:prstGeom prst="rightArrow">
            <a:avLst>
              <a:gd name="adj1" fmla="val 50000"/>
              <a:gd name="adj2" fmla="val 862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86405" name="Object 5"/>
          <p:cNvGraphicFramePr>
            <a:graphicFrameLocks noChangeAspect="1"/>
          </p:cNvGraphicFramePr>
          <p:nvPr/>
        </p:nvGraphicFramePr>
        <p:xfrm>
          <a:off x="6096000" y="1143000"/>
          <a:ext cx="2451100" cy="5232400"/>
        </p:xfrm>
        <a:graphic>
          <a:graphicData uri="http://schemas.openxmlformats.org/presentationml/2006/ole">
            <p:oleObj spid="_x0000_s486405" name="Equation" r:id="rId4" imgW="2450880" imgH="5232240" progId="Equation.3">
              <p:embed/>
            </p:oleObj>
          </a:graphicData>
        </a:graphic>
      </p:graphicFrame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6553200" y="0"/>
          <a:ext cx="406400" cy="571500"/>
        </p:xfrm>
        <a:graphic>
          <a:graphicData uri="http://schemas.openxmlformats.org/presentationml/2006/ole">
            <p:oleObj spid="_x0000_s486406" name="Equation" r:id="rId5" imgW="406080" imgH="571320" progId="Equation.3">
              <p:embed/>
            </p:oleObj>
          </a:graphicData>
        </a:graphic>
      </p:graphicFrame>
      <p:sp>
        <p:nvSpPr>
          <p:cNvPr id="486407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/>
              <a:t> 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1B173-DDC8-4925-A70F-A4AA2557CBCC}" type="slidenum">
              <a:rPr lang="en-US"/>
              <a:pPr/>
              <a:t>31</a:t>
            </a:fld>
            <a:endParaRPr lang="en-US"/>
          </a:p>
        </p:txBody>
      </p:sp>
      <p:sp>
        <p:nvSpPr>
          <p:cNvPr id="487426" name="Text Box 2"/>
          <p:cNvSpPr txBox="1">
            <a:spLocks noChangeArrowheads="1"/>
          </p:cNvSpPr>
          <p:nvPr/>
        </p:nvSpPr>
        <p:spPr bwMode="auto">
          <a:xfrm>
            <a:off x="0" y="0"/>
            <a:ext cx="6416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Introduce intermediate variable:</a:t>
            </a:r>
          </a:p>
        </p:txBody>
      </p:sp>
      <p:sp>
        <p:nvSpPr>
          <p:cNvPr id="487427" name="AutoShape 3"/>
          <p:cNvSpPr>
            <a:spLocks noChangeArrowheads="1"/>
          </p:cNvSpPr>
          <p:nvPr/>
        </p:nvSpPr>
        <p:spPr bwMode="auto">
          <a:xfrm>
            <a:off x="3657600" y="3429000"/>
            <a:ext cx="1676400" cy="485775"/>
          </a:xfrm>
          <a:prstGeom prst="rightArrow">
            <a:avLst>
              <a:gd name="adj1" fmla="val 50000"/>
              <a:gd name="adj2" fmla="val 862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87428" name="Object 4"/>
          <p:cNvGraphicFramePr>
            <a:graphicFrameLocks noChangeAspect="1"/>
          </p:cNvGraphicFramePr>
          <p:nvPr/>
        </p:nvGraphicFramePr>
        <p:xfrm>
          <a:off x="6248400" y="838200"/>
          <a:ext cx="2146300" cy="6019800"/>
        </p:xfrm>
        <a:graphic>
          <a:graphicData uri="http://schemas.openxmlformats.org/presentationml/2006/ole">
            <p:oleObj spid="_x0000_s487428" name="Equation" r:id="rId3" imgW="2145960" imgH="6019560" progId="Equation.3">
              <p:embed/>
            </p:oleObj>
          </a:graphicData>
        </a:graphic>
      </p:graphicFrame>
      <p:graphicFrame>
        <p:nvGraphicFramePr>
          <p:cNvPr id="487429" name="Object 5"/>
          <p:cNvGraphicFramePr>
            <a:graphicFrameLocks noChangeAspect="1"/>
          </p:cNvGraphicFramePr>
          <p:nvPr/>
        </p:nvGraphicFramePr>
        <p:xfrm>
          <a:off x="6858000" y="0"/>
          <a:ext cx="482600" cy="571500"/>
        </p:xfrm>
        <a:graphic>
          <a:graphicData uri="http://schemas.openxmlformats.org/presentationml/2006/ole">
            <p:oleObj spid="_x0000_s487429" name="Equation" r:id="rId4" imgW="482400" imgH="571320" progId="Equation.3">
              <p:embed/>
            </p:oleObj>
          </a:graphicData>
        </a:graphic>
      </p:graphicFrame>
      <p:graphicFrame>
        <p:nvGraphicFramePr>
          <p:cNvPr id="487430" name="Object 6"/>
          <p:cNvGraphicFramePr>
            <a:graphicFrameLocks noChangeAspect="1"/>
          </p:cNvGraphicFramePr>
          <p:nvPr/>
        </p:nvGraphicFramePr>
        <p:xfrm>
          <a:off x="304800" y="1219200"/>
          <a:ext cx="2451100" cy="5232400"/>
        </p:xfrm>
        <a:graphic>
          <a:graphicData uri="http://schemas.openxmlformats.org/presentationml/2006/ole">
            <p:oleObj spid="_x0000_s487430" name="Equation" r:id="rId5" imgW="2450880" imgH="5232240" progId="Equation.3">
              <p:embed/>
            </p:oleObj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503D7-25C7-48C7-B503-66FA094CF2C0}" type="slidenum">
              <a:rPr lang="en-US"/>
              <a:pPr/>
              <a:t>32</a:t>
            </a:fld>
            <a:endParaRPr lang="en-US"/>
          </a:p>
        </p:txBody>
      </p:sp>
      <p:sp>
        <p:nvSpPr>
          <p:cNvPr id="488450" name="Text Box 2"/>
          <p:cNvSpPr txBox="1">
            <a:spLocks noChangeArrowheads="1"/>
          </p:cNvSpPr>
          <p:nvPr/>
        </p:nvSpPr>
        <p:spPr bwMode="auto">
          <a:xfrm>
            <a:off x="762000" y="0"/>
            <a:ext cx="7769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grammar in Chomsky Normal Form:</a:t>
            </a:r>
          </a:p>
        </p:txBody>
      </p:sp>
      <p:graphicFrame>
        <p:nvGraphicFramePr>
          <p:cNvPr id="488451" name="Object 3"/>
          <p:cNvGraphicFramePr>
            <a:graphicFrameLocks noChangeAspect="1"/>
          </p:cNvGraphicFramePr>
          <p:nvPr/>
        </p:nvGraphicFramePr>
        <p:xfrm>
          <a:off x="6172200" y="685800"/>
          <a:ext cx="2146300" cy="6019800"/>
        </p:xfrm>
        <a:graphic>
          <a:graphicData uri="http://schemas.openxmlformats.org/presentationml/2006/ole">
            <p:oleObj spid="_x0000_s488451" name="Equation" r:id="rId3" imgW="2145960" imgH="6019560" progId="Equation.3">
              <p:embed/>
            </p:oleObj>
          </a:graphicData>
        </a:graphic>
      </p:graphicFrame>
      <p:graphicFrame>
        <p:nvGraphicFramePr>
          <p:cNvPr id="488452" name="Object 4"/>
          <p:cNvGraphicFramePr>
            <a:graphicFrameLocks noChangeAspect="1"/>
          </p:cNvGraphicFramePr>
          <p:nvPr/>
        </p:nvGraphicFramePr>
        <p:xfrm>
          <a:off x="514350" y="3638550"/>
          <a:ext cx="1968500" cy="1943100"/>
        </p:xfrm>
        <a:graphic>
          <a:graphicData uri="http://schemas.openxmlformats.org/presentationml/2006/ole">
            <p:oleObj spid="_x0000_s488452" name="Equation" r:id="rId4" imgW="1968480" imgH="1942920" progId="Equation.3">
              <p:embed/>
            </p:oleObj>
          </a:graphicData>
        </a:graphic>
      </p:graphicFrame>
      <p:sp>
        <p:nvSpPr>
          <p:cNvPr id="488453" name="Text Box 5"/>
          <p:cNvSpPr txBox="1">
            <a:spLocks noChangeArrowheads="1"/>
          </p:cNvSpPr>
          <p:nvPr/>
        </p:nvSpPr>
        <p:spPr bwMode="auto">
          <a:xfrm>
            <a:off x="0" y="2667000"/>
            <a:ext cx="3135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grammar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E718C-EEE4-4A5A-88AF-78033FEBE9BA}" type="slidenum">
              <a:rPr lang="en-US"/>
              <a:pPr/>
              <a:t>33</a:t>
            </a:fld>
            <a:endParaRPr lang="en-US"/>
          </a:p>
        </p:txBody>
      </p:sp>
      <p:sp>
        <p:nvSpPr>
          <p:cNvPr id="489474" name="Text Box 2"/>
          <p:cNvSpPr txBox="1">
            <a:spLocks noChangeArrowheads="1"/>
          </p:cNvSpPr>
          <p:nvPr/>
        </p:nvSpPr>
        <p:spPr bwMode="auto">
          <a:xfrm>
            <a:off x="1295400" y="1600200"/>
            <a:ext cx="63071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From any context-free grammar</a:t>
            </a:r>
          </a:p>
          <a:p>
            <a:r>
              <a:rPr lang="en-US"/>
              <a:t>(which doesn’t produce    )</a:t>
            </a:r>
          </a:p>
          <a:p>
            <a:r>
              <a:rPr lang="en-US"/>
              <a:t>not in Chomsky Normal Form</a:t>
            </a:r>
          </a:p>
        </p:txBody>
      </p:sp>
      <p:sp>
        <p:nvSpPr>
          <p:cNvPr id="489475" name="Text Box 3"/>
          <p:cNvSpPr txBox="1">
            <a:spLocks noChangeArrowheads="1"/>
          </p:cNvSpPr>
          <p:nvPr/>
        </p:nvSpPr>
        <p:spPr bwMode="auto">
          <a:xfrm>
            <a:off x="1295400" y="4114800"/>
            <a:ext cx="57118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can obtain:</a:t>
            </a:r>
          </a:p>
          <a:p>
            <a:r>
              <a:rPr lang="en-US"/>
              <a:t>       An equivalent grammar </a:t>
            </a:r>
          </a:p>
          <a:p>
            <a:r>
              <a:rPr lang="en-US"/>
              <a:t>       in Chomsky Normal Form</a:t>
            </a:r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0" y="2286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In general:</a:t>
            </a:r>
          </a:p>
        </p:txBody>
      </p:sp>
      <p:graphicFrame>
        <p:nvGraphicFramePr>
          <p:cNvPr id="489477" name="Object 5"/>
          <p:cNvGraphicFramePr>
            <a:graphicFrameLocks noChangeAspect="1"/>
          </p:cNvGraphicFramePr>
          <p:nvPr/>
        </p:nvGraphicFramePr>
        <p:xfrm>
          <a:off x="5867400" y="2286000"/>
          <a:ext cx="311150" cy="381000"/>
        </p:xfrm>
        <a:graphic>
          <a:graphicData uri="http://schemas.openxmlformats.org/presentationml/2006/ole">
            <p:oleObj spid="_x0000_s489477" name="Equation" r:id="rId3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97AA7-848B-43E5-8D29-A3A8DF04D5E8}" type="slidenum">
              <a:rPr lang="en-US"/>
              <a:pPr/>
              <a:t>34</a:t>
            </a:fld>
            <a:endParaRPr lang="en-US"/>
          </a:p>
        </p:txBody>
      </p:sp>
      <p:sp>
        <p:nvSpPr>
          <p:cNvPr id="490498" name="Text Box 2"/>
          <p:cNvSpPr txBox="1">
            <a:spLocks noChangeArrowheads="1"/>
          </p:cNvSpPr>
          <p:nvPr/>
        </p:nvSpPr>
        <p:spPr bwMode="auto">
          <a:xfrm>
            <a:off x="2362200" y="0"/>
            <a:ext cx="3392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The Procedure</a:t>
            </a: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1447800" y="1219200"/>
            <a:ext cx="4457700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First remove:</a:t>
            </a:r>
          </a:p>
          <a:p>
            <a:endParaRPr lang="en-US"/>
          </a:p>
          <a:p>
            <a:pPr lvl="2"/>
            <a:r>
              <a:rPr lang="en-US"/>
              <a:t>Nullable variables</a:t>
            </a:r>
          </a:p>
          <a:p>
            <a:pPr lvl="2"/>
            <a:endParaRPr lang="en-US"/>
          </a:p>
          <a:p>
            <a:pPr lvl="2"/>
            <a:r>
              <a:rPr lang="en-US"/>
              <a:t>Unit productions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95E4B-AD63-47A4-B3AF-197335E960BA}" type="slidenum">
              <a:rPr lang="en-US"/>
              <a:pPr/>
              <a:t>35</a:t>
            </a:fld>
            <a:endParaRPr lang="en-US"/>
          </a:p>
        </p:txBody>
      </p:sp>
      <p:sp>
        <p:nvSpPr>
          <p:cNvPr id="491522" name="Text Box 2"/>
          <p:cNvSpPr txBox="1">
            <a:spLocks noChangeArrowheads="1"/>
          </p:cNvSpPr>
          <p:nvPr/>
        </p:nvSpPr>
        <p:spPr bwMode="auto">
          <a:xfrm>
            <a:off x="228600" y="685800"/>
            <a:ext cx="5545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Then, for every symbol     :</a:t>
            </a:r>
            <a:r>
              <a:rPr lang="en-US"/>
              <a:t>  </a:t>
            </a:r>
          </a:p>
        </p:txBody>
      </p:sp>
      <p:graphicFrame>
        <p:nvGraphicFramePr>
          <p:cNvPr id="526336" name="Object 0"/>
          <p:cNvGraphicFramePr>
            <a:graphicFrameLocks noChangeAspect="1"/>
          </p:cNvGraphicFramePr>
          <p:nvPr/>
        </p:nvGraphicFramePr>
        <p:xfrm>
          <a:off x="4953000" y="838200"/>
          <a:ext cx="288925" cy="304800"/>
        </p:xfrm>
        <a:graphic>
          <a:graphicData uri="http://schemas.openxmlformats.org/presentationml/2006/ole">
            <p:oleObj spid="_x0000_s526336" name="Equation" r:id="rId3" imgW="291960" imgH="304560" progId="Equation.3">
              <p:embed/>
            </p:oleObj>
          </a:graphicData>
        </a:graphic>
      </p:graphicFrame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1447800" y="4038600"/>
            <a:ext cx="67532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productions:  replace        with  </a:t>
            </a:r>
          </a:p>
        </p:txBody>
      </p:sp>
      <p:graphicFrame>
        <p:nvGraphicFramePr>
          <p:cNvPr id="526337" name="Object 1"/>
          <p:cNvGraphicFramePr>
            <a:graphicFrameLocks noChangeAspect="1"/>
          </p:cNvGraphicFramePr>
          <p:nvPr/>
        </p:nvGraphicFramePr>
        <p:xfrm>
          <a:off x="6346825" y="4216400"/>
          <a:ext cx="290513" cy="304800"/>
        </p:xfrm>
        <a:graphic>
          <a:graphicData uri="http://schemas.openxmlformats.org/presentationml/2006/ole">
            <p:oleObj spid="_x0000_s526337" name="Equation" r:id="rId4" imgW="291960" imgH="304560" progId="Equation.3">
              <p:embed/>
            </p:oleObj>
          </a:graphicData>
        </a:graphic>
      </p:graphicFrame>
      <p:graphicFrame>
        <p:nvGraphicFramePr>
          <p:cNvPr id="526338" name="Object 2"/>
          <p:cNvGraphicFramePr>
            <a:graphicFrameLocks noChangeAspect="1"/>
          </p:cNvGraphicFramePr>
          <p:nvPr/>
        </p:nvGraphicFramePr>
        <p:xfrm>
          <a:off x="8175625" y="4064000"/>
          <a:ext cx="468313" cy="582613"/>
        </p:xfrm>
        <a:graphic>
          <a:graphicData uri="http://schemas.openxmlformats.org/presentationml/2006/ole">
            <p:oleObj spid="_x0000_s526338" name="Equation" r:id="rId5" imgW="469800" imgH="583920" progId="Equation.3">
              <p:embed/>
            </p:oleObj>
          </a:graphicData>
        </a:graphic>
      </p:graphicFrame>
      <p:sp>
        <p:nvSpPr>
          <p:cNvPr id="491527" name="Text Box 7"/>
          <p:cNvSpPr txBox="1">
            <a:spLocks noChangeArrowheads="1"/>
          </p:cNvSpPr>
          <p:nvPr/>
        </p:nvSpPr>
        <p:spPr bwMode="auto">
          <a:xfrm>
            <a:off x="1425575" y="2413000"/>
            <a:ext cx="3098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Add production</a:t>
            </a:r>
          </a:p>
        </p:txBody>
      </p:sp>
      <p:graphicFrame>
        <p:nvGraphicFramePr>
          <p:cNvPr id="526339" name="Object 3"/>
          <p:cNvGraphicFramePr>
            <a:graphicFrameLocks noChangeAspect="1"/>
          </p:cNvGraphicFramePr>
          <p:nvPr/>
        </p:nvGraphicFramePr>
        <p:xfrm>
          <a:off x="5029200" y="2438400"/>
          <a:ext cx="1485900" cy="582613"/>
        </p:xfrm>
        <a:graphic>
          <a:graphicData uri="http://schemas.openxmlformats.org/presentationml/2006/ole">
            <p:oleObj spid="_x0000_s526339" name="Equation" r:id="rId6" imgW="1485720" imgH="583920" progId="Equation.3">
              <p:embed/>
            </p:oleObj>
          </a:graphicData>
        </a:graphic>
      </p:graphicFrame>
      <p:sp>
        <p:nvSpPr>
          <p:cNvPr id="491529" name="Text Box 9"/>
          <p:cNvSpPr txBox="1">
            <a:spLocks noChangeArrowheads="1"/>
          </p:cNvSpPr>
          <p:nvPr/>
        </p:nvSpPr>
        <p:spPr bwMode="auto">
          <a:xfrm>
            <a:off x="1524000" y="5638800"/>
            <a:ext cx="2751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New variable:</a:t>
            </a:r>
          </a:p>
        </p:txBody>
      </p:sp>
      <p:graphicFrame>
        <p:nvGraphicFramePr>
          <p:cNvPr id="526340" name="Object 4"/>
          <p:cNvGraphicFramePr>
            <a:graphicFrameLocks noChangeAspect="1"/>
          </p:cNvGraphicFramePr>
          <p:nvPr/>
        </p:nvGraphicFramePr>
        <p:xfrm>
          <a:off x="4495800" y="5638800"/>
          <a:ext cx="468313" cy="582613"/>
        </p:xfrm>
        <a:graphic>
          <a:graphicData uri="http://schemas.openxmlformats.org/presentationml/2006/ole">
            <p:oleObj spid="_x0000_s526340" name="Equation" r:id="rId7" imgW="4698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910C-A336-4CA8-8E62-5D13BA57960A}" type="slidenum">
              <a:rPr lang="en-US"/>
              <a:pPr/>
              <a:t>36</a:t>
            </a:fld>
            <a:endParaRPr lang="en-US"/>
          </a:p>
        </p:txBody>
      </p:sp>
      <p:sp>
        <p:nvSpPr>
          <p:cNvPr id="492546" name="Text Box 2"/>
          <p:cNvSpPr txBox="1">
            <a:spLocks noChangeArrowheads="1"/>
          </p:cNvSpPr>
          <p:nvPr/>
        </p:nvSpPr>
        <p:spPr bwMode="auto">
          <a:xfrm>
            <a:off x="0" y="228600"/>
            <a:ext cx="4525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Replace any production</a:t>
            </a:r>
          </a:p>
        </p:txBody>
      </p:sp>
      <p:graphicFrame>
        <p:nvGraphicFramePr>
          <p:cNvPr id="527360" name="Object 0"/>
          <p:cNvGraphicFramePr>
            <a:graphicFrameLocks noChangeAspect="1"/>
          </p:cNvGraphicFramePr>
          <p:nvPr/>
        </p:nvGraphicFramePr>
        <p:xfrm>
          <a:off x="4724400" y="304800"/>
          <a:ext cx="3187700" cy="582613"/>
        </p:xfrm>
        <a:graphic>
          <a:graphicData uri="http://schemas.openxmlformats.org/presentationml/2006/ole">
            <p:oleObj spid="_x0000_s527360" name="Equation" r:id="rId3" imgW="3187440" imgH="583920" progId="Equation.3">
              <p:embed/>
            </p:oleObj>
          </a:graphicData>
        </a:graphic>
      </p:graphicFrame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3505200" y="1676400"/>
            <a:ext cx="1125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with </a:t>
            </a:r>
          </a:p>
        </p:txBody>
      </p:sp>
      <p:graphicFrame>
        <p:nvGraphicFramePr>
          <p:cNvPr id="527361" name="Object 1"/>
          <p:cNvGraphicFramePr>
            <a:graphicFrameLocks noChangeAspect="1"/>
          </p:cNvGraphicFramePr>
          <p:nvPr/>
        </p:nvGraphicFramePr>
        <p:xfrm>
          <a:off x="4800600" y="1752600"/>
          <a:ext cx="3149600" cy="2895600"/>
        </p:xfrm>
        <a:graphic>
          <a:graphicData uri="http://schemas.openxmlformats.org/presentationml/2006/ole">
            <p:oleObj spid="_x0000_s527361" name="Equation" r:id="rId4" imgW="3149280" imgH="2895480" progId="Equation.3">
              <p:embed/>
            </p:oleObj>
          </a:graphicData>
        </a:graphic>
      </p:graphicFrame>
      <p:sp>
        <p:nvSpPr>
          <p:cNvPr id="492550" name="Text Box 6"/>
          <p:cNvSpPr txBox="1">
            <a:spLocks noChangeArrowheads="1"/>
          </p:cNvSpPr>
          <p:nvPr/>
        </p:nvSpPr>
        <p:spPr bwMode="auto">
          <a:xfrm>
            <a:off x="0" y="6096000"/>
            <a:ext cx="5521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New intermediate variables:</a:t>
            </a:r>
          </a:p>
        </p:txBody>
      </p:sp>
      <p:graphicFrame>
        <p:nvGraphicFramePr>
          <p:cNvPr id="527362" name="Object 2"/>
          <p:cNvGraphicFramePr>
            <a:graphicFrameLocks noChangeAspect="1"/>
          </p:cNvGraphicFramePr>
          <p:nvPr/>
        </p:nvGraphicFramePr>
        <p:xfrm>
          <a:off x="5638800" y="6019800"/>
          <a:ext cx="2946400" cy="582613"/>
        </p:xfrm>
        <a:graphic>
          <a:graphicData uri="http://schemas.openxmlformats.org/presentationml/2006/ole">
            <p:oleObj spid="_x0000_s527362" name="Equation" r:id="rId5" imgW="294624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A925E-3EB1-4E89-842D-99E6FB27AD93}" type="slidenum">
              <a:rPr lang="en-US"/>
              <a:pPr/>
              <a:t>37</a:t>
            </a:fld>
            <a:endParaRPr lang="en-US"/>
          </a:p>
        </p:txBody>
      </p:sp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0" y="1066800"/>
            <a:ext cx="22891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Theorem: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2590800" y="1143000"/>
            <a:ext cx="6153150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context-free grammar</a:t>
            </a:r>
          </a:p>
          <a:p>
            <a:r>
              <a:rPr lang="en-US"/>
              <a:t>(which doesn’t produce     )</a:t>
            </a:r>
          </a:p>
          <a:p>
            <a:r>
              <a:rPr lang="en-US"/>
              <a:t>there is an equivalent grammar </a:t>
            </a:r>
          </a:p>
          <a:p>
            <a:r>
              <a:rPr lang="en-US"/>
              <a:t>in Chomsky Normal Form</a:t>
            </a:r>
          </a:p>
        </p:txBody>
      </p:sp>
      <p:graphicFrame>
        <p:nvGraphicFramePr>
          <p:cNvPr id="493572" name="Object 4"/>
          <p:cNvGraphicFramePr>
            <a:graphicFrameLocks noChangeAspect="1"/>
          </p:cNvGraphicFramePr>
          <p:nvPr/>
        </p:nvGraphicFramePr>
        <p:xfrm>
          <a:off x="7162800" y="1828800"/>
          <a:ext cx="373063" cy="457200"/>
        </p:xfrm>
        <a:graphic>
          <a:graphicData uri="http://schemas.openxmlformats.org/presentationml/2006/ole">
            <p:oleObj spid="_x0000_s493572" name="Equation" r:id="rId3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43086-A02F-4757-A4BA-BE211D31DC3B}" type="slidenum">
              <a:rPr lang="en-US"/>
              <a:pPr/>
              <a:t>38</a:t>
            </a:fld>
            <a:endParaRPr lang="en-US"/>
          </a:p>
        </p:txBody>
      </p:sp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2895600" y="179388"/>
            <a:ext cx="30146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3300"/>
                </a:solidFill>
              </a:rPr>
              <a:t>Observations</a:t>
            </a:r>
          </a:p>
        </p:txBody>
      </p:sp>
      <p:sp>
        <p:nvSpPr>
          <p:cNvPr id="494595" name="Text Box 3"/>
          <p:cNvSpPr txBox="1">
            <a:spLocks noChangeArrowheads="1"/>
          </p:cNvSpPr>
          <p:nvPr/>
        </p:nvSpPr>
        <p:spPr bwMode="auto">
          <a:xfrm>
            <a:off x="304800" y="1371600"/>
            <a:ext cx="67183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Chomsky normal forms are good</a:t>
            </a:r>
          </a:p>
          <a:p>
            <a:r>
              <a:rPr lang="en-US"/>
              <a:t>  for parsing and proving theorems</a:t>
            </a:r>
          </a:p>
        </p:txBody>
      </p:sp>
      <p:sp>
        <p:nvSpPr>
          <p:cNvPr id="494596" name="Text Box 4"/>
          <p:cNvSpPr txBox="1">
            <a:spLocks noChangeArrowheads="1"/>
          </p:cNvSpPr>
          <p:nvPr/>
        </p:nvSpPr>
        <p:spPr bwMode="auto">
          <a:xfrm>
            <a:off x="304800" y="4572000"/>
            <a:ext cx="85582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It is very easy to find the Chomsky normal</a:t>
            </a:r>
          </a:p>
          <a:p>
            <a:r>
              <a:rPr lang="en-US"/>
              <a:t>  form for any context-free grammar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967CE-81FD-476E-BD5B-B5C5E28E2A6F}" type="slidenum">
              <a:rPr lang="en-US"/>
              <a:pPr/>
              <a:t>39</a:t>
            </a:fld>
            <a:endParaRPr lang="en-US"/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Greinbach Normal Form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5205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All productions have form:</a:t>
            </a:r>
          </a:p>
        </p:txBody>
      </p:sp>
      <p:graphicFrame>
        <p:nvGraphicFramePr>
          <p:cNvPr id="528384" name="Object 0"/>
          <p:cNvGraphicFramePr>
            <a:graphicFrameLocks noChangeAspect="1"/>
          </p:cNvGraphicFramePr>
          <p:nvPr/>
        </p:nvGraphicFramePr>
        <p:xfrm>
          <a:off x="2819400" y="3175000"/>
          <a:ext cx="3327400" cy="582613"/>
        </p:xfrm>
        <a:graphic>
          <a:graphicData uri="http://schemas.openxmlformats.org/presentationml/2006/ole">
            <p:oleObj spid="_x0000_s528384" name="Equation" r:id="rId3" imgW="3327120" imgH="583920" progId="Equation.3">
              <p:embed/>
            </p:oleObj>
          </a:graphicData>
        </a:graphic>
      </p:graphicFrame>
      <p:sp>
        <p:nvSpPr>
          <p:cNvPr id="495621" name="Line 5"/>
          <p:cNvSpPr>
            <a:spLocks noChangeShapeType="1"/>
          </p:cNvSpPr>
          <p:nvPr/>
        </p:nvSpPr>
        <p:spPr bwMode="auto">
          <a:xfrm flipV="1">
            <a:off x="3276600" y="3733800"/>
            <a:ext cx="685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5622" name="Line 6"/>
          <p:cNvSpPr>
            <a:spLocks noChangeShapeType="1"/>
          </p:cNvSpPr>
          <p:nvPr/>
        </p:nvSpPr>
        <p:spPr bwMode="auto">
          <a:xfrm flipH="1" flipV="1">
            <a:off x="5029200" y="3810000"/>
            <a:ext cx="609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95623" name="Text Box 7"/>
          <p:cNvSpPr txBox="1">
            <a:spLocks noChangeArrowheads="1"/>
          </p:cNvSpPr>
          <p:nvPr/>
        </p:nvSpPr>
        <p:spPr bwMode="auto">
          <a:xfrm>
            <a:off x="2286000" y="4800600"/>
            <a:ext cx="1476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symbol</a:t>
            </a:r>
          </a:p>
        </p:txBody>
      </p:sp>
      <p:sp>
        <p:nvSpPr>
          <p:cNvPr id="495624" name="Text Box 8"/>
          <p:cNvSpPr txBox="1">
            <a:spLocks noChangeArrowheads="1"/>
          </p:cNvSpPr>
          <p:nvPr/>
        </p:nvSpPr>
        <p:spPr bwMode="auto">
          <a:xfrm>
            <a:off x="4953000" y="4800600"/>
            <a:ext cx="188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variables</a:t>
            </a:r>
          </a:p>
        </p:txBody>
      </p:sp>
      <p:graphicFrame>
        <p:nvGraphicFramePr>
          <p:cNvPr id="528385" name="Object 1"/>
          <p:cNvGraphicFramePr>
            <a:graphicFrameLocks noChangeAspect="1"/>
          </p:cNvGraphicFramePr>
          <p:nvPr/>
        </p:nvGraphicFramePr>
        <p:xfrm>
          <a:off x="7645400" y="3257550"/>
          <a:ext cx="1028700" cy="430213"/>
        </p:xfrm>
        <a:graphic>
          <a:graphicData uri="http://schemas.openxmlformats.org/presentationml/2006/ole">
            <p:oleObj spid="_x0000_s528385" name="Equation" r:id="rId4" imgW="102852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E2FAD-0995-48D7-A203-6A93A0E10F28}" type="slidenum">
              <a:rPr lang="en-US"/>
              <a:pPr/>
              <a:t>40</a:t>
            </a:fld>
            <a:endParaRPr lang="en-US"/>
          </a:p>
        </p:txBody>
      </p:sp>
      <p:sp>
        <p:nvSpPr>
          <p:cNvPr id="496642" name="Text Box 2"/>
          <p:cNvSpPr txBox="1">
            <a:spLocks noChangeArrowheads="1"/>
          </p:cNvSpPr>
          <p:nvPr/>
        </p:nvSpPr>
        <p:spPr bwMode="auto">
          <a:xfrm>
            <a:off x="288925" y="330200"/>
            <a:ext cx="2073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Examples:</a:t>
            </a:r>
          </a:p>
        </p:txBody>
      </p:sp>
      <p:graphicFrame>
        <p:nvGraphicFramePr>
          <p:cNvPr id="529408" name="Object 0"/>
          <p:cNvGraphicFramePr>
            <a:graphicFrameLocks noChangeAspect="1"/>
          </p:cNvGraphicFramePr>
          <p:nvPr/>
        </p:nvGraphicFramePr>
        <p:xfrm>
          <a:off x="685800" y="1828800"/>
          <a:ext cx="2971800" cy="1943100"/>
        </p:xfrm>
        <a:graphic>
          <a:graphicData uri="http://schemas.openxmlformats.org/presentationml/2006/ole">
            <p:oleObj spid="_x0000_s529408" name="Equation" r:id="rId3" imgW="2971800" imgH="1942920" progId="Equation.3">
              <p:embed/>
            </p:oleObj>
          </a:graphicData>
        </a:graphic>
      </p:graphicFrame>
      <p:sp>
        <p:nvSpPr>
          <p:cNvPr id="496644" name="Text Box 4"/>
          <p:cNvSpPr txBox="1">
            <a:spLocks noChangeArrowheads="1"/>
          </p:cNvSpPr>
          <p:nvPr/>
        </p:nvSpPr>
        <p:spPr bwMode="auto">
          <a:xfrm>
            <a:off x="609600" y="4343400"/>
            <a:ext cx="26463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Greinbach</a:t>
            </a:r>
          </a:p>
          <a:p>
            <a:r>
              <a:rPr lang="en-US"/>
              <a:t>Normal Form</a:t>
            </a:r>
          </a:p>
        </p:txBody>
      </p:sp>
      <p:graphicFrame>
        <p:nvGraphicFramePr>
          <p:cNvPr id="529409" name="Object 1"/>
          <p:cNvGraphicFramePr>
            <a:graphicFrameLocks noChangeAspect="1"/>
          </p:cNvGraphicFramePr>
          <p:nvPr/>
        </p:nvGraphicFramePr>
        <p:xfrm>
          <a:off x="5848350" y="2222500"/>
          <a:ext cx="2057400" cy="1193800"/>
        </p:xfrm>
        <a:graphic>
          <a:graphicData uri="http://schemas.openxmlformats.org/presentationml/2006/ole">
            <p:oleObj spid="_x0000_s529409" name="Equation" r:id="rId4" imgW="2057400" imgH="1193760" progId="Equation.3">
              <p:embed/>
            </p:oleObj>
          </a:graphicData>
        </a:graphic>
      </p:graphicFrame>
      <p:sp>
        <p:nvSpPr>
          <p:cNvPr id="496646" name="Text Box 6"/>
          <p:cNvSpPr txBox="1">
            <a:spLocks noChangeArrowheads="1"/>
          </p:cNvSpPr>
          <p:nvPr/>
        </p:nvSpPr>
        <p:spPr bwMode="auto">
          <a:xfrm>
            <a:off x="5638800" y="4343400"/>
            <a:ext cx="29511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Greinbach</a:t>
            </a:r>
          </a:p>
          <a:p>
            <a:r>
              <a:rPr lang="en-US"/>
              <a:t>Normal Form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A4558-430C-44D2-95DA-35FDC285F758}" type="slidenum">
              <a:rPr lang="en-US"/>
              <a:pPr/>
              <a:t>41</a:t>
            </a:fld>
            <a:endParaRPr lang="en-US"/>
          </a:p>
        </p:txBody>
      </p:sp>
      <p:graphicFrame>
        <p:nvGraphicFramePr>
          <p:cNvPr id="497666" name="Object 2"/>
          <p:cNvGraphicFramePr>
            <a:graphicFrameLocks noChangeAspect="1"/>
          </p:cNvGraphicFramePr>
          <p:nvPr/>
        </p:nvGraphicFramePr>
        <p:xfrm>
          <a:off x="457200" y="2286000"/>
          <a:ext cx="2057400" cy="1193800"/>
        </p:xfrm>
        <a:graphic>
          <a:graphicData uri="http://schemas.openxmlformats.org/presentationml/2006/ole">
            <p:oleObj spid="_x0000_s497666" name="Equation" r:id="rId3" imgW="2057400" imgH="1193760" progId="Equation.3">
              <p:embed/>
            </p:oleObj>
          </a:graphicData>
        </a:graphic>
      </p:graphicFrame>
      <p:sp>
        <p:nvSpPr>
          <p:cNvPr id="497667" name="Text Box 3"/>
          <p:cNvSpPr txBox="1">
            <a:spLocks noChangeArrowheads="1"/>
          </p:cNvSpPr>
          <p:nvPr/>
        </p:nvSpPr>
        <p:spPr bwMode="auto">
          <a:xfrm>
            <a:off x="136525" y="177800"/>
            <a:ext cx="7483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Conversion to Greinbach Normal Form:</a:t>
            </a:r>
          </a:p>
        </p:txBody>
      </p:sp>
      <p:sp>
        <p:nvSpPr>
          <p:cNvPr id="497668" name="AutoShape 4"/>
          <p:cNvSpPr>
            <a:spLocks noChangeArrowheads="1"/>
          </p:cNvSpPr>
          <p:nvPr/>
        </p:nvSpPr>
        <p:spPr bwMode="auto">
          <a:xfrm>
            <a:off x="3733800" y="27432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97669" name="Object 5"/>
          <p:cNvGraphicFramePr>
            <a:graphicFrameLocks noChangeAspect="1"/>
          </p:cNvGraphicFramePr>
          <p:nvPr/>
        </p:nvGraphicFramePr>
        <p:xfrm>
          <a:off x="6019800" y="1676400"/>
          <a:ext cx="2476500" cy="2921000"/>
        </p:xfrm>
        <a:graphic>
          <a:graphicData uri="http://schemas.openxmlformats.org/presentationml/2006/ole">
            <p:oleObj spid="_x0000_s497669" name="Equation" r:id="rId4" imgW="2476440" imgH="2920680" progId="Equation.3">
              <p:embed/>
            </p:oleObj>
          </a:graphicData>
        </a:graphic>
      </p:graphicFrame>
      <p:sp>
        <p:nvSpPr>
          <p:cNvPr id="497670" name="Text Box 6"/>
          <p:cNvSpPr txBox="1">
            <a:spLocks noChangeArrowheads="1"/>
          </p:cNvSpPr>
          <p:nvPr/>
        </p:nvSpPr>
        <p:spPr bwMode="auto">
          <a:xfrm>
            <a:off x="5791200" y="4953000"/>
            <a:ext cx="26463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Greinbach</a:t>
            </a:r>
          </a:p>
          <a:p>
            <a:r>
              <a:rPr lang="en-US"/>
              <a:t>Normal Form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719B8-5733-4C93-A10C-CF9DA6B0FFE3}" type="slidenum">
              <a:rPr lang="en-US"/>
              <a:pPr/>
              <a:t>42</a:t>
            </a:fld>
            <a:endParaRPr lang="en-US"/>
          </a:p>
        </p:txBody>
      </p:sp>
      <p:sp>
        <p:nvSpPr>
          <p:cNvPr id="498690" name="Text Box 2"/>
          <p:cNvSpPr txBox="1">
            <a:spLocks noChangeArrowheads="1"/>
          </p:cNvSpPr>
          <p:nvPr/>
        </p:nvSpPr>
        <p:spPr bwMode="auto">
          <a:xfrm>
            <a:off x="0" y="381000"/>
            <a:ext cx="22891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Theorem:</a:t>
            </a:r>
          </a:p>
        </p:txBody>
      </p:sp>
      <p:sp>
        <p:nvSpPr>
          <p:cNvPr id="498691" name="Text Box 3"/>
          <p:cNvSpPr txBox="1">
            <a:spLocks noChangeArrowheads="1"/>
          </p:cNvSpPr>
          <p:nvPr/>
        </p:nvSpPr>
        <p:spPr bwMode="auto">
          <a:xfrm>
            <a:off x="2590800" y="457200"/>
            <a:ext cx="603091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context-free grammar</a:t>
            </a:r>
          </a:p>
          <a:p>
            <a:r>
              <a:rPr lang="en-US"/>
              <a:t>(which doesn’t produce    ) </a:t>
            </a:r>
          </a:p>
          <a:p>
            <a:r>
              <a:rPr lang="en-US"/>
              <a:t>there is an equivalent grammar</a:t>
            </a:r>
          </a:p>
          <a:p>
            <a:r>
              <a:rPr lang="en-US"/>
              <a:t>in Greinbach Normal Form</a:t>
            </a:r>
          </a:p>
        </p:txBody>
      </p:sp>
      <p:graphicFrame>
        <p:nvGraphicFramePr>
          <p:cNvPr id="498692" name="Object 4"/>
          <p:cNvGraphicFramePr>
            <a:graphicFrameLocks noChangeAspect="1"/>
          </p:cNvGraphicFramePr>
          <p:nvPr/>
        </p:nvGraphicFramePr>
        <p:xfrm>
          <a:off x="7162800" y="1143000"/>
          <a:ext cx="373063" cy="457200"/>
        </p:xfrm>
        <a:graphic>
          <a:graphicData uri="http://schemas.openxmlformats.org/presentationml/2006/ole">
            <p:oleObj spid="_x0000_s498692" name="Equation" r:id="rId3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80E73-27B8-43BA-B37E-D02E93E134A1}" type="slidenum">
              <a:rPr lang="en-US"/>
              <a:pPr/>
              <a:t>43</a:t>
            </a:fld>
            <a:endParaRPr lang="en-US"/>
          </a:p>
        </p:txBody>
      </p:sp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2895600" y="179388"/>
            <a:ext cx="301466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3300"/>
                </a:solidFill>
              </a:rPr>
              <a:t>Observations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304800" y="1371600"/>
            <a:ext cx="77120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Greinbach normal forms are very good</a:t>
            </a:r>
          </a:p>
          <a:p>
            <a:r>
              <a:rPr lang="en-US"/>
              <a:t>  for parsing </a:t>
            </a:r>
          </a:p>
        </p:txBody>
      </p:sp>
      <p:sp>
        <p:nvSpPr>
          <p:cNvPr id="499716" name="Text Box 4"/>
          <p:cNvSpPr txBox="1">
            <a:spLocks noChangeArrowheads="1"/>
          </p:cNvSpPr>
          <p:nvPr/>
        </p:nvSpPr>
        <p:spPr bwMode="auto">
          <a:xfrm>
            <a:off x="304800" y="4572000"/>
            <a:ext cx="79216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It is hard to find the Greinbach normal</a:t>
            </a:r>
          </a:p>
          <a:p>
            <a:r>
              <a:rPr lang="en-US"/>
              <a:t>  form of any context-free grammar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The CYK Parser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5F9CB-7400-4D14-BB4B-5121886627C0}" type="slidenum">
              <a:rPr lang="en-US"/>
              <a:pPr/>
              <a:t>45</a:t>
            </a:fld>
            <a:endParaRPr lang="en-US"/>
          </a:p>
        </p:txBody>
      </p:sp>
      <p:sp>
        <p:nvSpPr>
          <p:cNvPr id="501762" name="Text Box 2"/>
          <p:cNvSpPr txBox="1">
            <a:spLocks noChangeArrowheads="1"/>
          </p:cNvSpPr>
          <p:nvPr/>
        </p:nvSpPr>
        <p:spPr bwMode="auto">
          <a:xfrm>
            <a:off x="1524000" y="152400"/>
            <a:ext cx="6246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The CYK Membership Algorithm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136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Input:</a:t>
            </a: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914400" y="1828800"/>
            <a:ext cx="7827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Grammar       in Chomsky Normal Form </a:t>
            </a:r>
          </a:p>
        </p:txBody>
      </p:sp>
      <p:graphicFrame>
        <p:nvGraphicFramePr>
          <p:cNvPr id="501765" name="Object 5"/>
          <p:cNvGraphicFramePr>
            <a:graphicFrameLocks noChangeAspect="1"/>
          </p:cNvGraphicFramePr>
          <p:nvPr/>
        </p:nvGraphicFramePr>
        <p:xfrm>
          <a:off x="3200400" y="1905000"/>
          <a:ext cx="393700" cy="419100"/>
        </p:xfrm>
        <a:graphic>
          <a:graphicData uri="http://schemas.openxmlformats.org/presentationml/2006/ole">
            <p:oleObj spid="_x0000_s501765" name="Equation" r:id="rId3" imgW="393480" imgH="419040" progId="Equation.3">
              <p:embed/>
            </p:oleObj>
          </a:graphicData>
        </a:graphic>
      </p:graphicFrame>
      <p:sp>
        <p:nvSpPr>
          <p:cNvPr id="501766" name="Text Box 6"/>
          <p:cNvSpPr txBox="1">
            <a:spLocks noChangeArrowheads="1"/>
          </p:cNvSpPr>
          <p:nvPr/>
        </p:nvSpPr>
        <p:spPr bwMode="auto">
          <a:xfrm>
            <a:off x="914400" y="28956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String</a:t>
            </a:r>
          </a:p>
        </p:txBody>
      </p:sp>
      <p:sp>
        <p:nvSpPr>
          <p:cNvPr id="501767" name="Text Box 7"/>
          <p:cNvSpPr txBox="1">
            <a:spLocks noChangeArrowheads="1"/>
          </p:cNvSpPr>
          <p:nvPr/>
        </p:nvSpPr>
        <p:spPr bwMode="auto">
          <a:xfrm>
            <a:off x="457200" y="4419600"/>
            <a:ext cx="1654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Output:</a:t>
            </a:r>
          </a:p>
        </p:txBody>
      </p:sp>
      <p:sp>
        <p:nvSpPr>
          <p:cNvPr id="501768" name="Text Box 8"/>
          <p:cNvSpPr txBox="1">
            <a:spLocks noChangeArrowheads="1"/>
          </p:cNvSpPr>
          <p:nvPr/>
        </p:nvSpPr>
        <p:spPr bwMode="auto">
          <a:xfrm>
            <a:off x="1127125" y="5435600"/>
            <a:ext cx="1520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find if </a:t>
            </a:r>
          </a:p>
        </p:txBody>
      </p:sp>
      <p:graphicFrame>
        <p:nvGraphicFramePr>
          <p:cNvPr id="501769" name="Object 9"/>
          <p:cNvGraphicFramePr>
            <a:graphicFrameLocks noChangeAspect="1"/>
          </p:cNvGraphicFramePr>
          <p:nvPr/>
        </p:nvGraphicFramePr>
        <p:xfrm>
          <a:off x="2667000" y="5486400"/>
          <a:ext cx="1879600" cy="531813"/>
        </p:xfrm>
        <a:graphic>
          <a:graphicData uri="http://schemas.openxmlformats.org/presentationml/2006/ole">
            <p:oleObj spid="_x0000_s501769" name="Equation" r:id="rId4" imgW="1879560" imgH="533160" progId="Equation.3">
              <p:embed/>
            </p:oleObj>
          </a:graphicData>
        </a:graphic>
      </p:graphicFrame>
      <p:graphicFrame>
        <p:nvGraphicFramePr>
          <p:cNvPr id="501770" name="Object 10"/>
          <p:cNvGraphicFramePr>
            <a:graphicFrameLocks noChangeAspect="1"/>
          </p:cNvGraphicFramePr>
          <p:nvPr/>
        </p:nvGraphicFramePr>
        <p:xfrm>
          <a:off x="2743200" y="3048000"/>
          <a:ext cx="368300" cy="304800"/>
        </p:xfrm>
        <a:graphic>
          <a:graphicData uri="http://schemas.openxmlformats.org/presentationml/2006/ole">
            <p:oleObj spid="_x0000_s501770" name="Equation" r:id="rId5" imgW="36828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62E7B-E5BF-4DBB-8AC1-B28166C3A2F5}" type="slidenum">
              <a:rPr lang="en-US"/>
              <a:pPr/>
              <a:t>46</a:t>
            </a:fld>
            <a:endParaRPr lang="en-US"/>
          </a:p>
        </p:txBody>
      </p:sp>
      <p:sp>
        <p:nvSpPr>
          <p:cNvPr id="502786" name="Text Box 2"/>
          <p:cNvSpPr txBox="1">
            <a:spLocks noChangeArrowheads="1"/>
          </p:cNvSpPr>
          <p:nvPr/>
        </p:nvSpPr>
        <p:spPr bwMode="auto">
          <a:xfrm>
            <a:off x="2819400" y="0"/>
            <a:ext cx="327183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The Algorithm</a:t>
            </a:r>
          </a:p>
        </p:txBody>
      </p:sp>
      <p:sp>
        <p:nvSpPr>
          <p:cNvPr id="502787" name="Text Box 3"/>
          <p:cNvSpPr txBox="1">
            <a:spLocks noChangeArrowheads="1"/>
          </p:cNvSpPr>
          <p:nvPr/>
        </p:nvSpPr>
        <p:spPr bwMode="auto">
          <a:xfrm>
            <a:off x="1905000" y="1524000"/>
            <a:ext cx="2911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Grammar     :</a:t>
            </a:r>
          </a:p>
        </p:txBody>
      </p:sp>
      <p:graphicFrame>
        <p:nvGraphicFramePr>
          <p:cNvPr id="502788" name="Object 4"/>
          <p:cNvGraphicFramePr>
            <a:graphicFrameLocks noChangeAspect="1"/>
          </p:cNvGraphicFramePr>
          <p:nvPr/>
        </p:nvGraphicFramePr>
        <p:xfrm>
          <a:off x="4178300" y="1581150"/>
          <a:ext cx="393700" cy="419100"/>
        </p:xfrm>
        <a:graphic>
          <a:graphicData uri="http://schemas.openxmlformats.org/presentationml/2006/ole">
            <p:oleObj spid="_x0000_s502788" name="Equation" r:id="rId3" imgW="393480" imgH="419040" progId="Equation.3">
              <p:embed/>
            </p:oleObj>
          </a:graphicData>
        </a:graphic>
      </p:graphicFrame>
      <p:graphicFrame>
        <p:nvGraphicFramePr>
          <p:cNvPr id="502789" name="Object 5"/>
          <p:cNvGraphicFramePr>
            <a:graphicFrameLocks noChangeAspect="1"/>
          </p:cNvGraphicFramePr>
          <p:nvPr/>
        </p:nvGraphicFramePr>
        <p:xfrm>
          <a:off x="5105400" y="1676400"/>
          <a:ext cx="1739900" cy="3467100"/>
        </p:xfrm>
        <a:graphic>
          <a:graphicData uri="http://schemas.openxmlformats.org/presentationml/2006/ole">
            <p:oleObj spid="_x0000_s502789" name="Equation" r:id="rId4" imgW="1739880" imgH="3466800" progId="Equation.3">
              <p:embed/>
            </p:oleObj>
          </a:graphicData>
        </a:graphic>
      </p:graphicFrame>
      <p:sp>
        <p:nvSpPr>
          <p:cNvPr id="502790" name="Text Box 6"/>
          <p:cNvSpPr txBox="1">
            <a:spLocks noChangeArrowheads="1"/>
          </p:cNvSpPr>
          <p:nvPr/>
        </p:nvSpPr>
        <p:spPr bwMode="auto">
          <a:xfrm>
            <a:off x="1965325" y="5816600"/>
            <a:ext cx="25320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String     : </a:t>
            </a:r>
          </a:p>
        </p:txBody>
      </p:sp>
      <p:graphicFrame>
        <p:nvGraphicFramePr>
          <p:cNvPr id="502791" name="Object 7"/>
          <p:cNvGraphicFramePr>
            <a:graphicFrameLocks noChangeAspect="1"/>
          </p:cNvGraphicFramePr>
          <p:nvPr/>
        </p:nvGraphicFramePr>
        <p:xfrm>
          <a:off x="3657600" y="6019800"/>
          <a:ext cx="368300" cy="304800"/>
        </p:xfrm>
        <a:graphic>
          <a:graphicData uri="http://schemas.openxmlformats.org/presentationml/2006/ole">
            <p:oleObj spid="_x0000_s502791" name="Equation" r:id="rId5" imgW="368280" imgH="304560" progId="Equation.3">
              <p:embed/>
            </p:oleObj>
          </a:graphicData>
        </a:graphic>
      </p:graphicFrame>
      <p:graphicFrame>
        <p:nvGraphicFramePr>
          <p:cNvPr id="502792" name="Object 8"/>
          <p:cNvGraphicFramePr>
            <a:graphicFrameLocks noChangeAspect="1"/>
          </p:cNvGraphicFramePr>
          <p:nvPr/>
        </p:nvGraphicFramePr>
        <p:xfrm>
          <a:off x="4572000" y="5867400"/>
          <a:ext cx="1308100" cy="430213"/>
        </p:xfrm>
        <a:graphic>
          <a:graphicData uri="http://schemas.openxmlformats.org/presentationml/2006/ole">
            <p:oleObj spid="_x0000_s502792" name="Equation" r:id="rId6" imgW="1307880" imgH="431640" progId="Equation.3">
              <p:embed/>
            </p:oleObj>
          </a:graphicData>
        </a:graphic>
      </p:graphicFrame>
      <p:sp>
        <p:nvSpPr>
          <p:cNvPr id="502793" name="Text Box 9"/>
          <p:cNvSpPr txBox="1">
            <a:spLocks noChangeArrowheads="1"/>
          </p:cNvSpPr>
          <p:nvPr/>
        </p:nvSpPr>
        <p:spPr bwMode="auto">
          <a:xfrm>
            <a:off x="0" y="762000"/>
            <a:ext cx="3021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Input example: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6547-0326-4FBE-A2FA-74A00CA6C131}" type="slidenum">
              <a:rPr lang="en-US"/>
              <a:pPr/>
              <a:t>47</a:t>
            </a:fld>
            <a:endParaRPr lang="en-US"/>
          </a:p>
        </p:txBody>
      </p:sp>
      <p:graphicFrame>
        <p:nvGraphicFramePr>
          <p:cNvPr id="503810" name="Object 2"/>
          <p:cNvGraphicFramePr>
            <a:graphicFrameLocks noChangeAspect="1"/>
          </p:cNvGraphicFramePr>
          <p:nvPr/>
        </p:nvGraphicFramePr>
        <p:xfrm>
          <a:off x="1752600" y="0"/>
          <a:ext cx="7100888" cy="6210300"/>
        </p:xfrm>
        <a:graphic>
          <a:graphicData uri="http://schemas.openxmlformats.org/presentationml/2006/ole">
            <p:oleObj spid="_x0000_s503810" name="Document" r:id="rId3" imgW="7087320" imgH="7106760" progId="Word.Document.8">
              <p:embed/>
            </p:oleObj>
          </a:graphicData>
        </a:graphic>
      </p:graphicFrame>
      <p:graphicFrame>
        <p:nvGraphicFramePr>
          <p:cNvPr id="503811" name="Object 3"/>
          <p:cNvGraphicFramePr>
            <a:graphicFrameLocks noChangeAspect="1"/>
          </p:cNvGraphicFramePr>
          <p:nvPr/>
        </p:nvGraphicFramePr>
        <p:xfrm>
          <a:off x="241300" y="287338"/>
          <a:ext cx="1308100" cy="428625"/>
        </p:xfrm>
        <a:graphic>
          <a:graphicData uri="http://schemas.openxmlformats.org/presentationml/2006/ole">
            <p:oleObj spid="_x0000_s503811" name="Equation" r:id="rId4" imgW="13078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86C2-BD68-4937-A035-1E3972C211CF}" type="slidenum">
              <a:rPr lang="en-US"/>
              <a:pPr/>
              <a:t>48</a:t>
            </a:fld>
            <a:endParaRPr lang="en-US"/>
          </a:p>
        </p:txBody>
      </p:sp>
      <p:graphicFrame>
        <p:nvGraphicFramePr>
          <p:cNvPr id="504834" name="Object 2"/>
          <p:cNvGraphicFramePr>
            <a:graphicFrameLocks noChangeAspect="1"/>
          </p:cNvGraphicFramePr>
          <p:nvPr/>
        </p:nvGraphicFramePr>
        <p:xfrm>
          <a:off x="2590800" y="0"/>
          <a:ext cx="7075488" cy="7100888"/>
        </p:xfrm>
        <a:graphic>
          <a:graphicData uri="http://schemas.openxmlformats.org/presentationml/2006/ole">
            <p:oleObj spid="_x0000_s504834" name="Document" r:id="rId3" imgW="7077600" imgH="7108920" progId="Word.Document.8">
              <p:embed/>
            </p:oleObj>
          </a:graphicData>
        </a:graphic>
      </p:graphicFrame>
      <p:graphicFrame>
        <p:nvGraphicFramePr>
          <p:cNvPr id="504835" name="Object 3"/>
          <p:cNvGraphicFramePr>
            <a:graphicFrameLocks noChangeAspect="1"/>
          </p:cNvGraphicFramePr>
          <p:nvPr/>
        </p:nvGraphicFramePr>
        <p:xfrm>
          <a:off x="0" y="0"/>
          <a:ext cx="1739900" cy="3467100"/>
        </p:xfrm>
        <a:graphic>
          <a:graphicData uri="http://schemas.openxmlformats.org/presentationml/2006/ole">
            <p:oleObj spid="_x0000_s504835" name="Equation" r:id="rId4" imgW="1739880" imgH="3466800" progId="Equation.3">
              <p:embed/>
            </p:oleObj>
          </a:graphicData>
        </a:graphic>
      </p:graphicFrame>
      <p:sp>
        <p:nvSpPr>
          <p:cNvPr id="504836" name="Line 4"/>
          <p:cNvSpPr>
            <a:spLocks noChangeShapeType="1"/>
          </p:cNvSpPr>
          <p:nvPr/>
        </p:nvSpPr>
        <p:spPr bwMode="auto">
          <a:xfrm>
            <a:off x="2743200" y="22860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12294-0F4D-4D1F-9E6F-AD851AB392B4}" type="slidenum">
              <a:rPr lang="en-US"/>
              <a:pPr/>
              <a:t>49</a:t>
            </a:fld>
            <a:endParaRPr lang="en-US"/>
          </a:p>
        </p:txBody>
      </p:sp>
      <p:graphicFrame>
        <p:nvGraphicFramePr>
          <p:cNvPr id="505858" name="Object 2"/>
          <p:cNvGraphicFramePr>
            <a:graphicFrameLocks noChangeAspect="1"/>
          </p:cNvGraphicFramePr>
          <p:nvPr/>
        </p:nvGraphicFramePr>
        <p:xfrm>
          <a:off x="2671763" y="0"/>
          <a:ext cx="7075487" cy="7137400"/>
        </p:xfrm>
        <a:graphic>
          <a:graphicData uri="http://schemas.openxmlformats.org/presentationml/2006/ole">
            <p:oleObj spid="_x0000_s505858" name="Document" r:id="rId3" imgW="7077600" imgH="7148520" progId="Word.Document.8">
              <p:embed/>
            </p:oleObj>
          </a:graphicData>
        </a:graphic>
      </p:graphicFrame>
      <p:graphicFrame>
        <p:nvGraphicFramePr>
          <p:cNvPr id="505859" name="Object 3"/>
          <p:cNvGraphicFramePr>
            <a:graphicFrameLocks noChangeAspect="1"/>
          </p:cNvGraphicFramePr>
          <p:nvPr/>
        </p:nvGraphicFramePr>
        <p:xfrm>
          <a:off x="0" y="0"/>
          <a:ext cx="1739900" cy="3467100"/>
        </p:xfrm>
        <a:graphic>
          <a:graphicData uri="http://schemas.openxmlformats.org/presentationml/2006/ole">
            <p:oleObj spid="_x0000_s505859" name="Equation" r:id="rId4" imgW="1739880" imgH="3466800" progId="Equation.3">
              <p:embed/>
            </p:oleObj>
          </a:graphicData>
        </a:graphic>
      </p:graphicFrame>
      <p:sp>
        <p:nvSpPr>
          <p:cNvPr id="505860" name="Line 4"/>
          <p:cNvSpPr>
            <a:spLocks noChangeShapeType="1"/>
          </p:cNvSpPr>
          <p:nvPr/>
        </p:nvSpPr>
        <p:spPr bwMode="auto">
          <a:xfrm>
            <a:off x="2895600" y="2362200"/>
            <a:ext cx="594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5861" name="Line 5"/>
          <p:cNvSpPr>
            <a:spLocks noChangeShapeType="1"/>
          </p:cNvSpPr>
          <p:nvPr/>
        </p:nvSpPr>
        <p:spPr bwMode="auto">
          <a:xfrm>
            <a:off x="2819400" y="3733800"/>
            <a:ext cx="601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98E2-5EA6-453A-8920-630059469FD6}" type="slidenum">
              <a:rPr lang="en-US"/>
              <a:pPr/>
              <a:t>50</a:t>
            </a:fld>
            <a:endParaRPr lang="en-US"/>
          </a:p>
        </p:txBody>
      </p:sp>
      <p:graphicFrame>
        <p:nvGraphicFramePr>
          <p:cNvPr id="506882" name="Object 2"/>
          <p:cNvGraphicFramePr>
            <a:graphicFrameLocks noChangeAspect="1"/>
          </p:cNvGraphicFramePr>
          <p:nvPr/>
        </p:nvGraphicFramePr>
        <p:xfrm>
          <a:off x="2362200" y="-685800"/>
          <a:ext cx="7075488" cy="7348538"/>
        </p:xfrm>
        <a:graphic>
          <a:graphicData uri="http://schemas.openxmlformats.org/presentationml/2006/ole">
            <p:oleObj spid="_x0000_s506882" name="Document" r:id="rId3" imgW="7077600" imgH="7350840" progId="Word.Document.8">
              <p:embed/>
            </p:oleObj>
          </a:graphicData>
        </a:graphic>
      </p:graphicFrame>
      <p:graphicFrame>
        <p:nvGraphicFramePr>
          <p:cNvPr id="506883" name="Object 3"/>
          <p:cNvGraphicFramePr>
            <a:graphicFrameLocks noChangeAspect="1"/>
          </p:cNvGraphicFramePr>
          <p:nvPr/>
        </p:nvGraphicFramePr>
        <p:xfrm>
          <a:off x="228600" y="152400"/>
          <a:ext cx="1574800" cy="3124200"/>
        </p:xfrm>
        <a:graphic>
          <a:graphicData uri="http://schemas.openxmlformats.org/presentationml/2006/ole">
            <p:oleObj spid="_x0000_s506883" name="Equation" r:id="rId4" imgW="1574640" imgH="3124080" progId="Equation.3">
              <p:embed/>
            </p:oleObj>
          </a:graphicData>
        </a:graphic>
      </p:graphicFrame>
      <p:sp>
        <p:nvSpPr>
          <p:cNvPr id="506884" name="Oval 4"/>
          <p:cNvSpPr>
            <a:spLocks noChangeArrowheads="1"/>
          </p:cNvSpPr>
          <p:nvPr/>
        </p:nvSpPr>
        <p:spPr bwMode="auto">
          <a:xfrm>
            <a:off x="2667000" y="5791200"/>
            <a:ext cx="6096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6885" name="Line 5"/>
          <p:cNvSpPr>
            <a:spLocks noChangeShapeType="1"/>
          </p:cNvSpPr>
          <p:nvPr/>
        </p:nvSpPr>
        <p:spPr bwMode="auto">
          <a:xfrm>
            <a:off x="2438400" y="16764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6886" name="Line 6"/>
          <p:cNvSpPr>
            <a:spLocks noChangeShapeType="1"/>
          </p:cNvSpPr>
          <p:nvPr/>
        </p:nvSpPr>
        <p:spPr bwMode="auto">
          <a:xfrm>
            <a:off x="2438400" y="29718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6887" name="Line 7"/>
          <p:cNvSpPr>
            <a:spLocks noChangeShapeType="1"/>
          </p:cNvSpPr>
          <p:nvPr/>
        </p:nvSpPr>
        <p:spPr bwMode="auto">
          <a:xfrm>
            <a:off x="2362200" y="41910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06888" name="Line 8"/>
          <p:cNvSpPr>
            <a:spLocks noChangeShapeType="1"/>
          </p:cNvSpPr>
          <p:nvPr/>
        </p:nvSpPr>
        <p:spPr bwMode="auto">
          <a:xfrm>
            <a:off x="2362200" y="5486400"/>
            <a:ext cx="632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81F0-11C2-49B9-A96D-9799773FD3B6}" type="slidenum">
              <a:rPr lang="en-US"/>
              <a:pPr/>
              <a:t>51</a:t>
            </a:fld>
            <a:endParaRPr lang="en-US"/>
          </a:p>
        </p:txBody>
      </p:sp>
      <p:sp>
        <p:nvSpPr>
          <p:cNvPr id="507906" name="Text Box 2"/>
          <p:cNvSpPr txBox="1">
            <a:spLocks noChangeArrowheads="1"/>
          </p:cNvSpPr>
          <p:nvPr/>
        </p:nvSpPr>
        <p:spPr bwMode="auto">
          <a:xfrm>
            <a:off x="212725" y="482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Therefore:</a:t>
            </a:r>
          </a:p>
        </p:txBody>
      </p:sp>
      <p:graphicFrame>
        <p:nvGraphicFramePr>
          <p:cNvPr id="530432" name="Object 0"/>
          <p:cNvGraphicFramePr>
            <a:graphicFrameLocks noChangeAspect="1"/>
          </p:cNvGraphicFramePr>
          <p:nvPr/>
        </p:nvGraphicFramePr>
        <p:xfrm>
          <a:off x="3073400" y="501650"/>
          <a:ext cx="3098800" cy="544513"/>
        </p:xfrm>
        <a:graphic>
          <a:graphicData uri="http://schemas.openxmlformats.org/presentationml/2006/ole">
            <p:oleObj spid="_x0000_s530432" name="Equation" r:id="rId3" imgW="3098520" imgH="545760" progId="Equation.3">
              <p:embed/>
            </p:oleObj>
          </a:graphicData>
        </a:graphic>
      </p:graphicFrame>
      <p:sp>
        <p:nvSpPr>
          <p:cNvPr id="507908" name="Text Box 4"/>
          <p:cNvSpPr txBox="1">
            <a:spLocks noChangeArrowheads="1"/>
          </p:cNvSpPr>
          <p:nvPr/>
        </p:nvSpPr>
        <p:spPr bwMode="auto">
          <a:xfrm>
            <a:off x="288925" y="2844800"/>
            <a:ext cx="3440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Time Complexity:</a:t>
            </a:r>
          </a:p>
        </p:txBody>
      </p:sp>
      <p:graphicFrame>
        <p:nvGraphicFramePr>
          <p:cNvPr id="530433" name="Object 1"/>
          <p:cNvGraphicFramePr>
            <a:graphicFrameLocks noChangeAspect="1"/>
          </p:cNvGraphicFramePr>
          <p:nvPr/>
        </p:nvGraphicFramePr>
        <p:xfrm>
          <a:off x="4533900" y="2641600"/>
          <a:ext cx="887413" cy="711200"/>
        </p:xfrm>
        <a:graphic>
          <a:graphicData uri="http://schemas.openxmlformats.org/presentationml/2006/ole">
            <p:oleObj spid="_x0000_s530433" name="Equation" r:id="rId4" imgW="888840" imgH="711000" progId="Equation.3">
              <p:embed/>
            </p:oleObj>
          </a:graphicData>
        </a:graphic>
      </p:graphicFrame>
      <p:sp>
        <p:nvSpPr>
          <p:cNvPr id="507910" name="Text Box 6"/>
          <p:cNvSpPr txBox="1">
            <a:spLocks noChangeArrowheads="1"/>
          </p:cNvSpPr>
          <p:nvPr/>
        </p:nvSpPr>
        <p:spPr bwMode="auto">
          <a:xfrm>
            <a:off x="3200400" y="4876800"/>
            <a:ext cx="549433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CYK algorithm can be </a:t>
            </a:r>
          </a:p>
          <a:p>
            <a:r>
              <a:rPr lang="en-US"/>
              <a:t>easily converted to a parser</a:t>
            </a:r>
          </a:p>
          <a:p>
            <a:r>
              <a:rPr lang="en-US"/>
              <a:t>(bottom up parser)</a:t>
            </a:r>
          </a:p>
        </p:txBody>
      </p:sp>
      <p:sp>
        <p:nvSpPr>
          <p:cNvPr id="507911" name="Text Box 7"/>
          <p:cNvSpPr txBox="1">
            <a:spLocks noChangeArrowheads="1"/>
          </p:cNvSpPr>
          <p:nvPr/>
        </p:nvSpPr>
        <p:spPr bwMode="auto">
          <a:xfrm>
            <a:off x="288925" y="48260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Observation: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4691</TotalTime>
  <Words>563</Words>
  <Application>Microsoft Office PowerPoint</Application>
  <PresentationFormat>On-screen Show (4:3)</PresentationFormat>
  <Paragraphs>228</Paragraphs>
  <Slides>51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class</vt:lpstr>
      <vt:lpstr>Equation</vt:lpstr>
      <vt:lpstr>Document</vt:lpstr>
      <vt:lpstr>Simplifications  of  Context-Free Grammars</vt:lpstr>
      <vt:lpstr>A Substitution Rule</vt:lpstr>
      <vt:lpstr>A Substitution Rule</vt:lpstr>
      <vt:lpstr>Slide 4</vt:lpstr>
      <vt:lpstr>Nullable Variables</vt:lpstr>
      <vt:lpstr>Removing Nullable Variables</vt:lpstr>
      <vt:lpstr>Slide 7</vt:lpstr>
      <vt:lpstr>Unit-Productions</vt:lpstr>
      <vt:lpstr>Removing Unit Productions</vt:lpstr>
      <vt:lpstr>Slide 10</vt:lpstr>
      <vt:lpstr>Slide 11</vt:lpstr>
      <vt:lpstr>Slide 12</vt:lpstr>
      <vt:lpstr>Slide 13</vt:lpstr>
      <vt:lpstr>Slide 14</vt:lpstr>
      <vt:lpstr>Useless Productions</vt:lpstr>
      <vt:lpstr>Slide 16</vt:lpstr>
      <vt:lpstr>Slide 17</vt:lpstr>
      <vt:lpstr>Slide 18</vt:lpstr>
      <vt:lpstr>Removing Useless Productions</vt:lpstr>
      <vt:lpstr>Slide 20</vt:lpstr>
      <vt:lpstr>Slide 21</vt:lpstr>
      <vt:lpstr>Slide 22</vt:lpstr>
      <vt:lpstr>Slide 23</vt:lpstr>
      <vt:lpstr>Removing All</vt:lpstr>
      <vt:lpstr>Normal Forms for Context-free Grammars</vt:lpstr>
      <vt:lpstr>Chomsky Normal Form</vt:lpstr>
      <vt:lpstr>Slide 27</vt:lpstr>
      <vt:lpstr>Convertion to Chomsky Normal Form</vt:lpstr>
      <vt:lpstr>Slide 29</vt:lpstr>
      <vt:lpstr>   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Greinbach Normal Form</vt:lpstr>
      <vt:lpstr>Slide 40</vt:lpstr>
      <vt:lpstr>Slide 41</vt:lpstr>
      <vt:lpstr>Slide 42</vt:lpstr>
      <vt:lpstr>Slide 43</vt:lpstr>
      <vt:lpstr>The CYK Parser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1022</cp:revision>
  <cp:lastPrinted>2000-09-25T14:54:54Z</cp:lastPrinted>
  <dcterms:created xsi:type="dcterms:W3CDTF">2000-08-31T01:12:33Z</dcterms:created>
  <dcterms:modified xsi:type="dcterms:W3CDTF">2014-01-11T18:47:33Z</dcterms:modified>
</cp:coreProperties>
</file>