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63" r:id="rId2"/>
    <p:sldId id="264" r:id="rId3"/>
    <p:sldId id="265" r:id="rId4"/>
    <p:sldId id="267" r:id="rId5"/>
    <p:sldId id="266" r:id="rId6"/>
    <p:sldId id="314" r:id="rId7"/>
    <p:sldId id="269" r:id="rId8"/>
    <p:sldId id="268" r:id="rId9"/>
    <p:sldId id="270" r:id="rId10"/>
    <p:sldId id="271" r:id="rId11"/>
    <p:sldId id="272" r:id="rId12"/>
    <p:sldId id="275" r:id="rId13"/>
    <p:sldId id="315" r:id="rId14"/>
    <p:sldId id="273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2" r:id="rId30"/>
    <p:sldId id="291" r:id="rId31"/>
    <p:sldId id="293" r:id="rId32"/>
    <p:sldId id="294" r:id="rId33"/>
    <p:sldId id="295" r:id="rId34"/>
    <p:sldId id="296" r:id="rId35"/>
    <p:sldId id="297" r:id="rId36"/>
    <p:sldId id="298" r:id="rId37"/>
    <p:sldId id="302" r:id="rId38"/>
    <p:sldId id="301" r:id="rId39"/>
    <p:sldId id="303" r:id="rId40"/>
    <p:sldId id="300" r:id="rId41"/>
    <p:sldId id="304" r:id="rId42"/>
    <p:sldId id="305" r:id="rId43"/>
    <p:sldId id="306" r:id="rId44"/>
    <p:sldId id="307" r:id="rId45"/>
    <p:sldId id="308" r:id="rId46"/>
    <p:sldId id="309" r:id="rId47"/>
    <p:sldId id="311" r:id="rId48"/>
    <p:sldId id="310" r:id="rId49"/>
    <p:sldId id="312" r:id="rId50"/>
    <p:sldId id="313" r:id="rId51"/>
    <p:sldId id="317" r:id="rId52"/>
    <p:sldId id="320" r:id="rId53"/>
    <p:sldId id="321" r:id="rId54"/>
    <p:sldId id="318" r:id="rId55"/>
    <p:sldId id="319" r:id="rId56"/>
    <p:sldId id="322" r:id="rId57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9" autoAdjust="0"/>
    <p:restoredTop sz="90929"/>
  </p:normalViewPr>
  <p:slideViewPr>
    <p:cSldViewPr>
      <p:cViewPr varScale="1">
        <p:scale>
          <a:sx n="70" d="100"/>
          <a:sy n="70" d="100"/>
        </p:scale>
        <p:origin x="11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4.wmf"/><Relationship Id="rId7" Type="http://schemas.openxmlformats.org/officeDocument/2006/relationships/image" Target="../media/image9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8.wmf"/><Relationship Id="rId11" Type="http://schemas.openxmlformats.org/officeDocument/2006/relationships/image" Target="../media/image17.wmf"/><Relationship Id="rId5" Type="http://schemas.openxmlformats.org/officeDocument/2006/relationships/image" Target="../media/image7.wmf"/><Relationship Id="rId10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8.wmf"/><Relationship Id="rId4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60.wmf"/><Relationship Id="rId7" Type="http://schemas.openxmlformats.org/officeDocument/2006/relationships/image" Target="../media/image63.wmf"/><Relationship Id="rId2" Type="http://schemas.openxmlformats.org/officeDocument/2006/relationships/image" Target="../media/image59.wmf"/><Relationship Id="rId1" Type="http://schemas.openxmlformats.org/officeDocument/2006/relationships/image" Target="../media/image54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5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2" Type="http://schemas.openxmlformats.org/officeDocument/2006/relationships/image" Target="../media/image73.wmf"/><Relationship Id="rId16" Type="http://schemas.openxmlformats.org/officeDocument/2006/relationships/image" Target="../media/image87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5" Type="http://schemas.openxmlformats.org/officeDocument/2006/relationships/image" Target="../media/image8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5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88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4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4.wmf"/><Relationship Id="rId7" Type="http://schemas.openxmlformats.org/officeDocument/2006/relationships/image" Target="../media/image97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8.wmf"/><Relationship Id="rId11" Type="http://schemas.openxmlformats.org/officeDocument/2006/relationships/image" Target="../media/image101.wmf"/><Relationship Id="rId5" Type="http://schemas.openxmlformats.org/officeDocument/2006/relationships/image" Target="../media/image96.wmf"/><Relationship Id="rId10" Type="http://schemas.openxmlformats.org/officeDocument/2006/relationships/image" Target="../media/image100.wmf"/><Relationship Id="rId4" Type="http://schemas.openxmlformats.org/officeDocument/2006/relationships/image" Target="../media/image95.wmf"/><Relationship Id="rId9" Type="http://schemas.openxmlformats.org/officeDocument/2006/relationships/image" Target="../media/image9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99.wmf"/><Relationship Id="rId7" Type="http://schemas.openxmlformats.org/officeDocument/2006/relationships/image" Target="../media/image105.wmf"/><Relationship Id="rId2" Type="http://schemas.openxmlformats.org/officeDocument/2006/relationships/image" Target="../media/image97.wmf"/><Relationship Id="rId1" Type="http://schemas.openxmlformats.org/officeDocument/2006/relationships/image" Target="../media/image8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9" Type="http://schemas.openxmlformats.org/officeDocument/2006/relationships/image" Target="../media/image9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99.wmf"/><Relationship Id="rId7" Type="http://schemas.openxmlformats.org/officeDocument/2006/relationships/image" Target="../media/image105.wmf"/><Relationship Id="rId2" Type="http://schemas.openxmlformats.org/officeDocument/2006/relationships/image" Target="../media/image97.wmf"/><Relationship Id="rId1" Type="http://schemas.openxmlformats.org/officeDocument/2006/relationships/image" Target="../media/image8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9" Type="http://schemas.openxmlformats.org/officeDocument/2006/relationships/image" Target="../media/image106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8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8.wmf"/><Relationship Id="rId4" Type="http://schemas.openxmlformats.org/officeDocument/2006/relationships/image" Target="../media/image112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9" Type="http://schemas.openxmlformats.org/officeDocument/2006/relationships/image" Target="../media/image11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9" Type="http://schemas.openxmlformats.org/officeDocument/2006/relationships/image" Target="../media/image125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C62352DE-8588-43E3-985C-00D9B0667BA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473A380B-A02D-4EF0-A763-7E35608A891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9C1DD8-249A-48C2-A27A-B0A11E4657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748D4E-6E37-4E05-BF49-F4132EA547B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D373B7-7076-4849-90C2-AFB91B260F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9C89D0-E2E2-49C1-A4C4-4ACDFD420E0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D60C2-531E-462D-A4F3-289C1AA80DD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6B7618-E7D2-4E44-B57B-B2CC5EBDA0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10A350-8328-449F-99C4-9C99C9929B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AA05CD-C1B5-4FF7-8A01-43B6E6D7AFF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A6191C-3AB5-4241-A6F4-0CAC0D7DA7F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49516C-4650-445D-A904-D587E22BF73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E0A949F-BF9F-4DC3-BF21-45C24D431E5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A105E16B-9799-4872-A938-30FE9A54BC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10.wmf"/><Relationship Id="rId26" Type="http://schemas.openxmlformats.org/officeDocument/2006/relationships/oleObject" Target="../embeddings/oleObject31.bin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8.wmf"/><Relationship Id="rId22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22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3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4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32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4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62.bin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76.bin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7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90.bin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9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104.bin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1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99.bin"/><Relationship Id="rId25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10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118.bin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11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40.wmf"/><Relationship Id="rId26" Type="http://schemas.openxmlformats.org/officeDocument/2006/relationships/oleObject" Target="../embeddings/oleObject132.bin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13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4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14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56.wmf"/><Relationship Id="rId3" Type="http://schemas.openxmlformats.org/officeDocument/2006/relationships/oleObject" Target="../embeddings/oleObject143.bin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55.wmf"/><Relationship Id="rId5" Type="http://schemas.openxmlformats.org/officeDocument/2006/relationships/oleObject" Target="../embeddings/oleObject144.bin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147.bin"/><Relationship Id="rId4" Type="http://schemas.openxmlformats.org/officeDocument/2006/relationships/image" Target="../media/image52.wmf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14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156.bin"/><Relationship Id="rId18" Type="http://schemas.openxmlformats.org/officeDocument/2006/relationships/oleObject" Target="../embeddings/oleObject159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61.wmf"/><Relationship Id="rId17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8.bin"/><Relationship Id="rId20" Type="http://schemas.openxmlformats.org/officeDocument/2006/relationships/image" Target="../media/image6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image" Target="../media/image62.w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154.bin"/><Relationship Id="rId14" Type="http://schemas.openxmlformats.org/officeDocument/2006/relationships/oleObject" Target="../embeddings/oleObject157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167.bin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7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" Type="http://schemas.openxmlformats.org/officeDocument/2006/relationships/oleObject" Target="../embeddings/oleObject168.bin"/><Relationship Id="rId21" Type="http://schemas.openxmlformats.org/officeDocument/2006/relationships/oleObject" Target="../embeddings/oleObject177.bin"/><Relationship Id="rId34" Type="http://schemas.openxmlformats.org/officeDocument/2006/relationships/image" Target="../media/image87.wmf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75.bin"/><Relationship Id="rId25" Type="http://schemas.openxmlformats.org/officeDocument/2006/relationships/oleObject" Target="../embeddings/oleObject179.bin"/><Relationship Id="rId33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18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172.bin"/><Relationship Id="rId24" Type="http://schemas.openxmlformats.org/officeDocument/2006/relationships/image" Target="../media/image82.wmf"/><Relationship Id="rId32" Type="http://schemas.openxmlformats.org/officeDocument/2006/relationships/image" Target="../media/image86.wmf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23" Type="http://schemas.openxmlformats.org/officeDocument/2006/relationships/oleObject" Target="../embeddings/oleObject178.bin"/><Relationship Id="rId28" Type="http://schemas.openxmlformats.org/officeDocument/2006/relationships/image" Target="../media/image84.wmf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176.bin"/><Relationship Id="rId31" Type="http://schemas.openxmlformats.org/officeDocument/2006/relationships/oleObject" Target="../embeddings/oleObject182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180.bin"/><Relationship Id="rId30" Type="http://schemas.openxmlformats.org/officeDocument/2006/relationships/image" Target="../media/image85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8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4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90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97.bin"/><Relationship Id="rId18" Type="http://schemas.openxmlformats.org/officeDocument/2006/relationships/oleObject" Target="../embeddings/oleObject200.bin"/><Relationship Id="rId26" Type="http://schemas.openxmlformats.org/officeDocument/2006/relationships/oleObject" Target="../embeddings/oleObject206.bin"/><Relationship Id="rId3" Type="http://schemas.openxmlformats.org/officeDocument/2006/relationships/oleObject" Target="../embeddings/oleObject192.bin"/><Relationship Id="rId21" Type="http://schemas.openxmlformats.org/officeDocument/2006/relationships/oleObject" Target="../embeddings/oleObject202.bin"/><Relationship Id="rId34" Type="http://schemas.openxmlformats.org/officeDocument/2006/relationships/oleObject" Target="../embeddings/oleObject21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199.bin"/><Relationship Id="rId25" Type="http://schemas.openxmlformats.org/officeDocument/2006/relationships/oleObject" Target="../embeddings/oleObject205.bin"/><Relationship Id="rId33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wmf"/><Relationship Id="rId20" Type="http://schemas.openxmlformats.org/officeDocument/2006/relationships/image" Target="../media/image98.wmf"/><Relationship Id="rId29" Type="http://schemas.openxmlformats.org/officeDocument/2006/relationships/oleObject" Target="../embeddings/oleObject208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96.bin"/><Relationship Id="rId24" Type="http://schemas.openxmlformats.org/officeDocument/2006/relationships/oleObject" Target="../embeddings/oleObject204.bin"/><Relationship Id="rId32" Type="http://schemas.openxmlformats.org/officeDocument/2006/relationships/oleObject" Target="../embeddings/oleObject211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23" Type="http://schemas.openxmlformats.org/officeDocument/2006/relationships/image" Target="../media/image99.wmf"/><Relationship Id="rId28" Type="http://schemas.openxmlformats.org/officeDocument/2006/relationships/oleObject" Target="../embeddings/oleObject207.bin"/><Relationship Id="rId36" Type="http://schemas.openxmlformats.org/officeDocument/2006/relationships/oleObject" Target="../embeddings/oleObject214.bin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201.bin"/><Relationship Id="rId31" Type="http://schemas.openxmlformats.org/officeDocument/2006/relationships/oleObject" Target="../embeddings/oleObject210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203.bin"/><Relationship Id="rId27" Type="http://schemas.openxmlformats.org/officeDocument/2006/relationships/image" Target="../media/image100.wmf"/><Relationship Id="rId30" Type="http://schemas.openxmlformats.org/officeDocument/2006/relationships/oleObject" Target="../embeddings/oleObject209.bin"/><Relationship Id="rId35" Type="http://schemas.openxmlformats.org/officeDocument/2006/relationships/oleObject" Target="../embeddings/oleObject213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oleObject" Target="../embeddings/oleObject222.bin"/><Relationship Id="rId18" Type="http://schemas.openxmlformats.org/officeDocument/2006/relationships/oleObject" Target="../embeddings/oleObject227.bin"/><Relationship Id="rId26" Type="http://schemas.openxmlformats.org/officeDocument/2006/relationships/oleObject" Target="../embeddings/oleObject235.bin"/><Relationship Id="rId39" Type="http://schemas.openxmlformats.org/officeDocument/2006/relationships/oleObject" Target="../embeddings/oleObject243.bin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30.bin"/><Relationship Id="rId34" Type="http://schemas.openxmlformats.org/officeDocument/2006/relationships/oleObject" Target="../embeddings/oleObject239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226.bin"/><Relationship Id="rId25" Type="http://schemas.openxmlformats.org/officeDocument/2006/relationships/oleObject" Target="../embeddings/oleObject234.bin"/><Relationship Id="rId33" Type="http://schemas.openxmlformats.org/officeDocument/2006/relationships/image" Target="../media/image105.wmf"/><Relationship Id="rId38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9.bin"/><Relationship Id="rId29" Type="http://schemas.openxmlformats.org/officeDocument/2006/relationships/image" Target="../media/image10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221.bin"/><Relationship Id="rId24" Type="http://schemas.openxmlformats.org/officeDocument/2006/relationships/oleObject" Target="../embeddings/oleObject233.bin"/><Relationship Id="rId32" Type="http://schemas.openxmlformats.org/officeDocument/2006/relationships/oleObject" Target="../embeddings/oleObject238.bin"/><Relationship Id="rId37" Type="http://schemas.openxmlformats.org/officeDocument/2006/relationships/oleObject" Target="../embeddings/oleObject241.bin"/><Relationship Id="rId40" Type="http://schemas.openxmlformats.org/officeDocument/2006/relationships/image" Target="../media/image96.wmf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32.bin"/><Relationship Id="rId28" Type="http://schemas.openxmlformats.org/officeDocument/2006/relationships/oleObject" Target="../embeddings/oleObject236.bin"/><Relationship Id="rId36" Type="http://schemas.openxmlformats.org/officeDocument/2006/relationships/oleObject" Target="../embeddings/oleObject240.bin"/><Relationship Id="rId10" Type="http://schemas.openxmlformats.org/officeDocument/2006/relationships/oleObject" Target="../embeddings/oleObject220.bin"/><Relationship Id="rId19" Type="http://schemas.openxmlformats.org/officeDocument/2006/relationships/oleObject" Target="../embeddings/oleObject228.bin"/><Relationship Id="rId31" Type="http://schemas.openxmlformats.org/officeDocument/2006/relationships/image" Target="../media/image104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219.bin"/><Relationship Id="rId14" Type="http://schemas.openxmlformats.org/officeDocument/2006/relationships/oleObject" Target="../embeddings/oleObject223.bin"/><Relationship Id="rId22" Type="http://schemas.openxmlformats.org/officeDocument/2006/relationships/oleObject" Target="../embeddings/oleObject231.bin"/><Relationship Id="rId27" Type="http://schemas.openxmlformats.org/officeDocument/2006/relationships/image" Target="../media/image102.wmf"/><Relationship Id="rId30" Type="http://schemas.openxmlformats.org/officeDocument/2006/relationships/oleObject" Target="../embeddings/oleObject237.bin"/><Relationship Id="rId35" Type="http://schemas.openxmlformats.org/officeDocument/2006/relationships/image" Target="../media/image43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oleObject" Target="../embeddings/oleObject251.bin"/><Relationship Id="rId18" Type="http://schemas.openxmlformats.org/officeDocument/2006/relationships/oleObject" Target="../embeddings/oleObject256.bin"/><Relationship Id="rId26" Type="http://schemas.openxmlformats.org/officeDocument/2006/relationships/oleObject" Target="../embeddings/oleObject264.bin"/><Relationship Id="rId39" Type="http://schemas.openxmlformats.org/officeDocument/2006/relationships/oleObject" Target="../embeddings/oleObject272.bin"/><Relationship Id="rId3" Type="http://schemas.openxmlformats.org/officeDocument/2006/relationships/oleObject" Target="../embeddings/oleObject244.bin"/><Relationship Id="rId21" Type="http://schemas.openxmlformats.org/officeDocument/2006/relationships/oleObject" Target="../embeddings/oleObject259.bin"/><Relationship Id="rId34" Type="http://schemas.openxmlformats.org/officeDocument/2006/relationships/oleObject" Target="../embeddings/oleObject268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255.bin"/><Relationship Id="rId25" Type="http://schemas.openxmlformats.org/officeDocument/2006/relationships/oleObject" Target="../embeddings/oleObject263.bin"/><Relationship Id="rId33" Type="http://schemas.openxmlformats.org/officeDocument/2006/relationships/image" Target="../media/image105.wmf"/><Relationship Id="rId38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4.bin"/><Relationship Id="rId20" Type="http://schemas.openxmlformats.org/officeDocument/2006/relationships/oleObject" Target="../embeddings/oleObject258.bin"/><Relationship Id="rId29" Type="http://schemas.openxmlformats.org/officeDocument/2006/relationships/image" Target="../media/image103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250.bin"/><Relationship Id="rId24" Type="http://schemas.openxmlformats.org/officeDocument/2006/relationships/oleObject" Target="../embeddings/oleObject262.bin"/><Relationship Id="rId32" Type="http://schemas.openxmlformats.org/officeDocument/2006/relationships/oleObject" Target="../embeddings/oleObject267.bin"/><Relationship Id="rId37" Type="http://schemas.openxmlformats.org/officeDocument/2006/relationships/oleObject" Target="../embeddings/oleObject270.bin"/><Relationship Id="rId40" Type="http://schemas.openxmlformats.org/officeDocument/2006/relationships/image" Target="../media/image106.wmf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3.bin"/><Relationship Id="rId23" Type="http://schemas.openxmlformats.org/officeDocument/2006/relationships/oleObject" Target="../embeddings/oleObject261.bin"/><Relationship Id="rId28" Type="http://schemas.openxmlformats.org/officeDocument/2006/relationships/oleObject" Target="../embeddings/oleObject265.bin"/><Relationship Id="rId36" Type="http://schemas.openxmlformats.org/officeDocument/2006/relationships/oleObject" Target="../embeddings/oleObject269.bin"/><Relationship Id="rId10" Type="http://schemas.openxmlformats.org/officeDocument/2006/relationships/oleObject" Target="../embeddings/oleObject249.bin"/><Relationship Id="rId19" Type="http://schemas.openxmlformats.org/officeDocument/2006/relationships/oleObject" Target="../embeddings/oleObject257.bin"/><Relationship Id="rId31" Type="http://schemas.openxmlformats.org/officeDocument/2006/relationships/image" Target="../media/image104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248.bin"/><Relationship Id="rId14" Type="http://schemas.openxmlformats.org/officeDocument/2006/relationships/oleObject" Target="../embeddings/oleObject252.bin"/><Relationship Id="rId22" Type="http://schemas.openxmlformats.org/officeDocument/2006/relationships/oleObject" Target="../embeddings/oleObject260.bin"/><Relationship Id="rId27" Type="http://schemas.openxmlformats.org/officeDocument/2006/relationships/image" Target="../media/image102.wmf"/><Relationship Id="rId30" Type="http://schemas.openxmlformats.org/officeDocument/2006/relationships/oleObject" Target="../embeddings/oleObject266.bin"/><Relationship Id="rId35" Type="http://schemas.openxmlformats.org/officeDocument/2006/relationships/image" Target="../media/image4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75.bin"/><Relationship Id="rId5" Type="http://schemas.openxmlformats.org/officeDocument/2006/relationships/oleObject" Target="../embeddings/oleObject274.bin"/><Relationship Id="rId4" Type="http://schemas.openxmlformats.org/officeDocument/2006/relationships/image" Target="../media/image107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77.bin"/><Relationship Id="rId4" Type="http://schemas.openxmlformats.org/officeDocument/2006/relationships/image" Target="../media/image88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279.bin"/><Relationship Id="rId4" Type="http://schemas.openxmlformats.org/officeDocument/2006/relationships/image" Target="../media/image10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281.bin"/><Relationship Id="rId10" Type="http://schemas.openxmlformats.org/officeDocument/2006/relationships/image" Target="../media/image112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28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289.bin"/><Relationship Id="rId18" Type="http://schemas.openxmlformats.org/officeDocument/2006/relationships/image" Target="../media/image96.w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5.bin"/><Relationship Id="rId15" Type="http://schemas.openxmlformats.org/officeDocument/2006/relationships/oleObject" Target="../embeddings/oleObject290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292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116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293.bin"/><Relationship Id="rId21" Type="http://schemas.openxmlformats.org/officeDocument/2006/relationships/image" Target="../media/image125.wmf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oleObject" Target="../embeddings/oleObject302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123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A Universal Turing Machine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8DE9CF-060B-46B2-933C-483FA252C98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94979" name="Text Box 3"/>
          <p:cNvSpPr txBox="1">
            <a:spLocks noChangeArrowheads="1"/>
          </p:cNvSpPr>
          <p:nvPr/>
        </p:nvSpPr>
        <p:spPr bwMode="auto">
          <a:xfrm>
            <a:off x="1676400" y="1600200"/>
            <a:ext cx="640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Turing Machines are “hardwired”</a:t>
            </a:r>
          </a:p>
        </p:txBody>
      </p:sp>
      <p:sp>
        <p:nvSpPr>
          <p:cNvPr id="894980" name="Text Box 4"/>
          <p:cNvSpPr txBox="1">
            <a:spLocks noChangeArrowheads="1"/>
          </p:cNvSpPr>
          <p:nvPr/>
        </p:nvSpPr>
        <p:spPr bwMode="auto">
          <a:xfrm>
            <a:off x="5334000" y="2743200"/>
            <a:ext cx="33893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they execute</a:t>
            </a:r>
          </a:p>
          <a:p>
            <a:r>
              <a:rPr lang="en-US"/>
              <a:t>only one program</a:t>
            </a:r>
          </a:p>
        </p:txBody>
      </p:sp>
      <p:sp>
        <p:nvSpPr>
          <p:cNvPr id="894982" name="Text Box 6"/>
          <p:cNvSpPr txBox="1">
            <a:spLocks noChangeArrowheads="1"/>
          </p:cNvSpPr>
          <p:nvPr/>
        </p:nvSpPr>
        <p:spPr bwMode="auto">
          <a:xfrm>
            <a:off x="212725" y="406400"/>
            <a:ext cx="6286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 limitation of Turing Machines:</a:t>
            </a:r>
          </a:p>
        </p:txBody>
      </p:sp>
      <p:sp>
        <p:nvSpPr>
          <p:cNvPr id="894983" name="Text Box 7"/>
          <p:cNvSpPr txBox="1">
            <a:spLocks noChangeArrowheads="1"/>
          </p:cNvSpPr>
          <p:nvPr/>
        </p:nvSpPr>
        <p:spPr bwMode="auto">
          <a:xfrm>
            <a:off x="1143000" y="4800600"/>
            <a:ext cx="7232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Real Computers are re-programmable</a:t>
            </a:r>
          </a:p>
        </p:txBody>
      </p:sp>
      <p:sp>
        <p:nvSpPr>
          <p:cNvPr id="894985" name="AutoShape 9"/>
          <p:cNvSpPr>
            <a:spLocks/>
          </p:cNvSpPr>
          <p:nvPr/>
        </p:nvSpPr>
        <p:spPr bwMode="auto">
          <a:xfrm rot="5400000">
            <a:off x="6629400" y="1524000"/>
            <a:ext cx="457200" cy="1981200"/>
          </a:xfrm>
          <a:prstGeom prst="righ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63D85D-68F5-4D09-9D27-FF46710BEC9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96002" name="Text Box 2"/>
          <p:cNvSpPr txBox="1">
            <a:spLocks noChangeArrowheads="1"/>
          </p:cNvSpPr>
          <p:nvPr/>
        </p:nvSpPr>
        <p:spPr bwMode="auto">
          <a:xfrm>
            <a:off x="136525" y="254000"/>
            <a:ext cx="1858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Solution:</a:t>
            </a:r>
          </a:p>
        </p:txBody>
      </p:sp>
      <p:sp>
        <p:nvSpPr>
          <p:cNvPr id="896003" name="Text Box 3"/>
          <p:cNvSpPr txBox="1">
            <a:spLocks noChangeArrowheads="1"/>
          </p:cNvSpPr>
          <p:nvPr/>
        </p:nvSpPr>
        <p:spPr bwMode="auto">
          <a:xfrm>
            <a:off x="2133600" y="914400"/>
            <a:ext cx="5029200" cy="5847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Universal Turing Machine</a:t>
            </a:r>
          </a:p>
        </p:txBody>
      </p:sp>
      <p:sp>
        <p:nvSpPr>
          <p:cNvPr id="896005" name="Text Box 5"/>
          <p:cNvSpPr txBox="1">
            <a:spLocks noChangeArrowheads="1"/>
          </p:cNvSpPr>
          <p:nvPr/>
        </p:nvSpPr>
        <p:spPr bwMode="auto">
          <a:xfrm>
            <a:off x="1066800" y="3352800"/>
            <a:ext cx="72850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Reprogrammable machine</a:t>
            </a:r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r>
              <a:rPr lang="en-US" dirty="0"/>
              <a:t> Simulates any other Turing Machine</a:t>
            </a:r>
          </a:p>
        </p:txBody>
      </p:sp>
      <p:sp>
        <p:nvSpPr>
          <p:cNvPr id="896009" name="Text Box 9"/>
          <p:cNvSpPr txBox="1">
            <a:spLocks noChangeArrowheads="1"/>
          </p:cNvSpPr>
          <p:nvPr/>
        </p:nvSpPr>
        <p:spPr bwMode="auto">
          <a:xfrm>
            <a:off x="152400" y="2362200"/>
            <a:ext cx="2362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Attributes: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D57EA2-8B7C-44B9-B9C8-796890F4E78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98050" name="Text Box 2"/>
          <p:cNvSpPr txBox="1">
            <a:spLocks noChangeArrowheads="1"/>
          </p:cNvSpPr>
          <p:nvPr/>
        </p:nvSpPr>
        <p:spPr bwMode="auto">
          <a:xfrm>
            <a:off x="517525" y="177800"/>
            <a:ext cx="5097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Universal Turing Machine </a:t>
            </a:r>
          </a:p>
        </p:txBody>
      </p:sp>
      <p:sp>
        <p:nvSpPr>
          <p:cNvPr id="898052" name="Text Box 4"/>
          <p:cNvSpPr txBox="1">
            <a:spLocks noChangeArrowheads="1"/>
          </p:cNvSpPr>
          <p:nvPr/>
        </p:nvSpPr>
        <p:spPr bwMode="auto">
          <a:xfrm>
            <a:off x="457200" y="914400"/>
            <a:ext cx="6921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simulates any other Turing Machine</a:t>
            </a:r>
          </a:p>
        </p:txBody>
      </p:sp>
      <p:graphicFrame>
        <p:nvGraphicFramePr>
          <p:cNvPr id="898053" name="Object 5"/>
          <p:cNvGraphicFramePr>
            <a:graphicFrameLocks noChangeAspect="1"/>
          </p:cNvGraphicFramePr>
          <p:nvPr/>
        </p:nvGraphicFramePr>
        <p:xfrm>
          <a:off x="7467600" y="9906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064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9906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54" name="Text Box 6"/>
          <p:cNvSpPr txBox="1">
            <a:spLocks noChangeArrowheads="1"/>
          </p:cNvSpPr>
          <p:nvPr/>
        </p:nvSpPr>
        <p:spPr bwMode="auto">
          <a:xfrm>
            <a:off x="533400" y="3124200"/>
            <a:ext cx="6940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 of  Universal Turing Machine:</a:t>
            </a:r>
          </a:p>
        </p:txBody>
      </p:sp>
      <p:sp>
        <p:nvSpPr>
          <p:cNvPr id="898056" name="Text Box 8"/>
          <p:cNvSpPr txBox="1">
            <a:spLocks noChangeArrowheads="1"/>
          </p:cNvSpPr>
          <p:nvPr/>
        </p:nvSpPr>
        <p:spPr bwMode="auto">
          <a:xfrm>
            <a:off x="1447800" y="4191000"/>
            <a:ext cx="5629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Description of transitions of</a:t>
            </a:r>
          </a:p>
        </p:txBody>
      </p:sp>
      <p:graphicFrame>
        <p:nvGraphicFramePr>
          <p:cNvPr id="898057" name="Object 9"/>
          <p:cNvGraphicFramePr>
            <a:graphicFrameLocks noChangeAspect="1"/>
          </p:cNvGraphicFramePr>
          <p:nvPr/>
        </p:nvGraphicFramePr>
        <p:xfrm>
          <a:off x="7334250" y="4265613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065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0" y="4265613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59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762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tape contents of </a:t>
            </a:r>
          </a:p>
        </p:txBody>
      </p:sp>
      <p:graphicFrame>
        <p:nvGraphicFramePr>
          <p:cNvPr id="898060" name="Object 12"/>
          <p:cNvGraphicFramePr>
            <a:graphicFrameLocks noChangeAspect="1"/>
          </p:cNvGraphicFramePr>
          <p:nvPr/>
        </p:nvGraphicFramePr>
        <p:xfrm>
          <a:off x="6435725" y="5230813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8066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5230813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898212-A9A2-4B6E-A700-4CBAE7A4863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97026" name="Rectangle 2"/>
          <p:cNvSpPr>
            <a:spLocks noChangeArrowheads="1"/>
          </p:cNvSpPr>
          <p:nvPr/>
        </p:nvSpPr>
        <p:spPr bwMode="auto">
          <a:xfrm>
            <a:off x="304800" y="2057400"/>
            <a:ext cx="2819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97027" name="Text Box 3"/>
          <p:cNvSpPr txBox="1">
            <a:spLocks noChangeArrowheads="1"/>
          </p:cNvSpPr>
          <p:nvPr/>
        </p:nvSpPr>
        <p:spPr bwMode="auto">
          <a:xfrm>
            <a:off x="685800" y="2438400"/>
            <a:ext cx="20669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Universal </a:t>
            </a:r>
          </a:p>
          <a:p>
            <a:r>
              <a:rPr lang="en-US"/>
              <a:t>Turing </a:t>
            </a:r>
          </a:p>
          <a:p>
            <a:r>
              <a:rPr lang="en-US"/>
              <a:t>Machine</a:t>
            </a:r>
          </a:p>
        </p:txBody>
      </p:sp>
      <p:graphicFrame>
        <p:nvGraphicFramePr>
          <p:cNvPr id="897030" name="Object 6"/>
          <p:cNvGraphicFramePr>
            <a:graphicFrameLocks noChangeAspect="1"/>
          </p:cNvGraphicFramePr>
          <p:nvPr/>
        </p:nvGraphicFramePr>
        <p:xfrm>
          <a:off x="8458200" y="3962400"/>
          <a:ext cx="5445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057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962400"/>
                        <a:ext cx="5445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7031" name="Line 7"/>
          <p:cNvSpPr>
            <a:spLocks noChangeShapeType="1"/>
          </p:cNvSpPr>
          <p:nvPr/>
        </p:nvSpPr>
        <p:spPr bwMode="auto">
          <a:xfrm>
            <a:off x="5867400" y="685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2" name="Line 8"/>
          <p:cNvSpPr>
            <a:spLocks noChangeShapeType="1"/>
          </p:cNvSpPr>
          <p:nvPr/>
        </p:nvSpPr>
        <p:spPr bwMode="auto">
          <a:xfrm>
            <a:off x="5867400" y="1295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3" name="Line 9"/>
          <p:cNvSpPr>
            <a:spLocks noChangeShapeType="1"/>
          </p:cNvSpPr>
          <p:nvPr/>
        </p:nvSpPr>
        <p:spPr bwMode="auto">
          <a:xfrm>
            <a:off x="61722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4" name="Line 10"/>
          <p:cNvSpPr>
            <a:spLocks noChangeShapeType="1"/>
          </p:cNvSpPr>
          <p:nvPr/>
        </p:nvSpPr>
        <p:spPr bwMode="auto">
          <a:xfrm>
            <a:off x="67056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5" name="Line 11"/>
          <p:cNvSpPr>
            <a:spLocks noChangeShapeType="1"/>
          </p:cNvSpPr>
          <p:nvPr/>
        </p:nvSpPr>
        <p:spPr bwMode="auto">
          <a:xfrm>
            <a:off x="72390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6" name="Line 12"/>
          <p:cNvSpPr>
            <a:spLocks noChangeShapeType="1"/>
          </p:cNvSpPr>
          <p:nvPr/>
        </p:nvSpPr>
        <p:spPr bwMode="auto">
          <a:xfrm>
            <a:off x="77724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7" name="Line 13"/>
          <p:cNvSpPr>
            <a:spLocks noChangeShapeType="1"/>
          </p:cNvSpPr>
          <p:nvPr/>
        </p:nvSpPr>
        <p:spPr bwMode="auto">
          <a:xfrm>
            <a:off x="5962650" y="3200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8" name="Line 14"/>
          <p:cNvSpPr>
            <a:spLocks noChangeShapeType="1"/>
          </p:cNvSpPr>
          <p:nvPr/>
        </p:nvSpPr>
        <p:spPr bwMode="auto">
          <a:xfrm>
            <a:off x="5962650" y="3810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39" name="Line 15"/>
          <p:cNvSpPr>
            <a:spLocks noChangeShapeType="1"/>
          </p:cNvSpPr>
          <p:nvPr/>
        </p:nvSpPr>
        <p:spPr bwMode="auto">
          <a:xfrm>
            <a:off x="62674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0" name="Line 16"/>
          <p:cNvSpPr>
            <a:spLocks noChangeShapeType="1"/>
          </p:cNvSpPr>
          <p:nvPr/>
        </p:nvSpPr>
        <p:spPr bwMode="auto">
          <a:xfrm>
            <a:off x="68008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1" name="Line 17"/>
          <p:cNvSpPr>
            <a:spLocks noChangeShapeType="1"/>
          </p:cNvSpPr>
          <p:nvPr/>
        </p:nvSpPr>
        <p:spPr bwMode="auto">
          <a:xfrm>
            <a:off x="73342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2" name="Line 18"/>
          <p:cNvSpPr>
            <a:spLocks noChangeShapeType="1"/>
          </p:cNvSpPr>
          <p:nvPr/>
        </p:nvSpPr>
        <p:spPr bwMode="auto">
          <a:xfrm>
            <a:off x="786765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3" name="Line 19"/>
          <p:cNvSpPr>
            <a:spLocks noChangeShapeType="1"/>
          </p:cNvSpPr>
          <p:nvPr/>
        </p:nvSpPr>
        <p:spPr bwMode="auto">
          <a:xfrm>
            <a:off x="5943600" y="55673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4" name="Line 20"/>
          <p:cNvSpPr>
            <a:spLocks noChangeShapeType="1"/>
          </p:cNvSpPr>
          <p:nvPr/>
        </p:nvSpPr>
        <p:spPr bwMode="auto">
          <a:xfrm>
            <a:off x="5943600" y="61769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5" name="Line 21"/>
          <p:cNvSpPr>
            <a:spLocks noChangeShapeType="1"/>
          </p:cNvSpPr>
          <p:nvPr/>
        </p:nvSpPr>
        <p:spPr bwMode="auto">
          <a:xfrm>
            <a:off x="62484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6" name="Line 22"/>
          <p:cNvSpPr>
            <a:spLocks noChangeShapeType="1"/>
          </p:cNvSpPr>
          <p:nvPr/>
        </p:nvSpPr>
        <p:spPr bwMode="auto">
          <a:xfrm>
            <a:off x="67818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7" name="Line 23"/>
          <p:cNvSpPr>
            <a:spLocks noChangeShapeType="1"/>
          </p:cNvSpPr>
          <p:nvPr/>
        </p:nvSpPr>
        <p:spPr bwMode="auto">
          <a:xfrm>
            <a:off x="73152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8" name="Line 24"/>
          <p:cNvSpPr>
            <a:spLocks noChangeShapeType="1"/>
          </p:cNvSpPr>
          <p:nvPr/>
        </p:nvSpPr>
        <p:spPr bwMode="auto">
          <a:xfrm>
            <a:off x="7848600" y="55673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7049" name="Text Box 25"/>
          <p:cNvSpPr txBox="1">
            <a:spLocks noChangeArrowheads="1"/>
          </p:cNvSpPr>
          <p:nvPr/>
        </p:nvSpPr>
        <p:spPr bwMode="auto">
          <a:xfrm>
            <a:off x="5334000" y="1371600"/>
            <a:ext cx="303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Description of </a:t>
            </a:r>
          </a:p>
        </p:txBody>
      </p:sp>
      <p:sp>
        <p:nvSpPr>
          <p:cNvPr id="897050" name="Text Box 26"/>
          <p:cNvSpPr txBox="1">
            <a:spLocks noChangeArrowheads="1"/>
          </p:cNvSpPr>
          <p:nvPr/>
        </p:nvSpPr>
        <p:spPr bwMode="auto">
          <a:xfrm>
            <a:off x="4999038" y="3886200"/>
            <a:ext cx="3584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Contents of</a:t>
            </a:r>
            <a:r>
              <a:rPr lang="en-US">
                <a:solidFill>
                  <a:srgbClr val="FF00FF"/>
                </a:solidFill>
              </a:rPr>
              <a:t> </a:t>
            </a:r>
          </a:p>
        </p:txBody>
      </p:sp>
      <p:graphicFrame>
        <p:nvGraphicFramePr>
          <p:cNvPr id="897051" name="Object 27"/>
          <p:cNvGraphicFramePr>
            <a:graphicFrameLocks noChangeAspect="1"/>
          </p:cNvGraphicFramePr>
          <p:nvPr/>
        </p:nvGraphicFramePr>
        <p:xfrm>
          <a:off x="8324850" y="1446213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058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1446213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7052" name="Text Box 28"/>
          <p:cNvSpPr txBox="1">
            <a:spLocks noChangeArrowheads="1"/>
          </p:cNvSpPr>
          <p:nvPr/>
        </p:nvSpPr>
        <p:spPr bwMode="auto">
          <a:xfrm>
            <a:off x="5927725" y="6278563"/>
            <a:ext cx="194627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 of </a:t>
            </a:r>
          </a:p>
        </p:txBody>
      </p:sp>
      <p:graphicFrame>
        <p:nvGraphicFramePr>
          <p:cNvPr id="897053" name="Object 29"/>
          <p:cNvGraphicFramePr>
            <a:graphicFrameLocks noChangeAspect="1"/>
          </p:cNvGraphicFramePr>
          <p:nvPr/>
        </p:nvGraphicFramePr>
        <p:xfrm>
          <a:off x="7867650" y="6327775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059"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0" y="6327775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7054" name="Freeform 30"/>
          <p:cNvSpPr>
            <a:spLocks/>
          </p:cNvSpPr>
          <p:nvPr/>
        </p:nvSpPr>
        <p:spPr bwMode="auto">
          <a:xfrm>
            <a:off x="3124200" y="990600"/>
            <a:ext cx="2590800" cy="1447800"/>
          </a:xfrm>
          <a:custGeom>
            <a:avLst/>
            <a:gdLst/>
            <a:ahLst/>
            <a:cxnLst>
              <a:cxn ang="0">
                <a:pos x="1632" y="0"/>
              </a:cxn>
              <a:cxn ang="0">
                <a:pos x="768" y="192"/>
              </a:cxn>
              <a:cxn ang="0">
                <a:pos x="0" y="816"/>
              </a:cxn>
            </a:cxnLst>
            <a:rect l="0" t="0" r="r" b="b"/>
            <a:pathLst>
              <a:path w="1632" h="816">
                <a:moveTo>
                  <a:pt x="1632" y="0"/>
                </a:moveTo>
                <a:cubicBezTo>
                  <a:pt x="1336" y="28"/>
                  <a:pt x="1040" y="56"/>
                  <a:pt x="768" y="192"/>
                </a:cubicBezTo>
                <a:cubicBezTo>
                  <a:pt x="496" y="328"/>
                  <a:pt x="248" y="572"/>
                  <a:pt x="0" y="8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97056" name="Line 32"/>
          <p:cNvSpPr>
            <a:spLocks noChangeShapeType="1"/>
          </p:cNvSpPr>
          <p:nvPr/>
        </p:nvSpPr>
        <p:spPr bwMode="auto">
          <a:xfrm flipH="1" flipV="1">
            <a:off x="3124200" y="3276600"/>
            <a:ext cx="274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97057" name="Freeform 33"/>
          <p:cNvSpPr>
            <a:spLocks/>
          </p:cNvSpPr>
          <p:nvPr/>
        </p:nvSpPr>
        <p:spPr bwMode="auto">
          <a:xfrm>
            <a:off x="3124200" y="4114800"/>
            <a:ext cx="2743200" cy="1828800"/>
          </a:xfrm>
          <a:custGeom>
            <a:avLst/>
            <a:gdLst/>
            <a:ahLst/>
            <a:cxnLst>
              <a:cxn ang="0">
                <a:pos x="1728" y="816"/>
              </a:cxn>
              <a:cxn ang="0">
                <a:pos x="864" y="624"/>
              </a:cxn>
              <a:cxn ang="0">
                <a:pos x="0" y="0"/>
              </a:cxn>
            </a:cxnLst>
            <a:rect l="0" t="0" r="r" b="b"/>
            <a:pathLst>
              <a:path w="1728" h="816">
                <a:moveTo>
                  <a:pt x="1728" y="816"/>
                </a:moveTo>
                <a:cubicBezTo>
                  <a:pt x="1440" y="788"/>
                  <a:pt x="1152" y="760"/>
                  <a:pt x="864" y="624"/>
                </a:cubicBezTo>
                <a:cubicBezTo>
                  <a:pt x="576" y="488"/>
                  <a:pt x="288" y="24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97058" name="Text Box 34"/>
          <p:cNvSpPr txBox="1">
            <a:spLocks noChangeArrowheads="1"/>
          </p:cNvSpPr>
          <p:nvPr/>
        </p:nvSpPr>
        <p:spPr bwMode="auto">
          <a:xfrm>
            <a:off x="746125" y="406400"/>
            <a:ext cx="2495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Three tapes</a:t>
            </a:r>
          </a:p>
        </p:txBody>
      </p:sp>
      <p:sp>
        <p:nvSpPr>
          <p:cNvPr id="897059" name="Text Box 35"/>
          <p:cNvSpPr txBox="1">
            <a:spLocks noChangeArrowheads="1"/>
          </p:cNvSpPr>
          <p:nvPr/>
        </p:nvSpPr>
        <p:spPr bwMode="auto">
          <a:xfrm>
            <a:off x="6327775" y="2789238"/>
            <a:ext cx="11541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9900"/>
                </a:solidFill>
              </a:rPr>
              <a:t>Tape 2</a:t>
            </a:r>
          </a:p>
        </p:txBody>
      </p:sp>
      <p:sp>
        <p:nvSpPr>
          <p:cNvPr id="897060" name="Text Box 36"/>
          <p:cNvSpPr txBox="1">
            <a:spLocks noChangeArrowheads="1"/>
          </p:cNvSpPr>
          <p:nvPr/>
        </p:nvSpPr>
        <p:spPr bwMode="auto">
          <a:xfrm>
            <a:off x="6400800" y="5110163"/>
            <a:ext cx="11541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9900"/>
                </a:solidFill>
              </a:rPr>
              <a:t>Tape 3</a:t>
            </a:r>
          </a:p>
        </p:txBody>
      </p:sp>
      <p:sp>
        <p:nvSpPr>
          <p:cNvPr id="897061" name="Text Box 37"/>
          <p:cNvSpPr txBox="1">
            <a:spLocks noChangeArrowheads="1"/>
          </p:cNvSpPr>
          <p:nvPr/>
        </p:nvSpPr>
        <p:spPr bwMode="auto">
          <a:xfrm>
            <a:off x="6324600" y="228600"/>
            <a:ext cx="11049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9900"/>
                </a:solidFill>
              </a:rPr>
              <a:t>Tape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D53D3-D673-4EDC-A3E4-53D99136E95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46186" name="Text Box 2058"/>
          <p:cNvSpPr txBox="1">
            <a:spLocks noChangeArrowheads="1"/>
          </p:cNvSpPr>
          <p:nvPr/>
        </p:nvSpPr>
        <p:spPr bwMode="auto">
          <a:xfrm>
            <a:off x="914400" y="3048000"/>
            <a:ext cx="739140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describe Turing machine </a:t>
            </a:r>
          </a:p>
          <a:p>
            <a:r>
              <a:rPr lang="en-US"/>
              <a:t>as a string of symbols:</a:t>
            </a:r>
          </a:p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We encode        as a string of symbols</a:t>
            </a:r>
          </a:p>
        </p:txBody>
      </p:sp>
      <p:graphicFrame>
        <p:nvGraphicFramePr>
          <p:cNvPr id="946187" name="Object 2059"/>
          <p:cNvGraphicFramePr>
            <a:graphicFrameLocks noChangeAspect="1"/>
          </p:cNvGraphicFramePr>
          <p:nvPr/>
        </p:nvGraphicFramePr>
        <p:xfrm>
          <a:off x="6629400" y="31242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00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1242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8" name="Object 2060"/>
          <p:cNvGraphicFramePr>
            <a:graphicFrameLocks noChangeAspect="1"/>
          </p:cNvGraphicFramePr>
          <p:nvPr/>
        </p:nvGraphicFramePr>
        <p:xfrm>
          <a:off x="3276600" y="4876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01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76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9" name="Line 2061"/>
          <p:cNvSpPr>
            <a:spLocks noChangeShapeType="1"/>
          </p:cNvSpPr>
          <p:nvPr/>
        </p:nvSpPr>
        <p:spPr bwMode="auto">
          <a:xfrm>
            <a:off x="5867400" y="6858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0" name="Line 2062"/>
          <p:cNvSpPr>
            <a:spLocks noChangeShapeType="1"/>
          </p:cNvSpPr>
          <p:nvPr/>
        </p:nvSpPr>
        <p:spPr bwMode="auto">
          <a:xfrm>
            <a:off x="5867400" y="1295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1" name="Line 2063"/>
          <p:cNvSpPr>
            <a:spLocks noChangeShapeType="1"/>
          </p:cNvSpPr>
          <p:nvPr/>
        </p:nvSpPr>
        <p:spPr bwMode="auto">
          <a:xfrm>
            <a:off x="61722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2" name="Line 2064"/>
          <p:cNvSpPr>
            <a:spLocks noChangeShapeType="1"/>
          </p:cNvSpPr>
          <p:nvPr/>
        </p:nvSpPr>
        <p:spPr bwMode="auto">
          <a:xfrm>
            <a:off x="67056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3" name="Line 2065"/>
          <p:cNvSpPr>
            <a:spLocks noChangeShapeType="1"/>
          </p:cNvSpPr>
          <p:nvPr/>
        </p:nvSpPr>
        <p:spPr bwMode="auto">
          <a:xfrm>
            <a:off x="72390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4" name="Line 2066"/>
          <p:cNvSpPr>
            <a:spLocks noChangeShapeType="1"/>
          </p:cNvSpPr>
          <p:nvPr/>
        </p:nvSpPr>
        <p:spPr bwMode="auto">
          <a:xfrm>
            <a:off x="7772400" y="68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6195" name="Text Box 2067"/>
          <p:cNvSpPr txBox="1">
            <a:spLocks noChangeArrowheads="1"/>
          </p:cNvSpPr>
          <p:nvPr/>
        </p:nvSpPr>
        <p:spPr bwMode="auto">
          <a:xfrm>
            <a:off x="5334000" y="1371600"/>
            <a:ext cx="303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Description of </a:t>
            </a:r>
          </a:p>
        </p:txBody>
      </p:sp>
      <p:graphicFrame>
        <p:nvGraphicFramePr>
          <p:cNvPr id="946196" name="Object 2068"/>
          <p:cNvGraphicFramePr>
            <a:graphicFrameLocks noChangeAspect="1"/>
          </p:cNvGraphicFramePr>
          <p:nvPr/>
        </p:nvGraphicFramePr>
        <p:xfrm>
          <a:off x="8324850" y="1446213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02"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0" name="Picture 20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1446213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97" name="Text Box 2069"/>
          <p:cNvSpPr txBox="1">
            <a:spLocks noChangeArrowheads="1"/>
          </p:cNvSpPr>
          <p:nvPr/>
        </p:nvSpPr>
        <p:spPr bwMode="auto">
          <a:xfrm>
            <a:off x="6324600" y="228600"/>
            <a:ext cx="110490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9900"/>
                </a:solidFill>
              </a:rPr>
              <a:t>Tape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FECD0A-7B44-4D33-B870-A5DC9D9890B0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00098" name="Text Box 2"/>
          <p:cNvSpPr txBox="1">
            <a:spLocks noChangeArrowheads="1"/>
          </p:cNvSpPr>
          <p:nvPr/>
        </p:nvSpPr>
        <p:spPr bwMode="auto">
          <a:xfrm>
            <a:off x="2590800" y="457200"/>
            <a:ext cx="3702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Alphabet Encoding</a:t>
            </a:r>
          </a:p>
        </p:txBody>
      </p:sp>
      <p:sp>
        <p:nvSpPr>
          <p:cNvPr id="900099" name="Text Box 3"/>
          <p:cNvSpPr txBox="1">
            <a:spLocks noChangeArrowheads="1"/>
          </p:cNvSpPr>
          <p:nvPr/>
        </p:nvSpPr>
        <p:spPr bwMode="auto">
          <a:xfrm>
            <a:off x="282575" y="1681163"/>
            <a:ext cx="188118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Symbols:</a:t>
            </a:r>
          </a:p>
        </p:txBody>
      </p:sp>
      <p:graphicFrame>
        <p:nvGraphicFramePr>
          <p:cNvPr id="900100" name="Object 4"/>
          <p:cNvGraphicFramePr>
            <a:graphicFrameLocks noChangeAspect="1"/>
          </p:cNvGraphicFramePr>
          <p:nvPr/>
        </p:nvGraphicFramePr>
        <p:xfrm>
          <a:off x="2800350" y="1795463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19" name="Equation" r:id="rId3" imgW="291960" imgH="304560" progId="Equation.3">
                  <p:embed/>
                </p:oleObj>
              </mc:Choice>
              <mc:Fallback>
                <p:oleObj name="Equation" r:id="rId3" imgW="29196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1795463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1" name="Object 5"/>
          <p:cNvGraphicFramePr>
            <a:graphicFrameLocks noChangeAspect="1"/>
          </p:cNvGraphicFramePr>
          <p:nvPr/>
        </p:nvGraphicFramePr>
        <p:xfrm>
          <a:off x="4337050" y="1733550"/>
          <a:ext cx="2651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0" name="Equation" r:id="rId5" imgW="266400" imgH="431640" progId="Equation.3">
                  <p:embed/>
                </p:oleObj>
              </mc:Choice>
              <mc:Fallback>
                <p:oleObj name="Equation" r:id="rId5" imgW="26640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1733550"/>
                        <a:ext cx="2651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2" name="Object 6"/>
          <p:cNvGraphicFramePr>
            <a:graphicFrameLocks noChangeAspect="1"/>
          </p:cNvGraphicFramePr>
          <p:nvPr/>
        </p:nvGraphicFramePr>
        <p:xfrm>
          <a:off x="5784850" y="1816100"/>
          <a:ext cx="2524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1" name="Equation" r:id="rId7" imgW="253800" imgH="304560" progId="Equation.3">
                  <p:embed/>
                </p:oleObj>
              </mc:Choice>
              <mc:Fallback>
                <p:oleObj name="Equation" r:id="rId7" imgW="253800" imgH="304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816100"/>
                        <a:ext cx="2524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3" name="Object 7"/>
          <p:cNvGraphicFramePr>
            <a:graphicFrameLocks noChangeAspect="1"/>
          </p:cNvGraphicFramePr>
          <p:nvPr/>
        </p:nvGraphicFramePr>
        <p:xfrm>
          <a:off x="7226300" y="1733550"/>
          <a:ext cx="3286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2" name="Equation" r:id="rId9" imgW="330120" imgH="431640" progId="Equation.3">
                  <p:embed/>
                </p:oleObj>
              </mc:Choice>
              <mc:Fallback>
                <p:oleObj name="Equation" r:id="rId9" imgW="33012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1733550"/>
                        <a:ext cx="3286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4" name="Object 8"/>
          <p:cNvGraphicFramePr>
            <a:graphicFrameLocks noChangeAspect="1"/>
          </p:cNvGraphicFramePr>
          <p:nvPr/>
        </p:nvGraphicFramePr>
        <p:xfrm>
          <a:off x="8382000" y="1905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3" name="Equation" r:id="rId11" imgW="419040" imgH="114120" progId="Equation.3">
                  <p:embed/>
                </p:oleObj>
              </mc:Choice>
              <mc:Fallback>
                <p:oleObj name="Equation" r:id="rId11" imgW="419040" imgH="114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905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05" name="Text Box 9"/>
          <p:cNvSpPr txBox="1">
            <a:spLocks noChangeArrowheads="1"/>
          </p:cNvSpPr>
          <p:nvPr/>
        </p:nvSpPr>
        <p:spPr bwMode="auto">
          <a:xfrm>
            <a:off x="136525" y="2921000"/>
            <a:ext cx="197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Encoding:</a:t>
            </a:r>
          </a:p>
        </p:txBody>
      </p:sp>
      <p:graphicFrame>
        <p:nvGraphicFramePr>
          <p:cNvPr id="900106" name="Object 10"/>
          <p:cNvGraphicFramePr>
            <a:graphicFrameLocks noChangeAspect="1"/>
          </p:cNvGraphicFramePr>
          <p:nvPr/>
        </p:nvGraphicFramePr>
        <p:xfrm>
          <a:off x="2819400" y="3048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4" name="Equation" r:id="rId13" imgW="164880" imgH="368280" progId="Equation.3">
                  <p:embed/>
                </p:oleObj>
              </mc:Choice>
              <mc:Fallback>
                <p:oleObj name="Equation" r:id="rId13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48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7" name="Object 11"/>
          <p:cNvGraphicFramePr>
            <a:graphicFrameLocks noChangeAspect="1"/>
          </p:cNvGraphicFramePr>
          <p:nvPr/>
        </p:nvGraphicFramePr>
        <p:xfrm>
          <a:off x="4191000" y="3048000"/>
          <a:ext cx="392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5" name="Equation" r:id="rId15" imgW="393480" imgH="368280" progId="Equation.3">
                  <p:embed/>
                </p:oleObj>
              </mc:Choice>
              <mc:Fallback>
                <p:oleObj name="Equation" r:id="rId15" imgW="39348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48000"/>
                        <a:ext cx="392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8" name="Object 12"/>
          <p:cNvGraphicFramePr>
            <a:graphicFrameLocks noChangeAspect="1"/>
          </p:cNvGraphicFramePr>
          <p:nvPr/>
        </p:nvGraphicFramePr>
        <p:xfrm>
          <a:off x="5607050" y="3068638"/>
          <a:ext cx="620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6" name="Equation" r:id="rId17" imgW="622080" imgH="368280" progId="Equation.3">
                  <p:embed/>
                </p:oleObj>
              </mc:Choice>
              <mc:Fallback>
                <p:oleObj name="Equation" r:id="rId17" imgW="62208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3068638"/>
                        <a:ext cx="6207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9" name="Object 13"/>
          <p:cNvGraphicFramePr>
            <a:graphicFrameLocks noChangeAspect="1"/>
          </p:cNvGraphicFramePr>
          <p:nvPr/>
        </p:nvGraphicFramePr>
        <p:xfrm>
          <a:off x="7048500" y="3048000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127" name="Equation" r:id="rId19" imgW="850680" imgH="368280" progId="Equation.3">
                  <p:embed/>
                </p:oleObj>
              </mc:Choice>
              <mc:Fallback>
                <p:oleObj name="Equation" r:id="rId19" imgW="8506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0" y="3048000"/>
                        <a:ext cx="8509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10" name="Line 14"/>
          <p:cNvSpPr>
            <a:spLocks noChangeShapeType="1"/>
          </p:cNvSpPr>
          <p:nvPr/>
        </p:nvSpPr>
        <p:spPr bwMode="auto">
          <a:xfrm>
            <a:off x="2971800" y="22098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0111" name="Line 15"/>
          <p:cNvSpPr>
            <a:spLocks noChangeShapeType="1"/>
          </p:cNvSpPr>
          <p:nvPr/>
        </p:nvSpPr>
        <p:spPr bwMode="auto">
          <a:xfrm>
            <a:off x="4419600" y="22098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0112" name="Line 16"/>
          <p:cNvSpPr>
            <a:spLocks noChangeShapeType="1"/>
          </p:cNvSpPr>
          <p:nvPr/>
        </p:nvSpPr>
        <p:spPr bwMode="auto">
          <a:xfrm>
            <a:off x="5873750" y="2230438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0113" name="Line 17"/>
          <p:cNvSpPr>
            <a:spLocks noChangeShapeType="1"/>
          </p:cNvSpPr>
          <p:nvPr/>
        </p:nvSpPr>
        <p:spPr bwMode="auto">
          <a:xfrm>
            <a:off x="7353300" y="22098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6B55B2-711B-425B-AB22-EB6059BE9507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99074" name="Text Box 2"/>
          <p:cNvSpPr txBox="1">
            <a:spLocks noChangeArrowheads="1"/>
          </p:cNvSpPr>
          <p:nvPr/>
        </p:nvSpPr>
        <p:spPr bwMode="auto">
          <a:xfrm>
            <a:off x="2819400" y="0"/>
            <a:ext cx="3074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State Encoding</a:t>
            </a:r>
          </a:p>
        </p:txBody>
      </p:sp>
      <p:sp>
        <p:nvSpPr>
          <p:cNvPr id="899086" name="Text Box 14"/>
          <p:cNvSpPr txBox="1">
            <a:spLocks noChangeArrowheads="1"/>
          </p:cNvSpPr>
          <p:nvPr/>
        </p:nvSpPr>
        <p:spPr bwMode="auto">
          <a:xfrm>
            <a:off x="282575" y="906463"/>
            <a:ext cx="160178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States:</a:t>
            </a:r>
          </a:p>
        </p:txBody>
      </p:sp>
      <p:graphicFrame>
        <p:nvGraphicFramePr>
          <p:cNvPr id="899087" name="Object 15"/>
          <p:cNvGraphicFramePr>
            <a:graphicFrameLocks noChangeAspect="1"/>
          </p:cNvGraphicFramePr>
          <p:nvPr/>
        </p:nvGraphicFramePr>
        <p:xfrm>
          <a:off x="2755900" y="9128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4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9128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88" name="Object 16"/>
          <p:cNvGraphicFramePr>
            <a:graphicFrameLocks noChangeAspect="1"/>
          </p:cNvGraphicFramePr>
          <p:nvPr/>
        </p:nvGraphicFramePr>
        <p:xfrm>
          <a:off x="4248150" y="91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5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914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89" name="Object 17"/>
          <p:cNvGraphicFramePr>
            <a:graphicFrameLocks noChangeAspect="1"/>
          </p:cNvGraphicFramePr>
          <p:nvPr/>
        </p:nvGraphicFramePr>
        <p:xfrm>
          <a:off x="5695950" y="92868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6" name="Equation" r:id="rId7" imgW="431640" imgH="533160" progId="Equation.3">
                  <p:embed/>
                </p:oleObj>
              </mc:Choice>
              <mc:Fallback>
                <p:oleObj name="Equation" r:id="rId7" imgW="431640" imgH="53316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92868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0" name="Object 18"/>
          <p:cNvGraphicFramePr>
            <a:graphicFrameLocks noChangeAspect="1"/>
          </p:cNvGraphicFramePr>
          <p:nvPr/>
        </p:nvGraphicFramePr>
        <p:xfrm>
          <a:off x="7169150" y="91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7" name="Equation" r:id="rId9" imgW="444240" imgH="520560" progId="Equation.3">
                  <p:embed/>
                </p:oleObj>
              </mc:Choice>
              <mc:Fallback>
                <p:oleObj name="Equation" r:id="rId9" imgW="444240" imgH="5205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914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1" name="Object 19"/>
          <p:cNvGraphicFramePr>
            <a:graphicFrameLocks noChangeAspect="1"/>
          </p:cNvGraphicFramePr>
          <p:nvPr/>
        </p:nvGraphicFramePr>
        <p:xfrm>
          <a:off x="8382000" y="11303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8" name="Equation" r:id="rId11" imgW="419040" imgH="114120" progId="Equation.3">
                  <p:embed/>
                </p:oleObj>
              </mc:Choice>
              <mc:Fallback>
                <p:oleObj name="Equation" r:id="rId11" imgW="419040" imgH="11412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1303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092" name="Text Box 20"/>
          <p:cNvSpPr txBox="1">
            <a:spLocks noChangeArrowheads="1"/>
          </p:cNvSpPr>
          <p:nvPr/>
        </p:nvSpPr>
        <p:spPr bwMode="auto">
          <a:xfrm>
            <a:off x="0" y="2298700"/>
            <a:ext cx="197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Encoding:</a:t>
            </a:r>
          </a:p>
        </p:txBody>
      </p:sp>
      <p:graphicFrame>
        <p:nvGraphicFramePr>
          <p:cNvPr id="899093" name="Object 21"/>
          <p:cNvGraphicFramePr>
            <a:graphicFrameLocks noChangeAspect="1"/>
          </p:cNvGraphicFramePr>
          <p:nvPr/>
        </p:nvGraphicFramePr>
        <p:xfrm>
          <a:off x="2781300" y="24257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29" name="Equation" r:id="rId13" imgW="164880" imgH="368280" progId="Equation.3">
                  <p:embed/>
                </p:oleObj>
              </mc:Choice>
              <mc:Fallback>
                <p:oleObj name="Equation" r:id="rId13" imgW="16488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4257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4" name="Object 22"/>
          <p:cNvGraphicFramePr>
            <a:graphicFrameLocks noChangeAspect="1"/>
          </p:cNvGraphicFramePr>
          <p:nvPr/>
        </p:nvGraphicFramePr>
        <p:xfrm>
          <a:off x="4152900" y="2425700"/>
          <a:ext cx="392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0" name="Equation" r:id="rId15" imgW="393480" imgH="368280" progId="Equation.3">
                  <p:embed/>
                </p:oleObj>
              </mc:Choice>
              <mc:Fallback>
                <p:oleObj name="Equation" r:id="rId15" imgW="39348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2425700"/>
                        <a:ext cx="392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5" name="Object 23"/>
          <p:cNvGraphicFramePr>
            <a:graphicFrameLocks noChangeAspect="1"/>
          </p:cNvGraphicFramePr>
          <p:nvPr/>
        </p:nvGraphicFramePr>
        <p:xfrm>
          <a:off x="5568950" y="2446338"/>
          <a:ext cx="620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1" name="Equation" r:id="rId17" imgW="622080" imgH="368280" progId="Equation.3">
                  <p:embed/>
                </p:oleObj>
              </mc:Choice>
              <mc:Fallback>
                <p:oleObj name="Equation" r:id="rId17" imgW="6220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2446338"/>
                        <a:ext cx="6207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096" name="Object 24"/>
          <p:cNvGraphicFramePr>
            <a:graphicFrameLocks noChangeAspect="1"/>
          </p:cNvGraphicFramePr>
          <p:nvPr/>
        </p:nvGraphicFramePr>
        <p:xfrm>
          <a:off x="7010400" y="2425700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2" name="Equation" r:id="rId19" imgW="850680" imgH="368280" progId="Equation.3">
                  <p:embed/>
                </p:oleObj>
              </mc:Choice>
              <mc:Fallback>
                <p:oleObj name="Equation" r:id="rId19" imgW="8506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425700"/>
                        <a:ext cx="8509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097" name="Line 25"/>
          <p:cNvSpPr>
            <a:spLocks noChangeShapeType="1"/>
          </p:cNvSpPr>
          <p:nvPr/>
        </p:nvSpPr>
        <p:spPr bwMode="auto">
          <a:xfrm>
            <a:off x="2971800" y="16637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9098" name="Line 26"/>
          <p:cNvSpPr>
            <a:spLocks noChangeShapeType="1"/>
          </p:cNvSpPr>
          <p:nvPr/>
        </p:nvSpPr>
        <p:spPr bwMode="auto">
          <a:xfrm>
            <a:off x="4419600" y="16637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9099" name="Line 27"/>
          <p:cNvSpPr>
            <a:spLocks noChangeShapeType="1"/>
          </p:cNvSpPr>
          <p:nvPr/>
        </p:nvSpPr>
        <p:spPr bwMode="auto">
          <a:xfrm>
            <a:off x="5867400" y="16637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9100" name="Line 28"/>
          <p:cNvSpPr>
            <a:spLocks noChangeShapeType="1"/>
          </p:cNvSpPr>
          <p:nvPr/>
        </p:nvSpPr>
        <p:spPr bwMode="auto">
          <a:xfrm>
            <a:off x="7315200" y="16637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99101" name="Text Box 29"/>
          <p:cNvSpPr txBox="1">
            <a:spLocks noChangeArrowheads="1"/>
          </p:cNvSpPr>
          <p:nvPr/>
        </p:nvSpPr>
        <p:spPr bwMode="auto">
          <a:xfrm>
            <a:off x="2667000" y="3657600"/>
            <a:ext cx="4075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Head Move Encoding</a:t>
            </a:r>
          </a:p>
        </p:txBody>
      </p:sp>
      <p:sp>
        <p:nvSpPr>
          <p:cNvPr id="899103" name="Text Box 31"/>
          <p:cNvSpPr txBox="1">
            <a:spLocks noChangeArrowheads="1"/>
          </p:cNvSpPr>
          <p:nvPr/>
        </p:nvSpPr>
        <p:spPr bwMode="auto">
          <a:xfrm>
            <a:off x="625475" y="4572000"/>
            <a:ext cx="1300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Move:</a:t>
            </a:r>
          </a:p>
        </p:txBody>
      </p:sp>
      <p:sp>
        <p:nvSpPr>
          <p:cNvPr id="899104" name="Text Box 32"/>
          <p:cNvSpPr txBox="1">
            <a:spLocks noChangeArrowheads="1"/>
          </p:cNvSpPr>
          <p:nvPr/>
        </p:nvSpPr>
        <p:spPr bwMode="auto">
          <a:xfrm>
            <a:off x="0" y="5740400"/>
            <a:ext cx="197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Encoding:</a:t>
            </a:r>
          </a:p>
        </p:txBody>
      </p:sp>
      <p:graphicFrame>
        <p:nvGraphicFramePr>
          <p:cNvPr id="899105" name="Object 33"/>
          <p:cNvGraphicFramePr>
            <a:graphicFrameLocks noChangeAspect="1"/>
          </p:cNvGraphicFramePr>
          <p:nvPr/>
        </p:nvGraphicFramePr>
        <p:xfrm>
          <a:off x="2667000" y="4648200"/>
          <a:ext cx="303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3" name="Equation" r:id="rId21" imgW="304560" imgH="368280" progId="Equation.3">
                  <p:embed/>
                </p:oleObj>
              </mc:Choice>
              <mc:Fallback>
                <p:oleObj name="Equation" r:id="rId21" imgW="304560" imgH="36828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648200"/>
                        <a:ext cx="303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9106" name="Object 34"/>
          <p:cNvGraphicFramePr>
            <a:graphicFrameLocks noChangeAspect="1"/>
          </p:cNvGraphicFramePr>
          <p:nvPr/>
        </p:nvGraphicFramePr>
        <p:xfrm>
          <a:off x="4343400" y="4648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4" name="Equation" r:id="rId23" imgW="330120" imgH="368280" progId="Equation.3">
                  <p:embed/>
                </p:oleObj>
              </mc:Choice>
              <mc:Fallback>
                <p:oleObj name="Equation" r:id="rId23" imgW="330120" imgH="3682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48200"/>
                        <a:ext cx="3302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107" name="Line 35"/>
          <p:cNvSpPr>
            <a:spLocks noChangeShapeType="1"/>
          </p:cNvSpPr>
          <p:nvPr/>
        </p:nvSpPr>
        <p:spPr bwMode="auto">
          <a:xfrm>
            <a:off x="2743200" y="5181600"/>
            <a:ext cx="0" cy="533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108" name="Object 36"/>
          <p:cNvGraphicFramePr>
            <a:graphicFrameLocks noChangeAspect="1"/>
          </p:cNvGraphicFramePr>
          <p:nvPr/>
        </p:nvGraphicFramePr>
        <p:xfrm>
          <a:off x="2667000" y="5867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5" name="Equation" r:id="rId25" imgW="164880" imgH="368280" progId="Equation.3">
                  <p:embed/>
                </p:oleObj>
              </mc:Choice>
              <mc:Fallback>
                <p:oleObj name="Equation" r:id="rId25" imgW="164880" imgH="36828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8674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109" name="Line 37"/>
          <p:cNvSpPr>
            <a:spLocks noChangeShapeType="1"/>
          </p:cNvSpPr>
          <p:nvPr/>
        </p:nvSpPr>
        <p:spPr bwMode="auto">
          <a:xfrm>
            <a:off x="4495800" y="5181600"/>
            <a:ext cx="0" cy="533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110" name="Object 38"/>
          <p:cNvGraphicFramePr>
            <a:graphicFrameLocks noChangeAspect="1"/>
          </p:cNvGraphicFramePr>
          <p:nvPr/>
        </p:nvGraphicFramePr>
        <p:xfrm>
          <a:off x="4343400" y="5867400"/>
          <a:ext cx="392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9136" name="Equation" r:id="rId26" imgW="393480" imgH="368280" progId="Equation.3">
                  <p:embed/>
                </p:oleObj>
              </mc:Choice>
              <mc:Fallback>
                <p:oleObj name="Equation" r:id="rId26" imgW="393480" imgH="3682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867400"/>
                        <a:ext cx="392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94CFB-E3F0-40DA-BDFA-AC9F77A9FCC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01122" name="Text Box 2"/>
          <p:cNvSpPr txBox="1">
            <a:spLocks noChangeArrowheads="1"/>
          </p:cNvSpPr>
          <p:nvPr/>
        </p:nvSpPr>
        <p:spPr bwMode="auto">
          <a:xfrm>
            <a:off x="2819400" y="685800"/>
            <a:ext cx="3916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Transition Encoding</a:t>
            </a:r>
          </a:p>
        </p:txBody>
      </p:sp>
      <p:sp>
        <p:nvSpPr>
          <p:cNvPr id="901123" name="Text Box 3"/>
          <p:cNvSpPr txBox="1">
            <a:spLocks noChangeArrowheads="1"/>
          </p:cNvSpPr>
          <p:nvPr/>
        </p:nvSpPr>
        <p:spPr bwMode="auto">
          <a:xfrm>
            <a:off x="282575" y="1909763"/>
            <a:ext cx="2244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Transition:</a:t>
            </a:r>
          </a:p>
        </p:txBody>
      </p:sp>
      <p:graphicFrame>
        <p:nvGraphicFramePr>
          <p:cNvPr id="956416" name="Object 1024"/>
          <p:cNvGraphicFramePr>
            <a:graphicFrameLocks noChangeAspect="1"/>
          </p:cNvGraphicFramePr>
          <p:nvPr/>
        </p:nvGraphicFramePr>
        <p:xfrm>
          <a:off x="2895600" y="1905000"/>
          <a:ext cx="3848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20" name="Equation" r:id="rId3" imgW="3848040" imgH="571320" progId="Equation.3">
                  <p:embed/>
                </p:oleObj>
              </mc:Choice>
              <mc:Fallback>
                <p:oleObj name="Equation" r:id="rId3" imgW="3848040" imgH="5713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38481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39" name="Text Box 19"/>
          <p:cNvSpPr txBox="1">
            <a:spLocks noChangeArrowheads="1"/>
          </p:cNvSpPr>
          <p:nvPr/>
        </p:nvSpPr>
        <p:spPr bwMode="auto">
          <a:xfrm>
            <a:off x="441325" y="3454400"/>
            <a:ext cx="197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Encoding:</a:t>
            </a:r>
          </a:p>
        </p:txBody>
      </p:sp>
      <p:graphicFrame>
        <p:nvGraphicFramePr>
          <p:cNvPr id="956417" name="Object 1025"/>
          <p:cNvGraphicFramePr>
            <a:graphicFrameLocks noChangeAspect="1"/>
          </p:cNvGraphicFramePr>
          <p:nvPr/>
        </p:nvGraphicFramePr>
        <p:xfrm>
          <a:off x="3124200" y="3505200"/>
          <a:ext cx="320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21" name="Equation" r:id="rId5" imgW="3200400" imgH="533160" progId="Equation.3">
                  <p:embed/>
                </p:oleObj>
              </mc:Choice>
              <mc:Fallback>
                <p:oleObj name="Equation" r:id="rId5" imgW="3200400" imgH="53316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05200"/>
                        <a:ext cx="3200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42" name="Line 22"/>
          <p:cNvSpPr>
            <a:spLocks noChangeShapeType="1"/>
          </p:cNvSpPr>
          <p:nvPr/>
        </p:nvSpPr>
        <p:spPr bwMode="auto">
          <a:xfrm flipH="1">
            <a:off x="3200400" y="2514600"/>
            <a:ext cx="304800" cy="914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3" name="Line 23"/>
          <p:cNvSpPr>
            <a:spLocks noChangeShapeType="1"/>
          </p:cNvSpPr>
          <p:nvPr/>
        </p:nvSpPr>
        <p:spPr bwMode="auto">
          <a:xfrm flipH="1">
            <a:off x="3810000" y="2514600"/>
            <a:ext cx="228600" cy="914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4" name="Line 24"/>
          <p:cNvSpPr>
            <a:spLocks noChangeShapeType="1"/>
          </p:cNvSpPr>
          <p:nvPr/>
        </p:nvSpPr>
        <p:spPr bwMode="auto">
          <a:xfrm flipH="1">
            <a:off x="4572000" y="2514600"/>
            <a:ext cx="685800" cy="914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5" name="Line 25"/>
          <p:cNvSpPr>
            <a:spLocks noChangeShapeType="1"/>
          </p:cNvSpPr>
          <p:nvPr/>
        </p:nvSpPr>
        <p:spPr bwMode="auto">
          <a:xfrm flipH="1">
            <a:off x="5486400" y="2438400"/>
            <a:ext cx="381000" cy="990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6" name="Line 26"/>
          <p:cNvSpPr>
            <a:spLocks noChangeShapeType="1"/>
          </p:cNvSpPr>
          <p:nvPr/>
        </p:nvSpPr>
        <p:spPr bwMode="auto">
          <a:xfrm flipH="1">
            <a:off x="6172200" y="2514600"/>
            <a:ext cx="152400" cy="914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7" name="Line 27"/>
          <p:cNvSpPr>
            <a:spLocks noChangeShapeType="1"/>
          </p:cNvSpPr>
          <p:nvPr/>
        </p:nvSpPr>
        <p:spPr bwMode="auto">
          <a:xfrm flipV="1">
            <a:off x="3429000" y="3962400"/>
            <a:ext cx="76200" cy="762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1148" name="Text Box 28"/>
          <p:cNvSpPr txBox="1">
            <a:spLocks noChangeArrowheads="1"/>
          </p:cNvSpPr>
          <p:nvPr/>
        </p:nvSpPr>
        <p:spPr bwMode="auto">
          <a:xfrm>
            <a:off x="2514600" y="4648200"/>
            <a:ext cx="2035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separator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19FC13-611F-4489-A35D-0CD2488C742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02146" name="Text Box 2"/>
          <p:cNvSpPr txBox="1">
            <a:spLocks noChangeArrowheads="1"/>
          </p:cNvSpPr>
          <p:nvPr/>
        </p:nvSpPr>
        <p:spPr bwMode="auto">
          <a:xfrm>
            <a:off x="2819400" y="685800"/>
            <a:ext cx="3538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Machine Encoding</a:t>
            </a:r>
          </a:p>
        </p:txBody>
      </p:sp>
      <p:sp>
        <p:nvSpPr>
          <p:cNvPr id="902147" name="Text Box 3"/>
          <p:cNvSpPr txBox="1">
            <a:spLocks noChangeArrowheads="1"/>
          </p:cNvSpPr>
          <p:nvPr/>
        </p:nvSpPr>
        <p:spPr bwMode="auto">
          <a:xfrm>
            <a:off x="0" y="2057400"/>
            <a:ext cx="2443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Transitions:</a:t>
            </a:r>
          </a:p>
        </p:txBody>
      </p:sp>
      <p:graphicFrame>
        <p:nvGraphicFramePr>
          <p:cNvPr id="957440" name="Object 0"/>
          <p:cNvGraphicFramePr>
            <a:graphicFrameLocks noChangeAspect="1"/>
          </p:cNvGraphicFramePr>
          <p:nvPr/>
        </p:nvGraphicFramePr>
        <p:xfrm>
          <a:off x="304800" y="2743200"/>
          <a:ext cx="3848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50" name="Equation" r:id="rId3" imgW="3848040" imgH="571320" progId="Equation.3">
                  <p:embed/>
                </p:oleObj>
              </mc:Choice>
              <mc:Fallback>
                <p:oleObj name="Equation" r:id="rId3" imgW="3848040" imgH="5713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43200"/>
                        <a:ext cx="38481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49" name="Text Box 5"/>
          <p:cNvSpPr txBox="1">
            <a:spLocks noChangeArrowheads="1"/>
          </p:cNvSpPr>
          <p:nvPr/>
        </p:nvSpPr>
        <p:spPr bwMode="auto">
          <a:xfrm>
            <a:off x="0" y="4343400"/>
            <a:ext cx="197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Encoding:</a:t>
            </a:r>
          </a:p>
        </p:txBody>
      </p:sp>
      <p:graphicFrame>
        <p:nvGraphicFramePr>
          <p:cNvPr id="957441" name="Object 1"/>
          <p:cNvGraphicFramePr>
            <a:graphicFrameLocks noChangeAspect="1"/>
          </p:cNvGraphicFramePr>
          <p:nvPr/>
        </p:nvGraphicFramePr>
        <p:xfrm>
          <a:off x="533400" y="5029200"/>
          <a:ext cx="320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51" name="Equation" r:id="rId5" imgW="3200400" imgH="533160" progId="Equation.3">
                  <p:embed/>
                </p:oleObj>
              </mc:Choice>
              <mc:Fallback>
                <p:oleObj name="Equation" r:id="rId5" imgW="3200400" imgH="5331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3200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2" name="Object 2"/>
          <p:cNvGraphicFramePr>
            <a:graphicFrameLocks noChangeAspect="1"/>
          </p:cNvGraphicFramePr>
          <p:nvPr/>
        </p:nvGraphicFramePr>
        <p:xfrm>
          <a:off x="5029200" y="2743200"/>
          <a:ext cx="38989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52" name="Equation" r:id="rId7" imgW="3898800" imgH="583920" progId="Equation.3">
                  <p:embed/>
                </p:oleObj>
              </mc:Choice>
              <mc:Fallback>
                <p:oleObj name="Equation" r:id="rId7" imgW="3898800" imgH="583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38989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3" name="Object 3"/>
          <p:cNvGraphicFramePr>
            <a:graphicFrameLocks noChangeAspect="1"/>
          </p:cNvGraphicFramePr>
          <p:nvPr/>
        </p:nvGraphicFramePr>
        <p:xfrm>
          <a:off x="4724400" y="5029200"/>
          <a:ext cx="4419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53" name="Equation" r:id="rId9" imgW="4419360" imgH="533160" progId="Equation.3">
                  <p:embed/>
                </p:oleObj>
              </mc:Choice>
              <mc:Fallback>
                <p:oleObj name="Equation" r:id="rId9" imgW="441936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29200"/>
                        <a:ext cx="44196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4" name="Object 4"/>
          <p:cNvGraphicFramePr>
            <a:graphicFrameLocks noChangeAspect="1"/>
          </p:cNvGraphicFramePr>
          <p:nvPr/>
        </p:nvGraphicFramePr>
        <p:xfrm>
          <a:off x="3962400" y="5029200"/>
          <a:ext cx="519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54" name="Equation" r:id="rId11" imgW="520560" imgH="419040" progId="Equation.3">
                  <p:embed/>
                </p:oleObj>
              </mc:Choice>
              <mc:Fallback>
                <p:oleObj name="Equation" r:id="rId11" imgW="52056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9200"/>
                        <a:ext cx="5191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59" name="Line 15"/>
          <p:cNvSpPr>
            <a:spLocks noChangeShapeType="1"/>
          </p:cNvSpPr>
          <p:nvPr/>
        </p:nvSpPr>
        <p:spPr bwMode="auto">
          <a:xfrm>
            <a:off x="2133600" y="3276600"/>
            <a:ext cx="5334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2160" name="Line 16"/>
          <p:cNvSpPr>
            <a:spLocks noChangeShapeType="1"/>
          </p:cNvSpPr>
          <p:nvPr/>
        </p:nvSpPr>
        <p:spPr bwMode="auto">
          <a:xfrm flipH="1">
            <a:off x="6705600" y="3276600"/>
            <a:ext cx="1524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2161" name="Line 17"/>
          <p:cNvSpPr>
            <a:spLocks noChangeShapeType="1"/>
          </p:cNvSpPr>
          <p:nvPr/>
        </p:nvSpPr>
        <p:spPr bwMode="auto">
          <a:xfrm flipV="1">
            <a:off x="4267200" y="5486400"/>
            <a:ext cx="0" cy="609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02162" name="Text Box 18"/>
          <p:cNvSpPr txBox="1">
            <a:spLocks noChangeArrowheads="1"/>
          </p:cNvSpPr>
          <p:nvPr/>
        </p:nvSpPr>
        <p:spPr bwMode="auto">
          <a:xfrm>
            <a:off x="3276600" y="5943600"/>
            <a:ext cx="2035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separator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D75245-C545-4BA7-8A12-2EEE568C4E7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03170" name="Text Box 2"/>
          <p:cNvSpPr txBox="1">
            <a:spLocks noChangeArrowheads="1"/>
          </p:cNvSpPr>
          <p:nvPr/>
        </p:nvSpPr>
        <p:spPr bwMode="auto">
          <a:xfrm>
            <a:off x="0" y="381000"/>
            <a:ext cx="876776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 1 contents of Universal Turing Machine:</a:t>
            </a:r>
          </a:p>
          <a:p>
            <a:endParaRPr lang="en-US"/>
          </a:p>
          <a:p>
            <a:r>
              <a:rPr lang="en-US"/>
              <a:t>        encoding of the simulated machine</a:t>
            </a:r>
          </a:p>
          <a:p>
            <a:r>
              <a:rPr lang="en-US"/>
              <a:t>        as a binary string of </a:t>
            </a:r>
            <a:r>
              <a:rPr lang="en-US">
                <a:solidFill>
                  <a:schemeClr val="tx1"/>
                </a:solidFill>
              </a:rPr>
              <a:t>0’s</a:t>
            </a:r>
            <a:r>
              <a:rPr lang="en-US"/>
              <a:t> and </a:t>
            </a:r>
            <a:r>
              <a:rPr lang="en-US">
                <a:solidFill>
                  <a:schemeClr val="tx1"/>
                </a:solidFill>
              </a:rPr>
              <a:t>1’s</a:t>
            </a:r>
          </a:p>
        </p:txBody>
      </p:sp>
      <p:graphicFrame>
        <p:nvGraphicFramePr>
          <p:cNvPr id="958464" name="Object 2048"/>
          <p:cNvGraphicFramePr>
            <a:graphicFrameLocks noChangeAspect="1"/>
          </p:cNvGraphicFramePr>
          <p:nvPr/>
        </p:nvGraphicFramePr>
        <p:xfrm>
          <a:off x="7848600" y="16002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466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6002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72951A-6953-42D9-B1E1-4707D75B26E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06243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64309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Turing Machine is described </a:t>
            </a:r>
          </a:p>
          <a:p>
            <a:r>
              <a:rPr lang="en-US"/>
              <a:t>with a binary string of </a:t>
            </a:r>
            <a:r>
              <a:rPr lang="en-US">
                <a:solidFill>
                  <a:schemeClr val="tx2"/>
                </a:solidFill>
              </a:rPr>
              <a:t>0’s</a:t>
            </a:r>
            <a:r>
              <a:rPr lang="en-US"/>
              <a:t> and </a:t>
            </a:r>
            <a:r>
              <a:rPr lang="en-US">
                <a:solidFill>
                  <a:schemeClr val="tx2"/>
                </a:solidFill>
              </a:rPr>
              <a:t>1’s</a:t>
            </a:r>
          </a:p>
        </p:txBody>
      </p:sp>
      <p:sp>
        <p:nvSpPr>
          <p:cNvPr id="906244" name="Text Box 4"/>
          <p:cNvSpPr txBox="1">
            <a:spLocks noChangeArrowheads="1"/>
          </p:cNvSpPr>
          <p:nvPr/>
        </p:nvSpPr>
        <p:spPr bwMode="auto">
          <a:xfrm>
            <a:off x="152400" y="3505200"/>
            <a:ext cx="8813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set of Turing machines forms a language:</a:t>
            </a:r>
          </a:p>
        </p:txBody>
      </p:sp>
      <p:sp>
        <p:nvSpPr>
          <p:cNvPr id="906245" name="Text Box 5"/>
          <p:cNvSpPr txBox="1">
            <a:spLocks noChangeArrowheads="1"/>
          </p:cNvSpPr>
          <p:nvPr/>
        </p:nvSpPr>
        <p:spPr bwMode="auto">
          <a:xfrm>
            <a:off x="1143000" y="4495800"/>
            <a:ext cx="78041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each string of the language is</a:t>
            </a:r>
          </a:p>
          <a:p>
            <a:r>
              <a:rPr lang="en-US">
                <a:solidFill>
                  <a:srgbClr val="009900"/>
                </a:solidFill>
              </a:rPr>
              <a:t>the binary encoding of a Turing Machine</a:t>
            </a:r>
          </a:p>
        </p:txBody>
      </p:sp>
      <p:sp>
        <p:nvSpPr>
          <p:cNvPr id="906246" name="Text Box 6"/>
          <p:cNvSpPr txBox="1">
            <a:spLocks noChangeArrowheads="1"/>
          </p:cNvSpPr>
          <p:nvPr/>
        </p:nvSpPr>
        <p:spPr bwMode="auto">
          <a:xfrm>
            <a:off x="152400" y="22098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Therefore: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561D31-4C0A-40EE-9D34-5BA8FE9EF50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47202" name="Text Box 2"/>
          <p:cNvSpPr txBox="1">
            <a:spLocks noChangeArrowheads="1"/>
          </p:cNvSpPr>
          <p:nvPr/>
        </p:nvSpPr>
        <p:spPr bwMode="auto">
          <a:xfrm>
            <a:off x="517525" y="406400"/>
            <a:ext cx="567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Language of Turing Machines</a:t>
            </a:r>
          </a:p>
        </p:txBody>
      </p:sp>
      <p:sp>
        <p:nvSpPr>
          <p:cNvPr id="947203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5016500" cy="4084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L = {</a:t>
            </a:r>
            <a:r>
              <a:rPr lang="en-US"/>
              <a:t> </a:t>
            </a:r>
            <a:r>
              <a:rPr lang="en-US">
                <a:solidFill>
                  <a:srgbClr val="009900"/>
                </a:solidFill>
              </a:rPr>
              <a:t>010100101,</a:t>
            </a:r>
          </a:p>
          <a:p>
            <a:endParaRPr lang="en-US">
              <a:solidFill>
                <a:srgbClr val="009900"/>
              </a:solidFill>
            </a:endParaRPr>
          </a:p>
          <a:p>
            <a:r>
              <a:rPr lang="en-US"/>
              <a:t>        </a:t>
            </a:r>
            <a:r>
              <a:rPr lang="en-US">
                <a:solidFill>
                  <a:srgbClr val="009900"/>
                </a:solidFill>
              </a:rPr>
              <a:t>00100100101111,</a:t>
            </a:r>
          </a:p>
          <a:p>
            <a:endParaRPr lang="en-US">
              <a:solidFill>
                <a:schemeClr val="tx2"/>
              </a:solidFill>
            </a:endParaRPr>
          </a:p>
          <a:p>
            <a:r>
              <a:rPr lang="en-US"/>
              <a:t>        </a:t>
            </a:r>
            <a:r>
              <a:rPr lang="en-US">
                <a:solidFill>
                  <a:srgbClr val="009900"/>
                </a:solidFill>
              </a:rPr>
              <a:t>111010011110010101,</a:t>
            </a:r>
          </a:p>
          <a:p>
            <a:r>
              <a:rPr lang="en-US"/>
              <a:t>       </a:t>
            </a:r>
          </a:p>
          <a:p>
            <a:r>
              <a:rPr lang="en-US">
                <a:solidFill>
                  <a:srgbClr val="009900"/>
                </a:solidFill>
              </a:rPr>
              <a:t>        ……</a:t>
            </a:r>
            <a:r>
              <a:rPr lang="en-US"/>
              <a:t> </a:t>
            </a:r>
            <a:r>
              <a:rPr lang="en-US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947204" name="Text Box 4"/>
          <p:cNvSpPr txBox="1">
            <a:spLocks noChangeArrowheads="1"/>
          </p:cNvSpPr>
          <p:nvPr/>
        </p:nvSpPr>
        <p:spPr bwMode="auto">
          <a:xfrm>
            <a:off x="5105400" y="1905000"/>
            <a:ext cx="3695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(Turing Machine 1)</a:t>
            </a:r>
          </a:p>
        </p:txBody>
      </p:sp>
      <p:sp>
        <p:nvSpPr>
          <p:cNvPr id="947205" name="Text Box 5"/>
          <p:cNvSpPr txBox="1">
            <a:spLocks noChangeArrowheads="1"/>
          </p:cNvSpPr>
          <p:nvPr/>
        </p:nvSpPr>
        <p:spPr bwMode="auto">
          <a:xfrm>
            <a:off x="5181600" y="3048000"/>
            <a:ext cx="376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(Turing Machine 2)</a:t>
            </a:r>
          </a:p>
        </p:txBody>
      </p:sp>
      <p:sp>
        <p:nvSpPr>
          <p:cNvPr id="947207" name="Text Box 7"/>
          <p:cNvSpPr txBox="1">
            <a:spLocks noChangeArrowheads="1"/>
          </p:cNvSpPr>
          <p:nvPr/>
        </p:nvSpPr>
        <p:spPr bwMode="auto">
          <a:xfrm>
            <a:off x="6842125" y="4216400"/>
            <a:ext cx="733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……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Countable Sets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2ED07F-E0CD-45A8-9B0A-32E30944E47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905218" name="Text Box 2"/>
          <p:cNvSpPr txBox="1">
            <a:spLocks noChangeArrowheads="1"/>
          </p:cNvSpPr>
          <p:nvPr/>
        </p:nvSpPr>
        <p:spPr bwMode="auto">
          <a:xfrm>
            <a:off x="228600" y="990600"/>
            <a:ext cx="4787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Infinite sets are either:</a:t>
            </a:r>
          </a:p>
        </p:txBody>
      </p:sp>
      <p:sp>
        <p:nvSpPr>
          <p:cNvPr id="905219" name="Text Box 3"/>
          <p:cNvSpPr txBox="1">
            <a:spLocks noChangeArrowheads="1"/>
          </p:cNvSpPr>
          <p:nvPr/>
        </p:nvSpPr>
        <p:spPr bwMode="auto">
          <a:xfrm>
            <a:off x="5715000" y="1066800"/>
            <a:ext cx="2641600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 Countable</a:t>
            </a:r>
          </a:p>
          <a:p>
            <a:pPr>
              <a:buFontTx/>
              <a:buChar char="•"/>
            </a:pPr>
            <a:endParaRPr lang="en-US"/>
          </a:p>
          <a:p>
            <a:r>
              <a:rPr lang="en-US">
                <a:solidFill>
                  <a:srgbClr val="FF00FF"/>
                </a:solidFill>
              </a:rPr>
              <a:t>        </a:t>
            </a:r>
            <a:r>
              <a:rPr lang="en-US"/>
              <a:t>or</a:t>
            </a:r>
          </a:p>
          <a:p>
            <a:pPr>
              <a:buFontTx/>
              <a:buChar char="•"/>
            </a:pPr>
            <a:endParaRPr lang="en-US"/>
          </a:p>
          <a:p>
            <a:r>
              <a:rPr lang="en-US">
                <a:solidFill>
                  <a:srgbClr val="FF0000"/>
                </a:solidFill>
              </a:rPr>
              <a:t> Uncountable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590217-74E6-48C9-ABFA-DB7FB5842750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07266" name="Text Box 2"/>
          <p:cNvSpPr txBox="1">
            <a:spLocks noChangeArrowheads="1"/>
          </p:cNvSpPr>
          <p:nvPr/>
        </p:nvSpPr>
        <p:spPr bwMode="auto">
          <a:xfrm>
            <a:off x="517525" y="558800"/>
            <a:ext cx="2898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Countable set:</a:t>
            </a:r>
          </a:p>
        </p:txBody>
      </p:sp>
      <p:sp>
        <p:nvSpPr>
          <p:cNvPr id="907267" name="Text Box 3"/>
          <p:cNvSpPr txBox="1">
            <a:spLocks noChangeArrowheads="1"/>
          </p:cNvSpPr>
          <p:nvPr/>
        </p:nvSpPr>
        <p:spPr bwMode="auto">
          <a:xfrm>
            <a:off x="1219200" y="3505200"/>
            <a:ext cx="7162800" cy="1557349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sz="2800" dirty="0"/>
              <a:t>There is a one to one correspondence</a:t>
            </a:r>
          </a:p>
          <a:p>
            <a:r>
              <a:rPr lang="en-US" sz="2800" dirty="0">
                <a:solidFill>
                  <a:srgbClr val="FF00FF"/>
                </a:solidFill>
              </a:rPr>
              <a:t>Between</a:t>
            </a:r>
            <a:r>
              <a:rPr lang="en-US" sz="2800" dirty="0"/>
              <a:t> elements of the set </a:t>
            </a:r>
            <a:r>
              <a:rPr lang="en-US" sz="2800" dirty="0">
                <a:solidFill>
                  <a:srgbClr val="FF00FF"/>
                </a:solidFill>
              </a:rPr>
              <a:t>and</a:t>
            </a:r>
            <a:r>
              <a:rPr lang="en-US" sz="2800" dirty="0"/>
              <a:t> </a:t>
            </a:r>
          </a:p>
          <a:p>
            <a:r>
              <a:rPr lang="en-US" sz="2800" dirty="0"/>
              <a:t>Natural numbers</a:t>
            </a:r>
          </a:p>
        </p:txBody>
      </p:sp>
      <p:sp>
        <p:nvSpPr>
          <p:cNvPr id="907268" name="Text Box 4"/>
          <p:cNvSpPr txBox="1">
            <a:spLocks noChangeArrowheads="1"/>
          </p:cNvSpPr>
          <p:nvPr/>
        </p:nvSpPr>
        <p:spPr bwMode="auto">
          <a:xfrm>
            <a:off x="1127125" y="1397000"/>
            <a:ext cx="2824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finite set</a:t>
            </a:r>
          </a:p>
        </p:txBody>
      </p:sp>
      <p:sp>
        <p:nvSpPr>
          <p:cNvPr id="907269" name="Text Box 5"/>
          <p:cNvSpPr txBox="1">
            <a:spLocks noChangeArrowheads="1"/>
          </p:cNvSpPr>
          <p:nvPr/>
        </p:nvSpPr>
        <p:spPr bwMode="auto">
          <a:xfrm>
            <a:off x="1066800" y="2667000"/>
            <a:ext cx="5241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</a:t>
            </a:r>
            <a:r>
              <a:rPr lang="en-US" i="1"/>
              <a:t>Countably infinite</a:t>
            </a:r>
            <a:r>
              <a:rPr lang="en-US"/>
              <a:t> set:</a:t>
            </a:r>
          </a:p>
        </p:txBody>
      </p:sp>
      <p:sp>
        <p:nvSpPr>
          <p:cNvPr id="907270" name="Text Box 6"/>
          <p:cNvSpPr txBox="1">
            <a:spLocks noChangeArrowheads="1"/>
          </p:cNvSpPr>
          <p:nvPr/>
        </p:nvSpPr>
        <p:spPr bwMode="auto">
          <a:xfrm>
            <a:off x="1905000" y="198120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4BAB97-6E2C-4D00-855B-AEFDE811B87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08290" name="Text Box 2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908291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2889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Even integers:</a:t>
            </a:r>
          </a:p>
        </p:txBody>
      </p:sp>
      <p:graphicFrame>
        <p:nvGraphicFramePr>
          <p:cNvPr id="908292" name="Object 4"/>
          <p:cNvGraphicFramePr>
            <a:graphicFrameLocks noChangeAspect="1"/>
          </p:cNvGraphicFramePr>
          <p:nvPr/>
        </p:nvGraphicFramePr>
        <p:xfrm>
          <a:off x="4330700" y="2032000"/>
          <a:ext cx="2946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09" name="Equation" r:id="rId3" imgW="2946240" imgH="533160" progId="Equation.3">
                  <p:embed/>
                </p:oleObj>
              </mc:Choice>
              <mc:Fallback>
                <p:oleObj name="Equation" r:id="rId3" imgW="2946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032000"/>
                        <a:ext cx="2946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3" name="Text Box 5"/>
          <p:cNvSpPr txBox="1">
            <a:spLocks noChangeArrowheads="1"/>
          </p:cNvSpPr>
          <p:nvPr/>
        </p:nvSpPr>
        <p:spPr bwMode="auto">
          <a:xfrm>
            <a:off x="2514600" y="0"/>
            <a:ext cx="48688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set of even integers</a:t>
            </a:r>
          </a:p>
          <a:p>
            <a:r>
              <a:rPr lang="en-US">
                <a:solidFill>
                  <a:srgbClr val="FF0000"/>
                </a:solidFill>
              </a:rPr>
              <a:t>is countable</a:t>
            </a:r>
          </a:p>
        </p:txBody>
      </p:sp>
      <p:sp>
        <p:nvSpPr>
          <p:cNvPr id="908294" name="Text Box 6"/>
          <p:cNvSpPr txBox="1">
            <a:spLocks noChangeArrowheads="1"/>
          </p:cNvSpPr>
          <p:nvPr/>
        </p:nvSpPr>
        <p:spPr bwMode="auto">
          <a:xfrm>
            <a:off x="304800" y="4572000"/>
            <a:ext cx="3467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Positive integers:</a:t>
            </a:r>
          </a:p>
        </p:txBody>
      </p:sp>
      <p:sp>
        <p:nvSpPr>
          <p:cNvPr id="908295" name="Text Box 7"/>
          <p:cNvSpPr txBox="1">
            <a:spLocks noChangeArrowheads="1"/>
          </p:cNvSpPr>
          <p:nvPr/>
        </p:nvSpPr>
        <p:spPr bwMode="auto">
          <a:xfrm>
            <a:off x="533400" y="3200400"/>
            <a:ext cx="332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Correspondence:</a:t>
            </a:r>
          </a:p>
        </p:txBody>
      </p:sp>
      <p:graphicFrame>
        <p:nvGraphicFramePr>
          <p:cNvPr id="908296" name="Object 8"/>
          <p:cNvGraphicFramePr>
            <a:graphicFrameLocks noChangeAspect="1"/>
          </p:cNvGraphicFramePr>
          <p:nvPr/>
        </p:nvGraphicFramePr>
        <p:xfrm>
          <a:off x="4343400" y="4622800"/>
          <a:ext cx="2832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10" name="Equation" r:id="rId5" imgW="2831760" imgH="533160" progId="Equation.3">
                  <p:embed/>
                </p:oleObj>
              </mc:Choice>
              <mc:Fallback>
                <p:oleObj name="Equation" r:id="rId5" imgW="2831760" imgH="5331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22800"/>
                        <a:ext cx="28321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7" name="Line 9"/>
          <p:cNvSpPr>
            <a:spLocks noChangeShapeType="1"/>
          </p:cNvSpPr>
          <p:nvPr/>
        </p:nvSpPr>
        <p:spPr bwMode="auto">
          <a:xfrm>
            <a:off x="4495800" y="2590800"/>
            <a:ext cx="0" cy="1828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8298" name="Line 10"/>
          <p:cNvSpPr>
            <a:spLocks noChangeShapeType="1"/>
          </p:cNvSpPr>
          <p:nvPr/>
        </p:nvSpPr>
        <p:spPr bwMode="auto">
          <a:xfrm>
            <a:off x="5105400" y="2590800"/>
            <a:ext cx="0" cy="1828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8299" name="Line 11"/>
          <p:cNvSpPr>
            <a:spLocks noChangeShapeType="1"/>
          </p:cNvSpPr>
          <p:nvPr/>
        </p:nvSpPr>
        <p:spPr bwMode="auto">
          <a:xfrm>
            <a:off x="5715000" y="2590800"/>
            <a:ext cx="0" cy="1828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8300" name="Line 12"/>
          <p:cNvSpPr>
            <a:spLocks noChangeShapeType="1"/>
          </p:cNvSpPr>
          <p:nvPr/>
        </p:nvSpPr>
        <p:spPr bwMode="auto">
          <a:xfrm>
            <a:off x="6324600" y="2590800"/>
            <a:ext cx="0" cy="1828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302" name="Object 14"/>
          <p:cNvGraphicFramePr>
            <a:graphicFrameLocks noChangeAspect="1"/>
          </p:cNvGraphicFramePr>
          <p:nvPr/>
        </p:nvGraphicFramePr>
        <p:xfrm>
          <a:off x="3200400" y="6019800"/>
          <a:ext cx="544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11" name="Equation" r:id="rId7" imgW="545760" imgH="419040" progId="Equation.3">
                  <p:embed/>
                </p:oleObj>
              </mc:Choice>
              <mc:Fallback>
                <p:oleObj name="Equation" r:id="rId7" imgW="545760" imgH="4190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6019800"/>
                        <a:ext cx="5445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303" name="Text Box 15"/>
          <p:cNvSpPr txBox="1">
            <a:spLocks noChangeArrowheads="1"/>
          </p:cNvSpPr>
          <p:nvPr/>
        </p:nvSpPr>
        <p:spPr bwMode="auto">
          <a:xfrm>
            <a:off x="3962400" y="5943600"/>
            <a:ext cx="3028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corresponds to</a:t>
            </a:r>
          </a:p>
        </p:txBody>
      </p:sp>
      <p:graphicFrame>
        <p:nvGraphicFramePr>
          <p:cNvPr id="908304" name="Object 16"/>
          <p:cNvGraphicFramePr>
            <a:graphicFrameLocks noChangeAspect="1"/>
          </p:cNvGraphicFramePr>
          <p:nvPr/>
        </p:nvGraphicFramePr>
        <p:xfrm>
          <a:off x="7239000" y="6019800"/>
          <a:ext cx="90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12" name="Equation" r:id="rId9" imgW="901440" imgH="419040" progId="Equation.3">
                  <p:embed/>
                </p:oleObj>
              </mc:Choice>
              <mc:Fallback>
                <p:oleObj name="Equation" r:id="rId9" imgW="901440" imgH="4190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6019800"/>
                        <a:ext cx="901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E32C45-BFC0-4333-A554-7C783032549A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09314" name="Text Box 2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909315" name="Text Box 3"/>
          <p:cNvSpPr txBox="1">
            <a:spLocks noChangeArrowheads="1"/>
          </p:cNvSpPr>
          <p:nvPr/>
        </p:nvSpPr>
        <p:spPr bwMode="auto">
          <a:xfrm>
            <a:off x="2514600" y="0"/>
            <a:ext cx="54927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set of rational numbers</a:t>
            </a:r>
          </a:p>
          <a:p>
            <a:r>
              <a:rPr lang="en-US">
                <a:solidFill>
                  <a:srgbClr val="FF0000"/>
                </a:solidFill>
              </a:rPr>
              <a:t>is countable</a:t>
            </a: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838200" y="3048000"/>
            <a:ext cx="354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Rational numbers:</a:t>
            </a:r>
          </a:p>
        </p:txBody>
      </p:sp>
      <p:graphicFrame>
        <p:nvGraphicFramePr>
          <p:cNvPr id="909319" name="Object 7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23" name="Equation" r:id="rId3" imgW="228600" imgH="520560" progId="Equation.3">
                  <p:embed/>
                </p:oleObj>
              </mc:Choice>
              <mc:Fallback>
                <p:oleObj name="Equation" r:id="rId3" imgW="22860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0" name="Object 8"/>
          <p:cNvGraphicFramePr>
            <a:graphicFrameLocks noChangeAspect="1"/>
          </p:cNvGraphicFramePr>
          <p:nvPr/>
        </p:nvGraphicFramePr>
        <p:xfrm>
          <a:off x="4800600" y="2743200"/>
          <a:ext cx="2552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24" name="Equation" r:id="rId5" imgW="2552400" imgH="1143000" progId="Equation.3">
                  <p:embed/>
                </p:oleObj>
              </mc:Choice>
              <mc:Fallback>
                <p:oleObj name="Equation" r:id="rId5" imgW="2552400" imgH="11430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743200"/>
                        <a:ext cx="2552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B5AA8E-08E6-4B25-93D3-81F624EEB8BD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10338" name="Text Box 2"/>
          <p:cNvSpPr txBox="1">
            <a:spLocks noChangeArrowheads="1"/>
          </p:cNvSpPr>
          <p:nvPr/>
        </p:nvSpPr>
        <p:spPr bwMode="auto">
          <a:xfrm>
            <a:off x="3048000" y="0"/>
            <a:ext cx="2414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Naïve Proof</a:t>
            </a:r>
          </a:p>
        </p:txBody>
      </p:sp>
      <p:sp>
        <p:nvSpPr>
          <p:cNvPr id="910339" name="Text Box 3"/>
          <p:cNvSpPr txBox="1">
            <a:spLocks noChangeArrowheads="1"/>
          </p:cNvSpPr>
          <p:nvPr/>
        </p:nvSpPr>
        <p:spPr bwMode="auto">
          <a:xfrm>
            <a:off x="1295400" y="914400"/>
            <a:ext cx="354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Rational numbers:</a:t>
            </a:r>
          </a:p>
        </p:txBody>
      </p:sp>
      <p:graphicFrame>
        <p:nvGraphicFramePr>
          <p:cNvPr id="959488" name="Object 1024"/>
          <p:cNvGraphicFramePr>
            <a:graphicFrameLocks noChangeAspect="1"/>
          </p:cNvGraphicFramePr>
          <p:nvPr/>
        </p:nvGraphicFramePr>
        <p:xfrm>
          <a:off x="4914900" y="1035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496" name="Equation" r:id="rId3" imgW="228600" imgH="520560" progId="Equation.3">
                  <p:embed/>
                </p:oleObj>
              </mc:Choice>
              <mc:Fallback>
                <p:oleObj name="Equation" r:id="rId3" imgW="228600" imgH="52056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1035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9489" name="Object 1025"/>
          <p:cNvGraphicFramePr>
            <a:graphicFrameLocks noChangeAspect="1"/>
          </p:cNvGraphicFramePr>
          <p:nvPr/>
        </p:nvGraphicFramePr>
        <p:xfrm>
          <a:off x="5365750" y="558800"/>
          <a:ext cx="2273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497" name="Equation" r:id="rId5" imgW="2273040" imgH="1143000" progId="Equation.3">
                  <p:embed/>
                </p:oleObj>
              </mc:Choice>
              <mc:Fallback>
                <p:oleObj name="Equation" r:id="rId5" imgW="2273040" imgH="114300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558800"/>
                        <a:ext cx="22733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2" name="Text Box 6"/>
          <p:cNvSpPr txBox="1">
            <a:spLocks noChangeArrowheads="1"/>
          </p:cNvSpPr>
          <p:nvPr/>
        </p:nvSpPr>
        <p:spPr bwMode="auto">
          <a:xfrm>
            <a:off x="1295400" y="3352800"/>
            <a:ext cx="3467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Positive integers:</a:t>
            </a:r>
          </a:p>
        </p:txBody>
      </p:sp>
      <p:sp>
        <p:nvSpPr>
          <p:cNvPr id="910343" name="Text Box 7"/>
          <p:cNvSpPr txBox="1">
            <a:spLocks noChangeArrowheads="1"/>
          </p:cNvSpPr>
          <p:nvPr/>
        </p:nvSpPr>
        <p:spPr bwMode="auto">
          <a:xfrm>
            <a:off x="1355725" y="2159000"/>
            <a:ext cx="332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Correspondence:</a:t>
            </a:r>
          </a:p>
        </p:txBody>
      </p:sp>
      <p:graphicFrame>
        <p:nvGraphicFramePr>
          <p:cNvPr id="959490" name="Object 1026"/>
          <p:cNvGraphicFramePr>
            <a:graphicFrameLocks noChangeAspect="1"/>
          </p:cNvGraphicFramePr>
          <p:nvPr/>
        </p:nvGraphicFramePr>
        <p:xfrm>
          <a:off x="5365750" y="3403600"/>
          <a:ext cx="2209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498" name="Equation" r:id="rId7" imgW="2209680" imgH="533160" progId="Equation.3">
                  <p:embed/>
                </p:oleObj>
              </mc:Choice>
              <mc:Fallback>
                <p:oleObj name="Equation" r:id="rId7" imgW="2209680" imgH="53316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3403600"/>
                        <a:ext cx="22098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5" name="Line 9"/>
          <p:cNvSpPr>
            <a:spLocks noChangeShapeType="1"/>
          </p:cNvSpPr>
          <p:nvPr/>
        </p:nvSpPr>
        <p:spPr bwMode="auto">
          <a:xfrm>
            <a:off x="5486400" y="1828800"/>
            <a:ext cx="0" cy="1295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0347" name="Line 11"/>
          <p:cNvSpPr>
            <a:spLocks noChangeShapeType="1"/>
          </p:cNvSpPr>
          <p:nvPr/>
        </p:nvSpPr>
        <p:spPr bwMode="auto">
          <a:xfrm>
            <a:off x="6096000" y="1828800"/>
            <a:ext cx="0" cy="1295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0348" name="Line 12"/>
          <p:cNvSpPr>
            <a:spLocks noChangeShapeType="1"/>
          </p:cNvSpPr>
          <p:nvPr/>
        </p:nvSpPr>
        <p:spPr bwMode="auto">
          <a:xfrm>
            <a:off x="6781800" y="1828800"/>
            <a:ext cx="0" cy="1295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910353" name="Group 17"/>
          <p:cNvGrpSpPr>
            <a:grpSpLocks/>
          </p:cNvGrpSpPr>
          <p:nvPr/>
        </p:nvGrpSpPr>
        <p:grpSpPr bwMode="auto">
          <a:xfrm>
            <a:off x="0" y="4648200"/>
            <a:ext cx="8648700" cy="1785938"/>
            <a:chOff x="0" y="2928"/>
            <a:chExt cx="5448" cy="1125"/>
          </a:xfrm>
        </p:grpSpPr>
        <p:sp>
          <p:nvSpPr>
            <p:cNvPr id="910349" name="Text Box 13"/>
            <p:cNvSpPr txBox="1">
              <a:spLocks noChangeArrowheads="1"/>
            </p:cNvSpPr>
            <p:nvPr/>
          </p:nvSpPr>
          <p:spPr bwMode="auto">
            <a:xfrm>
              <a:off x="0" y="2928"/>
              <a:ext cx="172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Doesn’t work:</a:t>
              </a:r>
            </a:p>
          </p:txBody>
        </p:sp>
        <p:sp>
          <p:nvSpPr>
            <p:cNvPr id="910350" name="Text Box 14"/>
            <p:cNvSpPr txBox="1">
              <a:spLocks noChangeArrowheads="1"/>
            </p:cNvSpPr>
            <p:nvPr/>
          </p:nvSpPr>
          <p:spPr bwMode="auto">
            <a:xfrm>
              <a:off x="336" y="3312"/>
              <a:ext cx="3373" cy="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/>
                <a:t>we will never count </a:t>
              </a:r>
            </a:p>
            <a:p>
              <a:r>
                <a:rPr lang="en-US" dirty="0"/>
                <a:t>numbers with numerator 2:</a:t>
              </a:r>
            </a:p>
          </p:txBody>
        </p:sp>
        <p:graphicFrame>
          <p:nvGraphicFramePr>
            <p:cNvPr id="959491" name="Object 1027"/>
            <p:cNvGraphicFramePr>
              <a:graphicFrameLocks noChangeAspect="1"/>
            </p:cNvGraphicFramePr>
            <p:nvPr/>
          </p:nvGraphicFramePr>
          <p:xfrm>
            <a:off x="3936" y="3312"/>
            <a:ext cx="1512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9499" name="Equation" r:id="rId9" imgW="2400120" imgH="1143000" progId="Equation.3">
                    <p:embed/>
                  </p:oleObj>
                </mc:Choice>
                <mc:Fallback>
                  <p:oleObj name="Equation" r:id="rId9" imgW="2400120" imgH="1143000" progId="Equation.3">
                    <p:embed/>
                    <p:pic>
                      <p:nvPicPr>
                        <p:cNvPr id="0" name="Picture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312"/>
                          <a:ext cx="1512" cy="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0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0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524367-96C8-4897-A20E-8D16071974A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911362" name="Text Box 2"/>
          <p:cNvSpPr txBox="1">
            <a:spLocks noChangeArrowheads="1"/>
          </p:cNvSpPr>
          <p:nvPr/>
        </p:nvSpPr>
        <p:spPr bwMode="auto">
          <a:xfrm>
            <a:off x="2667000" y="0"/>
            <a:ext cx="3379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Better Approach</a:t>
            </a:r>
          </a:p>
        </p:txBody>
      </p:sp>
      <p:graphicFrame>
        <p:nvGraphicFramePr>
          <p:cNvPr id="960512" name="Object 1024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0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3" name="Object 1025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1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4" name="Object 1026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2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5" name="Object 1027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3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6" name="Object 1028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4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7" name="Object 1029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5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8" name="Object 1030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6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9" name="Object 1031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7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0" name="Object 1032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8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1" name="Object 1033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49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2" name="Object 1034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50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3" name="Object 1035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51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4" name="Object 1036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52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25" name="Object 1037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53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91605A-EF62-4049-91C9-C2D02BCA9350}" type="slidenum">
              <a:rPr lang="en-US" altLang="en-US"/>
              <a:pPr/>
              <a:t>21</a:t>
            </a:fld>
            <a:endParaRPr lang="en-US" altLang="en-US"/>
          </a:p>
        </p:txBody>
      </p:sp>
      <p:graphicFrame>
        <p:nvGraphicFramePr>
          <p:cNvPr id="961536" name="Object 2048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4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37" name="Object 2049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5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38" name="Object 2050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6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39" name="Object 2051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7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0" name="Object 2052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8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1" name="Object 2053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69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2" name="Object 2054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0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3" name="Object 2055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1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4" name="Object 2056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2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5" name="Object 2057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3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6" name="Object 2058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4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7" name="Object 2059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5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8" name="Object 2060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6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9" name="Object 2061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577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2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400" name="Line 16"/>
          <p:cNvSpPr>
            <a:spLocks noChangeShapeType="1"/>
          </p:cNvSpPr>
          <p:nvPr/>
        </p:nvSpPr>
        <p:spPr bwMode="auto">
          <a:xfrm>
            <a:off x="2133600" y="1295400"/>
            <a:ext cx="990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F17DEB-79DE-4621-AF02-9CC7DB7030A7}" type="slidenum">
              <a:rPr lang="en-US" altLang="en-US"/>
              <a:pPr/>
              <a:t>22</a:t>
            </a:fld>
            <a:endParaRPr lang="en-US" altLang="en-US"/>
          </a:p>
        </p:txBody>
      </p:sp>
      <p:graphicFrame>
        <p:nvGraphicFramePr>
          <p:cNvPr id="962560" name="Object 1024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8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1" name="Object 1025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9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2" name="Object 1026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0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3" name="Object 1027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1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4" name="Object 1028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2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5" name="Object 1029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3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6" name="Object 1030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4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7" name="Object 1031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5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8" name="Object 1032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6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9" name="Object 1033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7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70" name="Object 1034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8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71" name="Object 1035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9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72" name="Object 1036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00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73" name="Object 1037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01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38" name="Line 30"/>
          <p:cNvSpPr>
            <a:spLocks noChangeShapeType="1"/>
          </p:cNvSpPr>
          <p:nvPr/>
        </p:nvSpPr>
        <p:spPr bwMode="auto">
          <a:xfrm>
            <a:off x="2133600" y="1295400"/>
            <a:ext cx="990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3439" name="Line 31"/>
          <p:cNvSpPr>
            <a:spLocks noChangeShapeType="1"/>
          </p:cNvSpPr>
          <p:nvPr/>
        </p:nvSpPr>
        <p:spPr bwMode="auto">
          <a:xfrm flipH="1">
            <a:off x="2057400" y="1600200"/>
            <a:ext cx="1143000" cy="1066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063186-0CA8-4D68-A716-77C0624D2CC0}" type="slidenum">
              <a:rPr lang="en-US" altLang="en-US"/>
              <a:pPr/>
              <a:t>23</a:t>
            </a:fld>
            <a:endParaRPr lang="en-US" altLang="en-US"/>
          </a:p>
        </p:txBody>
      </p:sp>
      <p:graphicFrame>
        <p:nvGraphicFramePr>
          <p:cNvPr id="963584" name="Object 1024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2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5" name="Object 1025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3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6" name="Object 1026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4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7" name="Object 1027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5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8" name="Object 1028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6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9" name="Object 1029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7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0" name="Object 1030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8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1" name="Object 1031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19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2" name="Object 1032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0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3" name="Object 1033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1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4" name="Object 1034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2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5" name="Object 1035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3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6" name="Object 1036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4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7" name="Object 1037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5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48" name="Line 16"/>
          <p:cNvSpPr>
            <a:spLocks noChangeShapeType="1"/>
          </p:cNvSpPr>
          <p:nvPr/>
        </p:nvSpPr>
        <p:spPr bwMode="auto">
          <a:xfrm>
            <a:off x="2133600" y="1295400"/>
            <a:ext cx="990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4449" name="Line 17"/>
          <p:cNvSpPr>
            <a:spLocks noChangeShapeType="1"/>
          </p:cNvSpPr>
          <p:nvPr/>
        </p:nvSpPr>
        <p:spPr bwMode="auto">
          <a:xfrm flipH="1">
            <a:off x="2057400" y="1600200"/>
            <a:ext cx="1143000" cy="1066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4450" name="Line 18"/>
          <p:cNvSpPr>
            <a:spLocks noChangeShapeType="1"/>
          </p:cNvSpPr>
          <p:nvPr/>
        </p:nvSpPr>
        <p:spPr bwMode="auto">
          <a:xfrm flipV="1">
            <a:off x="2057400" y="1371600"/>
            <a:ext cx="26670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AD3A8A-5BAF-4B70-AE9A-E6F868EF5194}" type="slidenum">
              <a:rPr lang="en-US" altLang="en-US"/>
              <a:pPr/>
              <a:t>24</a:t>
            </a:fld>
            <a:endParaRPr lang="en-US" altLang="en-US"/>
          </a:p>
        </p:txBody>
      </p:sp>
      <p:graphicFrame>
        <p:nvGraphicFramePr>
          <p:cNvPr id="964608" name="Object 0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36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09" name="Object 1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37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0" name="Object 2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38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1" name="Object 3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39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2" name="Object 4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0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3" name="Object 5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1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4" name="Object 6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2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5" name="Object 7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3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6" name="Object 8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4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7" name="Object 9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5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8" name="Object 10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6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9" name="Object 11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7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0" name="Object 12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8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1" name="Object 13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49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72" name="Line 16"/>
          <p:cNvSpPr>
            <a:spLocks noChangeShapeType="1"/>
          </p:cNvSpPr>
          <p:nvPr/>
        </p:nvSpPr>
        <p:spPr bwMode="auto">
          <a:xfrm>
            <a:off x="2133600" y="1295400"/>
            <a:ext cx="990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5473" name="Line 17"/>
          <p:cNvSpPr>
            <a:spLocks noChangeShapeType="1"/>
          </p:cNvSpPr>
          <p:nvPr/>
        </p:nvSpPr>
        <p:spPr bwMode="auto">
          <a:xfrm flipH="1">
            <a:off x="2057400" y="1600200"/>
            <a:ext cx="1143000" cy="1066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5474" name="Line 18"/>
          <p:cNvSpPr>
            <a:spLocks noChangeShapeType="1"/>
          </p:cNvSpPr>
          <p:nvPr/>
        </p:nvSpPr>
        <p:spPr bwMode="auto">
          <a:xfrm flipV="1">
            <a:off x="2057400" y="1371600"/>
            <a:ext cx="26670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5475" name="Line 19"/>
          <p:cNvSpPr>
            <a:spLocks noChangeShapeType="1"/>
          </p:cNvSpPr>
          <p:nvPr/>
        </p:nvSpPr>
        <p:spPr bwMode="auto">
          <a:xfrm flipH="1">
            <a:off x="3657600" y="1600200"/>
            <a:ext cx="1143000" cy="1219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C69EF2-3355-492A-ABFB-8598651A7F90}" type="slidenum">
              <a:rPr lang="en-US" altLang="en-US"/>
              <a:pPr/>
              <a:t>25</a:t>
            </a:fld>
            <a:endParaRPr lang="en-US" altLang="en-US"/>
          </a:p>
        </p:txBody>
      </p:sp>
      <p:graphicFrame>
        <p:nvGraphicFramePr>
          <p:cNvPr id="965632" name="Object 0"/>
          <p:cNvGraphicFramePr>
            <a:graphicFrameLocks noChangeAspect="1"/>
          </p:cNvGraphicFramePr>
          <p:nvPr/>
        </p:nvGraphicFramePr>
        <p:xfrm>
          <a:off x="1720850" y="762000"/>
          <a:ext cx="19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0" name="Equation" r:id="rId3" imgW="190440" imgH="1041120" progId="Equation.3">
                  <p:embed/>
                </p:oleObj>
              </mc:Choice>
              <mc:Fallback>
                <p:oleObj name="Equation" r:id="rId3" imgW="190440" imgH="10411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0"/>
                        <a:ext cx="1905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3" name="Object 1"/>
          <p:cNvGraphicFramePr>
            <a:graphicFrameLocks noChangeAspect="1"/>
          </p:cNvGraphicFramePr>
          <p:nvPr/>
        </p:nvGraphicFramePr>
        <p:xfrm>
          <a:off x="33083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1" name="Equation" r:id="rId5" imgW="279360" imgH="1041120" progId="Equation.3">
                  <p:embed/>
                </p:oleObj>
              </mc:Choice>
              <mc:Fallback>
                <p:oleObj name="Equation" r:id="rId5" imgW="279360" imgH="10411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4" name="Object 2"/>
          <p:cNvGraphicFramePr>
            <a:graphicFrameLocks noChangeAspect="1"/>
          </p:cNvGraphicFramePr>
          <p:nvPr/>
        </p:nvGraphicFramePr>
        <p:xfrm>
          <a:off x="4922838" y="7620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2" name="Equation" r:id="rId7" imgW="253800" imgH="1041120" progId="Equation.3">
                  <p:embed/>
                </p:oleObj>
              </mc:Choice>
              <mc:Fallback>
                <p:oleObj name="Equation" r:id="rId7" imgW="253800" imgH="1041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7620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5" name="Object 3"/>
          <p:cNvGraphicFramePr>
            <a:graphicFrameLocks noChangeAspect="1"/>
          </p:cNvGraphicFramePr>
          <p:nvPr/>
        </p:nvGraphicFramePr>
        <p:xfrm>
          <a:off x="6508750" y="7620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3" name="Equation" r:id="rId9" imgW="279360" imgH="1041120" progId="Equation.3">
                  <p:embed/>
                </p:oleObj>
              </mc:Choice>
              <mc:Fallback>
                <p:oleObj name="Equation" r:id="rId9" imgW="279360" imgH="1041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7620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6" name="Object 4"/>
          <p:cNvGraphicFramePr>
            <a:graphicFrameLocks noChangeAspect="1"/>
          </p:cNvGraphicFramePr>
          <p:nvPr/>
        </p:nvGraphicFramePr>
        <p:xfrm>
          <a:off x="167640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4" name="Equation" r:id="rId11" imgW="279360" imgH="1041120" progId="Equation.3">
                  <p:embed/>
                </p:oleObj>
              </mc:Choice>
              <mc:Fallback>
                <p:oleObj name="Equation" r:id="rId11" imgW="279360" imgH="1041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7" name="Object 5"/>
          <p:cNvGraphicFramePr>
            <a:graphicFrameLocks noChangeAspect="1"/>
          </p:cNvGraphicFramePr>
          <p:nvPr/>
        </p:nvGraphicFramePr>
        <p:xfrm>
          <a:off x="33083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5" name="Equation" r:id="rId13" imgW="279360" imgH="1041120" progId="Equation.3">
                  <p:embed/>
                </p:oleObj>
              </mc:Choice>
              <mc:Fallback>
                <p:oleObj name="Equation" r:id="rId13" imgW="279360" imgH="1041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8" name="Object 6"/>
          <p:cNvGraphicFramePr>
            <a:graphicFrameLocks noChangeAspect="1"/>
          </p:cNvGraphicFramePr>
          <p:nvPr/>
        </p:nvGraphicFramePr>
        <p:xfrm>
          <a:off x="4908550" y="23622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6" name="Equation" r:id="rId15" imgW="279360" imgH="1041120" progId="Equation.3">
                  <p:embed/>
                </p:oleObj>
              </mc:Choice>
              <mc:Fallback>
                <p:oleObj name="Equation" r:id="rId15" imgW="279360" imgH="1041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3622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9" name="Object 7"/>
          <p:cNvGraphicFramePr>
            <a:graphicFrameLocks noChangeAspect="1"/>
          </p:cNvGraphicFramePr>
          <p:nvPr/>
        </p:nvGraphicFramePr>
        <p:xfrm>
          <a:off x="1690688" y="4114800"/>
          <a:ext cx="2524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7" name="Equation" r:id="rId17" imgW="253800" imgH="1041120" progId="Equation.3">
                  <p:embed/>
                </p:oleObj>
              </mc:Choice>
              <mc:Fallback>
                <p:oleObj name="Equation" r:id="rId17" imgW="253800" imgH="1041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14800"/>
                        <a:ext cx="252412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0" name="Object 8"/>
          <p:cNvGraphicFramePr>
            <a:graphicFrameLocks noChangeAspect="1"/>
          </p:cNvGraphicFramePr>
          <p:nvPr/>
        </p:nvGraphicFramePr>
        <p:xfrm>
          <a:off x="3308350" y="41148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8" name="Equation" r:id="rId19" imgW="279360" imgH="1041120" progId="Equation.3">
                  <p:embed/>
                </p:oleObj>
              </mc:Choice>
              <mc:Fallback>
                <p:oleObj name="Equation" r:id="rId19" imgW="279360" imgH="1041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1148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1" name="Object 9"/>
          <p:cNvGraphicFramePr>
            <a:graphicFrameLocks noChangeAspect="1"/>
          </p:cNvGraphicFramePr>
          <p:nvPr/>
        </p:nvGraphicFramePr>
        <p:xfrm>
          <a:off x="1708150" y="5562600"/>
          <a:ext cx="279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9" name="Equation" r:id="rId21" imgW="279360" imgH="1041120" progId="Equation.3">
                  <p:embed/>
                </p:oleObj>
              </mc:Choice>
              <mc:Fallback>
                <p:oleObj name="Equation" r:id="rId21" imgW="279360" imgH="10411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62600"/>
                        <a:ext cx="2794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2" name="Object 10"/>
          <p:cNvGraphicFramePr>
            <a:graphicFrameLocks noChangeAspect="1"/>
          </p:cNvGraphicFramePr>
          <p:nvPr/>
        </p:nvGraphicFramePr>
        <p:xfrm>
          <a:off x="7315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70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3" name="Object 11"/>
          <p:cNvGraphicFramePr>
            <a:graphicFrameLocks noChangeAspect="1"/>
          </p:cNvGraphicFramePr>
          <p:nvPr/>
        </p:nvGraphicFramePr>
        <p:xfrm>
          <a:off x="5715000" y="2895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71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95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4" name="Object 12"/>
          <p:cNvGraphicFramePr>
            <a:graphicFrameLocks noChangeAspect="1"/>
          </p:cNvGraphicFramePr>
          <p:nvPr/>
        </p:nvGraphicFramePr>
        <p:xfrm>
          <a:off x="4191000" y="4648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72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48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5" name="Object 13"/>
          <p:cNvGraphicFramePr>
            <a:graphicFrameLocks noChangeAspect="1"/>
          </p:cNvGraphicFramePr>
          <p:nvPr/>
        </p:nvGraphicFramePr>
        <p:xfrm>
          <a:off x="2667000" y="6096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73" name="Equation" r:id="rId27" imgW="419040" imgH="114120" progId="Equation.3">
                  <p:embed/>
                </p:oleObj>
              </mc:Choice>
              <mc:Fallback>
                <p:oleObj name="Equation" r:id="rId27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96" name="Line 16"/>
          <p:cNvSpPr>
            <a:spLocks noChangeShapeType="1"/>
          </p:cNvSpPr>
          <p:nvPr/>
        </p:nvSpPr>
        <p:spPr bwMode="auto">
          <a:xfrm>
            <a:off x="2133600" y="1295400"/>
            <a:ext cx="990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6497" name="Line 17"/>
          <p:cNvSpPr>
            <a:spLocks noChangeShapeType="1"/>
          </p:cNvSpPr>
          <p:nvPr/>
        </p:nvSpPr>
        <p:spPr bwMode="auto">
          <a:xfrm flipH="1">
            <a:off x="2057400" y="1600200"/>
            <a:ext cx="1143000" cy="1066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6498" name="Line 18"/>
          <p:cNvSpPr>
            <a:spLocks noChangeShapeType="1"/>
          </p:cNvSpPr>
          <p:nvPr/>
        </p:nvSpPr>
        <p:spPr bwMode="auto">
          <a:xfrm flipV="1">
            <a:off x="2057400" y="1371600"/>
            <a:ext cx="26670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6499" name="Line 19"/>
          <p:cNvSpPr>
            <a:spLocks noChangeShapeType="1"/>
          </p:cNvSpPr>
          <p:nvPr/>
        </p:nvSpPr>
        <p:spPr bwMode="auto">
          <a:xfrm flipH="1">
            <a:off x="3657600" y="1600200"/>
            <a:ext cx="1143000" cy="1219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6500" name="Line 20"/>
          <p:cNvSpPr>
            <a:spLocks noChangeShapeType="1"/>
          </p:cNvSpPr>
          <p:nvPr/>
        </p:nvSpPr>
        <p:spPr bwMode="auto">
          <a:xfrm flipH="1">
            <a:off x="2057400" y="3200400"/>
            <a:ext cx="1143000" cy="1219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6501" name="Line 21"/>
          <p:cNvSpPr>
            <a:spLocks noChangeShapeType="1"/>
          </p:cNvSpPr>
          <p:nvPr/>
        </p:nvSpPr>
        <p:spPr bwMode="auto">
          <a:xfrm flipV="1">
            <a:off x="2057400" y="1371600"/>
            <a:ext cx="4343400" cy="3200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6502" name="Line 22"/>
          <p:cNvSpPr>
            <a:spLocks noChangeShapeType="1"/>
          </p:cNvSpPr>
          <p:nvPr/>
        </p:nvSpPr>
        <p:spPr bwMode="auto">
          <a:xfrm flipH="1">
            <a:off x="5334000" y="1600200"/>
            <a:ext cx="1066800" cy="1143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6503" name="Line 23"/>
          <p:cNvSpPr>
            <a:spLocks noChangeShapeType="1"/>
          </p:cNvSpPr>
          <p:nvPr/>
        </p:nvSpPr>
        <p:spPr bwMode="auto">
          <a:xfrm flipH="1">
            <a:off x="3657600" y="3200400"/>
            <a:ext cx="1143000" cy="1295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6504" name="Line 24"/>
          <p:cNvSpPr>
            <a:spLocks noChangeShapeType="1"/>
          </p:cNvSpPr>
          <p:nvPr/>
        </p:nvSpPr>
        <p:spPr bwMode="auto">
          <a:xfrm flipH="1">
            <a:off x="2133600" y="4800600"/>
            <a:ext cx="1066800" cy="1219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89DD15-8ACD-40BB-BC49-61F814E8E35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917506" name="Text Box 2"/>
          <p:cNvSpPr txBox="1">
            <a:spLocks noChangeArrowheads="1"/>
          </p:cNvSpPr>
          <p:nvPr/>
        </p:nvSpPr>
        <p:spPr bwMode="auto">
          <a:xfrm>
            <a:off x="228600" y="1143000"/>
            <a:ext cx="3652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Rational Numbers:</a:t>
            </a:r>
          </a:p>
        </p:txBody>
      </p:sp>
      <p:graphicFrame>
        <p:nvGraphicFramePr>
          <p:cNvPr id="966656" name="Object 1024"/>
          <p:cNvGraphicFramePr>
            <a:graphicFrameLocks noChangeAspect="1"/>
          </p:cNvGraphicFramePr>
          <p:nvPr/>
        </p:nvGraphicFramePr>
        <p:xfrm>
          <a:off x="4419600" y="762000"/>
          <a:ext cx="3822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660" name="Equation" r:id="rId3" imgW="3822480" imgH="1143000" progId="Equation.3">
                  <p:embed/>
                </p:oleObj>
              </mc:Choice>
              <mc:Fallback>
                <p:oleObj name="Equation" r:id="rId3" imgW="3822480" imgH="114300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762000"/>
                        <a:ext cx="3822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08" name="Text Box 4"/>
          <p:cNvSpPr txBox="1">
            <a:spLocks noChangeArrowheads="1"/>
          </p:cNvSpPr>
          <p:nvPr/>
        </p:nvSpPr>
        <p:spPr bwMode="auto">
          <a:xfrm>
            <a:off x="288925" y="2768600"/>
            <a:ext cx="332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Correspondence:</a:t>
            </a:r>
          </a:p>
        </p:txBody>
      </p:sp>
      <p:sp>
        <p:nvSpPr>
          <p:cNvPr id="917510" name="Text Box 6"/>
          <p:cNvSpPr txBox="1">
            <a:spLocks noChangeArrowheads="1"/>
          </p:cNvSpPr>
          <p:nvPr/>
        </p:nvSpPr>
        <p:spPr bwMode="auto">
          <a:xfrm>
            <a:off x="228600" y="4572000"/>
            <a:ext cx="3575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Positive Integers:</a:t>
            </a:r>
          </a:p>
        </p:txBody>
      </p:sp>
      <p:graphicFrame>
        <p:nvGraphicFramePr>
          <p:cNvPr id="966657" name="Object 1025"/>
          <p:cNvGraphicFramePr>
            <a:graphicFrameLocks noChangeAspect="1"/>
          </p:cNvGraphicFramePr>
          <p:nvPr/>
        </p:nvGraphicFramePr>
        <p:xfrm>
          <a:off x="4419600" y="4572000"/>
          <a:ext cx="4013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661" name="Equation" r:id="rId5" imgW="4012920" imgH="533160" progId="Equation.3">
                  <p:embed/>
                </p:oleObj>
              </mc:Choice>
              <mc:Fallback>
                <p:oleObj name="Equation" r:id="rId5" imgW="4012920" imgH="53316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572000"/>
                        <a:ext cx="4013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14" name="Line 10"/>
          <p:cNvSpPr>
            <a:spLocks noChangeShapeType="1"/>
          </p:cNvSpPr>
          <p:nvPr/>
        </p:nvSpPr>
        <p:spPr bwMode="auto">
          <a:xfrm>
            <a:off x="5867400" y="2057400"/>
            <a:ext cx="152400" cy="2286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7515" name="Line 11"/>
          <p:cNvSpPr>
            <a:spLocks noChangeShapeType="1"/>
          </p:cNvSpPr>
          <p:nvPr/>
        </p:nvSpPr>
        <p:spPr bwMode="auto">
          <a:xfrm>
            <a:off x="6477000" y="2057400"/>
            <a:ext cx="228600" cy="2286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7516" name="Line 12"/>
          <p:cNvSpPr>
            <a:spLocks noChangeShapeType="1"/>
          </p:cNvSpPr>
          <p:nvPr/>
        </p:nvSpPr>
        <p:spPr bwMode="auto">
          <a:xfrm>
            <a:off x="7162800" y="2057400"/>
            <a:ext cx="304800" cy="2362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7517" name="Line 13"/>
          <p:cNvSpPr>
            <a:spLocks noChangeShapeType="1"/>
          </p:cNvSpPr>
          <p:nvPr/>
        </p:nvSpPr>
        <p:spPr bwMode="auto">
          <a:xfrm>
            <a:off x="5181600" y="2057400"/>
            <a:ext cx="0" cy="2286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17518" name="Line 14"/>
          <p:cNvSpPr>
            <a:spLocks noChangeShapeType="1"/>
          </p:cNvSpPr>
          <p:nvPr/>
        </p:nvSpPr>
        <p:spPr bwMode="auto">
          <a:xfrm>
            <a:off x="4495800" y="2057400"/>
            <a:ext cx="0" cy="2286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3E71A-43DA-494A-B176-37B4C42EC0A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918530" name="Text Box 2"/>
          <p:cNvSpPr txBox="1">
            <a:spLocks noChangeArrowheads="1"/>
          </p:cNvSpPr>
          <p:nvPr/>
        </p:nvSpPr>
        <p:spPr bwMode="auto">
          <a:xfrm>
            <a:off x="593725" y="177800"/>
            <a:ext cx="848836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proved:</a:t>
            </a:r>
          </a:p>
          <a:p>
            <a:endParaRPr lang="en-US"/>
          </a:p>
          <a:p>
            <a:r>
              <a:rPr lang="en-US"/>
              <a:t>     the set of rational numbers is countable</a:t>
            </a:r>
          </a:p>
          <a:p>
            <a:r>
              <a:rPr lang="en-US"/>
              <a:t>     by describing an </a:t>
            </a:r>
            <a:r>
              <a:rPr lang="en-US">
                <a:solidFill>
                  <a:srgbClr val="FF0000"/>
                </a:solidFill>
              </a:rPr>
              <a:t>enumeration procedure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CD5962-7389-465A-AD5D-83FC7F0CB01B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919554" name="Text Box 2"/>
          <p:cNvSpPr txBox="1">
            <a:spLocks noChangeArrowheads="1"/>
          </p:cNvSpPr>
          <p:nvPr/>
        </p:nvSpPr>
        <p:spPr bwMode="auto">
          <a:xfrm>
            <a:off x="2895600" y="228600"/>
            <a:ext cx="2081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Definition</a:t>
            </a:r>
          </a:p>
        </p:txBody>
      </p:sp>
      <p:sp>
        <p:nvSpPr>
          <p:cNvPr id="919555" name="Text Box 3"/>
          <p:cNvSpPr txBox="1">
            <a:spLocks noChangeArrowheads="1"/>
          </p:cNvSpPr>
          <p:nvPr/>
        </p:nvSpPr>
        <p:spPr bwMode="auto">
          <a:xfrm>
            <a:off x="762000" y="2667000"/>
            <a:ext cx="751205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 </a:t>
            </a:r>
            <a:r>
              <a:rPr lang="en-US" b="1">
                <a:solidFill>
                  <a:srgbClr val="FF0000"/>
                </a:solidFill>
              </a:rPr>
              <a:t>enumeration procedure</a:t>
            </a:r>
            <a:r>
              <a:rPr lang="en-US"/>
              <a:t> for       is a</a:t>
            </a:r>
          </a:p>
          <a:p>
            <a:r>
              <a:rPr lang="en-US"/>
              <a:t>Turing Machine  that generates</a:t>
            </a:r>
          </a:p>
          <a:p>
            <a:r>
              <a:rPr lang="en-US"/>
              <a:t>all strings of       one by one</a:t>
            </a:r>
          </a:p>
        </p:txBody>
      </p:sp>
      <p:sp>
        <p:nvSpPr>
          <p:cNvPr id="919556" name="Text Box 4"/>
          <p:cNvSpPr txBox="1">
            <a:spLocks noChangeArrowheads="1"/>
          </p:cNvSpPr>
          <p:nvPr/>
        </p:nvSpPr>
        <p:spPr bwMode="auto">
          <a:xfrm>
            <a:off x="838200" y="1447800"/>
            <a:ext cx="5443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a set of strings </a:t>
            </a:r>
          </a:p>
        </p:txBody>
      </p:sp>
      <p:graphicFrame>
        <p:nvGraphicFramePr>
          <p:cNvPr id="967680" name="Object 0"/>
          <p:cNvGraphicFramePr>
            <a:graphicFrameLocks noChangeAspect="1"/>
          </p:cNvGraphicFramePr>
          <p:nvPr/>
        </p:nvGraphicFramePr>
        <p:xfrm>
          <a:off x="1908175" y="147955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686" name="Equation" r:id="rId3" imgW="330120" imgH="419040" progId="Equation.3">
                  <p:embed/>
                </p:oleObj>
              </mc:Choice>
              <mc:Fallback>
                <p:oleObj name="Equation" r:id="rId3" imgW="330120" imgH="4190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47955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681" name="Object 1"/>
          <p:cNvGraphicFramePr>
            <a:graphicFrameLocks noChangeAspect="1"/>
          </p:cNvGraphicFramePr>
          <p:nvPr/>
        </p:nvGraphicFramePr>
        <p:xfrm>
          <a:off x="6845300" y="272415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687" name="Equation" r:id="rId5" imgW="330120" imgH="419040" progId="Equation.3">
                  <p:embed/>
                </p:oleObj>
              </mc:Choice>
              <mc:Fallback>
                <p:oleObj name="Equation" r:id="rId5" imgW="33012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272415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682" name="Object 2"/>
          <p:cNvGraphicFramePr>
            <a:graphicFrameLocks noChangeAspect="1"/>
          </p:cNvGraphicFramePr>
          <p:nvPr/>
        </p:nvGraphicFramePr>
        <p:xfrm>
          <a:off x="3492500" y="386715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688" name="Equation" r:id="rId7" imgW="330120" imgH="419040" progId="Equation.3">
                  <p:embed/>
                </p:oleObj>
              </mc:Choice>
              <mc:Fallback>
                <p:oleObj name="Equation" r:id="rId7" imgW="33012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86715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9562" name="Text Box 10"/>
          <p:cNvSpPr txBox="1">
            <a:spLocks noChangeArrowheads="1"/>
          </p:cNvSpPr>
          <p:nvPr/>
        </p:nvSpPr>
        <p:spPr bwMode="auto">
          <a:xfrm>
            <a:off x="746125" y="4749800"/>
            <a:ext cx="74279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and</a:t>
            </a:r>
          </a:p>
          <a:p>
            <a:endParaRPr lang="en-US"/>
          </a:p>
          <a:p>
            <a:r>
              <a:rPr lang="en-US"/>
              <a:t>Each string is generated in finite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93CBEC-24F0-4F9E-B014-F82383130D1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923650" name="Text Box 2"/>
          <p:cNvSpPr txBox="1">
            <a:spLocks noChangeArrowheads="1"/>
          </p:cNvSpPr>
          <p:nvPr/>
        </p:nvSpPr>
        <p:spPr bwMode="auto">
          <a:xfrm>
            <a:off x="762000" y="2362200"/>
            <a:ext cx="26050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Enumeration</a:t>
            </a:r>
          </a:p>
          <a:p>
            <a:r>
              <a:rPr lang="en-US">
                <a:solidFill>
                  <a:srgbClr val="FF0000"/>
                </a:solidFill>
              </a:rPr>
              <a:t>Machine for </a:t>
            </a:r>
          </a:p>
        </p:txBody>
      </p:sp>
      <p:sp>
        <p:nvSpPr>
          <p:cNvPr id="923651" name="Rectangle 3"/>
          <p:cNvSpPr>
            <a:spLocks noChangeArrowheads="1"/>
          </p:cNvSpPr>
          <p:nvPr/>
        </p:nvSpPr>
        <p:spPr bwMode="auto">
          <a:xfrm>
            <a:off x="381000" y="1828800"/>
            <a:ext cx="35814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653" name="Line 5"/>
          <p:cNvSpPr>
            <a:spLocks noChangeShapeType="1"/>
          </p:cNvSpPr>
          <p:nvPr/>
        </p:nvSpPr>
        <p:spPr bwMode="auto">
          <a:xfrm>
            <a:off x="3962400" y="2971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23654" name="Object 6"/>
          <p:cNvGraphicFramePr>
            <a:graphicFrameLocks noChangeAspect="1"/>
          </p:cNvGraphicFramePr>
          <p:nvPr/>
        </p:nvGraphicFramePr>
        <p:xfrm>
          <a:off x="6121400" y="2641600"/>
          <a:ext cx="2438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66" name="Equation" r:id="rId3" imgW="2438280" imgH="583920" progId="Equation.3">
                  <p:embed/>
                </p:oleObj>
              </mc:Choice>
              <mc:Fallback>
                <p:oleObj name="Equation" r:id="rId3" imgW="2438280" imgH="5839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2641600"/>
                        <a:ext cx="24384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5" name="Object 7"/>
          <p:cNvGraphicFramePr>
            <a:graphicFrameLocks noChangeAspect="1"/>
          </p:cNvGraphicFramePr>
          <p:nvPr/>
        </p:nvGraphicFramePr>
        <p:xfrm>
          <a:off x="2413000" y="279400"/>
          <a:ext cx="32385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67" name="Equation" r:id="rId5" imgW="3238200" imgH="583920" progId="Equation.3">
                  <p:embed/>
                </p:oleObj>
              </mc:Choice>
              <mc:Fallback>
                <p:oleObj name="Equation" r:id="rId5" imgW="3238200" imgH="5839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79400"/>
                        <a:ext cx="32385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56" name="Line 8"/>
          <p:cNvSpPr>
            <a:spLocks noChangeShapeType="1"/>
          </p:cNvSpPr>
          <p:nvPr/>
        </p:nvSpPr>
        <p:spPr bwMode="auto">
          <a:xfrm flipV="1">
            <a:off x="6324600" y="3352800"/>
            <a:ext cx="0" cy="1447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657" name="Text Box 9"/>
          <p:cNvSpPr txBox="1">
            <a:spLocks noChangeArrowheads="1"/>
          </p:cNvSpPr>
          <p:nvPr/>
        </p:nvSpPr>
        <p:spPr bwMode="auto">
          <a:xfrm>
            <a:off x="3429000" y="4876800"/>
            <a:ext cx="2374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Finite time:</a:t>
            </a:r>
          </a:p>
        </p:txBody>
      </p:sp>
      <p:graphicFrame>
        <p:nvGraphicFramePr>
          <p:cNvPr id="923658" name="Object 10"/>
          <p:cNvGraphicFramePr>
            <a:graphicFrameLocks noChangeAspect="1"/>
          </p:cNvGraphicFramePr>
          <p:nvPr/>
        </p:nvGraphicFramePr>
        <p:xfrm>
          <a:off x="6172200" y="4876800"/>
          <a:ext cx="21717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68" name="Equation" r:id="rId7" imgW="2171520" imgH="583920" progId="Equation.3">
                  <p:embed/>
                </p:oleObj>
              </mc:Choice>
              <mc:Fallback>
                <p:oleObj name="Equation" r:id="rId7" imgW="2171520" imgH="5839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876800"/>
                        <a:ext cx="21717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59" name="Line 11"/>
          <p:cNvSpPr>
            <a:spLocks noChangeShapeType="1"/>
          </p:cNvSpPr>
          <p:nvPr/>
        </p:nvSpPr>
        <p:spPr bwMode="auto">
          <a:xfrm flipV="1">
            <a:off x="6934200" y="3352800"/>
            <a:ext cx="0" cy="1447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660" name="Text Box 12"/>
          <p:cNvSpPr txBox="1">
            <a:spLocks noChangeArrowheads="1"/>
          </p:cNvSpPr>
          <p:nvPr/>
        </p:nvSpPr>
        <p:spPr bwMode="auto">
          <a:xfrm>
            <a:off x="669925" y="330200"/>
            <a:ext cx="15113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strings</a:t>
            </a:r>
          </a:p>
        </p:txBody>
      </p:sp>
      <p:graphicFrame>
        <p:nvGraphicFramePr>
          <p:cNvPr id="923661" name="Object 13"/>
          <p:cNvGraphicFramePr>
            <a:graphicFrameLocks noChangeAspect="1"/>
          </p:cNvGraphicFramePr>
          <p:nvPr/>
        </p:nvGraphicFramePr>
        <p:xfrm>
          <a:off x="3352800" y="30480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69" name="Equation" r:id="rId9" imgW="304560" imgH="380880" progId="Equation.3">
                  <p:embed/>
                </p:oleObj>
              </mc:Choice>
              <mc:Fallback>
                <p:oleObj name="Equation" r:id="rId9" imgW="304560" imgH="3808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48000"/>
                        <a:ext cx="3032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62" name="Line 14"/>
          <p:cNvSpPr>
            <a:spLocks noChangeShapeType="1"/>
          </p:cNvSpPr>
          <p:nvPr/>
        </p:nvSpPr>
        <p:spPr bwMode="auto">
          <a:xfrm flipV="1">
            <a:off x="7543800" y="3352800"/>
            <a:ext cx="0" cy="1447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663" name="Text Box 15"/>
          <p:cNvSpPr txBox="1">
            <a:spLocks noChangeArrowheads="1"/>
          </p:cNvSpPr>
          <p:nvPr/>
        </p:nvSpPr>
        <p:spPr bwMode="auto">
          <a:xfrm>
            <a:off x="4114800" y="2438400"/>
            <a:ext cx="1422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output</a:t>
            </a:r>
          </a:p>
        </p:txBody>
      </p:sp>
      <p:sp>
        <p:nvSpPr>
          <p:cNvPr id="923664" name="Text Box 16"/>
          <p:cNvSpPr txBox="1">
            <a:spLocks noChangeArrowheads="1"/>
          </p:cNvSpPr>
          <p:nvPr/>
        </p:nvSpPr>
        <p:spPr bwMode="auto">
          <a:xfrm>
            <a:off x="4038600" y="3048000"/>
            <a:ext cx="1871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(on tape)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2D17-AFA1-4296-B6A1-BFD871EAD76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922626" name="Text Box 2"/>
          <p:cNvSpPr txBox="1">
            <a:spLocks noChangeArrowheads="1"/>
          </p:cNvSpPr>
          <p:nvPr/>
        </p:nvSpPr>
        <p:spPr bwMode="auto">
          <a:xfrm>
            <a:off x="0" y="0"/>
            <a:ext cx="4219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Enumeration Machine</a:t>
            </a:r>
          </a:p>
        </p:txBody>
      </p:sp>
      <p:sp>
        <p:nvSpPr>
          <p:cNvPr id="922627" name="Text Box 3"/>
          <p:cNvSpPr txBox="1">
            <a:spLocks noChangeArrowheads="1"/>
          </p:cNvSpPr>
          <p:nvPr/>
        </p:nvSpPr>
        <p:spPr bwMode="auto">
          <a:xfrm>
            <a:off x="5181600" y="457200"/>
            <a:ext cx="274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Configuration</a:t>
            </a:r>
          </a:p>
        </p:txBody>
      </p:sp>
      <p:sp>
        <p:nvSpPr>
          <p:cNvPr id="922628" name="Line 4"/>
          <p:cNvSpPr>
            <a:spLocks noChangeShapeType="1"/>
          </p:cNvSpPr>
          <p:nvPr/>
        </p:nvSpPr>
        <p:spPr bwMode="auto">
          <a:xfrm>
            <a:off x="4740275" y="1346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29" name="Line 5"/>
          <p:cNvSpPr>
            <a:spLocks noChangeShapeType="1"/>
          </p:cNvSpPr>
          <p:nvPr/>
        </p:nvSpPr>
        <p:spPr bwMode="auto">
          <a:xfrm>
            <a:off x="4740275" y="1879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30" name="Text Box 6"/>
          <p:cNvSpPr txBox="1">
            <a:spLocks noChangeArrowheads="1"/>
          </p:cNvSpPr>
          <p:nvPr/>
        </p:nvSpPr>
        <p:spPr bwMode="auto">
          <a:xfrm>
            <a:off x="2133600" y="12954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Time 0</a:t>
            </a:r>
          </a:p>
        </p:txBody>
      </p:sp>
      <p:sp>
        <p:nvSpPr>
          <p:cNvPr id="922631" name="Line 7"/>
          <p:cNvSpPr>
            <a:spLocks noChangeShapeType="1"/>
          </p:cNvSpPr>
          <p:nvPr/>
        </p:nvSpPr>
        <p:spPr bwMode="auto">
          <a:xfrm>
            <a:off x="5105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32" name="Line 8"/>
          <p:cNvSpPr>
            <a:spLocks noChangeShapeType="1"/>
          </p:cNvSpPr>
          <p:nvPr/>
        </p:nvSpPr>
        <p:spPr bwMode="auto">
          <a:xfrm>
            <a:off x="556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33" name="Line 9"/>
          <p:cNvSpPr>
            <a:spLocks noChangeShapeType="1"/>
          </p:cNvSpPr>
          <p:nvPr/>
        </p:nvSpPr>
        <p:spPr bwMode="auto">
          <a:xfrm>
            <a:off x="60198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8704" name="Object 2048"/>
          <p:cNvGraphicFramePr>
            <a:graphicFrameLocks noChangeAspect="1"/>
          </p:cNvGraphicFramePr>
          <p:nvPr/>
        </p:nvGraphicFramePr>
        <p:xfrm>
          <a:off x="51816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0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705" name="Object 2049"/>
          <p:cNvGraphicFramePr>
            <a:graphicFrameLocks noChangeAspect="1"/>
          </p:cNvGraphicFramePr>
          <p:nvPr/>
        </p:nvGraphicFramePr>
        <p:xfrm>
          <a:off x="56388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1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706" name="Object 2050"/>
          <p:cNvGraphicFramePr>
            <a:graphicFrameLocks noChangeAspect="1"/>
          </p:cNvGraphicFramePr>
          <p:nvPr/>
        </p:nvGraphicFramePr>
        <p:xfrm>
          <a:off x="5105400" y="2362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2" name="Equation" r:id="rId6" imgW="444240" imgH="533160" progId="Equation.3">
                  <p:embed/>
                </p:oleObj>
              </mc:Choice>
              <mc:Fallback>
                <p:oleObj name="Equation" r:id="rId6" imgW="444240" imgH="533160" progId="Equation.3">
                  <p:embed/>
                  <p:pic>
                    <p:nvPicPr>
                      <p:cNvPr id="0" name="Picture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362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37" name="Line 13"/>
          <p:cNvSpPr>
            <a:spLocks noChangeShapeType="1"/>
          </p:cNvSpPr>
          <p:nvPr/>
        </p:nvSpPr>
        <p:spPr bwMode="auto">
          <a:xfrm flipV="1">
            <a:off x="53340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39" name="Text Box 15"/>
          <p:cNvSpPr txBox="1">
            <a:spLocks noChangeArrowheads="1"/>
          </p:cNvSpPr>
          <p:nvPr/>
        </p:nvSpPr>
        <p:spPr bwMode="auto">
          <a:xfrm>
            <a:off x="2133600" y="3886200"/>
            <a:ext cx="1112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Time</a:t>
            </a:r>
          </a:p>
        </p:txBody>
      </p:sp>
      <p:sp>
        <p:nvSpPr>
          <p:cNvPr id="922640" name="Line 16"/>
          <p:cNvSpPr>
            <a:spLocks noChangeShapeType="1"/>
          </p:cNvSpPr>
          <p:nvPr/>
        </p:nvSpPr>
        <p:spPr bwMode="auto">
          <a:xfrm>
            <a:off x="4724400" y="3962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41" name="Line 17"/>
          <p:cNvSpPr>
            <a:spLocks noChangeShapeType="1"/>
          </p:cNvSpPr>
          <p:nvPr/>
        </p:nvSpPr>
        <p:spPr bwMode="auto">
          <a:xfrm>
            <a:off x="4724400" y="4495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42" name="Line 18"/>
          <p:cNvSpPr>
            <a:spLocks noChangeShapeType="1"/>
          </p:cNvSpPr>
          <p:nvPr/>
        </p:nvSpPr>
        <p:spPr bwMode="auto">
          <a:xfrm>
            <a:off x="5089525" y="3987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44" name="Line 20"/>
          <p:cNvSpPr>
            <a:spLocks noChangeShapeType="1"/>
          </p:cNvSpPr>
          <p:nvPr/>
        </p:nvSpPr>
        <p:spPr bwMode="auto">
          <a:xfrm>
            <a:off x="6934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8707" name="Object 2051"/>
          <p:cNvGraphicFramePr>
            <a:graphicFrameLocks noChangeAspect="1"/>
          </p:cNvGraphicFramePr>
          <p:nvPr/>
        </p:nvGraphicFramePr>
        <p:xfrm>
          <a:off x="5095875" y="4978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3" name="Equation" r:id="rId8" imgW="431640" imgH="533160" progId="Equation.3">
                  <p:embed/>
                </p:oleObj>
              </mc:Choice>
              <mc:Fallback>
                <p:oleObj name="Equation" r:id="rId8" imgW="431640" imgH="533160" progId="Equation.3">
                  <p:embed/>
                  <p:pic>
                    <p:nvPicPr>
                      <p:cNvPr id="0" name="Picture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4978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48" name="Line 24"/>
          <p:cNvSpPr>
            <a:spLocks noChangeShapeType="1"/>
          </p:cNvSpPr>
          <p:nvPr/>
        </p:nvSpPr>
        <p:spPr bwMode="auto">
          <a:xfrm flipV="1">
            <a:off x="5318125" y="452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50" name="Line 26"/>
          <p:cNvSpPr>
            <a:spLocks noChangeShapeType="1"/>
          </p:cNvSpPr>
          <p:nvPr/>
        </p:nvSpPr>
        <p:spPr bwMode="auto">
          <a:xfrm>
            <a:off x="5791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651" name="Line 27"/>
          <p:cNvSpPr>
            <a:spLocks noChangeShapeType="1"/>
          </p:cNvSpPr>
          <p:nvPr/>
        </p:nvSpPr>
        <p:spPr bwMode="auto">
          <a:xfrm>
            <a:off x="6172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8708" name="Object 2052"/>
          <p:cNvGraphicFramePr>
            <a:graphicFrameLocks noChangeAspect="1"/>
          </p:cNvGraphicFramePr>
          <p:nvPr/>
        </p:nvGraphicFramePr>
        <p:xfrm>
          <a:off x="5257800" y="3962400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4" name="Equation" r:id="rId10" imgW="368280" imgH="520560" progId="Equation.3">
                  <p:embed/>
                </p:oleObj>
              </mc:Choice>
              <mc:Fallback>
                <p:oleObj name="Equation" r:id="rId10" imgW="368280" imgH="520560" progId="Equation.3">
                  <p:embed/>
                  <p:pic>
                    <p:nvPicPr>
                      <p:cNvPr id="0" name="Picture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962400"/>
                        <a:ext cx="368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709" name="Object 2053"/>
          <p:cNvGraphicFramePr>
            <a:graphicFrameLocks noChangeAspect="1"/>
          </p:cNvGraphicFramePr>
          <p:nvPr/>
        </p:nvGraphicFramePr>
        <p:xfrm>
          <a:off x="6400800" y="3962400"/>
          <a:ext cx="330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5" name="Equation" r:id="rId12" imgW="330120" imgH="520560" progId="Equation.3">
                  <p:embed/>
                </p:oleObj>
              </mc:Choice>
              <mc:Fallback>
                <p:oleObj name="Equation" r:id="rId12" imgW="330120" imgH="520560" progId="Equation.3">
                  <p:embed/>
                  <p:pic>
                    <p:nvPicPr>
                      <p:cNvPr id="0" name="Picture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962400"/>
                        <a:ext cx="330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710" name="Object 2054"/>
          <p:cNvGraphicFramePr>
            <a:graphicFrameLocks noChangeAspect="1"/>
          </p:cNvGraphicFramePr>
          <p:nvPr/>
        </p:nvGraphicFramePr>
        <p:xfrm>
          <a:off x="5867400" y="4038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6" name="Equation" r:id="rId14" imgW="253800" imgH="380880" progId="Equation.3">
                  <p:embed/>
                </p:oleObj>
              </mc:Choice>
              <mc:Fallback>
                <p:oleObj name="Equation" r:id="rId14" imgW="253800" imgH="380880" progId="Equation.3">
                  <p:embed/>
                  <p:pic>
                    <p:nvPicPr>
                      <p:cNvPr id="0" name="Picture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038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8711" name="Object 2055"/>
          <p:cNvGraphicFramePr>
            <a:graphicFrameLocks noChangeAspect="1"/>
          </p:cNvGraphicFramePr>
          <p:nvPr/>
        </p:nvGraphicFramePr>
        <p:xfrm>
          <a:off x="3352800" y="3886200"/>
          <a:ext cx="2651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7" name="Equation" r:id="rId16" imgW="266400" imgH="520560" progId="Equation.3">
                  <p:embed/>
                </p:oleObj>
              </mc:Choice>
              <mc:Fallback>
                <p:oleObj name="Equation" r:id="rId16" imgW="266400" imgH="520560" progId="Equation.3">
                  <p:embed/>
                  <p:pic>
                    <p:nvPicPr>
                      <p:cNvPr id="0" name="Picture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2651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F9ECD1-4F1A-43E6-944F-6CC5A40DD386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924685" name="Text Box 13"/>
          <p:cNvSpPr txBox="1">
            <a:spLocks noChangeArrowheads="1"/>
          </p:cNvSpPr>
          <p:nvPr/>
        </p:nvSpPr>
        <p:spPr bwMode="auto">
          <a:xfrm>
            <a:off x="2133600" y="3886200"/>
            <a:ext cx="1112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Time</a:t>
            </a:r>
          </a:p>
        </p:txBody>
      </p:sp>
      <p:sp>
        <p:nvSpPr>
          <p:cNvPr id="924686" name="Line 14"/>
          <p:cNvSpPr>
            <a:spLocks noChangeShapeType="1"/>
          </p:cNvSpPr>
          <p:nvPr/>
        </p:nvSpPr>
        <p:spPr bwMode="auto">
          <a:xfrm>
            <a:off x="4724400" y="3962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687" name="Line 15"/>
          <p:cNvSpPr>
            <a:spLocks noChangeShapeType="1"/>
          </p:cNvSpPr>
          <p:nvPr/>
        </p:nvSpPr>
        <p:spPr bwMode="auto">
          <a:xfrm>
            <a:off x="4724400" y="4495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688" name="Line 16"/>
          <p:cNvSpPr>
            <a:spLocks noChangeShapeType="1"/>
          </p:cNvSpPr>
          <p:nvPr/>
        </p:nvSpPr>
        <p:spPr bwMode="auto">
          <a:xfrm>
            <a:off x="5089525" y="3987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689" name="Line 17"/>
          <p:cNvSpPr>
            <a:spLocks noChangeShapeType="1"/>
          </p:cNvSpPr>
          <p:nvPr/>
        </p:nvSpPr>
        <p:spPr bwMode="auto">
          <a:xfrm>
            <a:off x="6934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9728" name="Object 1024"/>
          <p:cNvGraphicFramePr>
            <a:graphicFrameLocks noChangeAspect="1"/>
          </p:cNvGraphicFramePr>
          <p:nvPr/>
        </p:nvGraphicFramePr>
        <p:xfrm>
          <a:off x="5095875" y="4978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48" name="Equation" r:id="rId3" imgW="431640" imgH="533160" progId="Equation.3">
                  <p:embed/>
                </p:oleObj>
              </mc:Choice>
              <mc:Fallback>
                <p:oleObj name="Equation" r:id="rId3" imgW="431640" imgH="53316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4978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91" name="Line 19"/>
          <p:cNvSpPr>
            <a:spLocks noChangeShapeType="1"/>
          </p:cNvSpPr>
          <p:nvPr/>
        </p:nvSpPr>
        <p:spPr bwMode="auto">
          <a:xfrm flipV="1">
            <a:off x="5318125" y="452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692" name="Line 20"/>
          <p:cNvSpPr>
            <a:spLocks noChangeShapeType="1"/>
          </p:cNvSpPr>
          <p:nvPr/>
        </p:nvSpPr>
        <p:spPr bwMode="auto">
          <a:xfrm>
            <a:off x="5791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693" name="Line 21"/>
          <p:cNvSpPr>
            <a:spLocks noChangeShapeType="1"/>
          </p:cNvSpPr>
          <p:nvPr/>
        </p:nvSpPr>
        <p:spPr bwMode="auto">
          <a:xfrm>
            <a:off x="6172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9729" name="Object 1025"/>
          <p:cNvGraphicFramePr>
            <a:graphicFrameLocks noChangeAspect="1"/>
          </p:cNvGraphicFramePr>
          <p:nvPr/>
        </p:nvGraphicFramePr>
        <p:xfrm>
          <a:off x="5232400" y="3957638"/>
          <a:ext cx="4191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49" name="Equation" r:id="rId5" imgW="419040" imgH="533160" progId="Equation.3">
                  <p:embed/>
                </p:oleObj>
              </mc:Choice>
              <mc:Fallback>
                <p:oleObj name="Equation" r:id="rId5" imgW="419040" imgH="53316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3957638"/>
                        <a:ext cx="4191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0" name="Object 1026"/>
          <p:cNvGraphicFramePr>
            <a:graphicFrameLocks noChangeAspect="1"/>
          </p:cNvGraphicFramePr>
          <p:nvPr/>
        </p:nvGraphicFramePr>
        <p:xfrm>
          <a:off x="6375400" y="3957638"/>
          <a:ext cx="3810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0" name="Equation" r:id="rId7" imgW="380880" imgH="533160" progId="Equation.3">
                  <p:embed/>
                </p:oleObj>
              </mc:Choice>
              <mc:Fallback>
                <p:oleObj name="Equation" r:id="rId7" imgW="380880" imgH="53316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400" y="3957638"/>
                        <a:ext cx="3810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1" name="Object 1027"/>
          <p:cNvGraphicFramePr>
            <a:graphicFrameLocks noChangeAspect="1"/>
          </p:cNvGraphicFramePr>
          <p:nvPr/>
        </p:nvGraphicFramePr>
        <p:xfrm>
          <a:off x="5867400" y="4038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1" name="Equation" r:id="rId9" imgW="253800" imgH="380880" progId="Equation.3">
                  <p:embed/>
                </p:oleObj>
              </mc:Choice>
              <mc:Fallback>
                <p:oleObj name="Equation" r:id="rId9" imgW="253800" imgH="38088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038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2" name="Object 1028"/>
          <p:cNvGraphicFramePr>
            <a:graphicFrameLocks noChangeAspect="1"/>
          </p:cNvGraphicFramePr>
          <p:nvPr/>
        </p:nvGraphicFramePr>
        <p:xfrm>
          <a:off x="3327400" y="3881438"/>
          <a:ext cx="315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2" name="Equation" r:id="rId11" imgW="317160" imgH="533160" progId="Equation.3">
                  <p:embed/>
                </p:oleObj>
              </mc:Choice>
              <mc:Fallback>
                <p:oleObj name="Equation" r:id="rId11" imgW="317160" imgH="53316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881438"/>
                        <a:ext cx="315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98" name="Text Box 26"/>
          <p:cNvSpPr txBox="1">
            <a:spLocks noChangeArrowheads="1"/>
          </p:cNvSpPr>
          <p:nvPr/>
        </p:nvSpPr>
        <p:spPr bwMode="auto">
          <a:xfrm>
            <a:off x="2133600" y="1066800"/>
            <a:ext cx="1112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Time</a:t>
            </a:r>
          </a:p>
        </p:txBody>
      </p:sp>
      <p:sp>
        <p:nvSpPr>
          <p:cNvPr id="924699" name="Line 27"/>
          <p:cNvSpPr>
            <a:spLocks noChangeShapeType="1"/>
          </p:cNvSpPr>
          <p:nvPr/>
        </p:nvSpPr>
        <p:spPr bwMode="auto">
          <a:xfrm>
            <a:off x="4724400" y="11430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700" name="Line 28"/>
          <p:cNvSpPr>
            <a:spLocks noChangeShapeType="1"/>
          </p:cNvSpPr>
          <p:nvPr/>
        </p:nvSpPr>
        <p:spPr bwMode="auto">
          <a:xfrm>
            <a:off x="4724400" y="1676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701" name="Line 29"/>
          <p:cNvSpPr>
            <a:spLocks noChangeShapeType="1"/>
          </p:cNvSpPr>
          <p:nvPr/>
        </p:nvSpPr>
        <p:spPr bwMode="auto">
          <a:xfrm>
            <a:off x="5089525" y="1168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702" name="Line 30"/>
          <p:cNvSpPr>
            <a:spLocks noChangeShapeType="1"/>
          </p:cNvSpPr>
          <p:nvPr/>
        </p:nvSpPr>
        <p:spPr bwMode="auto">
          <a:xfrm>
            <a:off x="6934200" y="114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9733" name="Object 1029"/>
          <p:cNvGraphicFramePr>
            <a:graphicFrameLocks noChangeAspect="1"/>
          </p:cNvGraphicFramePr>
          <p:nvPr/>
        </p:nvGraphicFramePr>
        <p:xfrm>
          <a:off x="5095875" y="21590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3" name="Equation" r:id="rId13" imgW="431640" imgH="533160" progId="Equation.3">
                  <p:embed/>
                </p:oleObj>
              </mc:Choice>
              <mc:Fallback>
                <p:oleObj name="Equation" r:id="rId13" imgW="431640" imgH="53316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21590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04" name="Line 32"/>
          <p:cNvSpPr>
            <a:spLocks noChangeShapeType="1"/>
          </p:cNvSpPr>
          <p:nvPr/>
        </p:nvSpPr>
        <p:spPr bwMode="auto">
          <a:xfrm flipV="1">
            <a:off x="5318125" y="170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705" name="Line 33"/>
          <p:cNvSpPr>
            <a:spLocks noChangeShapeType="1"/>
          </p:cNvSpPr>
          <p:nvPr/>
        </p:nvSpPr>
        <p:spPr bwMode="auto">
          <a:xfrm>
            <a:off x="5791200" y="114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4706" name="Line 34"/>
          <p:cNvSpPr>
            <a:spLocks noChangeShapeType="1"/>
          </p:cNvSpPr>
          <p:nvPr/>
        </p:nvSpPr>
        <p:spPr bwMode="auto">
          <a:xfrm>
            <a:off x="6172200" y="114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69734" name="Object 1030"/>
          <p:cNvGraphicFramePr>
            <a:graphicFrameLocks noChangeAspect="1"/>
          </p:cNvGraphicFramePr>
          <p:nvPr/>
        </p:nvGraphicFramePr>
        <p:xfrm>
          <a:off x="5221288" y="11430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4" name="Equation" r:id="rId14" imgW="444240" imgH="520560" progId="Equation.3">
                  <p:embed/>
                </p:oleObj>
              </mc:Choice>
              <mc:Fallback>
                <p:oleObj name="Equation" r:id="rId14" imgW="444240" imgH="52056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1143000"/>
                        <a:ext cx="44291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5" name="Object 1031"/>
          <p:cNvGraphicFramePr>
            <a:graphicFrameLocks noChangeAspect="1"/>
          </p:cNvGraphicFramePr>
          <p:nvPr/>
        </p:nvGraphicFramePr>
        <p:xfrm>
          <a:off x="6364288" y="1143000"/>
          <a:ext cx="4048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5" name="Equation" r:id="rId16" imgW="406080" imgH="520560" progId="Equation.3">
                  <p:embed/>
                </p:oleObj>
              </mc:Choice>
              <mc:Fallback>
                <p:oleObj name="Equation" r:id="rId16" imgW="406080" imgH="52056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288" y="1143000"/>
                        <a:ext cx="40481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6" name="Object 1032"/>
          <p:cNvGraphicFramePr>
            <a:graphicFrameLocks noChangeAspect="1"/>
          </p:cNvGraphicFramePr>
          <p:nvPr/>
        </p:nvGraphicFramePr>
        <p:xfrm>
          <a:off x="58674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6" name="Equation" r:id="rId18" imgW="253800" imgH="380880" progId="Equation.3">
                  <p:embed/>
                </p:oleObj>
              </mc:Choice>
              <mc:Fallback>
                <p:oleObj name="Equation" r:id="rId18" imgW="253800" imgH="38088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37" name="Object 1033"/>
          <p:cNvGraphicFramePr>
            <a:graphicFrameLocks noChangeAspect="1"/>
          </p:cNvGraphicFramePr>
          <p:nvPr/>
        </p:nvGraphicFramePr>
        <p:xfrm>
          <a:off x="3314700" y="1066800"/>
          <a:ext cx="3413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757" name="Equation" r:id="rId19" imgW="342720" imgH="520560" progId="Equation.3">
                  <p:embed/>
                </p:oleObj>
              </mc:Choice>
              <mc:Fallback>
                <p:oleObj name="Equation" r:id="rId19" imgW="342720" imgH="520560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1066800"/>
                        <a:ext cx="3413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C4E98A-0C70-4D5C-811E-ACDB7BCA9D4C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925698" name="Text Box 2"/>
          <p:cNvSpPr txBox="1">
            <a:spLocks noChangeArrowheads="1"/>
          </p:cNvSpPr>
          <p:nvPr/>
        </p:nvSpPr>
        <p:spPr bwMode="auto">
          <a:xfrm>
            <a:off x="2057400" y="2590800"/>
            <a:ext cx="49323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for a set there is an </a:t>
            </a:r>
          </a:p>
          <a:p>
            <a:r>
              <a:rPr lang="en-US"/>
              <a:t>enumeration procedure, </a:t>
            </a:r>
          </a:p>
          <a:p>
            <a:r>
              <a:rPr lang="en-US"/>
              <a:t>then the set is countable</a:t>
            </a:r>
          </a:p>
        </p:txBody>
      </p:sp>
      <p:sp>
        <p:nvSpPr>
          <p:cNvPr id="925699" name="Text Box 3"/>
          <p:cNvSpPr txBox="1">
            <a:spLocks noChangeArrowheads="1"/>
          </p:cNvSpPr>
          <p:nvPr/>
        </p:nvSpPr>
        <p:spPr bwMode="auto">
          <a:xfrm>
            <a:off x="228600" y="16764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Observation: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E12BAC-D99D-4DA8-9191-650C57D411E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26722" name="Text Box 2"/>
          <p:cNvSpPr txBox="1">
            <a:spLocks noChangeArrowheads="1"/>
          </p:cNvSpPr>
          <p:nvPr/>
        </p:nvSpPr>
        <p:spPr bwMode="auto">
          <a:xfrm>
            <a:off x="288925" y="177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926723" name="Text Box 3"/>
          <p:cNvSpPr txBox="1">
            <a:spLocks noChangeArrowheads="1"/>
          </p:cNvSpPr>
          <p:nvPr/>
        </p:nvSpPr>
        <p:spPr bwMode="auto">
          <a:xfrm>
            <a:off x="1431925" y="939800"/>
            <a:ext cx="41973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set of all strings</a:t>
            </a:r>
          </a:p>
          <a:p>
            <a:r>
              <a:rPr lang="en-US">
                <a:solidFill>
                  <a:srgbClr val="FF0000"/>
                </a:solidFill>
              </a:rPr>
              <a:t>is countable </a:t>
            </a:r>
          </a:p>
        </p:txBody>
      </p:sp>
      <p:graphicFrame>
        <p:nvGraphicFramePr>
          <p:cNvPr id="970752" name="Object 0"/>
          <p:cNvGraphicFramePr>
            <a:graphicFrameLocks noChangeAspect="1"/>
          </p:cNvGraphicFramePr>
          <p:nvPr/>
        </p:nvGraphicFramePr>
        <p:xfrm>
          <a:off x="5670550" y="800100"/>
          <a:ext cx="1739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54" name="Equation" r:id="rId3" imgW="1739880" imgH="711000" progId="Equation.3">
                  <p:embed/>
                </p:oleObj>
              </mc:Choice>
              <mc:Fallback>
                <p:oleObj name="Equation" r:id="rId3" imgW="1739880" imgH="7110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0550" y="800100"/>
                        <a:ext cx="17399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5" name="Text Box 5"/>
          <p:cNvSpPr txBox="1">
            <a:spLocks noChangeArrowheads="1"/>
          </p:cNvSpPr>
          <p:nvPr/>
        </p:nvSpPr>
        <p:spPr bwMode="auto">
          <a:xfrm>
            <a:off x="304800" y="4876800"/>
            <a:ext cx="8362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describe an enumeration procedure</a:t>
            </a:r>
          </a:p>
        </p:txBody>
      </p:sp>
      <p:sp>
        <p:nvSpPr>
          <p:cNvPr id="926726" name="Text Box 6"/>
          <p:cNvSpPr txBox="1">
            <a:spLocks noChangeArrowheads="1"/>
          </p:cNvSpPr>
          <p:nvPr/>
        </p:nvSpPr>
        <p:spPr bwMode="auto">
          <a:xfrm>
            <a:off x="381000" y="41148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Proof: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1C78D2-2A6D-471D-804D-D32D0C4C0B6F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27747" name="Text Box 3"/>
          <p:cNvSpPr txBox="1">
            <a:spLocks noChangeArrowheads="1"/>
          </p:cNvSpPr>
          <p:nvPr/>
        </p:nvSpPr>
        <p:spPr bwMode="auto">
          <a:xfrm>
            <a:off x="228600" y="0"/>
            <a:ext cx="3421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Naive procedure:</a:t>
            </a:r>
          </a:p>
        </p:txBody>
      </p:sp>
      <p:sp>
        <p:nvSpPr>
          <p:cNvPr id="927748" name="Text Box 4"/>
          <p:cNvSpPr txBox="1">
            <a:spLocks noChangeArrowheads="1"/>
          </p:cNvSpPr>
          <p:nvPr/>
        </p:nvSpPr>
        <p:spPr bwMode="auto">
          <a:xfrm>
            <a:off x="381000" y="762000"/>
            <a:ext cx="8294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Produce the strings in lexicographic order:</a:t>
            </a:r>
          </a:p>
        </p:txBody>
      </p:sp>
      <p:graphicFrame>
        <p:nvGraphicFramePr>
          <p:cNvPr id="971776" name="Object 1024"/>
          <p:cNvGraphicFramePr>
            <a:graphicFrameLocks noChangeAspect="1"/>
          </p:cNvGraphicFramePr>
          <p:nvPr/>
        </p:nvGraphicFramePr>
        <p:xfrm>
          <a:off x="3568700" y="17399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88" name="Equation" r:id="rId3" imgW="291960" imgH="304560" progId="Equation.3">
                  <p:embed/>
                </p:oleObj>
              </mc:Choice>
              <mc:Fallback>
                <p:oleObj name="Equation" r:id="rId3" imgW="291960" imgH="30456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17399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77" name="Object 1025"/>
          <p:cNvGraphicFramePr>
            <a:graphicFrameLocks noChangeAspect="1"/>
          </p:cNvGraphicFramePr>
          <p:nvPr/>
        </p:nvGraphicFramePr>
        <p:xfrm>
          <a:off x="3556000" y="2328863"/>
          <a:ext cx="544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89" name="Equation" r:id="rId5" imgW="545760" imgH="304560" progId="Equation.3">
                  <p:embed/>
                </p:oleObj>
              </mc:Choice>
              <mc:Fallback>
                <p:oleObj name="Equation" r:id="rId5" imgW="545760" imgH="30456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2328863"/>
                        <a:ext cx="544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78" name="Object 1026"/>
          <p:cNvGraphicFramePr>
            <a:graphicFrameLocks noChangeAspect="1"/>
          </p:cNvGraphicFramePr>
          <p:nvPr/>
        </p:nvGraphicFramePr>
        <p:xfrm>
          <a:off x="3543300" y="2882900"/>
          <a:ext cx="798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0" name="Equation" r:id="rId7" imgW="799920" imgH="304560" progId="Equation.3">
                  <p:embed/>
                </p:oleObj>
              </mc:Choice>
              <mc:Fallback>
                <p:oleObj name="Equation" r:id="rId7" imgW="799920" imgH="30456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2882900"/>
                        <a:ext cx="798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79" name="Object 1027"/>
          <p:cNvGraphicFramePr>
            <a:graphicFrameLocks noChangeAspect="1"/>
          </p:cNvGraphicFramePr>
          <p:nvPr/>
        </p:nvGraphicFramePr>
        <p:xfrm>
          <a:off x="3581400" y="4191000"/>
          <a:ext cx="733425" cy="10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1" name="Equation" r:id="rId9" imgW="736560" imgH="101520" progId="Equation.3">
                  <p:embed/>
                </p:oleObj>
              </mc:Choice>
              <mc:Fallback>
                <p:oleObj name="Equation" r:id="rId9" imgW="736560" imgH="10152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91000"/>
                        <a:ext cx="733425" cy="100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54" name="Text Box 10"/>
          <p:cNvSpPr txBox="1">
            <a:spLocks noChangeArrowheads="1"/>
          </p:cNvSpPr>
          <p:nvPr/>
        </p:nvSpPr>
        <p:spPr bwMode="auto">
          <a:xfrm>
            <a:off x="304800" y="4724400"/>
            <a:ext cx="593725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Doesn’t work:</a:t>
            </a:r>
          </a:p>
          <a:p>
            <a:r>
              <a:rPr lang="en-US"/>
              <a:t>          strings starting with     </a:t>
            </a:r>
          </a:p>
          <a:p>
            <a:r>
              <a:rPr lang="en-US"/>
              <a:t>          will never be produced </a:t>
            </a:r>
          </a:p>
        </p:txBody>
      </p:sp>
      <p:graphicFrame>
        <p:nvGraphicFramePr>
          <p:cNvPr id="971780" name="Object 1028"/>
          <p:cNvGraphicFramePr>
            <a:graphicFrameLocks noChangeAspect="1"/>
          </p:cNvGraphicFramePr>
          <p:nvPr/>
        </p:nvGraphicFramePr>
        <p:xfrm>
          <a:off x="5715000" y="5334000"/>
          <a:ext cx="2651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2" name="Equation" r:id="rId11" imgW="266400" imgH="431640" progId="Equation.3">
                  <p:embed/>
                </p:oleObj>
              </mc:Choice>
              <mc:Fallback>
                <p:oleObj name="Equation" r:id="rId11" imgW="266400" imgH="43164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0"/>
                        <a:ext cx="2651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81" name="Object 1029"/>
          <p:cNvGraphicFramePr>
            <a:graphicFrameLocks noChangeAspect="1"/>
          </p:cNvGraphicFramePr>
          <p:nvPr/>
        </p:nvGraphicFramePr>
        <p:xfrm>
          <a:off x="3581400" y="3505200"/>
          <a:ext cx="1052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93" name="Equation" r:id="rId13" imgW="1054080" imgH="304560" progId="Equation.3">
                  <p:embed/>
                </p:oleObj>
              </mc:Choice>
              <mc:Fallback>
                <p:oleObj name="Equation" r:id="rId13" imgW="1054080" imgH="30456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05200"/>
                        <a:ext cx="1052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AC37E9-B4E7-4B48-83D9-E91807CC2F9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928770" name="Text Box 2"/>
          <p:cNvSpPr txBox="1">
            <a:spLocks noChangeArrowheads="1"/>
          </p:cNvSpPr>
          <p:nvPr/>
        </p:nvSpPr>
        <p:spPr bwMode="auto">
          <a:xfrm>
            <a:off x="136525" y="25400"/>
            <a:ext cx="3633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Better procedure:</a:t>
            </a:r>
          </a:p>
        </p:txBody>
      </p:sp>
      <p:sp>
        <p:nvSpPr>
          <p:cNvPr id="928771" name="Text Box 3"/>
          <p:cNvSpPr txBox="1">
            <a:spLocks noChangeArrowheads="1"/>
          </p:cNvSpPr>
          <p:nvPr/>
        </p:nvSpPr>
        <p:spPr bwMode="auto">
          <a:xfrm>
            <a:off x="1127125" y="1016000"/>
            <a:ext cx="6383338" cy="5253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1. Produce all strings of length 1</a:t>
            </a:r>
          </a:p>
          <a:p>
            <a:endParaRPr lang="en-US"/>
          </a:p>
          <a:p>
            <a:r>
              <a:rPr lang="en-US"/>
              <a:t>2. Produce all strings of length 2</a:t>
            </a:r>
          </a:p>
          <a:p>
            <a:endParaRPr lang="en-US"/>
          </a:p>
          <a:p>
            <a:r>
              <a:rPr lang="en-US"/>
              <a:t>3. Produce all strings of length 3</a:t>
            </a:r>
          </a:p>
          <a:p>
            <a:endParaRPr lang="en-US"/>
          </a:p>
          <a:p>
            <a:r>
              <a:rPr lang="en-US"/>
              <a:t>4. Produce all strings of length 4</a:t>
            </a:r>
          </a:p>
          <a:p>
            <a:endParaRPr lang="en-US"/>
          </a:p>
          <a:p>
            <a:r>
              <a:rPr lang="en-US"/>
              <a:t>..........</a:t>
            </a:r>
          </a:p>
        </p:txBody>
      </p:sp>
      <p:sp>
        <p:nvSpPr>
          <p:cNvPr id="928772" name="Text Box 4"/>
          <p:cNvSpPr txBox="1">
            <a:spLocks noChangeArrowheads="1"/>
          </p:cNvSpPr>
          <p:nvPr/>
        </p:nvSpPr>
        <p:spPr bwMode="auto">
          <a:xfrm>
            <a:off x="4191000" y="0"/>
            <a:ext cx="2805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Proper Order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D9A216-C002-4883-AB82-D4902B2040A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929794" name="Text Box 2"/>
          <p:cNvSpPr txBox="1">
            <a:spLocks noChangeArrowheads="1"/>
          </p:cNvSpPr>
          <p:nvPr/>
        </p:nvSpPr>
        <p:spPr bwMode="auto">
          <a:xfrm>
            <a:off x="381000" y="2286000"/>
            <a:ext cx="3706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Produce strings in </a:t>
            </a:r>
          </a:p>
          <a:p>
            <a:r>
              <a:rPr lang="en-US" b="1">
                <a:solidFill>
                  <a:srgbClr val="FF0000"/>
                </a:solidFill>
              </a:rPr>
              <a:t>    Proper Order</a:t>
            </a:r>
            <a:r>
              <a:rPr lang="en-US">
                <a:solidFill>
                  <a:srgbClr val="FF0000"/>
                </a:solidFill>
              </a:rPr>
              <a:t>:</a:t>
            </a:r>
          </a:p>
        </p:txBody>
      </p:sp>
      <p:grpSp>
        <p:nvGrpSpPr>
          <p:cNvPr id="929817" name="Group 25"/>
          <p:cNvGrpSpPr>
            <a:grpSpLocks/>
          </p:cNvGrpSpPr>
          <p:nvPr/>
        </p:nvGrpSpPr>
        <p:grpSpPr bwMode="auto">
          <a:xfrm>
            <a:off x="4876800" y="1295400"/>
            <a:ext cx="685800" cy="3733800"/>
            <a:chOff x="3130" y="368"/>
            <a:chExt cx="311" cy="2816"/>
          </a:xfrm>
        </p:grpSpPr>
        <p:graphicFrame>
          <p:nvGraphicFramePr>
            <p:cNvPr id="972807" name="Object 1031"/>
            <p:cNvGraphicFramePr>
              <a:graphicFrameLocks noChangeAspect="1"/>
            </p:cNvGraphicFramePr>
            <p:nvPr/>
          </p:nvGraphicFramePr>
          <p:xfrm>
            <a:off x="3130" y="368"/>
            <a:ext cx="311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2" name="Equation" r:id="rId3" imgW="495000" imgH="279360" progId="Equation.3">
                    <p:embed/>
                  </p:oleObj>
                </mc:Choice>
                <mc:Fallback>
                  <p:oleObj name="Equation" r:id="rId3" imgW="495000" imgH="279360" progId="Equation.3">
                    <p:embed/>
                    <p:pic>
                      <p:nvPicPr>
                        <p:cNvPr id="0" name="Picture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368"/>
                          <a:ext cx="311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8" name="Object 1032"/>
            <p:cNvGraphicFramePr>
              <a:graphicFrameLocks noChangeAspect="1"/>
            </p:cNvGraphicFramePr>
            <p:nvPr/>
          </p:nvGraphicFramePr>
          <p:xfrm>
            <a:off x="3130" y="656"/>
            <a:ext cx="311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3" name="Equation" r:id="rId5" imgW="495000" imgH="393480" progId="Equation.3">
                    <p:embed/>
                  </p:oleObj>
                </mc:Choice>
                <mc:Fallback>
                  <p:oleObj name="Equation" r:id="rId5" imgW="495000" imgH="393480" progId="Equation.3">
                    <p:embed/>
                    <p:pic>
                      <p:nvPicPr>
                        <p:cNvPr id="0" name="Picture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656"/>
                          <a:ext cx="311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9" name="Object 1033"/>
            <p:cNvGraphicFramePr>
              <a:graphicFrameLocks noChangeAspect="1"/>
            </p:cNvGraphicFramePr>
            <p:nvPr/>
          </p:nvGraphicFramePr>
          <p:xfrm>
            <a:off x="3130" y="1040"/>
            <a:ext cx="29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4" name="Equation" r:id="rId7" imgW="469800" imgH="279360" progId="Equation.3">
                    <p:embed/>
                  </p:oleObj>
                </mc:Choice>
                <mc:Fallback>
                  <p:oleObj name="Equation" r:id="rId7" imgW="469800" imgH="279360" progId="Equation.3">
                    <p:embed/>
                    <p:pic>
                      <p:nvPicPr>
                        <p:cNvPr id="0" name="Picture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1040"/>
                          <a:ext cx="296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0" name="Object 1034"/>
            <p:cNvGraphicFramePr>
              <a:graphicFrameLocks noChangeAspect="1"/>
            </p:cNvGraphicFramePr>
            <p:nvPr/>
          </p:nvGraphicFramePr>
          <p:xfrm>
            <a:off x="3130" y="1280"/>
            <a:ext cx="30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5" name="Equation" r:id="rId9" imgW="482400" imgH="393480" progId="Equation.3">
                    <p:embed/>
                  </p:oleObj>
                </mc:Choice>
                <mc:Fallback>
                  <p:oleObj name="Equation" r:id="rId9" imgW="482400" imgH="393480" progId="Equation.3">
                    <p:embed/>
                    <p:pic>
                      <p:nvPicPr>
                        <p:cNvPr id="0" name="Picture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1280"/>
                          <a:ext cx="303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1" name="Object 1035"/>
            <p:cNvGraphicFramePr>
              <a:graphicFrameLocks noChangeAspect="1"/>
            </p:cNvGraphicFramePr>
            <p:nvPr/>
          </p:nvGraphicFramePr>
          <p:xfrm>
            <a:off x="3130" y="1664"/>
            <a:ext cx="30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6" name="Equation" r:id="rId11" imgW="482400" imgH="393480" progId="Equation.3">
                    <p:embed/>
                  </p:oleObj>
                </mc:Choice>
                <mc:Fallback>
                  <p:oleObj name="Equation" r:id="rId11" imgW="482400" imgH="393480" progId="Equation.3">
                    <p:embed/>
                    <p:pic>
                      <p:nvPicPr>
                        <p:cNvPr id="0" name="Picture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1664"/>
                          <a:ext cx="303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2" name="Object 1036"/>
            <p:cNvGraphicFramePr>
              <a:graphicFrameLocks noChangeAspect="1"/>
            </p:cNvGraphicFramePr>
            <p:nvPr/>
          </p:nvGraphicFramePr>
          <p:xfrm>
            <a:off x="3130" y="2000"/>
            <a:ext cx="28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7" name="Equation" r:id="rId13" imgW="457200" imgH="393480" progId="Equation.3">
                    <p:embed/>
                  </p:oleObj>
                </mc:Choice>
                <mc:Fallback>
                  <p:oleObj name="Equation" r:id="rId13" imgW="457200" imgH="393480" progId="Equation.3">
                    <p:embed/>
                    <p:pic>
                      <p:nvPicPr>
                        <p:cNvPr id="0" name="Picture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2000"/>
                          <a:ext cx="288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3" name="Object 1037"/>
            <p:cNvGraphicFramePr>
              <a:graphicFrameLocks noChangeAspect="1"/>
            </p:cNvGraphicFramePr>
            <p:nvPr/>
          </p:nvGraphicFramePr>
          <p:xfrm>
            <a:off x="3130" y="2336"/>
            <a:ext cx="29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8" name="Equation" r:id="rId15" imgW="469800" imgH="279360" progId="Equation.3">
                    <p:embed/>
                  </p:oleObj>
                </mc:Choice>
                <mc:Fallback>
                  <p:oleObj name="Equation" r:id="rId15" imgW="469800" imgH="279360" progId="Equation.3">
                    <p:embed/>
                    <p:pic>
                      <p:nvPicPr>
                        <p:cNvPr id="0" name="Picture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2336"/>
                          <a:ext cx="296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4" name="Object 1038"/>
            <p:cNvGraphicFramePr>
              <a:graphicFrameLocks noChangeAspect="1"/>
            </p:cNvGraphicFramePr>
            <p:nvPr/>
          </p:nvGraphicFramePr>
          <p:xfrm>
            <a:off x="3130" y="2624"/>
            <a:ext cx="28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39" name="Equation" r:id="rId17" imgW="457200" imgH="393480" progId="Equation.3">
                    <p:embed/>
                  </p:oleObj>
                </mc:Choice>
                <mc:Fallback>
                  <p:oleObj name="Equation" r:id="rId17" imgW="457200" imgH="393480" progId="Equation.3">
                    <p:embed/>
                    <p:pic>
                      <p:nvPicPr>
                        <p:cNvPr id="0" name="Picture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2624"/>
                          <a:ext cx="288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15" name="Object 1039"/>
            <p:cNvGraphicFramePr>
              <a:graphicFrameLocks noChangeAspect="1"/>
            </p:cNvGraphicFramePr>
            <p:nvPr/>
          </p:nvGraphicFramePr>
          <p:xfrm>
            <a:off x="3130" y="3008"/>
            <a:ext cx="271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0" name="Equation" r:id="rId19" imgW="431640" imgH="279360" progId="Equation.3">
                    <p:embed/>
                  </p:oleObj>
                </mc:Choice>
                <mc:Fallback>
                  <p:oleObj name="Equation" r:id="rId19" imgW="431640" imgH="279360" progId="Equation.3">
                    <p:embed/>
                    <p:pic>
                      <p:nvPicPr>
                        <p:cNvPr id="0" name="Picture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3008"/>
                          <a:ext cx="271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9822" name="Group 30"/>
          <p:cNvGrpSpPr>
            <a:grpSpLocks/>
          </p:cNvGrpSpPr>
          <p:nvPr/>
        </p:nvGrpSpPr>
        <p:grpSpPr bwMode="auto">
          <a:xfrm>
            <a:off x="4876800" y="5334000"/>
            <a:ext cx="738188" cy="1219200"/>
            <a:chOff x="3120" y="3296"/>
            <a:chExt cx="465" cy="895"/>
          </a:xfrm>
        </p:grpSpPr>
        <p:graphicFrame>
          <p:nvGraphicFramePr>
            <p:cNvPr id="972803" name="Object 1027"/>
            <p:cNvGraphicFramePr>
              <a:graphicFrameLocks noChangeAspect="1"/>
            </p:cNvGraphicFramePr>
            <p:nvPr/>
          </p:nvGraphicFramePr>
          <p:xfrm>
            <a:off x="3130" y="3296"/>
            <a:ext cx="455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1" name="Equation" r:id="rId21" imgW="723600" imgH="279360" progId="Equation.3">
                    <p:embed/>
                  </p:oleObj>
                </mc:Choice>
                <mc:Fallback>
                  <p:oleObj name="Equation" r:id="rId21" imgW="723600" imgH="279360" progId="Equation.3">
                    <p:embed/>
                    <p:pic>
                      <p:nvPicPr>
                        <p:cNvPr id="0" name="Picture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3296"/>
                          <a:ext cx="455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4" name="Object 1028"/>
            <p:cNvGraphicFramePr>
              <a:graphicFrameLocks noChangeAspect="1"/>
            </p:cNvGraphicFramePr>
            <p:nvPr/>
          </p:nvGraphicFramePr>
          <p:xfrm>
            <a:off x="3130" y="3488"/>
            <a:ext cx="4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2" name="Equation" r:id="rId23" imgW="723600" imgH="393480" progId="Equation.3">
                    <p:embed/>
                  </p:oleObj>
                </mc:Choice>
                <mc:Fallback>
                  <p:oleObj name="Equation" r:id="rId23" imgW="723600" imgH="393480" progId="Equation.3">
                    <p:embed/>
                    <p:pic>
                      <p:nvPicPr>
                        <p:cNvPr id="0" name="Picture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0" y="3488"/>
                          <a:ext cx="455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5" name="Object 1029"/>
            <p:cNvGraphicFramePr>
              <a:graphicFrameLocks noChangeAspect="1"/>
            </p:cNvGraphicFramePr>
            <p:nvPr/>
          </p:nvGraphicFramePr>
          <p:xfrm>
            <a:off x="3120" y="3840"/>
            <a:ext cx="4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3" name="Equation" r:id="rId25" imgW="698400" imgH="279360" progId="Equation.3">
                    <p:embed/>
                  </p:oleObj>
                </mc:Choice>
                <mc:Fallback>
                  <p:oleObj name="Equation" r:id="rId25" imgW="698400" imgH="279360" progId="Equation.3">
                    <p:embed/>
                    <p:pic>
                      <p:nvPicPr>
                        <p:cNvPr id="0" name="Picture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840"/>
                          <a:ext cx="440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6" name="Object 1030"/>
            <p:cNvGraphicFramePr>
              <a:graphicFrameLocks noChangeAspect="1"/>
            </p:cNvGraphicFramePr>
            <p:nvPr/>
          </p:nvGraphicFramePr>
          <p:xfrm>
            <a:off x="3120" y="4128"/>
            <a:ext cx="416" cy="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4" name="Equation" r:id="rId27" imgW="660240" imgH="101520" progId="Equation.3">
                    <p:embed/>
                  </p:oleObj>
                </mc:Choice>
                <mc:Fallback>
                  <p:oleObj name="Equation" r:id="rId27" imgW="660240" imgH="101520" progId="Equation.3">
                    <p:embed/>
                    <p:pic>
                      <p:nvPicPr>
                        <p:cNvPr id="0" name="Picture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4128"/>
                          <a:ext cx="416" cy="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9811" name="AutoShape 19"/>
          <p:cNvSpPr>
            <a:spLocks/>
          </p:cNvSpPr>
          <p:nvPr/>
        </p:nvSpPr>
        <p:spPr bwMode="auto">
          <a:xfrm>
            <a:off x="5715000" y="1295400"/>
            <a:ext cx="457200" cy="3733800"/>
          </a:xfrm>
          <a:prstGeom prst="rightBrace">
            <a:avLst>
              <a:gd name="adj1" fmla="val 68056"/>
              <a:gd name="adj2" fmla="val 50000"/>
            </a:avLst>
          </a:prstGeom>
          <a:noFill/>
          <a:ln w="9525">
            <a:solidFill>
              <a:srgbClr val="FF00FF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9812" name="AutoShape 20"/>
          <p:cNvSpPr>
            <a:spLocks/>
          </p:cNvSpPr>
          <p:nvPr/>
        </p:nvSpPr>
        <p:spPr bwMode="auto">
          <a:xfrm>
            <a:off x="5715000" y="5334000"/>
            <a:ext cx="381000" cy="1219200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rgbClr val="FF00FF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9813" name="Text Box 21"/>
          <p:cNvSpPr txBox="1">
            <a:spLocks noChangeArrowheads="1"/>
          </p:cNvSpPr>
          <p:nvPr/>
        </p:nvSpPr>
        <p:spPr bwMode="auto">
          <a:xfrm>
            <a:off x="6324600" y="2819400"/>
            <a:ext cx="1743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length 2</a:t>
            </a:r>
          </a:p>
        </p:txBody>
      </p:sp>
      <p:sp>
        <p:nvSpPr>
          <p:cNvPr id="929814" name="Text Box 22"/>
          <p:cNvSpPr txBox="1">
            <a:spLocks noChangeArrowheads="1"/>
          </p:cNvSpPr>
          <p:nvPr/>
        </p:nvSpPr>
        <p:spPr bwMode="auto">
          <a:xfrm>
            <a:off x="6324600" y="5638800"/>
            <a:ext cx="1743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length 3</a:t>
            </a:r>
          </a:p>
        </p:txBody>
      </p:sp>
      <p:sp>
        <p:nvSpPr>
          <p:cNvPr id="929815" name="Text Box 23"/>
          <p:cNvSpPr txBox="1">
            <a:spLocks noChangeArrowheads="1"/>
          </p:cNvSpPr>
          <p:nvPr/>
        </p:nvSpPr>
        <p:spPr bwMode="auto">
          <a:xfrm>
            <a:off x="6248400" y="228600"/>
            <a:ext cx="1677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length 1</a:t>
            </a:r>
          </a:p>
        </p:txBody>
      </p:sp>
      <p:grpSp>
        <p:nvGrpSpPr>
          <p:cNvPr id="929821" name="Group 29"/>
          <p:cNvGrpSpPr>
            <a:grpSpLocks/>
          </p:cNvGrpSpPr>
          <p:nvPr/>
        </p:nvGrpSpPr>
        <p:grpSpPr bwMode="auto">
          <a:xfrm>
            <a:off x="4953000" y="152400"/>
            <a:ext cx="381000" cy="838200"/>
            <a:chOff x="2400" y="864"/>
            <a:chExt cx="184" cy="768"/>
          </a:xfrm>
        </p:grpSpPr>
        <p:graphicFrame>
          <p:nvGraphicFramePr>
            <p:cNvPr id="972800" name="Object 1024"/>
            <p:cNvGraphicFramePr>
              <a:graphicFrameLocks noChangeAspect="1"/>
            </p:cNvGraphicFramePr>
            <p:nvPr/>
          </p:nvGraphicFramePr>
          <p:xfrm>
            <a:off x="2400" y="86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5" name="Equation" r:id="rId29" imgW="291960" imgH="304560" progId="Equation.3">
                    <p:embed/>
                  </p:oleObj>
                </mc:Choice>
                <mc:Fallback>
                  <p:oleObj name="Equation" r:id="rId29" imgW="291960" imgH="304560" progId="Equation.3">
                    <p:embed/>
                    <p:pic>
                      <p:nvPicPr>
                        <p:cNvPr id="0" name="Picture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864"/>
                          <a:ext cx="184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1" name="Object 1025"/>
            <p:cNvGraphicFramePr>
              <a:graphicFrameLocks noChangeAspect="1"/>
            </p:cNvGraphicFramePr>
            <p:nvPr/>
          </p:nvGraphicFramePr>
          <p:xfrm>
            <a:off x="2400" y="1104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6" name="Equation" r:id="rId31" imgW="266400" imgH="431640" progId="Equation.3">
                    <p:embed/>
                  </p:oleObj>
                </mc:Choice>
                <mc:Fallback>
                  <p:oleObj name="Equation" r:id="rId31" imgW="266400" imgH="431640" progId="Equation.3">
                    <p:embed/>
                    <p:pic>
                      <p:nvPicPr>
                        <p:cNvPr id="0" name="Picture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104"/>
                          <a:ext cx="16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2802" name="Object 1026"/>
            <p:cNvGraphicFramePr>
              <a:graphicFrameLocks noChangeAspect="1"/>
            </p:cNvGraphicFramePr>
            <p:nvPr/>
          </p:nvGraphicFramePr>
          <p:xfrm>
            <a:off x="2400" y="1440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47" name="Equation" r:id="rId33" imgW="253800" imgH="304560" progId="Equation.3">
                    <p:embed/>
                  </p:oleObj>
                </mc:Choice>
                <mc:Fallback>
                  <p:oleObj name="Equation" r:id="rId33" imgW="253800" imgH="304560" progId="Equation.3">
                    <p:embed/>
                    <p:pic>
                      <p:nvPicPr>
                        <p:cNvPr id="0" name="Picture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440"/>
                          <a:ext cx="160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9823" name="AutoShape 31"/>
          <p:cNvSpPr>
            <a:spLocks/>
          </p:cNvSpPr>
          <p:nvPr/>
        </p:nvSpPr>
        <p:spPr bwMode="auto">
          <a:xfrm>
            <a:off x="5638800" y="152400"/>
            <a:ext cx="381000" cy="838200"/>
          </a:xfrm>
          <a:prstGeom prst="rightBrace">
            <a:avLst>
              <a:gd name="adj1" fmla="val 18333"/>
              <a:gd name="adj2" fmla="val 50000"/>
            </a:avLst>
          </a:prstGeom>
          <a:noFill/>
          <a:ln w="9525">
            <a:solidFill>
              <a:srgbClr val="FF00FF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26C0C4-F5B6-4B47-A193-C64DC5061099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933890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933891" name="Text Box 3"/>
          <p:cNvSpPr txBox="1">
            <a:spLocks noChangeArrowheads="1"/>
          </p:cNvSpPr>
          <p:nvPr/>
        </p:nvSpPr>
        <p:spPr bwMode="auto">
          <a:xfrm>
            <a:off x="2590800" y="304800"/>
            <a:ext cx="59769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set of all Turing Machines</a:t>
            </a:r>
          </a:p>
          <a:p>
            <a:r>
              <a:rPr lang="en-US"/>
              <a:t>is countable</a:t>
            </a:r>
          </a:p>
        </p:txBody>
      </p:sp>
      <p:grpSp>
        <p:nvGrpSpPr>
          <p:cNvPr id="933895" name="Group 7"/>
          <p:cNvGrpSpPr>
            <a:grpSpLocks/>
          </p:cNvGrpSpPr>
          <p:nvPr/>
        </p:nvGrpSpPr>
        <p:grpSpPr bwMode="auto">
          <a:xfrm>
            <a:off x="228600" y="2819400"/>
            <a:ext cx="8728075" cy="3068638"/>
            <a:chOff x="144" y="1776"/>
            <a:chExt cx="5498" cy="1933"/>
          </a:xfrm>
        </p:grpSpPr>
        <p:sp>
          <p:nvSpPr>
            <p:cNvPr id="933892" name="Text Box 4"/>
            <p:cNvSpPr txBox="1">
              <a:spLocks noChangeArrowheads="1"/>
            </p:cNvSpPr>
            <p:nvPr/>
          </p:nvSpPr>
          <p:spPr bwMode="auto">
            <a:xfrm>
              <a:off x="144" y="1776"/>
              <a:ext cx="88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Proof:</a:t>
              </a:r>
            </a:p>
          </p:txBody>
        </p:sp>
        <p:sp>
          <p:nvSpPr>
            <p:cNvPr id="933893" name="Text Box 5"/>
            <p:cNvSpPr txBox="1">
              <a:spLocks noChangeArrowheads="1"/>
            </p:cNvSpPr>
            <p:nvPr/>
          </p:nvSpPr>
          <p:spPr bwMode="auto">
            <a:xfrm>
              <a:off x="1025" y="2976"/>
              <a:ext cx="4617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Find an enumeration procedure </a:t>
              </a:r>
            </a:p>
            <a:p>
              <a:r>
                <a:rPr lang="en-US"/>
                <a:t>for the set of Turing Machine strings</a:t>
              </a:r>
            </a:p>
          </p:txBody>
        </p:sp>
        <p:sp>
          <p:nvSpPr>
            <p:cNvPr id="933894" name="Text Box 6"/>
            <p:cNvSpPr txBox="1">
              <a:spLocks noChangeArrowheads="1"/>
            </p:cNvSpPr>
            <p:nvPr/>
          </p:nvSpPr>
          <p:spPr bwMode="auto">
            <a:xfrm>
              <a:off x="1056" y="1776"/>
              <a:ext cx="4380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Any Turing Machine can be encoded</a:t>
              </a:r>
            </a:p>
            <a:p>
              <a:r>
                <a:rPr lang="en-US"/>
                <a:t>with a binary string of </a:t>
              </a:r>
              <a:r>
                <a:rPr lang="en-US">
                  <a:solidFill>
                    <a:schemeClr val="tx1"/>
                  </a:solidFill>
                </a:rPr>
                <a:t>0’s</a:t>
              </a:r>
              <a:r>
                <a:rPr lang="en-US"/>
                <a:t> and </a:t>
              </a:r>
              <a:r>
                <a:rPr lang="en-US">
                  <a:solidFill>
                    <a:schemeClr val="tx1"/>
                  </a:solidFill>
                </a:rPr>
                <a:t>1’s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3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3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0FEA42-CDAC-4CC6-ADC1-E62F105C201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932868" name="Text Box 4"/>
          <p:cNvSpPr txBox="1">
            <a:spLocks noChangeArrowheads="1"/>
          </p:cNvSpPr>
          <p:nvPr/>
        </p:nvSpPr>
        <p:spPr bwMode="auto">
          <a:xfrm>
            <a:off x="777875" y="2184400"/>
            <a:ext cx="8120063" cy="4084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>
                <a:solidFill>
                  <a:srgbClr val="FF00FF"/>
                </a:solidFill>
              </a:rPr>
              <a:t>1.</a:t>
            </a:r>
            <a:r>
              <a:rPr lang="en-US"/>
              <a:t>  Generate the next binary string </a:t>
            </a:r>
          </a:p>
          <a:p>
            <a:pPr marL="457200" indent="-457200"/>
            <a:r>
              <a:rPr lang="en-US"/>
              <a:t>     of </a:t>
            </a:r>
            <a:r>
              <a:rPr lang="en-US">
                <a:solidFill>
                  <a:schemeClr val="tx1"/>
                </a:solidFill>
              </a:rPr>
              <a:t>0’s</a:t>
            </a:r>
            <a:r>
              <a:rPr lang="en-US"/>
              <a:t> and </a:t>
            </a:r>
            <a:r>
              <a:rPr lang="en-US">
                <a:solidFill>
                  <a:schemeClr val="tx1"/>
                </a:solidFill>
              </a:rPr>
              <a:t>1’s </a:t>
            </a:r>
            <a:r>
              <a:rPr lang="en-US"/>
              <a:t>in proper order</a:t>
            </a:r>
          </a:p>
          <a:p>
            <a:pPr marL="457200" indent="-457200"/>
            <a:endParaRPr lang="en-US"/>
          </a:p>
          <a:p>
            <a:pPr marL="457200" indent="-457200"/>
            <a:r>
              <a:rPr lang="en-US">
                <a:solidFill>
                  <a:srgbClr val="FF00FF"/>
                </a:solidFill>
              </a:rPr>
              <a:t>2.</a:t>
            </a:r>
            <a:r>
              <a:rPr lang="en-US"/>
              <a:t>  Check if the string describes a </a:t>
            </a:r>
          </a:p>
          <a:p>
            <a:pPr marL="457200" indent="-457200"/>
            <a:r>
              <a:rPr lang="en-US"/>
              <a:t>     Turing Machine</a:t>
            </a:r>
          </a:p>
          <a:p>
            <a:pPr marL="457200" indent="-457200"/>
            <a:r>
              <a:rPr lang="en-US"/>
              <a:t>           if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YES:</a:t>
            </a:r>
            <a:r>
              <a:rPr lang="en-US"/>
              <a:t> print string on output tape</a:t>
            </a:r>
          </a:p>
          <a:p>
            <a:pPr marL="457200" indent="-457200"/>
            <a:r>
              <a:rPr lang="en-US"/>
              <a:t>           if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NO:</a:t>
            </a:r>
            <a:r>
              <a:rPr lang="en-US"/>
              <a:t>  ignore string</a:t>
            </a:r>
          </a:p>
        </p:txBody>
      </p:sp>
      <p:sp>
        <p:nvSpPr>
          <p:cNvPr id="932869" name="Text Box 5"/>
          <p:cNvSpPr txBox="1">
            <a:spLocks noChangeArrowheads="1"/>
          </p:cNvSpPr>
          <p:nvPr/>
        </p:nvSpPr>
        <p:spPr bwMode="auto">
          <a:xfrm>
            <a:off x="0" y="457200"/>
            <a:ext cx="4845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Enumeration Procedure:</a:t>
            </a:r>
          </a:p>
        </p:txBody>
      </p:sp>
      <p:sp>
        <p:nvSpPr>
          <p:cNvPr id="932871" name="Text Box 7"/>
          <p:cNvSpPr txBox="1">
            <a:spLocks noChangeArrowheads="1"/>
          </p:cNvSpPr>
          <p:nvPr/>
        </p:nvSpPr>
        <p:spPr bwMode="auto">
          <a:xfrm>
            <a:off x="0" y="1398588"/>
            <a:ext cx="16668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009900"/>
                </a:solidFill>
              </a:rPr>
              <a:t>Repeat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Uncountable Sets</a:t>
            </a:r>
          </a:p>
        </p:txBody>
      </p:sp>
      <p:sp>
        <p:nvSpPr>
          <p:cNvPr id="93491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15AD77-1B8F-4856-AE60-A23833CF7BD5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931843" name="Text Box 3"/>
          <p:cNvSpPr txBox="1">
            <a:spLocks noChangeArrowheads="1"/>
          </p:cNvSpPr>
          <p:nvPr/>
        </p:nvSpPr>
        <p:spPr bwMode="auto">
          <a:xfrm>
            <a:off x="3124200" y="914400"/>
            <a:ext cx="41417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set is uncountable </a:t>
            </a:r>
          </a:p>
          <a:p>
            <a:r>
              <a:rPr lang="en-US"/>
              <a:t>if it is not countable</a:t>
            </a:r>
          </a:p>
        </p:txBody>
      </p:sp>
      <p:sp>
        <p:nvSpPr>
          <p:cNvPr id="931844" name="Text Box 4"/>
          <p:cNvSpPr txBox="1">
            <a:spLocks noChangeArrowheads="1"/>
          </p:cNvSpPr>
          <p:nvPr/>
        </p:nvSpPr>
        <p:spPr bwMode="auto">
          <a:xfrm>
            <a:off x="381000" y="914400"/>
            <a:ext cx="2203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Definition: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12E69B-E236-404C-B82A-A794184B5FDC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935938" name="Text Box 2"/>
          <p:cNvSpPr txBox="1">
            <a:spLocks noChangeArrowheads="1"/>
          </p:cNvSpPr>
          <p:nvPr/>
        </p:nvSpPr>
        <p:spPr bwMode="auto">
          <a:xfrm>
            <a:off x="441325" y="3302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935939" name="Text Box 3"/>
          <p:cNvSpPr txBox="1">
            <a:spLocks noChangeArrowheads="1"/>
          </p:cNvSpPr>
          <p:nvPr/>
        </p:nvSpPr>
        <p:spPr bwMode="auto">
          <a:xfrm>
            <a:off x="974725" y="1244600"/>
            <a:ext cx="79597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be an infinite countable set</a:t>
            </a:r>
          </a:p>
          <a:p>
            <a:endParaRPr lang="en-US"/>
          </a:p>
          <a:p>
            <a:r>
              <a:rPr lang="en-US"/>
              <a:t>The powerset         of       is uncountable </a:t>
            </a:r>
          </a:p>
        </p:txBody>
      </p:sp>
      <p:graphicFrame>
        <p:nvGraphicFramePr>
          <p:cNvPr id="973824" name="Object 1024"/>
          <p:cNvGraphicFramePr>
            <a:graphicFrameLocks noChangeAspect="1"/>
          </p:cNvGraphicFramePr>
          <p:nvPr/>
        </p:nvGraphicFramePr>
        <p:xfrm>
          <a:off x="3943350" y="2266950"/>
          <a:ext cx="54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30" name="Equation" r:id="rId3" imgW="545760" imgH="596880" progId="Equation.3">
                  <p:embed/>
                </p:oleObj>
              </mc:Choice>
              <mc:Fallback>
                <p:oleObj name="Equation" r:id="rId3" imgW="545760" imgH="59688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2266950"/>
                        <a:ext cx="546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25" name="Object 1025"/>
          <p:cNvGraphicFramePr>
            <a:graphicFrameLocks noChangeAspect="1"/>
          </p:cNvGraphicFramePr>
          <p:nvPr/>
        </p:nvGraphicFramePr>
        <p:xfrm>
          <a:off x="5410200" y="24384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31" name="Equation" r:id="rId5" imgW="330120" imgH="419040" progId="Equation.3">
                  <p:embed/>
                </p:oleObj>
              </mc:Choice>
              <mc:Fallback>
                <p:oleObj name="Equation" r:id="rId5" imgW="330120" imgH="41904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43840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26" name="Object 1026"/>
          <p:cNvGraphicFramePr>
            <a:graphicFrameLocks noChangeAspect="1"/>
          </p:cNvGraphicFramePr>
          <p:nvPr/>
        </p:nvGraphicFramePr>
        <p:xfrm>
          <a:off x="1905000" y="12954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32" name="Equation" r:id="rId7" imgW="330120" imgH="419040" progId="Equation.3">
                  <p:embed/>
                </p:oleObj>
              </mc:Choice>
              <mc:Fallback>
                <p:oleObj name="Equation" r:id="rId7" imgW="330120" imgH="41904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6C1BC2-BA36-4C43-B600-E9FD905FB23D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936962" name="Text Box 2"/>
          <p:cNvSpPr txBox="1">
            <a:spLocks noChangeArrowheads="1"/>
          </p:cNvSpPr>
          <p:nvPr/>
        </p:nvSpPr>
        <p:spPr bwMode="auto">
          <a:xfrm>
            <a:off x="212725" y="4064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936963" name="Text Box 3"/>
          <p:cNvSpPr txBox="1">
            <a:spLocks noChangeArrowheads="1"/>
          </p:cNvSpPr>
          <p:nvPr/>
        </p:nvSpPr>
        <p:spPr bwMode="auto">
          <a:xfrm>
            <a:off x="746125" y="1244600"/>
            <a:ext cx="7072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      is countable, we can write </a:t>
            </a:r>
          </a:p>
        </p:txBody>
      </p:sp>
      <p:graphicFrame>
        <p:nvGraphicFramePr>
          <p:cNvPr id="974848" name="Object 1024"/>
          <p:cNvGraphicFramePr>
            <a:graphicFrameLocks noChangeAspect="1"/>
          </p:cNvGraphicFramePr>
          <p:nvPr/>
        </p:nvGraphicFramePr>
        <p:xfrm>
          <a:off x="2120900" y="127635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54" name="Equation" r:id="rId3" imgW="330120" imgH="419040" progId="Equation.3">
                  <p:embed/>
                </p:oleObj>
              </mc:Choice>
              <mc:Fallback>
                <p:oleObj name="Equation" r:id="rId3" imgW="330120" imgH="41904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27635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4849" name="Object 1025"/>
          <p:cNvGraphicFramePr>
            <a:graphicFrameLocks noChangeAspect="1"/>
          </p:cNvGraphicFramePr>
          <p:nvPr/>
        </p:nvGraphicFramePr>
        <p:xfrm>
          <a:off x="2482850" y="2108200"/>
          <a:ext cx="3454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55" name="Equation" r:id="rId5" imgW="3454200" imgH="583920" progId="Equation.3">
                  <p:embed/>
                </p:oleObj>
              </mc:Choice>
              <mc:Fallback>
                <p:oleObj name="Equation" r:id="rId5" imgW="3454200" imgH="58392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108200"/>
                        <a:ext cx="34544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6966" name="Line 6"/>
          <p:cNvSpPr>
            <a:spLocks noChangeShapeType="1"/>
          </p:cNvSpPr>
          <p:nvPr/>
        </p:nvSpPr>
        <p:spPr bwMode="auto">
          <a:xfrm flipV="1">
            <a:off x="3657600" y="2819400"/>
            <a:ext cx="0" cy="990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36967" name="Text Box 7"/>
          <p:cNvSpPr txBox="1">
            <a:spLocks noChangeArrowheads="1"/>
          </p:cNvSpPr>
          <p:nvPr/>
        </p:nvSpPr>
        <p:spPr bwMode="auto">
          <a:xfrm>
            <a:off x="2663825" y="3854450"/>
            <a:ext cx="2455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Elements of</a:t>
            </a:r>
          </a:p>
        </p:txBody>
      </p:sp>
      <p:graphicFrame>
        <p:nvGraphicFramePr>
          <p:cNvPr id="974850" name="Object 1026"/>
          <p:cNvGraphicFramePr>
            <a:graphicFrameLocks noChangeAspect="1"/>
          </p:cNvGraphicFramePr>
          <p:nvPr/>
        </p:nvGraphicFramePr>
        <p:xfrm>
          <a:off x="5257800" y="38862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56" name="Equation" r:id="rId7" imgW="330120" imgH="419040" progId="Equation.3">
                  <p:embed/>
                </p:oleObj>
              </mc:Choice>
              <mc:Fallback>
                <p:oleObj name="Equation" r:id="rId7" imgW="330120" imgH="41904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8620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320D9C-F57B-4B7E-9A05-DA575BFE9528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937986" name="Text Box 2"/>
          <p:cNvSpPr txBox="1">
            <a:spLocks noChangeArrowheads="1"/>
          </p:cNvSpPr>
          <p:nvPr/>
        </p:nvSpPr>
        <p:spPr bwMode="auto">
          <a:xfrm>
            <a:off x="441325" y="558800"/>
            <a:ext cx="8023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Elements of the powerset have the form:</a:t>
            </a:r>
          </a:p>
        </p:txBody>
      </p:sp>
      <p:graphicFrame>
        <p:nvGraphicFramePr>
          <p:cNvPr id="975872" name="Object 0"/>
          <p:cNvGraphicFramePr>
            <a:graphicFrameLocks noChangeAspect="1"/>
          </p:cNvGraphicFramePr>
          <p:nvPr/>
        </p:nvGraphicFramePr>
        <p:xfrm>
          <a:off x="3359150" y="1955800"/>
          <a:ext cx="1397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76" name="Equation" r:id="rId3" imgW="1396800" imgH="583920" progId="Equation.3">
                  <p:embed/>
                </p:oleObj>
              </mc:Choice>
              <mc:Fallback>
                <p:oleObj name="Equation" r:id="rId3" imgW="1396800" imgH="5839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1955800"/>
                        <a:ext cx="1397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73" name="Object 1"/>
          <p:cNvGraphicFramePr>
            <a:graphicFrameLocks noChangeAspect="1"/>
          </p:cNvGraphicFramePr>
          <p:nvPr/>
        </p:nvGraphicFramePr>
        <p:xfrm>
          <a:off x="3352800" y="3352800"/>
          <a:ext cx="29083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77" name="Equation" r:id="rId5" imgW="2908080" imgH="583920" progId="Equation.3">
                  <p:embed/>
                </p:oleObj>
              </mc:Choice>
              <mc:Fallback>
                <p:oleObj name="Equation" r:id="rId5" imgW="2908080" imgH="5839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352800"/>
                        <a:ext cx="29083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89" name="Text Box 5"/>
          <p:cNvSpPr txBox="1">
            <a:spLocks noChangeArrowheads="1"/>
          </p:cNvSpPr>
          <p:nvPr/>
        </p:nvSpPr>
        <p:spPr bwMode="auto">
          <a:xfrm>
            <a:off x="3429000" y="4648200"/>
            <a:ext cx="733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……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B90809-E794-45D8-BA0E-64159AFCDAB8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939010" name="Text Box 2"/>
          <p:cNvSpPr txBox="1">
            <a:spLocks noChangeArrowheads="1"/>
          </p:cNvSpPr>
          <p:nvPr/>
        </p:nvSpPr>
        <p:spPr bwMode="auto">
          <a:xfrm>
            <a:off x="457200" y="0"/>
            <a:ext cx="81867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encode each element of the power set</a:t>
            </a:r>
          </a:p>
          <a:p>
            <a:r>
              <a:rPr lang="en-US"/>
              <a:t>with a binary string of </a:t>
            </a:r>
            <a:r>
              <a:rPr lang="en-US">
                <a:solidFill>
                  <a:schemeClr val="tx1"/>
                </a:solidFill>
              </a:rPr>
              <a:t>0’s</a:t>
            </a:r>
            <a:r>
              <a:rPr lang="en-US"/>
              <a:t> and </a:t>
            </a:r>
            <a:r>
              <a:rPr lang="en-US">
                <a:solidFill>
                  <a:schemeClr val="tx1"/>
                </a:solidFill>
              </a:rPr>
              <a:t>1’s</a:t>
            </a:r>
          </a:p>
        </p:txBody>
      </p:sp>
      <p:graphicFrame>
        <p:nvGraphicFramePr>
          <p:cNvPr id="976896" name="Object 0"/>
          <p:cNvGraphicFramePr>
            <a:graphicFrameLocks noChangeAspect="1"/>
          </p:cNvGraphicFramePr>
          <p:nvPr/>
        </p:nvGraphicFramePr>
        <p:xfrm>
          <a:off x="3587750" y="2722563"/>
          <a:ext cx="368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2" name="Equation" r:id="rId3" imgW="368280" imgH="571320" progId="Equation.3">
                  <p:embed/>
                </p:oleObj>
              </mc:Choice>
              <mc:Fallback>
                <p:oleObj name="Equation" r:id="rId3" imgW="368280" imgH="5713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2722563"/>
                        <a:ext cx="3683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897" name="Object 1"/>
          <p:cNvGraphicFramePr>
            <a:graphicFrameLocks noChangeAspect="1"/>
          </p:cNvGraphicFramePr>
          <p:nvPr/>
        </p:nvGraphicFramePr>
        <p:xfrm>
          <a:off x="4541838" y="2722563"/>
          <a:ext cx="4429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3" name="Equation" r:id="rId5" imgW="444240" imgH="571320" progId="Equation.3">
                  <p:embed/>
                </p:oleObj>
              </mc:Choice>
              <mc:Fallback>
                <p:oleObj name="Equation" r:id="rId5" imgW="444240" imgH="5713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2722563"/>
                        <a:ext cx="44291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898" name="Object 2"/>
          <p:cNvGraphicFramePr>
            <a:graphicFrameLocks noChangeAspect="1"/>
          </p:cNvGraphicFramePr>
          <p:nvPr/>
        </p:nvGraphicFramePr>
        <p:xfrm>
          <a:off x="5695950" y="2719388"/>
          <a:ext cx="4191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4" name="Equation" r:id="rId7" imgW="419040" imgH="583920" progId="Equation.3">
                  <p:embed/>
                </p:oleObj>
              </mc:Choice>
              <mc:Fallback>
                <p:oleObj name="Equation" r:id="rId7" imgW="419040" imgH="583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2719388"/>
                        <a:ext cx="4191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899" name="Object 3"/>
          <p:cNvGraphicFramePr>
            <a:graphicFrameLocks noChangeAspect="1"/>
          </p:cNvGraphicFramePr>
          <p:nvPr/>
        </p:nvGraphicFramePr>
        <p:xfrm>
          <a:off x="6751638" y="2722563"/>
          <a:ext cx="4429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5" name="Equation" r:id="rId9" imgW="444240" imgH="571320" progId="Equation.3">
                  <p:embed/>
                </p:oleObj>
              </mc:Choice>
              <mc:Fallback>
                <p:oleObj name="Equation" r:id="rId9" imgW="44424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1638" y="2722563"/>
                        <a:ext cx="44291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0" name="Object 4"/>
          <p:cNvGraphicFramePr>
            <a:graphicFrameLocks noChangeAspect="1"/>
          </p:cNvGraphicFramePr>
          <p:nvPr/>
        </p:nvGraphicFramePr>
        <p:xfrm>
          <a:off x="7550150" y="2976563"/>
          <a:ext cx="457200" cy="11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6" name="Equation" r:id="rId11" imgW="457200" imgH="114120" progId="Equation.3">
                  <p:embed/>
                </p:oleObj>
              </mc:Choice>
              <mc:Fallback>
                <p:oleObj name="Equation" r:id="rId11" imgW="457200" imgH="114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2976563"/>
                        <a:ext cx="457200" cy="112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1" name="Object 5"/>
          <p:cNvGraphicFramePr>
            <a:graphicFrameLocks noChangeAspect="1"/>
          </p:cNvGraphicFramePr>
          <p:nvPr/>
        </p:nvGraphicFramePr>
        <p:xfrm>
          <a:off x="3733800" y="3810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7" name="Equation" r:id="rId13" imgW="164880" imgH="368280" progId="Equation.3">
                  <p:embed/>
                </p:oleObj>
              </mc:Choice>
              <mc:Fallback>
                <p:oleObj name="Equation" r:id="rId13" imgW="16488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810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2" name="Object 6"/>
          <p:cNvGraphicFramePr>
            <a:graphicFrameLocks noChangeAspect="1"/>
          </p:cNvGraphicFramePr>
          <p:nvPr/>
        </p:nvGraphicFramePr>
        <p:xfrm>
          <a:off x="4679950" y="3803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8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3803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3" name="Object 7"/>
          <p:cNvGraphicFramePr>
            <a:graphicFrameLocks noChangeAspect="1"/>
          </p:cNvGraphicFramePr>
          <p:nvPr/>
        </p:nvGraphicFramePr>
        <p:xfrm>
          <a:off x="5822950" y="3803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49" name="Equation" r:id="rId17" imgW="253800" imgH="380880" progId="Equation.3">
                  <p:embed/>
                </p:oleObj>
              </mc:Choice>
              <mc:Fallback>
                <p:oleObj name="Equation" r:id="rId17" imgW="253800" imgH="380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3803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4" name="Object 8"/>
          <p:cNvGraphicFramePr>
            <a:graphicFrameLocks noChangeAspect="1"/>
          </p:cNvGraphicFramePr>
          <p:nvPr/>
        </p:nvGraphicFramePr>
        <p:xfrm>
          <a:off x="6813550" y="3803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0" name="Equation" r:id="rId18" imgW="253800" imgH="380880" progId="Equation.3">
                  <p:embed/>
                </p:oleObj>
              </mc:Choice>
              <mc:Fallback>
                <p:oleObj name="Equation" r:id="rId18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3803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5" name="Object 9"/>
          <p:cNvGraphicFramePr>
            <a:graphicFrameLocks noChangeAspect="1"/>
          </p:cNvGraphicFramePr>
          <p:nvPr/>
        </p:nvGraphicFramePr>
        <p:xfrm>
          <a:off x="641350" y="3708400"/>
          <a:ext cx="787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1" name="Equation" r:id="rId19" imgW="787320" imgH="571320" progId="Equation.3">
                  <p:embed/>
                </p:oleObj>
              </mc:Choice>
              <mc:Fallback>
                <p:oleObj name="Equation" r:id="rId19" imgW="787320" imgH="5713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3708400"/>
                        <a:ext cx="787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9022" name="Text Box 14"/>
          <p:cNvSpPr txBox="1">
            <a:spLocks noChangeArrowheads="1"/>
          </p:cNvSpPr>
          <p:nvPr/>
        </p:nvSpPr>
        <p:spPr bwMode="auto">
          <a:xfrm>
            <a:off x="288925" y="2311400"/>
            <a:ext cx="19177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Powerset</a:t>
            </a:r>
          </a:p>
          <a:p>
            <a:r>
              <a:rPr lang="en-US">
                <a:solidFill>
                  <a:srgbClr val="009900"/>
                </a:solidFill>
              </a:rPr>
              <a:t>element</a:t>
            </a:r>
          </a:p>
        </p:txBody>
      </p:sp>
      <p:sp>
        <p:nvSpPr>
          <p:cNvPr id="939023" name="Text Box 15"/>
          <p:cNvSpPr txBox="1">
            <a:spLocks noChangeArrowheads="1"/>
          </p:cNvSpPr>
          <p:nvPr/>
        </p:nvSpPr>
        <p:spPr bwMode="auto">
          <a:xfrm>
            <a:off x="4495800" y="1905000"/>
            <a:ext cx="1855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Encoding</a:t>
            </a:r>
          </a:p>
        </p:txBody>
      </p:sp>
      <p:graphicFrame>
        <p:nvGraphicFramePr>
          <p:cNvPr id="976906" name="Object 10"/>
          <p:cNvGraphicFramePr>
            <a:graphicFrameLocks noChangeAspect="1"/>
          </p:cNvGraphicFramePr>
          <p:nvPr/>
        </p:nvGraphicFramePr>
        <p:xfrm>
          <a:off x="3733800" y="4876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2" name="Equation" r:id="rId21" imgW="253800" imgH="380880" progId="Equation.3">
                  <p:embed/>
                </p:oleObj>
              </mc:Choice>
              <mc:Fallback>
                <p:oleObj name="Equation" r:id="rId21" imgW="253800" imgH="380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876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7" name="Object 11"/>
          <p:cNvGraphicFramePr>
            <a:graphicFrameLocks noChangeAspect="1"/>
          </p:cNvGraphicFramePr>
          <p:nvPr/>
        </p:nvGraphicFramePr>
        <p:xfrm>
          <a:off x="4768850" y="4883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3" name="Equation" r:id="rId22" imgW="164880" imgH="368280" progId="Equation.3">
                  <p:embed/>
                </p:oleObj>
              </mc:Choice>
              <mc:Fallback>
                <p:oleObj name="Equation" r:id="rId22" imgW="16488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4883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8" name="Object 12"/>
          <p:cNvGraphicFramePr>
            <a:graphicFrameLocks noChangeAspect="1"/>
          </p:cNvGraphicFramePr>
          <p:nvPr/>
        </p:nvGraphicFramePr>
        <p:xfrm>
          <a:off x="5911850" y="4883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4" name="Equation" r:id="rId24" imgW="164880" imgH="368280" progId="Equation.3">
                  <p:embed/>
                </p:oleObj>
              </mc:Choice>
              <mc:Fallback>
                <p:oleObj name="Equation" r:id="rId24" imgW="16488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850" y="4883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09" name="Object 13"/>
          <p:cNvGraphicFramePr>
            <a:graphicFrameLocks noChangeAspect="1"/>
          </p:cNvGraphicFramePr>
          <p:nvPr/>
        </p:nvGraphicFramePr>
        <p:xfrm>
          <a:off x="6858000" y="4876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5" name="Equation" r:id="rId25" imgW="253800" imgH="380880" progId="Equation.3">
                  <p:embed/>
                </p:oleObj>
              </mc:Choice>
              <mc:Fallback>
                <p:oleObj name="Equation" r:id="rId25" imgW="253800" imgH="3808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876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0" name="Object 14"/>
          <p:cNvGraphicFramePr>
            <a:graphicFrameLocks noChangeAspect="1"/>
          </p:cNvGraphicFramePr>
          <p:nvPr/>
        </p:nvGraphicFramePr>
        <p:xfrm>
          <a:off x="342900" y="4776788"/>
          <a:ext cx="14732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6" name="Equation" r:id="rId26" imgW="1473120" imgH="583920" progId="Equation.3">
                  <p:embed/>
                </p:oleObj>
              </mc:Choice>
              <mc:Fallback>
                <p:oleObj name="Equation" r:id="rId26" imgW="1473120" imgH="58392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4776788"/>
                        <a:ext cx="1473200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1" name="Object 15"/>
          <p:cNvGraphicFramePr>
            <a:graphicFrameLocks noChangeAspect="1"/>
          </p:cNvGraphicFramePr>
          <p:nvPr/>
        </p:nvGraphicFramePr>
        <p:xfrm>
          <a:off x="3810000" y="6019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7" name="Equation" r:id="rId28" imgW="164880" imgH="368280" progId="Equation.3">
                  <p:embed/>
                </p:oleObj>
              </mc:Choice>
              <mc:Fallback>
                <p:oleObj name="Equation" r:id="rId28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019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2" name="Object 16"/>
          <p:cNvGraphicFramePr>
            <a:graphicFrameLocks noChangeAspect="1"/>
          </p:cNvGraphicFramePr>
          <p:nvPr/>
        </p:nvGraphicFramePr>
        <p:xfrm>
          <a:off x="4832350" y="60134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8" name="Equation" r:id="rId29" imgW="253800" imgH="380880" progId="Equation.3">
                  <p:embed/>
                </p:oleObj>
              </mc:Choice>
              <mc:Fallback>
                <p:oleObj name="Equation" r:id="rId29" imgW="253800" imgH="3808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60134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3" name="Object 17"/>
          <p:cNvGraphicFramePr>
            <a:graphicFrameLocks noChangeAspect="1"/>
          </p:cNvGraphicFramePr>
          <p:nvPr/>
        </p:nvGraphicFramePr>
        <p:xfrm>
          <a:off x="6019800" y="6019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59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6019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4" name="Object 18"/>
          <p:cNvGraphicFramePr>
            <a:graphicFrameLocks noChangeAspect="1"/>
          </p:cNvGraphicFramePr>
          <p:nvPr/>
        </p:nvGraphicFramePr>
        <p:xfrm>
          <a:off x="7010400" y="6019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60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6019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5" name="Object 19"/>
          <p:cNvGraphicFramePr>
            <a:graphicFrameLocks noChangeAspect="1"/>
          </p:cNvGraphicFramePr>
          <p:nvPr/>
        </p:nvGraphicFramePr>
        <p:xfrm>
          <a:off x="184150" y="5913438"/>
          <a:ext cx="20066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61" name="Equation" r:id="rId32" imgW="2006280" imgH="583920" progId="Equation.3">
                  <p:embed/>
                </p:oleObj>
              </mc:Choice>
              <mc:Fallback>
                <p:oleObj name="Equation" r:id="rId32" imgW="2006280" imgH="58392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" y="5913438"/>
                        <a:ext cx="2006600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9034" name="Line 26"/>
          <p:cNvSpPr>
            <a:spLocks noChangeShapeType="1"/>
          </p:cNvSpPr>
          <p:nvPr/>
        </p:nvSpPr>
        <p:spPr bwMode="auto">
          <a:xfrm>
            <a:off x="0" y="3505200"/>
            <a:ext cx="8534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39035" name="Line 27"/>
          <p:cNvSpPr>
            <a:spLocks noChangeShapeType="1"/>
          </p:cNvSpPr>
          <p:nvPr/>
        </p:nvSpPr>
        <p:spPr bwMode="auto">
          <a:xfrm>
            <a:off x="3124200" y="1905000"/>
            <a:ext cx="0" cy="49530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76916" name="Object 20"/>
          <p:cNvGraphicFramePr>
            <a:graphicFrameLocks noChangeAspect="1"/>
          </p:cNvGraphicFramePr>
          <p:nvPr/>
        </p:nvGraphicFramePr>
        <p:xfrm>
          <a:off x="7600950" y="39624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62" name="Equation" r:id="rId34" imgW="457200" imgH="114120" progId="Equation.3">
                  <p:embed/>
                </p:oleObj>
              </mc:Choice>
              <mc:Fallback>
                <p:oleObj name="Equation" r:id="rId34" imgW="457200" imgH="11412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39624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7" name="Object 21"/>
          <p:cNvGraphicFramePr>
            <a:graphicFrameLocks noChangeAspect="1"/>
          </p:cNvGraphicFramePr>
          <p:nvPr/>
        </p:nvGraphicFramePr>
        <p:xfrm>
          <a:off x="7600950" y="50292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63" name="Equation" r:id="rId35" imgW="457200" imgH="114120" progId="Equation.3">
                  <p:embed/>
                </p:oleObj>
              </mc:Choice>
              <mc:Fallback>
                <p:oleObj name="Equation" r:id="rId35" imgW="45720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50292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918" name="Object 22"/>
          <p:cNvGraphicFramePr>
            <a:graphicFrameLocks noChangeAspect="1"/>
          </p:cNvGraphicFramePr>
          <p:nvPr/>
        </p:nvGraphicFramePr>
        <p:xfrm>
          <a:off x="7600950" y="61722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64" name="Equation" r:id="rId36" imgW="457200" imgH="114120" progId="Equation.3">
                  <p:embed/>
                </p:oleObj>
              </mc:Choice>
              <mc:Fallback>
                <p:oleObj name="Equation" r:id="rId36" imgW="457200" imgH="11412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61722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91AB05-EFB3-44F6-8FC0-2C9491D6244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940034" name="Text Box 2"/>
          <p:cNvSpPr txBox="1">
            <a:spLocks noChangeArrowheads="1"/>
          </p:cNvSpPr>
          <p:nvPr/>
        </p:nvSpPr>
        <p:spPr bwMode="auto">
          <a:xfrm>
            <a:off x="136525" y="101600"/>
            <a:ext cx="63785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Let’s assume (for contradiction) </a:t>
            </a:r>
          </a:p>
          <a:p>
            <a:r>
              <a:rPr lang="en-US">
                <a:solidFill>
                  <a:srgbClr val="FF0000"/>
                </a:solidFill>
              </a:rPr>
              <a:t>that the powerset is countable.</a:t>
            </a:r>
          </a:p>
        </p:txBody>
      </p:sp>
      <p:sp>
        <p:nvSpPr>
          <p:cNvPr id="940035" name="Text Box 3"/>
          <p:cNvSpPr txBox="1">
            <a:spLocks noChangeArrowheads="1"/>
          </p:cNvSpPr>
          <p:nvPr/>
        </p:nvSpPr>
        <p:spPr bwMode="auto">
          <a:xfrm>
            <a:off x="914400" y="3276600"/>
            <a:ext cx="76628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Then:      </a:t>
            </a:r>
            <a:r>
              <a:rPr lang="en-US"/>
              <a:t>we can enumerate </a:t>
            </a:r>
          </a:p>
          <a:p>
            <a:r>
              <a:rPr lang="en-US"/>
              <a:t>               the elements of the powerset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5436A-43B6-4D21-9999-D773D9F9E9A6}" type="slidenum">
              <a:rPr lang="en-US" altLang="en-US"/>
              <a:pPr/>
              <a:t>46</a:t>
            </a:fld>
            <a:endParaRPr lang="en-US" altLang="en-US"/>
          </a:p>
        </p:txBody>
      </p:sp>
      <p:graphicFrame>
        <p:nvGraphicFramePr>
          <p:cNvPr id="941058" name="Object 2"/>
          <p:cNvGraphicFramePr>
            <a:graphicFrameLocks noChangeAspect="1"/>
          </p:cNvGraphicFramePr>
          <p:nvPr/>
        </p:nvGraphicFramePr>
        <p:xfrm>
          <a:off x="3244850" y="1682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0" name="Equation" r:id="rId3" imgW="164880" imgH="368280" progId="Equation.3">
                  <p:embed/>
                </p:oleObj>
              </mc:Choice>
              <mc:Fallback>
                <p:oleObj name="Equation" r:id="rId3" imgW="16488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1682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59" name="Object 3"/>
          <p:cNvGraphicFramePr>
            <a:graphicFrameLocks noChangeAspect="1"/>
          </p:cNvGraphicFramePr>
          <p:nvPr/>
        </p:nvGraphicFramePr>
        <p:xfrm>
          <a:off x="4114800" y="1676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1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76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0" name="Object 4"/>
          <p:cNvGraphicFramePr>
            <a:graphicFrameLocks noChangeAspect="1"/>
          </p:cNvGraphicFramePr>
          <p:nvPr/>
        </p:nvGraphicFramePr>
        <p:xfrm>
          <a:off x="5029200" y="1676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2" name="Equation" r:id="rId7" imgW="253800" imgH="380880" progId="Equation.3">
                  <p:embed/>
                </p:oleObj>
              </mc:Choice>
              <mc:Fallback>
                <p:oleObj name="Equation" r:id="rId7" imgW="25380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676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1" name="Object 5"/>
          <p:cNvGraphicFramePr>
            <a:graphicFrameLocks noChangeAspect="1"/>
          </p:cNvGraphicFramePr>
          <p:nvPr/>
        </p:nvGraphicFramePr>
        <p:xfrm>
          <a:off x="5943600" y="1676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3" name="Equation" r:id="rId8" imgW="253800" imgH="380880" progId="Equation.3">
                  <p:embed/>
                </p:oleObj>
              </mc:Choice>
              <mc:Fallback>
                <p:oleObj name="Equation" r:id="rId8" imgW="253800" imgH="380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676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3" name="Object 7"/>
          <p:cNvGraphicFramePr>
            <a:graphicFrameLocks noChangeAspect="1"/>
          </p:cNvGraphicFramePr>
          <p:nvPr/>
        </p:nvGraphicFramePr>
        <p:xfrm>
          <a:off x="6858000" y="1676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4" name="Equation" r:id="rId9" imgW="253800" imgH="380880" progId="Equation.3">
                  <p:embed/>
                </p:oleObj>
              </mc:Choice>
              <mc:Fallback>
                <p:oleObj name="Equation" r:id="rId9" imgW="253800" imgH="380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676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4" name="Object 8"/>
          <p:cNvGraphicFramePr>
            <a:graphicFrameLocks noChangeAspect="1"/>
          </p:cNvGraphicFramePr>
          <p:nvPr/>
        </p:nvGraphicFramePr>
        <p:xfrm>
          <a:off x="3289300" y="29083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5" name="Equation" r:id="rId10" imgW="164880" imgH="368280" progId="Equation.3">
                  <p:embed/>
                </p:oleObj>
              </mc:Choice>
              <mc:Fallback>
                <p:oleObj name="Equation" r:id="rId10" imgW="16488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9083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5" name="Object 9"/>
          <p:cNvGraphicFramePr>
            <a:graphicFrameLocks noChangeAspect="1"/>
          </p:cNvGraphicFramePr>
          <p:nvPr/>
        </p:nvGraphicFramePr>
        <p:xfrm>
          <a:off x="4203700" y="29083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6" name="Equation" r:id="rId11" imgW="164880" imgH="368280" progId="Equation.3">
                  <p:embed/>
                </p:oleObj>
              </mc:Choice>
              <mc:Fallback>
                <p:oleObj name="Equation" r:id="rId11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29083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6" name="Object 10"/>
          <p:cNvGraphicFramePr>
            <a:graphicFrameLocks noChangeAspect="1"/>
          </p:cNvGraphicFramePr>
          <p:nvPr/>
        </p:nvGraphicFramePr>
        <p:xfrm>
          <a:off x="5073650" y="2901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7" name="Equation" r:id="rId13" imgW="253800" imgH="380880" progId="Equation.3">
                  <p:embed/>
                </p:oleObj>
              </mc:Choice>
              <mc:Fallback>
                <p:oleObj name="Equation" r:id="rId13" imgW="253800" imgH="380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2901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7" name="Object 11"/>
          <p:cNvGraphicFramePr>
            <a:graphicFrameLocks noChangeAspect="1"/>
          </p:cNvGraphicFramePr>
          <p:nvPr/>
        </p:nvGraphicFramePr>
        <p:xfrm>
          <a:off x="5988050" y="2901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8" name="Equation" r:id="rId14" imgW="253800" imgH="380880" progId="Equation.3">
                  <p:embed/>
                </p:oleObj>
              </mc:Choice>
              <mc:Fallback>
                <p:oleObj name="Equation" r:id="rId14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2901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8" name="Object 12"/>
          <p:cNvGraphicFramePr>
            <a:graphicFrameLocks noChangeAspect="1"/>
          </p:cNvGraphicFramePr>
          <p:nvPr/>
        </p:nvGraphicFramePr>
        <p:xfrm>
          <a:off x="6902450" y="2901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29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901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9" name="Object 13"/>
          <p:cNvGraphicFramePr>
            <a:graphicFrameLocks noChangeAspect="1"/>
          </p:cNvGraphicFramePr>
          <p:nvPr/>
        </p:nvGraphicFramePr>
        <p:xfrm>
          <a:off x="3289300" y="4127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0" name="Equation" r:id="rId16" imgW="164880" imgH="368280" progId="Equation.3">
                  <p:embed/>
                </p:oleObj>
              </mc:Choice>
              <mc:Fallback>
                <p:oleObj name="Equation" r:id="rId16" imgW="1648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127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0" name="Object 14"/>
          <p:cNvGraphicFramePr>
            <a:graphicFrameLocks noChangeAspect="1"/>
          </p:cNvGraphicFramePr>
          <p:nvPr/>
        </p:nvGraphicFramePr>
        <p:xfrm>
          <a:off x="4203700" y="4127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1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4127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1" name="Object 15"/>
          <p:cNvGraphicFramePr>
            <a:graphicFrameLocks noChangeAspect="1"/>
          </p:cNvGraphicFramePr>
          <p:nvPr/>
        </p:nvGraphicFramePr>
        <p:xfrm>
          <a:off x="5073650" y="4121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2" name="Equation" r:id="rId18" imgW="253800" imgH="380880" progId="Equation.3">
                  <p:embed/>
                </p:oleObj>
              </mc:Choice>
              <mc:Fallback>
                <p:oleObj name="Equation" r:id="rId18" imgW="253800" imgH="3808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121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2" name="Object 16"/>
          <p:cNvGraphicFramePr>
            <a:graphicFrameLocks noChangeAspect="1"/>
          </p:cNvGraphicFramePr>
          <p:nvPr/>
        </p:nvGraphicFramePr>
        <p:xfrm>
          <a:off x="6032500" y="4127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3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4127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3" name="Object 17"/>
          <p:cNvGraphicFramePr>
            <a:graphicFrameLocks noChangeAspect="1"/>
          </p:cNvGraphicFramePr>
          <p:nvPr/>
        </p:nvGraphicFramePr>
        <p:xfrm>
          <a:off x="6902450" y="4121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4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4121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4" name="Object 18"/>
          <p:cNvGraphicFramePr>
            <a:graphicFrameLocks noChangeAspect="1"/>
          </p:cNvGraphicFramePr>
          <p:nvPr/>
        </p:nvGraphicFramePr>
        <p:xfrm>
          <a:off x="3289300" y="5422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5" name="Equation" r:id="rId21" imgW="164880" imgH="368280" progId="Equation.3">
                  <p:embed/>
                </p:oleObj>
              </mc:Choice>
              <mc:Fallback>
                <p:oleObj name="Equation" r:id="rId21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5422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5" name="Object 19"/>
          <p:cNvGraphicFramePr>
            <a:graphicFrameLocks noChangeAspect="1"/>
          </p:cNvGraphicFramePr>
          <p:nvPr/>
        </p:nvGraphicFramePr>
        <p:xfrm>
          <a:off x="4203700" y="5422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6" name="Equation" r:id="rId22" imgW="164880" imgH="368280" progId="Equation.3">
                  <p:embed/>
                </p:oleObj>
              </mc:Choice>
              <mc:Fallback>
                <p:oleObj name="Equation" r:id="rId22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5422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6" name="Object 20"/>
          <p:cNvGraphicFramePr>
            <a:graphicFrameLocks noChangeAspect="1"/>
          </p:cNvGraphicFramePr>
          <p:nvPr/>
        </p:nvGraphicFramePr>
        <p:xfrm>
          <a:off x="5073650" y="5416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7" name="Equation" r:id="rId23" imgW="253800" imgH="380880" progId="Equation.3">
                  <p:embed/>
                </p:oleObj>
              </mc:Choice>
              <mc:Fallback>
                <p:oleObj name="Equation" r:id="rId23" imgW="253800" imgH="3808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416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7" name="Object 21"/>
          <p:cNvGraphicFramePr>
            <a:graphicFrameLocks noChangeAspect="1"/>
          </p:cNvGraphicFramePr>
          <p:nvPr/>
        </p:nvGraphicFramePr>
        <p:xfrm>
          <a:off x="5988050" y="5416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8" name="Equation" r:id="rId24" imgW="253800" imgH="380880" progId="Equation.3">
                  <p:embed/>
                </p:oleObj>
              </mc:Choice>
              <mc:Fallback>
                <p:oleObj name="Equation" r:id="rId24" imgW="253800" imgH="3808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5416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78" name="Object 22"/>
          <p:cNvGraphicFramePr>
            <a:graphicFrameLocks noChangeAspect="1"/>
          </p:cNvGraphicFramePr>
          <p:nvPr/>
        </p:nvGraphicFramePr>
        <p:xfrm>
          <a:off x="6946900" y="5422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39" name="Equation" r:id="rId25" imgW="164880" imgH="368280" progId="Equation.3">
                  <p:embed/>
                </p:oleObj>
              </mc:Choice>
              <mc:Fallback>
                <p:oleObj name="Equation" r:id="rId25" imgW="16488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422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1079" name="Text Box 23"/>
          <p:cNvSpPr txBox="1">
            <a:spLocks noChangeArrowheads="1"/>
          </p:cNvSpPr>
          <p:nvPr/>
        </p:nvSpPr>
        <p:spPr bwMode="auto">
          <a:xfrm>
            <a:off x="669925" y="254000"/>
            <a:ext cx="20399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Powerset </a:t>
            </a:r>
          </a:p>
          <a:p>
            <a:r>
              <a:rPr lang="en-US">
                <a:solidFill>
                  <a:srgbClr val="009900"/>
                </a:solidFill>
              </a:rPr>
              <a:t>element</a:t>
            </a:r>
          </a:p>
        </p:txBody>
      </p:sp>
      <p:sp>
        <p:nvSpPr>
          <p:cNvPr id="941080" name="Text Box 24"/>
          <p:cNvSpPr txBox="1">
            <a:spLocks noChangeArrowheads="1"/>
          </p:cNvSpPr>
          <p:nvPr/>
        </p:nvSpPr>
        <p:spPr bwMode="auto">
          <a:xfrm>
            <a:off x="4191000" y="609600"/>
            <a:ext cx="1855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Encoding</a:t>
            </a:r>
          </a:p>
        </p:txBody>
      </p:sp>
      <p:graphicFrame>
        <p:nvGraphicFramePr>
          <p:cNvPr id="941082" name="Object 26"/>
          <p:cNvGraphicFramePr>
            <a:graphicFrameLocks noChangeAspect="1"/>
          </p:cNvGraphicFramePr>
          <p:nvPr/>
        </p:nvGraphicFramePr>
        <p:xfrm>
          <a:off x="1282700" y="1574800"/>
          <a:ext cx="290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0" name="Equation" r:id="rId26" imgW="291960" imgH="571320" progId="Equation.3">
                  <p:embed/>
                </p:oleObj>
              </mc:Choice>
              <mc:Fallback>
                <p:oleObj name="Equation" r:id="rId26" imgW="291960" imgH="5713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1574800"/>
                        <a:ext cx="2905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3" name="Object 27"/>
          <p:cNvGraphicFramePr>
            <a:graphicFrameLocks noChangeAspect="1"/>
          </p:cNvGraphicFramePr>
          <p:nvPr/>
        </p:nvGraphicFramePr>
        <p:xfrm>
          <a:off x="1244600" y="2794000"/>
          <a:ext cx="3667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1" name="Equation" r:id="rId28" imgW="368280" imgH="571320" progId="Equation.3">
                  <p:embed/>
                </p:oleObj>
              </mc:Choice>
              <mc:Fallback>
                <p:oleObj name="Equation" r:id="rId28" imgW="368280" imgH="57132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2794000"/>
                        <a:ext cx="3667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4" name="Object 28"/>
          <p:cNvGraphicFramePr>
            <a:graphicFrameLocks noChangeAspect="1"/>
          </p:cNvGraphicFramePr>
          <p:nvPr/>
        </p:nvGraphicFramePr>
        <p:xfrm>
          <a:off x="1257300" y="3932238"/>
          <a:ext cx="3413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2" name="Equation" r:id="rId30" imgW="342720" imgH="583920" progId="Equation.3">
                  <p:embed/>
                </p:oleObj>
              </mc:Choice>
              <mc:Fallback>
                <p:oleObj name="Equation" r:id="rId30" imgW="342720" imgH="58392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3932238"/>
                        <a:ext cx="3413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5" name="Object 29"/>
          <p:cNvGraphicFramePr>
            <a:graphicFrameLocks noChangeAspect="1"/>
          </p:cNvGraphicFramePr>
          <p:nvPr/>
        </p:nvGraphicFramePr>
        <p:xfrm>
          <a:off x="1244600" y="5308600"/>
          <a:ext cx="3667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3" name="Equation" r:id="rId32" imgW="368280" imgH="571320" progId="Equation.3">
                  <p:embed/>
                </p:oleObj>
              </mc:Choice>
              <mc:Fallback>
                <p:oleObj name="Equation" r:id="rId32" imgW="368280" imgH="57132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308600"/>
                        <a:ext cx="3667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6" name="Object 30"/>
          <p:cNvGraphicFramePr>
            <a:graphicFrameLocks noChangeAspect="1"/>
          </p:cNvGraphicFramePr>
          <p:nvPr/>
        </p:nvGraphicFramePr>
        <p:xfrm>
          <a:off x="7543800" y="18288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4" name="Equation" r:id="rId34" imgW="419040" imgH="114120" progId="Equation.3">
                  <p:embed/>
                </p:oleObj>
              </mc:Choice>
              <mc:Fallback>
                <p:oleObj name="Equation" r:id="rId34" imgW="419040" imgH="11412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8288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7" name="Object 31"/>
          <p:cNvGraphicFramePr>
            <a:graphicFrameLocks noChangeAspect="1"/>
          </p:cNvGraphicFramePr>
          <p:nvPr/>
        </p:nvGraphicFramePr>
        <p:xfrm>
          <a:off x="7620000" y="3048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5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048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8" name="Object 32"/>
          <p:cNvGraphicFramePr>
            <a:graphicFrameLocks noChangeAspect="1"/>
          </p:cNvGraphicFramePr>
          <p:nvPr/>
        </p:nvGraphicFramePr>
        <p:xfrm>
          <a:off x="7620000" y="4267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6" name="Equation" r:id="rId37" imgW="419040" imgH="114120" progId="Equation.3">
                  <p:embed/>
                </p:oleObj>
              </mc:Choice>
              <mc:Fallback>
                <p:oleObj name="Equation" r:id="rId37" imgW="419040" imgH="11412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267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89" name="Object 33"/>
          <p:cNvGraphicFramePr>
            <a:graphicFrameLocks noChangeAspect="1"/>
          </p:cNvGraphicFramePr>
          <p:nvPr/>
        </p:nvGraphicFramePr>
        <p:xfrm>
          <a:off x="7543800" y="5562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7" name="Equation" r:id="rId38" imgW="419040" imgH="114120" progId="Equation.3">
                  <p:embed/>
                </p:oleObj>
              </mc:Choice>
              <mc:Fallback>
                <p:oleObj name="Equation" r:id="rId38" imgW="419040" imgH="11412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562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90" name="Object 34"/>
          <p:cNvGraphicFramePr>
            <a:graphicFrameLocks noChangeAspect="1"/>
          </p:cNvGraphicFramePr>
          <p:nvPr/>
        </p:nvGraphicFramePr>
        <p:xfrm>
          <a:off x="1200150" y="64008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48" name="Equation" r:id="rId39" imgW="457200" imgH="114120" progId="Equation.3">
                  <p:embed/>
                </p:oleObj>
              </mc:Choice>
              <mc:Fallback>
                <p:oleObj name="Equation" r:id="rId39" imgW="457200" imgH="11412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64008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24F4AE-CECD-482C-89F6-5AB9A5574765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943106" name="Text Box 2"/>
          <p:cNvSpPr txBox="1">
            <a:spLocks noChangeArrowheads="1"/>
          </p:cNvSpPr>
          <p:nvPr/>
        </p:nvSpPr>
        <p:spPr bwMode="auto">
          <a:xfrm>
            <a:off x="1600200" y="1905000"/>
            <a:ext cx="63960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the powerset element</a:t>
            </a:r>
          </a:p>
          <a:p>
            <a:r>
              <a:rPr lang="en-US"/>
              <a:t>whose bits are the complements </a:t>
            </a:r>
          </a:p>
          <a:p>
            <a:r>
              <a:rPr lang="en-US"/>
              <a:t>in the diagonal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4CB772-A6E6-4341-A9E4-0A87B29AB3CC}" type="slidenum">
              <a:rPr lang="en-US" altLang="en-US"/>
              <a:pPr/>
              <a:t>48</a:t>
            </a:fld>
            <a:endParaRPr lang="en-US" altLang="en-US"/>
          </a:p>
        </p:txBody>
      </p:sp>
      <p:graphicFrame>
        <p:nvGraphicFramePr>
          <p:cNvPr id="977920" name="Object 0"/>
          <p:cNvGraphicFramePr>
            <a:graphicFrameLocks noChangeAspect="1"/>
          </p:cNvGraphicFramePr>
          <p:nvPr/>
        </p:nvGraphicFramePr>
        <p:xfrm>
          <a:off x="3244850" y="539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8" name="Equation" r:id="rId3" imgW="164880" imgH="368280" progId="Equation.3">
                  <p:embed/>
                </p:oleObj>
              </mc:Choice>
              <mc:Fallback>
                <p:oleObj name="Equation" r:id="rId3" imgW="16488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539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1" name="Object 1"/>
          <p:cNvGraphicFramePr>
            <a:graphicFrameLocks noChangeAspect="1"/>
          </p:cNvGraphicFramePr>
          <p:nvPr/>
        </p:nvGraphicFramePr>
        <p:xfrm>
          <a:off x="4114800" y="533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9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3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2" name="Object 2"/>
          <p:cNvGraphicFramePr>
            <a:graphicFrameLocks noChangeAspect="1"/>
          </p:cNvGraphicFramePr>
          <p:nvPr/>
        </p:nvGraphicFramePr>
        <p:xfrm>
          <a:off x="5029200" y="533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0" name="Equation" r:id="rId7" imgW="253800" imgH="380880" progId="Equation.3">
                  <p:embed/>
                </p:oleObj>
              </mc:Choice>
              <mc:Fallback>
                <p:oleObj name="Equation" r:id="rId7" imgW="253800" imgH="380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33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3" name="Object 3"/>
          <p:cNvGraphicFramePr>
            <a:graphicFrameLocks noChangeAspect="1"/>
          </p:cNvGraphicFramePr>
          <p:nvPr/>
        </p:nvGraphicFramePr>
        <p:xfrm>
          <a:off x="5943600" y="533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1" name="Equation" r:id="rId8" imgW="253800" imgH="380880" progId="Equation.3">
                  <p:embed/>
                </p:oleObj>
              </mc:Choice>
              <mc:Fallback>
                <p:oleObj name="Equation" r:id="rId8" imgW="253800" imgH="380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33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4" name="Object 4"/>
          <p:cNvGraphicFramePr>
            <a:graphicFrameLocks noChangeAspect="1"/>
          </p:cNvGraphicFramePr>
          <p:nvPr/>
        </p:nvGraphicFramePr>
        <p:xfrm>
          <a:off x="6858000" y="533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2" name="Equation" r:id="rId9" imgW="253800" imgH="380880" progId="Equation.3">
                  <p:embed/>
                </p:oleObj>
              </mc:Choice>
              <mc:Fallback>
                <p:oleObj name="Equation" r:id="rId9" imgW="25380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33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5" name="Object 5"/>
          <p:cNvGraphicFramePr>
            <a:graphicFrameLocks noChangeAspect="1"/>
          </p:cNvGraphicFramePr>
          <p:nvPr/>
        </p:nvGraphicFramePr>
        <p:xfrm>
          <a:off x="3289300" y="17653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3" name="Equation" r:id="rId10" imgW="164880" imgH="368280" progId="Equation.3">
                  <p:embed/>
                </p:oleObj>
              </mc:Choice>
              <mc:Fallback>
                <p:oleObj name="Equation" r:id="rId10" imgW="16488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17653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6" name="Object 6"/>
          <p:cNvGraphicFramePr>
            <a:graphicFrameLocks noChangeAspect="1"/>
          </p:cNvGraphicFramePr>
          <p:nvPr/>
        </p:nvGraphicFramePr>
        <p:xfrm>
          <a:off x="4203700" y="17653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4" name="Equation" r:id="rId11" imgW="164880" imgH="368280" progId="Equation.3">
                  <p:embed/>
                </p:oleObj>
              </mc:Choice>
              <mc:Fallback>
                <p:oleObj name="Equation" r:id="rId11" imgW="16488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17653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7" name="Object 7"/>
          <p:cNvGraphicFramePr>
            <a:graphicFrameLocks noChangeAspect="1"/>
          </p:cNvGraphicFramePr>
          <p:nvPr/>
        </p:nvGraphicFramePr>
        <p:xfrm>
          <a:off x="5073650" y="1758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5" name="Equation" r:id="rId13" imgW="253800" imgH="380880" progId="Equation.3">
                  <p:embed/>
                </p:oleObj>
              </mc:Choice>
              <mc:Fallback>
                <p:oleObj name="Equation" r:id="rId13" imgW="253800" imgH="380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1758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8" name="Object 8"/>
          <p:cNvGraphicFramePr>
            <a:graphicFrameLocks noChangeAspect="1"/>
          </p:cNvGraphicFramePr>
          <p:nvPr/>
        </p:nvGraphicFramePr>
        <p:xfrm>
          <a:off x="5988050" y="1758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6" name="Equation" r:id="rId14" imgW="253800" imgH="380880" progId="Equation.3">
                  <p:embed/>
                </p:oleObj>
              </mc:Choice>
              <mc:Fallback>
                <p:oleObj name="Equation" r:id="rId14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1758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29" name="Object 9"/>
          <p:cNvGraphicFramePr>
            <a:graphicFrameLocks noChangeAspect="1"/>
          </p:cNvGraphicFramePr>
          <p:nvPr/>
        </p:nvGraphicFramePr>
        <p:xfrm>
          <a:off x="6902450" y="1758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7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1758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0" name="Object 10"/>
          <p:cNvGraphicFramePr>
            <a:graphicFrameLocks noChangeAspect="1"/>
          </p:cNvGraphicFramePr>
          <p:nvPr/>
        </p:nvGraphicFramePr>
        <p:xfrm>
          <a:off x="3289300" y="2984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8" name="Equation" r:id="rId16" imgW="164880" imgH="368280" progId="Equation.3">
                  <p:embed/>
                </p:oleObj>
              </mc:Choice>
              <mc:Fallback>
                <p:oleObj name="Equation" r:id="rId16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984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1" name="Object 11"/>
          <p:cNvGraphicFramePr>
            <a:graphicFrameLocks noChangeAspect="1"/>
          </p:cNvGraphicFramePr>
          <p:nvPr/>
        </p:nvGraphicFramePr>
        <p:xfrm>
          <a:off x="4203700" y="2984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89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2984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2" name="Object 12"/>
          <p:cNvGraphicFramePr>
            <a:graphicFrameLocks noChangeAspect="1"/>
          </p:cNvGraphicFramePr>
          <p:nvPr/>
        </p:nvGraphicFramePr>
        <p:xfrm>
          <a:off x="5073650" y="2978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0" name="Equation" r:id="rId18" imgW="253800" imgH="380880" progId="Equation.3">
                  <p:embed/>
                </p:oleObj>
              </mc:Choice>
              <mc:Fallback>
                <p:oleObj name="Equation" r:id="rId18" imgW="253800" imgH="3808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2978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3" name="Object 13"/>
          <p:cNvGraphicFramePr>
            <a:graphicFrameLocks noChangeAspect="1"/>
          </p:cNvGraphicFramePr>
          <p:nvPr/>
        </p:nvGraphicFramePr>
        <p:xfrm>
          <a:off x="6032500" y="29845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1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29845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4" name="Object 14"/>
          <p:cNvGraphicFramePr>
            <a:graphicFrameLocks noChangeAspect="1"/>
          </p:cNvGraphicFramePr>
          <p:nvPr/>
        </p:nvGraphicFramePr>
        <p:xfrm>
          <a:off x="6902450" y="2978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2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978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5" name="Object 15"/>
          <p:cNvGraphicFramePr>
            <a:graphicFrameLocks noChangeAspect="1"/>
          </p:cNvGraphicFramePr>
          <p:nvPr/>
        </p:nvGraphicFramePr>
        <p:xfrm>
          <a:off x="3289300" y="4279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3" name="Equation" r:id="rId21" imgW="164880" imgH="368280" progId="Equation.3">
                  <p:embed/>
                </p:oleObj>
              </mc:Choice>
              <mc:Fallback>
                <p:oleObj name="Equation" r:id="rId21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279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6" name="Object 16"/>
          <p:cNvGraphicFramePr>
            <a:graphicFrameLocks noChangeAspect="1"/>
          </p:cNvGraphicFramePr>
          <p:nvPr/>
        </p:nvGraphicFramePr>
        <p:xfrm>
          <a:off x="4203700" y="4279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4" name="Equation" r:id="rId22" imgW="164880" imgH="368280" progId="Equation.3">
                  <p:embed/>
                </p:oleObj>
              </mc:Choice>
              <mc:Fallback>
                <p:oleObj name="Equation" r:id="rId22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4279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7" name="Object 17"/>
          <p:cNvGraphicFramePr>
            <a:graphicFrameLocks noChangeAspect="1"/>
          </p:cNvGraphicFramePr>
          <p:nvPr/>
        </p:nvGraphicFramePr>
        <p:xfrm>
          <a:off x="5073650" y="4273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5" name="Equation" r:id="rId23" imgW="253800" imgH="380880" progId="Equation.3">
                  <p:embed/>
                </p:oleObj>
              </mc:Choice>
              <mc:Fallback>
                <p:oleObj name="Equation" r:id="rId23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273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8" name="Object 18"/>
          <p:cNvGraphicFramePr>
            <a:graphicFrameLocks noChangeAspect="1"/>
          </p:cNvGraphicFramePr>
          <p:nvPr/>
        </p:nvGraphicFramePr>
        <p:xfrm>
          <a:off x="5988050" y="4273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6" name="Equation" r:id="rId24" imgW="253800" imgH="380880" progId="Equation.3">
                  <p:embed/>
                </p:oleObj>
              </mc:Choice>
              <mc:Fallback>
                <p:oleObj name="Equation" r:id="rId24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4273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9" name="Object 19"/>
          <p:cNvGraphicFramePr>
            <a:graphicFrameLocks noChangeAspect="1"/>
          </p:cNvGraphicFramePr>
          <p:nvPr/>
        </p:nvGraphicFramePr>
        <p:xfrm>
          <a:off x="6946900" y="42799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7" name="Equation" r:id="rId25" imgW="164880" imgH="368280" progId="Equation.3">
                  <p:embed/>
                </p:oleObj>
              </mc:Choice>
              <mc:Fallback>
                <p:oleObj name="Equation" r:id="rId25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42799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0" name="Object 20"/>
          <p:cNvGraphicFramePr>
            <a:graphicFrameLocks noChangeAspect="1"/>
          </p:cNvGraphicFramePr>
          <p:nvPr/>
        </p:nvGraphicFramePr>
        <p:xfrm>
          <a:off x="1282700" y="431800"/>
          <a:ext cx="290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8" name="Equation" r:id="rId26" imgW="291960" imgH="571320" progId="Equation.3">
                  <p:embed/>
                </p:oleObj>
              </mc:Choice>
              <mc:Fallback>
                <p:oleObj name="Equation" r:id="rId26" imgW="291960" imgH="57132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431800"/>
                        <a:ext cx="2905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1" name="Object 21"/>
          <p:cNvGraphicFramePr>
            <a:graphicFrameLocks noChangeAspect="1"/>
          </p:cNvGraphicFramePr>
          <p:nvPr/>
        </p:nvGraphicFramePr>
        <p:xfrm>
          <a:off x="1244600" y="1651000"/>
          <a:ext cx="3667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99" name="Equation" r:id="rId28" imgW="368280" imgH="571320" progId="Equation.3">
                  <p:embed/>
                </p:oleObj>
              </mc:Choice>
              <mc:Fallback>
                <p:oleObj name="Equation" r:id="rId28" imgW="368280" imgH="5713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651000"/>
                        <a:ext cx="3667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2" name="Object 22"/>
          <p:cNvGraphicFramePr>
            <a:graphicFrameLocks noChangeAspect="1"/>
          </p:cNvGraphicFramePr>
          <p:nvPr/>
        </p:nvGraphicFramePr>
        <p:xfrm>
          <a:off x="1257300" y="2789238"/>
          <a:ext cx="3413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0" name="Equation" r:id="rId30" imgW="342720" imgH="583920" progId="Equation.3">
                  <p:embed/>
                </p:oleObj>
              </mc:Choice>
              <mc:Fallback>
                <p:oleObj name="Equation" r:id="rId30" imgW="342720" imgH="58392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2789238"/>
                        <a:ext cx="3413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3" name="Object 23"/>
          <p:cNvGraphicFramePr>
            <a:graphicFrameLocks noChangeAspect="1"/>
          </p:cNvGraphicFramePr>
          <p:nvPr/>
        </p:nvGraphicFramePr>
        <p:xfrm>
          <a:off x="1244600" y="4165600"/>
          <a:ext cx="3667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1" name="Equation" r:id="rId32" imgW="368280" imgH="571320" progId="Equation.3">
                  <p:embed/>
                </p:oleObj>
              </mc:Choice>
              <mc:Fallback>
                <p:oleObj name="Equation" r:id="rId32" imgW="368280" imgH="57132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165600"/>
                        <a:ext cx="3667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08" name="Oval 28"/>
          <p:cNvSpPr>
            <a:spLocks noChangeArrowheads="1"/>
          </p:cNvSpPr>
          <p:nvPr/>
        </p:nvSpPr>
        <p:spPr bwMode="auto">
          <a:xfrm>
            <a:off x="2895600" y="304800"/>
            <a:ext cx="762000" cy="7620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2109" name="Oval 29"/>
          <p:cNvSpPr>
            <a:spLocks noChangeArrowheads="1"/>
          </p:cNvSpPr>
          <p:nvPr/>
        </p:nvSpPr>
        <p:spPr bwMode="auto">
          <a:xfrm>
            <a:off x="3886200" y="1524000"/>
            <a:ext cx="762000" cy="7620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2110" name="Oval 30"/>
          <p:cNvSpPr>
            <a:spLocks noChangeArrowheads="1"/>
          </p:cNvSpPr>
          <p:nvPr/>
        </p:nvSpPr>
        <p:spPr bwMode="auto">
          <a:xfrm>
            <a:off x="4800600" y="2819400"/>
            <a:ext cx="762000" cy="7620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2111" name="Oval 31"/>
          <p:cNvSpPr>
            <a:spLocks noChangeArrowheads="1"/>
          </p:cNvSpPr>
          <p:nvPr/>
        </p:nvSpPr>
        <p:spPr bwMode="auto">
          <a:xfrm>
            <a:off x="5791200" y="4038600"/>
            <a:ext cx="762000" cy="7620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77944" name="Object 24"/>
          <p:cNvGraphicFramePr>
            <a:graphicFrameLocks noChangeAspect="1"/>
          </p:cNvGraphicFramePr>
          <p:nvPr/>
        </p:nvGraphicFramePr>
        <p:xfrm>
          <a:off x="7543800" y="6858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2" name="Equation" r:id="rId34" imgW="419040" imgH="114120" progId="Equation.3">
                  <p:embed/>
                </p:oleObj>
              </mc:Choice>
              <mc:Fallback>
                <p:oleObj name="Equation" r:id="rId34" imgW="419040" imgH="11412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6858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5" name="Object 25"/>
          <p:cNvGraphicFramePr>
            <a:graphicFrameLocks noChangeAspect="1"/>
          </p:cNvGraphicFramePr>
          <p:nvPr/>
        </p:nvGraphicFramePr>
        <p:xfrm>
          <a:off x="7620000" y="1905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3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905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6" name="Object 26"/>
          <p:cNvGraphicFramePr>
            <a:graphicFrameLocks noChangeAspect="1"/>
          </p:cNvGraphicFramePr>
          <p:nvPr/>
        </p:nvGraphicFramePr>
        <p:xfrm>
          <a:off x="7620000" y="3124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4" name="Equation" r:id="rId37" imgW="419040" imgH="114120" progId="Equation.3">
                  <p:embed/>
                </p:oleObj>
              </mc:Choice>
              <mc:Fallback>
                <p:oleObj name="Equation" r:id="rId37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124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7" name="Object 27"/>
          <p:cNvGraphicFramePr>
            <a:graphicFrameLocks noChangeAspect="1"/>
          </p:cNvGraphicFramePr>
          <p:nvPr/>
        </p:nvGraphicFramePr>
        <p:xfrm>
          <a:off x="7543800" y="4419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5" name="Equation" r:id="rId38" imgW="419040" imgH="114120" progId="Equation.3">
                  <p:embed/>
                </p:oleObj>
              </mc:Choice>
              <mc:Fallback>
                <p:oleObj name="Equation" r:id="rId38" imgW="419040" imgH="11412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419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17" name="Text Box 37"/>
          <p:cNvSpPr txBox="1">
            <a:spLocks noChangeArrowheads="1"/>
          </p:cNvSpPr>
          <p:nvPr/>
        </p:nvSpPr>
        <p:spPr bwMode="auto">
          <a:xfrm>
            <a:off x="533400" y="5410200"/>
            <a:ext cx="2751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New element:</a:t>
            </a:r>
          </a:p>
        </p:txBody>
      </p:sp>
      <p:graphicFrame>
        <p:nvGraphicFramePr>
          <p:cNvPr id="977948" name="Object 28"/>
          <p:cNvGraphicFramePr>
            <a:graphicFrameLocks noChangeAspect="1"/>
          </p:cNvGraphicFramePr>
          <p:nvPr/>
        </p:nvGraphicFramePr>
        <p:xfrm>
          <a:off x="3505200" y="5410200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006" name="Equation" r:id="rId39" imgW="1473120" imgH="419040" progId="Equation.3">
                  <p:embed/>
                </p:oleObj>
              </mc:Choice>
              <mc:Fallback>
                <p:oleObj name="Equation" r:id="rId39" imgW="1473120" imgH="41904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10200"/>
                        <a:ext cx="1473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19" name="Text Box 39"/>
          <p:cNvSpPr txBox="1">
            <a:spLocks noChangeArrowheads="1"/>
          </p:cNvSpPr>
          <p:nvPr/>
        </p:nvSpPr>
        <p:spPr bwMode="auto">
          <a:xfrm>
            <a:off x="1828800" y="6096000"/>
            <a:ext cx="6191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(birary complement of diagonal)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5E19AD-00F1-451E-9CD3-C40EF5D2BD2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944130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60721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new element must be some</a:t>
            </a:r>
          </a:p>
          <a:p>
            <a:r>
              <a:rPr lang="en-US"/>
              <a:t>of the powerset </a:t>
            </a:r>
          </a:p>
        </p:txBody>
      </p:sp>
      <p:graphicFrame>
        <p:nvGraphicFramePr>
          <p:cNvPr id="978944" name="Object 0"/>
          <p:cNvGraphicFramePr>
            <a:graphicFrameLocks noChangeAspect="1"/>
          </p:cNvGraphicFramePr>
          <p:nvPr/>
        </p:nvGraphicFramePr>
        <p:xfrm>
          <a:off x="6569075" y="355600"/>
          <a:ext cx="2778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50" name="Equation" r:id="rId3" imgW="279360" imgH="583920" progId="Equation.3">
                  <p:embed/>
                </p:oleObj>
              </mc:Choice>
              <mc:Fallback>
                <p:oleObj name="Equation" r:id="rId3" imgW="279360" imgH="5839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355600"/>
                        <a:ext cx="277813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4138" name="Group 10"/>
          <p:cNvGrpSpPr>
            <a:grpSpLocks/>
          </p:cNvGrpSpPr>
          <p:nvPr/>
        </p:nvGrpSpPr>
        <p:grpSpPr bwMode="auto">
          <a:xfrm>
            <a:off x="228600" y="2514600"/>
            <a:ext cx="7113588" cy="4084638"/>
            <a:chOff x="144" y="1584"/>
            <a:chExt cx="4481" cy="2573"/>
          </a:xfrm>
        </p:grpSpPr>
        <p:sp>
          <p:nvSpPr>
            <p:cNvPr id="944132" name="Text Box 4"/>
            <p:cNvSpPr txBox="1">
              <a:spLocks noChangeArrowheads="1"/>
            </p:cNvSpPr>
            <p:nvPr/>
          </p:nvSpPr>
          <p:spPr bwMode="auto">
            <a:xfrm>
              <a:off x="144" y="1584"/>
              <a:ext cx="337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However, that’s impossible:</a:t>
              </a:r>
            </a:p>
          </p:txBody>
        </p:sp>
        <p:sp>
          <p:nvSpPr>
            <p:cNvPr id="944133" name="Text Box 5"/>
            <p:cNvSpPr txBox="1">
              <a:spLocks noChangeArrowheads="1"/>
            </p:cNvSpPr>
            <p:nvPr/>
          </p:nvSpPr>
          <p:spPr bwMode="auto">
            <a:xfrm>
              <a:off x="1248" y="2736"/>
              <a:ext cx="3377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the </a:t>
              </a:r>
              <a:r>
                <a:rPr lang="en-US">
                  <a:solidFill>
                    <a:schemeClr val="tx1"/>
                  </a:solidFill>
                </a:rPr>
                <a:t>i-th</a:t>
              </a:r>
              <a:r>
                <a:rPr lang="en-US"/>
                <a:t> bit of       must be </a:t>
              </a:r>
            </a:p>
            <a:p>
              <a:r>
                <a:rPr lang="en-US"/>
                <a:t>the complement of itself</a:t>
              </a:r>
            </a:p>
          </p:txBody>
        </p:sp>
        <p:sp>
          <p:nvSpPr>
            <p:cNvPr id="944134" name="Text Box 6"/>
            <p:cNvSpPr txBox="1">
              <a:spLocks noChangeArrowheads="1"/>
            </p:cNvSpPr>
            <p:nvPr/>
          </p:nvSpPr>
          <p:spPr bwMode="auto">
            <a:xfrm>
              <a:off x="1248" y="2112"/>
              <a:ext cx="228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from definition of</a:t>
              </a:r>
            </a:p>
          </p:txBody>
        </p:sp>
        <p:graphicFrame>
          <p:nvGraphicFramePr>
            <p:cNvPr id="978945" name="Object 1"/>
            <p:cNvGraphicFramePr>
              <a:graphicFrameLocks noChangeAspect="1"/>
            </p:cNvGraphicFramePr>
            <p:nvPr/>
          </p:nvGraphicFramePr>
          <p:xfrm>
            <a:off x="3648" y="2112"/>
            <a:ext cx="17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51" name="Equation" r:id="rId5" imgW="279360" imgH="583920" progId="Equation.3">
                    <p:embed/>
                  </p:oleObj>
                </mc:Choice>
                <mc:Fallback>
                  <p:oleObj name="Equation" r:id="rId5" imgW="279360" imgH="583920" progId="Equation.3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112"/>
                          <a:ext cx="175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8946" name="Object 2"/>
            <p:cNvGraphicFramePr>
              <a:graphicFrameLocks noChangeAspect="1"/>
            </p:cNvGraphicFramePr>
            <p:nvPr/>
          </p:nvGraphicFramePr>
          <p:xfrm>
            <a:off x="3168" y="2736"/>
            <a:ext cx="175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8952" name="Equation" r:id="rId6" imgW="279360" imgH="583920" progId="Equation.3">
                    <p:embed/>
                  </p:oleObj>
                </mc:Choice>
                <mc:Fallback>
                  <p:oleObj name="Equation" r:id="rId6" imgW="279360" imgH="5839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736"/>
                          <a:ext cx="175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4137" name="Text Box 9"/>
            <p:cNvSpPr txBox="1">
              <a:spLocks noChangeArrowheads="1"/>
            </p:cNvSpPr>
            <p:nvPr/>
          </p:nvSpPr>
          <p:spPr bwMode="auto">
            <a:xfrm>
              <a:off x="1248" y="3792"/>
              <a:ext cx="191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Contradiction!!!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0D5840-4C7A-438E-BB64-47091934A9BC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945154" name="Text Box 2"/>
          <p:cNvSpPr txBox="1">
            <a:spLocks noChangeArrowheads="1"/>
          </p:cNvSpPr>
          <p:nvPr/>
        </p:nvSpPr>
        <p:spPr bwMode="auto">
          <a:xfrm>
            <a:off x="365125" y="482600"/>
            <a:ext cx="5935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Since we have a contradiction:</a:t>
            </a:r>
            <a:endParaRPr lang="en-US"/>
          </a:p>
        </p:txBody>
      </p:sp>
      <p:sp>
        <p:nvSpPr>
          <p:cNvPr id="945155" name="Rectangle 3"/>
          <p:cNvSpPr>
            <a:spLocks noChangeArrowheads="1"/>
          </p:cNvSpPr>
          <p:nvPr/>
        </p:nvSpPr>
        <p:spPr bwMode="auto">
          <a:xfrm>
            <a:off x="838200" y="1752600"/>
            <a:ext cx="7959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powerset         of       is uncountable </a:t>
            </a:r>
          </a:p>
        </p:txBody>
      </p:sp>
      <p:graphicFrame>
        <p:nvGraphicFramePr>
          <p:cNvPr id="979968" name="Object 0"/>
          <p:cNvGraphicFramePr>
            <a:graphicFrameLocks noChangeAspect="1"/>
          </p:cNvGraphicFramePr>
          <p:nvPr/>
        </p:nvGraphicFramePr>
        <p:xfrm>
          <a:off x="3943350" y="1657350"/>
          <a:ext cx="54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72" name="Equation" r:id="rId3" imgW="545760" imgH="596880" progId="Equation.3">
                  <p:embed/>
                </p:oleObj>
              </mc:Choice>
              <mc:Fallback>
                <p:oleObj name="Equation" r:id="rId3" imgW="545760" imgH="5968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1657350"/>
                        <a:ext cx="546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69" name="Object 1"/>
          <p:cNvGraphicFramePr>
            <a:graphicFrameLocks noChangeAspect="1"/>
          </p:cNvGraphicFramePr>
          <p:nvPr/>
        </p:nvGraphicFramePr>
        <p:xfrm>
          <a:off x="5410200" y="18288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73" name="Equation" r:id="rId5" imgW="330120" imgH="419040" progId="Equation.3">
                  <p:embed/>
                </p:oleObj>
              </mc:Choice>
              <mc:Fallback>
                <p:oleObj name="Equation" r:id="rId5" imgW="33012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82880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F484F7-6B4A-48C1-8E0C-BC9B61C027C2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949250" name="Text Box 2"/>
          <p:cNvSpPr txBox="1">
            <a:spLocks noChangeArrowheads="1"/>
          </p:cNvSpPr>
          <p:nvPr/>
        </p:nvSpPr>
        <p:spPr bwMode="auto">
          <a:xfrm>
            <a:off x="2209800" y="0"/>
            <a:ext cx="5084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An Application: </a:t>
            </a:r>
            <a:r>
              <a:rPr lang="en-US">
                <a:solidFill>
                  <a:srgbClr val="FF0000"/>
                </a:solidFill>
              </a:rPr>
              <a:t>Languages</a:t>
            </a:r>
          </a:p>
        </p:txBody>
      </p:sp>
      <p:sp>
        <p:nvSpPr>
          <p:cNvPr id="949251" name="Text Box 3"/>
          <p:cNvSpPr txBox="1">
            <a:spLocks noChangeArrowheads="1"/>
          </p:cNvSpPr>
          <p:nvPr/>
        </p:nvSpPr>
        <p:spPr bwMode="auto">
          <a:xfrm>
            <a:off x="0" y="838200"/>
            <a:ext cx="3843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Example Alphabet :</a:t>
            </a:r>
          </a:p>
        </p:txBody>
      </p:sp>
      <p:graphicFrame>
        <p:nvGraphicFramePr>
          <p:cNvPr id="980992" name="Object 0"/>
          <p:cNvGraphicFramePr>
            <a:graphicFrameLocks noChangeAspect="1"/>
          </p:cNvGraphicFramePr>
          <p:nvPr/>
        </p:nvGraphicFramePr>
        <p:xfrm>
          <a:off x="3962400" y="838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996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8382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3" name="Text Box 5"/>
          <p:cNvSpPr txBox="1">
            <a:spLocks noChangeArrowheads="1"/>
          </p:cNvSpPr>
          <p:nvPr/>
        </p:nvSpPr>
        <p:spPr bwMode="auto">
          <a:xfrm>
            <a:off x="0" y="1600200"/>
            <a:ext cx="440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set of all Strings:</a:t>
            </a:r>
          </a:p>
        </p:txBody>
      </p:sp>
      <p:graphicFrame>
        <p:nvGraphicFramePr>
          <p:cNvPr id="980993" name="Object 1"/>
          <p:cNvGraphicFramePr>
            <a:graphicFrameLocks noChangeAspect="1"/>
          </p:cNvGraphicFramePr>
          <p:nvPr/>
        </p:nvGraphicFramePr>
        <p:xfrm>
          <a:off x="457200" y="2362200"/>
          <a:ext cx="8447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997" name="Equation" r:id="rId5" imgW="8445240" imgH="660240" progId="Equation.3">
                  <p:embed/>
                </p:oleObj>
              </mc:Choice>
              <mc:Fallback>
                <p:oleObj name="Equation" r:id="rId5" imgW="8445240" imgH="660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62200"/>
                        <a:ext cx="84470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5" name="Text Box 7"/>
          <p:cNvSpPr txBox="1">
            <a:spLocks noChangeArrowheads="1"/>
          </p:cNvSpPr>
          <p:nvPr/>
        </p:nvSpPr>
        <p:spPr bwMode="auto">
          <a:xfrm>
            <a:off x="3276600" y="3124200"/>
            <a:ext cx="4298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infinite and countable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DB478F-3983-4550-9EB9-1E48F4E9929E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953347" name="Text Box 3"/>
          <p:cNvSpPr txBox="1">
            <a:spLocks noChangeArrowheads="1"/>
          </p:cNvSpPr>
          <p:nvPr/>
        </p:nvSpPr>
        <p:spPr bwMode="auto">
          <a:xfrm>
            <a:off x="0" y="838200"/>
            <a:ext cx="3843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Example Alphabet :</a:t>
            </a:r>
          </a:p>
        </p:txBody>
      </p:sp>
      <p:graphicFrame>
        <p:nvGraphicFramePr>
          <p:cNvPr id="982016" name="Object 0"/>
          <p:cNvGraphicFramePr>
            <a:graphicFrameLocks noChangeAspect="1"/>
          </p:cNvGraphicFramePr>
          <p:nvPr/>
        </p:nvGraphicFramePr>
        <p:xfrm>
          <a:off x="3962400" y="838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4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8382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49" name="Text Box 5"/>
          <p:cNvSpPr txBox="1">
            <a:spLocks noChangeArrowheads="1"/>
          </p:cNvSpPr>
          <p:nvPr/>
        </p:nvSpPr>
        <p:spPr bwMode="auto">
          <a:xfrm>
            <a:off x="0" y="1600200"/>
            <a:ext cx="440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set of all Strings:</a:t>
            </a:r>
          </a:p>
        </p:txBody>
      </p:sp>
      <p:graphicFrame>
        <p:nvGraphicFramePr>
          <p:cNvPr id="982017" name="Object 1"/>
          <p:cNvGraphicFramePr>
            <a:graphicFrameLocks noChangeAspect="1"/>
          </p:cNvGraphicFramePr>
          <p:nvPr/>
        </p:nvGraphicFramePr>
        <p:xfrm>
          <a:off x="762000" y="2362200"/>
          <a:ext cx="769196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5" name="Equation" r:id="rId5" imgW="2882880" imgH="228600" progId="Equation.3">
                  <p:embed/>
                </p:oleObj>
              </mc:Choice>
              <mc:Fallback>
                <p:oleObj name="Equation" r:id="rId5" imgW="2882880" imgH="228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62200"/>
                        <a:ext cx="7691967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1" name="Text Box 7"/>
          <p:cNvSpPr txBox="1">
            <a:spLocks noChangeArrowheads="1"/>
          </p:cNvSpPr>
          <p:nvPr/>
        </p:nvSpPr>
        <p:spPr bwMode="auto">
          <a:xfrm>
            <a:off x="3276600" y="3124200"/>
            <a:ext cx="4298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infinite and countable</a:t>
            </a:r>
          </a:p>
        </p:txBody>
      </p:sp>
      <p:sp>
        <p:nvSpPr>
          <p:cNvPr id="953352" name="Text Box 8"/>
          <p:cNvSpPr txBox="1">
            <a:spLocks noChangeArrowheads="1"/>
          </p:cNvSpPr>
          <p:nvPr/>
        </p:nvSpPr>
        <p:spPr bwMode="auto">
          <a:xfrm>
            <a:off x="0" y="4343400"/>
            <a:ext cx="5635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language is a subset of     :</a:t>
            </a:r>
          </a:p>
        </p:txBody>
      </p:sp>
      <p:graphicFrame>
        <p:nvGraphicFramePr>
          <p:cNvPr id="982018" name="Object 2"/>
          <p:cNvGraphicFramePr>
            <a:graphicFrameLocks noChangeAspect="1"/>
          </p:cNvGraphicFramePr>
          <p:nvPr/>
        </p:nvGraphicFramePr>
        <p:xfrm>
          <a:off x="2667000" y="5257800"/>
          <a:ext cx="33670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6" name="Equation" r:id="rId7" imgW="3365280" imgH="533160" progId="Equation.3">
                  <p:embed/>
                </p:oleObj>
              </mc:Choice>
              <mc:Fallback>
                <p:oleObj name="Equation" r:id="rId7" imgW="336528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257800"/>
                        <a:ext cx="33670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19" name="Object 3"/>
          <p:cNvGraphicFramePr>
            <a:graphicFrameLocks noChangeAspect="1"/>
          </p:cNvGraphicFramePr>
          <p:nvPr/>
        </p:nvGraphicFramePr>
        <p:xfrm>
          <a:off x="4953000" y="44196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7" name="Equation" r:id="rId9" imgW="330120" imgH="419040" progId="Equation.3">
                  <p:embed/>
                </p:oleObj>
              </mc:Choice>
              <mc:Fallback>
                <p:oleObj name="Equation" r:id="rId9" imgW="33012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419600"/>
                        <a:ext cx="330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2C1E0E-29A0-4661-A59B-EF3761E8C238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954371" name="Text Box 3"/>
          <p:cNvSpPr txBox="1">
            <a:spLocks noChangeArrowheads="1"/>
          </p:cNvSpPr>
          <p:nvPr/>
        </p:nvSpPr>
        <p:spPr bwMode="auto">
          <a:xfrm>
            <a:off x="0" y="838200"/>
            <a:ext cx="3843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Example Alphabet :</a:t>
            </a:r>
          </a:p>
        </p:txBody>
      </p:sp>
      <p:graphicFrame>
        <p:nvGraphicFramePr>
          <p:cNvPr id="983040" name="Object 0"/>
          <p:cNvGraphicFramePr>
            <a:graphicFrameLocks noChangeAspect="1"/>
          </p:cNvGraphicFramePr>
          <p:nvPr/>
        </p:nvGraphicFramePr>
        <p:xfrm>
          <a:off x="3962400" y="838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58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8382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373" name="Text Box 5"/>
          <p:cNvSpPr txBox="1">
            <a:spLocks noChangeArrowheads="1"/>
          </p:cNvSpPr>
          <p:nvPr/>
        </p:nvSpPr>
        <p:spPr bwMode="auto">
          <a:xfrm>
            <a:off x="0" y="1600200"/>
            <a:ext cx="440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set of all Strings:</a:t>
            </a:r>
          </a:p>
        </p:txBody>
      </p:sp>
      <p:graphicFrame>
        <p:nvGraphicFramePr>
          <p:cNvPr id="983041" name="Object 1"/>
          <p:cNvGraphicFramePr>
            <a:graphicFrameLocks noChangeAspect="1"/>
          </p:cNvGraphicFramePr>
          <p:nvPr/>
        </p:nvGraphicFramePr>
        <p:xfrm>
          <a:off x="457200" y="2362200"/>
          <a:ext cx="8447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59" name="Equation" r:id="rId5" imgW="8445240" imgH="660240" progId="Equation.3">
                  <p:embed/>
                </p:oleObj>
              </mc:Choice>
              <mc:Fallback>
                <p:oleObj name="Equation" r:id="rId5" imgW="8445240" imgH="660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62200"/>
                        <a:ext cx="84470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375" name="Text Box 7"/>
          <p:cNvSpPr txBox="1">
            <a:spLocks noChangeArrowheads="1"/>
          </p:cNvSpPr>
          <p:nvPr/>
        </p:nvSpPr>
        <p:spPr bwMode="auto">
          <a:xfrm>
            <a:off x="3276600" y="3124200"/>
            <a:ext cx="4298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infinite and countable</a:t>
            </a:r>
          </a:p>
        </p:txBody>
      </p:sp>
      <p:sp>
        <p:nvSpPr>
          <p:cNvPr id="954376" name="Text Box 8"/>
          <p:cNvSpPr txBox="1">
            <a:spLocks noChangeArrowheads="1"/>
          </p:cNvSpPr>
          <p:nvPr/>
        </p:nvSpPr>
        <p:spPr bwMode="auto">
          <a:xfrm>
            <a:off x="0" y="4343400"/>
            <a:ext cx="8340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powerset of       contains all languages:</a:t>
            </a:r>
          </a:p>
        </p:txBody>
      </p:sp>
      <p:graphicFrame>
        <p:nvGraphicFramePr>
          <p:cNvPr id="983042" name="Object 2"/>
          <p:cNvGraphicFramePr>
            <a:graphicFrameLocks noChangeAspect="1"/>
          </p:cNvGraphicFramePr>
          <p:nvPr/>
        </p:nvGraphicFramePr>
        <p:xfrm>
          <a:off x="1130300" y="4940300"/>
          <a:ext cx="680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0" name="Equation" r:id="rId7" imgW="6806880" imgH="660240" progId="Equation.3">
                  <p:embed/>
                </p:oleObj>
              </mc:Choice>
              <mc:Fallback>
                <p:oleObj name="Equation" r:id="rId7" imgW="6806880" imgH="660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4940300"/>
                        <a:ext cx="6808788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3" name="Object 3"/>
          <p:cNvGraphicFramePr>
            <a:graphicFrameLocks noChangeAspect="1"/>
          </p:cNvGraphicFramePr>
          <p:nvPr/>
        </p:nvGraphicFramePr>
        <p:xfrm>
          <a:off x="2419350" y="5613400"/>
          <a:ext cx="3746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1" name="Equation" r:id="rId9" imgW="444240" imgH="571320" progId="Equation.3">
                  <p:embed/>
                </p:oleObj>
              </mc:Choice>
              <mc:Fallback>
                <p:oleObj name="Equation" r:id="rId9" imgW="44424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5613400"/>
                        <a:ext cx="37465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4" name="Object 4"/>
          <p:cNvGraphicFramePr>
            <a:graphicFrameLocks noChangeAspect="1"/>
          </p:cNvGraphicFramePr>
          <p:nvPr/>
        </p:nvGraphicFramePr>
        <p:xfrm>
          <a:off x="3175000" y="5613400"/>
          <a:ext cx="4397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2" name="Equation" r:id="rId11" imgW="520560" imgH="571320" progId="Equation.3">
                  <p:embed/>
                </p:oleObj>
              </mc:Choice>
              <mc:Fallback>
                <p:oleObj name="Equation" r:id="rId11" imgW="52056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613400"/>
                        <a:ext cx="439738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5" name="Object 5"/>
          <p:cNvGraphicFramePr>
            <a:graphicFrameLocks noChangeAspect="1"/>
          </p:cNvGraphicFramePr>
          <p:nvPr/>
        </p:nvGraphicFramePr>
        <p:xfrm>
          <a:off x="4165600" y="5613400"/>
          <a:ext cx="409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3" name="Equation" r:id="rId13" imgW="495000" imgH="583920" progId="Equation.3">
                  <p:embed/>
                </p:oleObj>
              </mc:Choice>
              <mc:Fallback>
                <p:oleObj name="Equation" r:id="rId13" imgW="495000" imgH="5839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5613400"/>
                        <a:ext cx="40957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6" name="Object 6"/>
          <p:cNvGraphicFramePr>
            <a:graphicFrameLocks noChangeAspect="1"/>
          </p:cNvGraphicFramePr>
          <p:nvPr/>
        </p:nvGraphicFramePr>
        <p:xfrm>
          <a:off x="5689600" y="5613400"/>
          <a:ext cx="4397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4" name="Equation" r:id="rId15" imgW="520560" imgH="571320" progId="Equation.3">
                  <p:embed/>
                </p:oleObj>
              </mc:Choice>
              <mc:Fallback>
                <p:oleObj name="Equation" r:id="rId15" imgW="520560" imgH="5713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5613400"/>
                        <a:ext cx="439738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382" name="Text Box 14"/>
          <p:cNvSpPr txBox="1">
            <a:spLocks noChangeArrowheads="1"/>
          </p:cNvSpPr>
          <p:nvPr/>
        </p:nvSpPr>
        <p:spPr bwMode="auto">
          <a:xfrm>
            <a:off x="2971800" y="6216650"/>
            <a:ext cx="27368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uncountable</a:t>
            </a:r>
          </a:p>
        </p:txBody>
      </p:sp>
      <p:graphicFrame>
        <p:nvGraphicFramePr>
          <p:cNvPr id="983047" name="Object 7"/>
          <p:cNvGraphicFramePr>
            <a:graphicFrameLocks noChangeAspect="1"/>
          </p:cNvGraphicFramePr>
          <p:nvPr/>
        </p:nvGraphicFramePr>
        <p:xfrm>
          <a:off x="6915150" y="58674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5" name="Equation" r:id="rId17" imgW="457200" imgH="114120" progId="Equation.3">
                  <p:embed/>
                </p:oleObj>
              </mc:Choice>
              <mc:Fallback>
                <p:oleObj name="Equation" r:id="rId17" imgW="45720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150" y="58674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8" name="Object 8"/>
          <p:cNvGraphicFramePr>
            <a:graphicFrameLocks noChangeAspect="1"/>
          </p:cNvGraphicFramePr>
          <p:nvPr/>
        </p:nvGraphicFramePr>
        <p:xfrm>
          <a:off x="3505200" y="44196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6" name="Equation" r:id="rId19" imgW="330120" imgH="419040" progId="Equation.3">
                  <p:embed/>
                </p:oleObj>
              </mc:Choice>
              <mc:Fallback>
                <p:oleObj name="Equation" r:id="rId19" imgW="330120" imgH="419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19600"/>
                        <a:ext cx="330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9E560-1EF9-4D9B-BC19-A99D2A41EE55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950274" name="Text Box 2"/>
          <p:cNvSpPr txBox="1">
            <a:spLocks noChangeArrowheads="1"/>
          </p:cNvSpPr>
          <p:nvPr/>
        </p:nvSpPr>
        <p:spPr bwMode="auto">
          <a:xfrm>
            <a:off x="2438400" y="304800"/>
            <a:ext cx="4591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Languages: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uncountable</a:t>
            </a:r>
          </a:p>
        </p:txBody>
      </p:sp>
      <p:sp>
        <p:nvSpPr>
          <p:cNvPr id="950275" name="Text Box 3"/>
          <p:cNvSpPr txBox="1">
            <a:spLocks noChangeArrowheads="1"/>
          </p:cNvSpPr>
          <p:nvPr/>
        </p:nvSpPr>
        <p:spPr bwMode="auto">
          <a:xfrm>
            <a:off x="1295400" y="3505200"/>
            <a:ext cx="5314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Turing machines: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countable</a:t>
            </a:r>
          </a:p>
        </p:txBody>
      </p:sp>
      <p:graphicFrame>
        <p:nvGraphicFramePr>
          <p:cNvPr id="984064" name="Object 0"/>
          <p:cNvGraphicFramePr>
            <a:graphicFrameLocks noChangeAspect="1"/>
          </p:cNvGraphicFramePr>
          <p:nvPr/>
        </p:nvGraphicFramePr>
        <p:xfrm>
          <a:off x="1143000" y="1143000"/>
          <a:ext cx="4048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4" name="Equation" r:id="rId3" imgW="406080" imgH="520560" progId="Equation.3">
                  <p:embed/>
                </p:oleObj>
              </mc:Choice>
              <mc:Fallback>
                <p:oleObj name="Equation" r:id="rId3" imgW="406080" imgH="5205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43000"/>
                        <a:ext cx="4048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5" name="Object 1"/>
          <p:cNvGraphicFramePr>
            <a:graphicFrameLocks noChangeAspect="1"/>
          </p:cNvGraphicFramePr>
          <p:nvPr/>
        </p:nvGraphicFramePr>
        <p:xfrm>
          <a:off x="2406650" y="1143000"/>
          <a:ext cx="46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5" name="Equation" r:id="rId5" imgW="469800" imgH="520560" progId="Equation.3">
                  <p:embed/>
                </p:oleObj>
              </mc:Choice>
              <mc:Fallback>
                <p:oleObj name="Equation" r:id="rId5" imgW="46980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1143000"/>
                        <a:ext cx="469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6" name="Object 2"/>
          <p:cNvGraphicFramePr>
            <a:graphicFrameLocks noChangeAspect="1"/>
          </p:cNvGraphicFramePr>
          <p:nvPr/>
        </p:nvGraphicFramePr>
        <p:xfrm>
          <a:off x="3943350" y="1138238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6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1138238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7" name="Object 3"/>
          <p:cNvGraphicFramePr>
            <a:graphicFrameLocks noChangeAspect="1"/>
          </p:cNvGraphicFramePr>
          <p:nvPr/>
        </p:nvGraphicFramePr>
        <p:xfrm>
          <a:off x="6972300" y="1138238"/>
          <a:ext cx="4810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7" name="Equation" r:id="rId9" imgW="482400" imgH="533160" progId="Equation.3">
                  <p:embed/>
                </p:oleObj>
              </mc:Choice>
              <mc:Fallback>
                <p:oleObj name="Equation" r:id="rId9" imgW="48240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1138238"/>
                        <a:ext cx="4810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8" name="Object 4"/>
          <p:cNvGraphicFramePr>
            <a:graphicFrameLocks noChangeAspect="1"/>
          </p:cNvGraphicFramePr>
          <p:nvPr/>
        </p:nvGraphicFramePr>
        <p:xfrm>
          <a:off x="1054100" y="2743200"/>
          <a:ext cx="5826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8" name="Equation" r:id="rId11" imgW="583920" imgH="520560" progId="Equation.3">
                  <p:embed/>
                </p:oleObj>
              </mc:Choice>
              <mc:Fallback>
                <p:oleObj name="Equation" r:id="rId11" imgW="583920" imgH="520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743200"/>
                        <a:ext cx="5826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9" name="Object 5"/>
          <p:cNvGraphicFramePr>
            <a:graphicFrameLocks noChangeAspect="1"/>
          </p:cNvGraphicFramePr>
          <p:nvPr/>
        </p:nvGraphicFramePr>
        <p:xfrm>
          <a:off x="2311400" y="2743200"/>
          <a:ext cx="66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89" name="Equation" r:id="rId13" imgW="660240" imgH="520560" progId="Equation.3">
                  <p:embed/>
                </p:oleObj>
              </mc:Choice>
              <mc:Fallback>
                <p:oleObj name="Equation" r:id="rId13" imgW="660240" imgH="520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2743200"/>
                        <a:ext cx="660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0" name="Object 6"/>
          <p:cNvGraphicFramePr>
            <a:graphicFrameLocks noChangeAspect="1"/>
          </p:cNvGraphicFramePr>
          <p:nvPr/>
        </p:nvGraphicFramePr>
        <p:xfrm>
          <a:off x="3848100" y="2738438"/>
          <a:ext cx="6334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90" name="Equation" r:id="rId15" imgW="634680" imgH="533160" progId="Equation.3">
                  <p:embed/>
                </p:oleObj>
              </mc:Choice>
              <mc:Fallback>
                <p:oleObj name="Equation" r:id="rId15" imgW="634680" imgH="5331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2738438"/>
                        <a:ext cx="6334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1" name="Object 7"/>
          <p:cNvGraphicFramePr>
            <a:graphicFrameLocks noChangeAspect="1"/>
          </p:cNvGraphicFramePr>
          <p:nvPr/>
        </p:nvGraphicFramePr>
        <p:xfrm>
          <a:off x="54102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91" name="Equation" r:id="rId17" imgW="419040" imgH="114120" progId="Equation.3">
                  <p:embed/>
                </p:oleObj>
              </mc:Choice>
              <mc:Fallback>
                <p:oleObj name="Equation" r:id="rId17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2" name="Object 8"/>
          <p:cNvGraphicFramePr>
            <a:graphicFrameLocks noChangeAspect="1"/>
          </p:cNvGraphicFramePr>
          <p:nvPr/>
        </p:nvGraphicFramePr>
        <p:xfrm>
          <a:off x="8382000" y="1295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92" name="Equation" r:id="rId19" imgW="419040" imgH="114120" progId="Equation.3">
                  <p:embed/>
                </p:oleObj>
              </mc:Choice>
              <mc:Fallback>
                <p:oleObj name="Equation" r:id="rId19" imgW="419040" imgH="114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295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285" name="Line 13"/>
          <p:cNvSpPr>
            <a:spLocks noChangeShapeType="1"/>
          </p:cNvSpPr>
          <p:nvPr/>
        </p:nvSpPr>
        <p:spPr bwMode="auto">
          <a:xfrm>
            <a:off x="1295400" y="1752600"/>
            <a:ext cx="0" cy="685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50286" name="Line 14"/>
          <p:cNvSpPr>
            <a:spLocks noChangeShapeType="1"/>
          </p:cNvSpPr>
          <p:nvPr/>
        </p:nvSpPr>
        <p:spPr bwMode="auto">
          <a:xfrm>
            <a:off x="2514600" y="1752600"/>
            <a:ext cx="0" cy="685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50287" name="Line 15"/>
          <p:cNvSpPr>
            <a:spLocks noChangeShapeType="1"/>
          </p:cNvSpPr>
          <p:nvPr/>
        </p:nvSpPr>
        <p:spPr bwMode="auto">
          <a:xfrm>
            <a:off x="4038600" y="1752600"/>
            <a:ext cx="0" cy="685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50288" name="Line 16"/>
          <p:cNvSpPr>
            <a:spLocks noChangeShapeType="1"/>
          </p:cNvSpPr>
          <p:nvPr/>
        </p:nvSpPr>
        <p:spPr bwMode="auto">
          <a:xfrm>
            <a:off x="7162800" y="1752600"/>
            <a:ext cx="0" cy="685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84073" name="Object 9"/>
          <p:cNvGraphicFramePr>
            <a:graphicFrameLocks noChangeAspect="1"/>
          </p:cNvGraphicFramePr>
          <p:nvPr/>
        </p:nvGraphicFramePr>
        <p:xfrm>
          <a:off x="7080250" y="2724150"/>
          <a:ext cx="2270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93" name="Equation" r:id="rId20" imgW="228600" imgH="419040" progId="Equation.3">
                  <p:embed/>
                </p:oleObj>
              </mc:Choice>
              <mc:Fallback>
                <p:oleObj name="Equation" r:id="rId20" imgW="228600" imgH="419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0" y="2724150"/>
                        <a:ext cx="2270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290" name="Text Box 18"/>
          <p:cNvSpPr txBox="1">
            <a:spLocks noChangeArrowheads="1"/>
          </p:cNvSpPr>
          <p:nvPr/>
        </p:nvSpPr>
        <p:spPr bwMode="auto">
          <a:xfrm>
            <a:off x="457200" y="5029200"/>
            <a:ext cx="50784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are more languages</a:t>
            </a:r>
          </a:p>
          <a:p>
            <a:r>
              <a:rPr lang="en-US"/>
              <a:t>than Turing Machines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DC3564-797A-4379-A0E2-7D148406FA40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951298" name="Text Box 2"/>
          <p:cNvSpPr txBox="1">
            <a:spLocks noChangeArrowheads="1"/>
          </p:cNvSpPr>
          <p:nvPr/>
        </p:nvSpPr>
        <p:spPr bwMode="auto">
          <a:xfrm>
            <a:off x="838200" y="1600200"/>
            <a:ext cx="76644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are some languages not accepted</a:t>
            </a:r>
          </a:p>
          <a:p>
            <a:r>
              <a:rPr lang="en-US"/>
              <a:t>by Turing Machines</a:t>
            </a:r>
          </a:p>
        </p:txBody>
      </p:sp>
      <p:sp>
        <p:nvSpPr>
          <p:cNvPr id="951299" name="Text Box 3"/>
          <p:cNvSpPr txBox="1">
            <a:spLocks noChangeArrowheads="1"/>
          </p:cNvSpPr>
          <p:nvPr/>
        </p:nvSpPr>
        <p:spPr bwMode="auto">
          <a:xfrm>
            <a:off x="838200" y="4114800"/>
            <a:ext cx="73723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(These languages cannot be described</a:t>
            </a:r>
          </a:p>
          <a:p>
            <a:r>
              <a:rPr lang="en-US"/>
              <a:t>  by algorithms)</a:t>
            </a:r>
          </a:p>
        </p:txBody>
      </p:sp>
      <p:sp>
        <p:nvSpPr>
          <p:cNvPr id="951300" name="Text Box 4"/>
          <p:cNvSpPr txBox="1">
            <a:spLocks noChangeArrowheads="1"/>
          </p:cNvSpPr>
          <p:nvPr/>
        </p:nvSpPr>
        <p:spPr bwMode="auto">
          <a:xfrm>
            <a:off x="365125" y="482600"/>
            <a:ext cx="2309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Conclusion: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812E4D-127A-4E8A-B052-A3373A8AEAA5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955394" name="Oval 2"/>
          <p:cNvSpPr>
            <a:spLocks noChangeArrowheads="1"/>
          </p:cNvSpPr>
          <p:nvPr/>
        </p:nvSpPr>
        <p:spPr bwMode="auto">
          <a:xfrm>
            <a:off x="1524000" y="1295400"/>
            <a:ext cx="5638800" cy="441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55395" name="Text Box 3"/>
          <p:cNvSpPr txBox="1">
            <a:spLocks noChangeArrowheads="1"/>
          </p:cNvSpPr>
          <p:nvPr/>
        </p:nvSpPr>
        <p:spPr bwMode="auto">
          <a:xfrm>
            <a:off x="2895600" y="2590800"/>
            <a:ext cx="32908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</a:t>
            </a:r>
          </a:p>
          <a:p>
            <a:r>
              <a:rPr lang="en-US"/>
              <a:t>Accepted by </a:t>
            </a:r>
          </a:p>
          <a:p>
            <a:r>
              <a:rPr lang="en-US"/>
              <a:t>Turing Machines</a:t>
            </a:r>
          </a:p>
        </p:txBody>
      </p:sp>
      <p:sp>
        <p:nvSpPr>
          <p:cNvPr id="955396" name="Text Box 4"/>
          <p:cNvSpPr txBox="1">
            <a:spLocks noChangeArrowheads="1"/>
          </p:cNvSpPr>
          <p:nvPr/>
        </p:nvSpPr>
        <p:spPr bwMode="auto">
          <a:xfrm>
            <a:off x="381000" y="304800"/>
            <a:ext cx="8486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not accepted by Turing Machines</a:t>
            </a:r>
          </a:p>
        </p:txBody>
      </p:sp>
      <p:graphicFrame>
        <p:nvGraphicFramePr>
          <p:cNvPr id="985088" name="Object 0"/>
          <p:cNvGraphicFramePr>
            <a:graphicFrameLocks noChangeAspect="1"/>
          </p:cNvGraphicFramePr>
          <p:nvPr/>
        </p:nvGraphicFramePr>
        <p:xfrm>
          <a:off x="762000" y="1143000"/>
          <a:ext cx="4810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90" name="Equation" r:id="rId3" imgW="482400" imgH="533160" progId="Equation.3">
                  <p:embed/>
                </p:oleObj>
              </mc:Choice>
              <mc:Fallback>
                <p:oleObj name="Equation" r:id="rId3" imgW="48240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143000"/>
                        <a:ext cx="4810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8251</TotalTime>
  <Words>894</Words>
  <Application>Microsoft Office PowerPoint</Application>
  <PresentationFormat>On-screen Show (4:3)</PresentationFormat>
  <Paragraphs>299</Paragraphs>
  <Slides>56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Comic Sans MS</vt:lpstr>
      <vt:lpstr>Times New Roman</vt:lpstr>
      <vt:lpstr>class</vt:lpstr>
      <vt:lpstr>Equation</vt:lpstr>
      <vt:lpstr>A Universal Turing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Countable 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Uncountable 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Naidjate, Madani</cp:lastModifiedBy>
  <cp:revision>1753</cp:revision>
  <cp:lastPrinted>2000-11-02T16:11:14Z</cp:lastPrinted>
  <dcterms:created xsi:type="dcterms:W3CDTF">2000-08-31T01:12:33Z</dcterms:created>
  <dcterms:modified xsi:type="dcterms:W3CDTF">2016-12-05T02:46:01Z</dcterms:modified>
</cp:coreProperties>
</file>