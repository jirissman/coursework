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25" r:id="rId2"/>
    <p:sldId id="306" r:id="rId3"/>
    <p:sldId id="303" r:id="rId4"/>
    <p:sldId id="326" r:id="rId5"/>
    <p:sldId id="328" r:id="rId6"/>
    <p:sldId id="307" r:id="rId7"/>
    <p:sldId id="327" r:id="rId8"/>
    <p:sldId id="329" r:id="rId9"/>
    <p:sldId id="330" r:id="rId10"/>
    <p:sldId id="312" r:id="rId11"/>
    <p:sldId id="331" r:id="rId12"/>
    <p:sldId id="332" r:id="rId13"/>
    <p:sldId id="333" r:id="rId14"/>
    <p:sldId id="334" r:id="rId15"/>
    <p:sldId id="335" r:id="rId16"/>
    <p:sldId id="300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9" r:id="rId27"/>
    <p:sldId id="266" r:id="rId28"/>
    <p:sldId id="271" r:id="rId29"/>
    <p:sldId id="272" r:id="rId30"/>
    <p:sldId id="273" r:id="rId31"/>
    <p:sldId id="274" r:id="rId32"/>
    <p:sldId id="339" r:id="rId33"/>
    <p:sldId id="275" r:id="rId34"/>
    <p:sldId id="277" r:id="rId35"/>
    <p:sldId id="276" r:id="rId36"/>
    <p:sldId id="278" r:id="rId37"/>
    <p:sldId id="279" r:id="rId38"/>
    <p:sldId id="280" r:id="rId39"/>
    <p:sldId id="341" r:id="rId40"/>
    <p:sldId id="281" r:id="rId41"/>
    <p:sldId id="336" r:id="rId42"/>
    <p:sldId id="283" r:id="rId43"/>
    <p:sldId id="284" r:id="rId44"/>
    <p:sldId id="285" r:id="rId45"/>
    <p:sldId id="286" r:id="rId46"/>
    <p:sldId id="340" r:id="rId47"/>
    <p:sldId id="289" r:id="rId48"/>
    <p:sldId id="342" r:id="rId49"/>
    <p:sldId id="288" r:id="rId50"/>
    <p:sldId id="298" r:id="rId51"/>
    <p:sldId id="337" r:id="rId52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04" autoAdjust="0"/>
    <p:restoredTop sz="90929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6.wmf"/><Relationship Id="rId4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.w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6.wmf"/><Relationship Id="rId5" Type="http://schemas.openxmlformats.org/officeDocument/2006/relationships/image" Target="../media/image21.wmf"/><Relationship Id="rId10" Type="http://schemas.openxmlformats.org/officeDocument/2006/relationships/image" Target="../media/image15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18.wmf"/><Relationship Id="rId7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10" Type="http://schemas.openxmlformats.org/officeDocument/2006/relationships/image" Target="../media/image33.wmf"/><Relationship Id="rId4" Type="http://schemas.openxmlformats.org/officeDocument/2006/relationships/image" Target="../media/image19.wmf"/><Relationship Id="rId9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7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2.wmf"/><Relationship Id="rId7" Type="http://schemas.openxmlformats.org/officeDocument/2006/relationships/image" Target="../media/image58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8.wmf"/><Relationship Id="rId4" Type="http://schemas.openxmlformats.org/officeDocument/2006/relationships/image" Target="../media/image6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wmf"/><Relationship Id="rId1" Type="http://schemas.openxmlformats.org/officeDocument/2006/relationships/image" Target="../media/image5.wmf"/><Relationship Id="rId4" Type="http://schemas.openxmlformats.org/officeDocument/2006/relationships/image" Target="../media/image6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2.wmf"/><Relationship Id="rId1" Type="http://schemas.openxmlformats.org/officeDocument/2006/relationships/image" Target="../media/image7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62.wmf"/><Relationship Id="rId1" Type="http://schemas.openxmlformats.org/officeDocument/2006/relationships/image" Target="../media/image73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6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62.wmf"/><Relationship Id="rId1" Type="http://schemas.openxmlformats.org/officeDocument/2006/relationships/image" Target="../media/image82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62.wmf"/><Relationship Id="rId1" Type="http://schemas.openxmlformats.org/officeDocument/2006/relationships/image" Target="../media/image83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62.wmf"/><Relationship Id="rId1" Type="http://schemas.openxmlformats.org/officeDocument/2006/relationships/image" Target="../media/image84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86.wmf"/><Relationship Id="rId1" Type="http://schemas.openxmlformats.org/officeDocument/2006/relationships/image" Target="../media/image87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67.wmf"/><Relationship Id="rId1" Type="http://schemas.openxmlformats.org/officeDocument/2006/relationships/image" Target="../media/image1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1.wmf"/><Relationship Id="rId1" Type="http://schemas.openxmlformats.org/officeDocument/2006/relationships/image" Target="../media/image9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4.wmf"/><Relationship Id="rId1" Type="http://schemas.openxmlformats.org/officeDocument/2006/relationships/image" Target="../media/image97.wmf"/><Relationship Id="rId6" Type="http://schemas.openxmlformats.org/officeDocument/2006/relationships/image" Target="../media/image95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94.wmf"/><Relationship Id="rId1" Type="http://schemas.openxmlformats.org/officeDocument/2006/relationships/image" Target="../media/image109.wmf"/><Relationship Id="rId5" Type="http://schemas.openxmlformats.org/officeDocument/2006/relationships/image" Target="../media/image103.wmf"/><Relationship Id="rId4" Type="http://schemas.openxmlformats.org/officeDocument/2006/relationships/image" Target="../media/image111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11.wmf"/><Relationship Id="rId2" Type="http://schemas.openxmlformats.org/officeDocument/2006/relationships/image" Target="../media/image104.wmf"/><Relationship Id="rId1" Type="http://schemas.openxmlformats.org/officeDocument/2006/relationships/image" Target="../media/image112.wmf"/><Relationship Id="rId6" Type="http://schemas.openxmlformats.org/officeDocument/2006/relationships/image" Target="../media/image107.wmf"/><Relationship Id="rId5" Type="http://schemas.openxmlformats.org/officeDocument/2006/relationships/image" Target="../media/image113.wmf"/><Relationship Id="rId10" Type="http://schemas.openxmlformats.org/officeDocument/2006/relationships/image" Target="../media/image114.wmf"/><Relationship Id="rId4" Type="http://schemas.openxmlformats.org/officeDocument/2006/relationships/image" Target="../media/image106.wmf"/><Relationship Id="rId9" Type="http://schemas.openxmlformats.org/officeDocument/2006/relationships/image" Target="../media/image103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4" Type="http://schemas.openxmlformats.org/officeDocument/2006/relationships/image" Target="../media/image117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image" Target="../media/image118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F9192138-9E53-45CA-8E82-711736AF7E2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AAFBEBA8-0274-46A9-9907-F2C144BE672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905D53-1559-473F-95D0-1841EDF484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94044-E2F4-44D5-BF03-4D714ADBEA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AF8A8B-76A9-4236-9E09-5FA899A4A6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D6254B-1557-45D3-AF08-BCF711AF8D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3EED4-DB50-49A6-8C36-ACF4B564AC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60D437-D0A1-4433-8CAB-33B6159313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E6639-3D1A-423C-A952-7CAE3DA342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E6257-6766-4468-B73E-5F52F54AED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950B4-FBFC-4113-931A-F98BDF85E7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91177-92FA-4611-85B5-CECAE5D1A0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18DBF-CF2F-4BF5-9FDC-01EE0439D5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1C1E1DA1-34A3-4B41-8D6A-7D256D2D951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31.bin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3.bin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2.bin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1.bin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0.bin"/><Relationship Id="rId9" Type="http://schemas.openxmlformats.org/officeDocument/2006/relationships/oleObject" Target="../embeddings/oleObject4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2.bin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5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58.bin"/><Relationship Id="rId4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1.bin"/><Relationship Id="rId5" Type="http://schemas.openxmlformats.org/officeDocument/2006/relationships/oleObject" Target="../embeddings/oleObject60.bin"/><Relationship Id="rId4" Type="http://schemas.openxmlformats.org/officeDocument/2006/relationships/oleObject" Target="../embeddings/oleObject5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4.bin"/><Relationship Id="rId5" Type="http://schemas.openxmlformats.org/officeDocument/2006/relationships/oleObject" Target="../embeddings/oleObject63.bin"/><Relationship Id="rId4" Type="http://schemas.openxmlformats.org/officeDocument/2006/relationships/oleObject" Target="../embeddings/oleObject6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8.bin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7.bin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6.bin"/><Relationship Id="rId9" Type="http://schemas.openxmlformats.org/officeDocument/2006/relationships/oleObject" Target="../embeddings/oleObject71.bin"/><Relationship Id="rId14" Type="http://schemas.openxmlformats.org/officeDocument/2006/relationships/oleObject" Target="../embeddings/oleObject7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2.bin"/><Relationship Id="rId12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1.bin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90.bin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79.bin"/><Relationship Id="rId9" Type="http://schemas.openxmlformats.org/officeDocument/2006/relationships/oleObject" Target="../embeddings/oleObject84.bin"/><Relationship Id="rId14" Type="http://schemas.openxmlformats.org/officeDocument/2006/relationships/oleObject" Target="../embeddings/oleObject8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5.bin"/><Relationship Id="rId12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94.bin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103.bin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7.bin"/><Relationship Id="rId14" Type="http://schemas.openxmlformats.org/officeDocument/2006/relationships/oleObject" Target="../embeddings/oleObject10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oleObject" Target="../embeddings/oleObject114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8.bin"/><Relationship Id="rId12" Type="http://schemas.openxmlformats.org/officeDocument/2006/relationships/oleObject" Target="../embeddings/oleObject113.bin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7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07.bin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6.bin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5.bin"/><Relationship Id="rId9" Type="http://schemas.openxmlformats.org/officeDocument/2006/relationships/oleObject" Target="../embeddings/oleObject110.bin"/><Relationship Id="rId14" Type="http://schemas.openxmlformats.org/officeDocument/2006/relationships/oleObject" Target="../embeddings/oleObject11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2.bin"/><Relationship Id="rId5" Type="http://schemas.openxmlformats.org/officeDocument/2006/relationships/oleObject" Target="../embeddings/oleObject121.bin"/><Relationship Id="rId4" Type="http://schemas.openxmlformats.org/officeDocument/2006/relationships/oleObject" Target="../embeddings/oleObject12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image" Target="../media/image40.png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27.bin"/><Relationship Id="rId5" Type="http://schemas.openxmlformats.org/officeDocument/2006/relationships/oleObject" Target="../embeddings/oleObject126.bin"/><Relationship Id="rId4" Type="http://schemas.openxmlformats.org/officeDocument/2006/relationships/oleObject" Target="../embeddings/oleObject125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132.bin"/><Relationship Id="rId4" Type="http://schemas.openxmlformats.org/officeDocument/2006/relationships/oleObject" Target="../embeddings/oleObject13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36.bin"/><Relationship Id="rId5" Type="http://schemas.openxmlformats.org/officeDocument/2006/relationships/oleObject" Target="../embeddings/oleObject135.bin"/><Relationship Id="rId4" Type="http://schemas.openxmlformats.org/officeDocument/2006/relationships/oleObject" Target="../embeddings/oleObject13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40.bin"/><Relationship Id="rId5" Type="http://schemas.openxmlformats.org/officeDocument/2006/relationships/oleObject" Target="../embeddings/oleObject139.bin"/><Relationship Id="rId4" Type="http://schemas.openxmlformats.org/officeDocument/2006/relationships/oleObject" Target="../embeddings/oleObject13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45.bin"/><Relationship Id="rId5" Type="http://schemas.openxmlformats.org/officeDocument/2006/relationships/oleObject" Target="../embeddings/oleObject144.bin"/><Relationship Id="rId4" Type="http://schemas.openxmlformats.org/officeDocument/2006/relationships/oleObject" Target="../embeddings/oleObject143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49.bin"/><Relationship Id="rId5" Type="http://schemas.openxmlformats.org/officeDocument/2006/relationships/oleObject" Target="../embeddings/oleObject148.bin"/><Relationship Id="rId4" Type="http://schemas.openxmlformats.org/officeDocument/2006/relationships/oleObject" Target="../embeddings/oleObject14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54.bin"/><Relationship Id="rId5" Type="http://schemas.openxmlformats.org/officeDocument/2006/relationships/oleObject" Target="../embeddings/oleObject153.bin"/><Relationship Id="rId4" Type="http://schemas.openxmlformats.org/officeDocument/2006/relationships/oleObject" Target="../embeddings/oleObject15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60.bin"/><Relationship Id="rId5" Type="http://schemas.openxmlformats.org/officeDocument/2006/relationships/oleObject" Target="../embeddings/oleObject159.bin"/><Relationship Id="rId4" Type="http://schemas.openxmlformats.org/officeDocument/2006/relationships/oleObject" Target="../embeddings/oleObject15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65.bin"/><Relationship Id="rId5" Type="http://schemas.openxmlformats.org/officeDocument/2006/relationships/oleObject" Target="../embeddings/oleObject164.bin"/><Relationship Id="rId4" Type="http://schemas.openxmlformats.org/officeDocument/2006/relationships/oleObject" Target="../embeddings/oleObject16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70.bin"/><Relationship Id="rId5" Type="http://schemas.openxmlformats.org/officeDocument/2006/relationships/oleObject" Target="../embeddings/oleObject169.bin"/><Relationship Id="rId4" Type="http://schemas.openxmlformats.org/officeDocument/2006/relationships/oleObject" Target="../embeddings/oleObject16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75.bin"/><Relationship Id="rId5" Type="http://schemas.openxmlformats.org/officeDocument/2006/relationships/oleObject" Target="../embeddings/oleObject174.bin"/><Relationship Id="rId4" Type="http://schemas.openxmlformats.org/officeDocument/2006/relationships/oleObject" Target="../embeddings/oleObject17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81.bin"/><Relationship Id="rId5" Type="http://schemas.openxmlformats.org/officeDocument/2006/relationships/oleObject" Target="../embeddings/oleObject180.bin"/><Relationship Id="rId4" Type="http://schemas.openxmlformats.org/officeDocument/2006/relationships/oleObject" Target="../embeddings/oleObject17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87.bin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6.bin"/><Relationship Id="rId10" Type="http://schemas.openxmlformats.org/officeDocument/2006/relationships/oleObject" Target="../embeddings/oleObject191.bin"/><Relationship Id="rId4" Type="http://schemas.openxmlformats.org/officeDocument/2006/relationships/oleObject" Target="../embeddings/oleObject185.bin"/><Relationship Id="rId9" Type="http://schemas.openxmlformats.org/officeDocument/2006/relationships/oleObject" Target="../embeddings/oleObject190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5" Type="http://schemas.openxmlformats.org/officeDocument/2006/relationships/oleObject" Target="../embeddings/oleObject196.bin"/><Relationship Id="rId4" Type="http://schemas.openxmlformats.org/officeDocument/2006/relationships/oleObject" Target="../embeddings/oleObject19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00.bin"/><Relationship Id="rId5" Type="http://schemas.openxmlformats.org/officeDocument/2006/relationships/oleObject" Target="../embeddings/oleObject199.bin"/><Relationship Id="rId4" Type="http://schemas.openxmlformats.org/officeDocument/2006/relationships/oleObject" Target="../embeddings/oleObject19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06.bin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5.bin"/><Relationship Id="rId10" Type="http://schemas.openxmlformats.org/officeDocument/2006/relationships/oleObject" Target="../embeddings/oleObject210.bin"/><Relationship Id="rId4" Type="http://schemas.openxmlformats.org/officeDocument/2006/relationships/oleObject" Target="../embeddings/oleObject204.bin"/><Relationship Id="rId9" Type="http://schemas.openxmlformats.org/officeDocument/2006/relationships/oleObject" Target="../embeddings/oleObject209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215.bin"/><Relationship Id="rId5" Type="http://schemas.openxmlformats.org/officeDocument/2006/relationships/oleObject" Target="../embeddings/oleObject214.bin"/><Relationship Id="rId4" Type="http://schemas.openxmlformats.org/officeDocument/2006/relationships/oleObject" Target="../embeddings/oleObject213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13" Type="http://schemas.openxmlformats.org/officeDocument/2006/relationships/oleObject" Target="../embeddings/oleObject227.bin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21.bin"/><Relationship Id="rId12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220.bin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19.bin"/><Relationship Id="rId10" Type="http://schemas.openxmlformats.org/officeDocument/2006/relationships/oleObject" Target="../embeddings/oleObject224.bin"/><Relationship Id="rId4" Type="http://schemas.openxmlformats.org/officeDocument/2006/relationships/oleObject" Target="../embeddings/oleObject218.bin"/><Relationship Id="rId9" Type="http://schemas.openxmlformats.org/officeDocument/2006/relationships/oleObject" Target="../embeddings/oleObject223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231.bin"/><Relationship Id="rId5" Type="http://schemas.openxmlformats.org/officeDocument/2006/relationships/oleObject" Target="../embeddings/oleObject230.bin"/><Relationship Id="rId4" Type="http://schemas.openxmlformats.org/officeDocument/2006/relationships/oleObject" Target="../embeddings/oleObject22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oleObject" Target="../embeddings/oleObject23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694A-B508-4C40-BB77-AA3B40D86A47}" type="slidenum">
              <a:rPr lang="en-US"/>
              <a:pPr/>
              <a:t>1</a:t>
            </a:fld>
            <a:endParaRPr 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Representations </a:t>
            </a:r>
            <a:br>
              <a:rPr lang="en-US"/>
            </a:br>
            <a:r>
              <a:rPr lang="en-US"/>
              <a:t>of Regular Languages</a:t>
            </a:r>
          </a:p>
        </p:txBody>
      </p:sp>
      <p:sp>
        <p:nvSpPr>
          <p:cNvPr id="345091" name="Text Box 3"/>
          <p:cNvSpPr txBox="1">
            <a:spLocks noChangeArrowheads="1"/>
          </p:cNvSpPr>
          <p:nvPr/>
        </p:nvSpPr>
        <p:spPr bwMode="auto">
          <a:xfrm>
            <a:off x="2819400" y="1447800"/>
            <a:ext cx="3762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Regular Languages</a:t>
            </a:r>
          </a:p>
        </p:txBody>
      </p:sp>
      <p:sp>
        <p:nvSpPr>
          <p:cNvPr id="345092" name="Text Box 4"/>
          <p:cNvSpPr txBox="1">
            <a:spLocks noChangeArrowheads="1"/>
          </p:cNvSpPr>
          <p:nvPr/>
        </p:nvSpPr>
        <p:spPr bwMode="auto">
          <a:xfrm>
            <a:off x="533400" y="2895600"/>
            <a:ext cx="1219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DFAs</a:t>
            </a:r>
            <a:endParaRPr lang="en-US" b="1"/>
          </a:p>
        </p:txBody>
      </p:sp>
      <p:sp>
        <p:nvSpPr>
          <p:cNvPr id="345093" name="Text Box 5"/>
          <p:cNvSpPr txBox="1">
            <a:spLocks noChangeArrowheads="1"/>
          </p:cNvSpPr>
          <p:nvPr/>
        </p:nvSpPr>
        <p:spPr bwMode="auto">
          <a:xfrm>
            <a:off x="1295400" y="4800600"/>
            <a:ext cx="1249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NFAs</a:t>
            </a:r>
            <a:endParaRPr lang="en-US" b="1"/>
          </a:p>
        </p:txBody>
      </p:sp>
      <p:sp>
        <p:nvSpPr>
          <p:cNvPr id="345094" name="Text Box 6"/>
          <p:cNvSpPr txBox="1">
            <a:spLocks noChangeArrowheads="1"/>
          </p:cNvSpPr>
          <p:nvPr/>
        </p:nvSpPr>
        <p:spPr bwMode="auto">
          <a:xfrm>
            <a:off x="3886200" y="5181600"/>
            <a:ext cx="24495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Expressions</a:t>
            </a:r>
            <a:endParaRPr lang="en-US" b="1"/>
          </a:p>
        </p:txBody>
      </p:sp>
      <p:sp>
        <p:nvSpPr>
          <p:cNvPr id="345095" name="Text Box 7"/>
          <p:cNvSpPr txBox="1">
            <a:spLocks noChangeArrowheads="1"/>
          </p:cNvSpPr>
          <p:nvPr/>
        </p:nvSpPr>
        <p:spPr bwMode="auto">
          <a:xfrm>
            <a:off x="6781800" y="3352800"/>
            <a:ext cx="20970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Grammars</a:t>
            </a:r>
            <a:endParaRPr lang="en-US" b="1"/>
          </a:p>
        </p:txBody>
      </p:sp>
      <p:sp>
        <p:nvSpPr>
          <p:cNvPr id="345096" name="AutoShape 8"/>
          <p:cNvSpPr>
            <a:spLocks noChangeArrowheads="1"/>
          </p:cNvSpPr>
          <p:nvPr/>
        </p:nvSpPr>
        <p:spPr bwMode="auto">
          <a:xfrm>
            <a:off x="2743200" y="1295400"/>
            <a:ext cx="3962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5097" name="AutoShape 9"/>
          <p:cNvSpPr>
            <a:spLocks noChangeArrowheads="1"/>
          </p:cNvSpPr>
          <p:nvPr/>
        </p:nvSpPr>
        <p:spPr bwMode="auto">
          <a:xfrm>
            <a:off x="457200" y="2667000"/>
            <a:ext cx="14478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5098" name="AutoShape 10"/>
          <p:cNvSpPr>
            <a:spLocks noChangeArrowheads="1"/>
          </p:cNvSpPr>
          <p:nvPr/>
        </p:nvSpPr>
        <p:spPr bwMode="auto">
          <a:xfrm>
            <a:off x="1066800" y="4648200"/>
            <a:ext cx="16002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5099" name="AutoShape 11"/>
          <p:cNvSpPr>
            <a:spLocks noChangeArrowheads="1"/>
          </p:cNvSpPr>
          <p:nvPr/>
        </p:nvSpPr>
        <p:spPr bwMode="auto">
          <a:xfrm>
            <a:off x="3733800" y="5181600"/>
            <a:ext cx="2743200" cy="1143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5100" name="AutoShape 12"/>
          <p:cNvSpPr>
            <a:spLocks noChangeArrowheads="1"/>
          </p:cNvSpPr>
          <p:nvPr/>
        </p:nvSpPr>
        <p:spPr bwMode="auto">
          <a:xfrm>
            <a:off x="6629400" y="3352800"/>
            <a:ext cx="2362200" cy="1143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5101" name="Line 13"/>
          <p:cNvSpPr>
            <a:spLocks noChangeShapeType="1"/>
          </p:cNvSpPr>
          <p:nvPr/>
        </p:nvSpPr>
        <p:spPr bwMode="auto">
          <a:xfrm flipH="1">
            <a:off x="1905000" y="22098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5102" name="Line 14"/>
          <p:cNvSpPr>
            <a:spLocks noChangeShapeType="1"/>
          </p:cNvSpPr>
          <p:nvPr/>
        </p:nvSpPr>
        <p:spPr bwMode="auto">
          <a:xfrm flipH="1">
            <a:off x="2209800" y="2209800"/>
            <a:ext cx="12192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5103" name="Line 15"/>
          <p:cNvSpPr>
            <a:spLocks noChangeShapeType="1"/>
          </p:cNvSpPr>
          <p:nvPr/>
        </p:nvSpPr>
        <p:spPr bwMode="auto">
          <a:xfrm>
            <a:off x="4953000" y="2209800"/>
            <a:ext cx="2286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5104" name="Line 16"/>
          <p:cNvSpPr>
            <a:spLocks noChangeShapeType="1"/>
          </p:cNvSpPr>
          <p:nvPr/>
        </p:nvSpPr>
        <p:spPr bwMode="auto">
          <a:xfrm>
            <a:off x="6477000" y="2209800"/>
            <a:ext cx="762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60-54EB-4204-B52B-C22495F06264}" type="slidenum">
              <a:rPr lang="en-US"/>
              <a:pPr/>
              <a:t>2</a:t>
            </a:fld>
            <a:endParaRPr lang="en-US"/>
          </a:p>
        </p:txBody>
      </p:sp>
      <p:sp>
        <p:nvSpPr>
          <p:cNvPr id="324610" name="Text Box 2"/>
          <p:cNvSpPr txBox="1">
            <a:spLocks noChangeArrowheads="1"/>
          </p:cNvSpPr>
          <p:nvPr/>
        </p:nvSpPr>
        <p:spPr bwMode="auto">
          <a:xfrm>
            <a:off x="0" y="381000"/>
            <a:ext cx="2760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When we say:</a:t>
            </a: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3124200" y="457200"/>
            <a:ext cx="4506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are given </a:t>
            </a:r>
          </a:p>
          <a:p>
            <a:r>
              <a:rPr lang="en-US"/>
              <a:t>a Regular Language</a:t>
            </a:r>
            <a:r>
              <a:rPr lang="en-US">
                <a:solidFill>
                  <a:schemeClr val="accent1"/>
                </a:solidFill>
              </a:rPr>
              <a:t>      </a:t>
            </a:r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0" y="3352800"/>
            <a:ext cx="2032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We mean:</a:t>
            </a:r>
          </a:p>
        </p:txBody>
      </p:sp>
      <p:graphicFrame>
        <p:nvGraphicFramePr>
          <p:cNvPr id="324613" name="Object 5"/>
          <p:cNvGraphicFramePr>
            <a:graphicFrameLocks noChangeAspect="1"/>
          </p:cNvGraphicFramePr>
          <p:nvPr/>
        </p:nvGraphicFramePr>
        <p:xfrm>
          <a:off x="7073900" y="1130300"/>
          <a:ext cx="328613" cy="393700"/>
        </p:xfrm>
        <a:graphic>
          <a:graphicData uri="http://schemas.openxmlformats.org/presentationml/2006/ole">
            <p:oleObj spid="_x0000_s324613" name="Equation" r:id="rId3" imgW="330120" imgH="393480" progId="Equation.3">
              <p:embed/>
            </p:oleObj>
          </a:graphicData>
        </a:graphic>
      </p:graphicFrame>
      <p:sp>
        <p:nvSpPr>
          <p:cNvPr id="324614" name="Text Box 6"/>
          <p:cNvSpPr txBox="1">
            <a:spLocks noChangeArrowheads="1"/>
          </p:cNvSpPr>
          <p:nvPr/>
        </p:nvSpPr>
        <p:spPr bwMode="auto">
          <a:xfrm>
            <a:off x="2438400" y="3352800"/>
            <a:ext cx="57848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      is in a standard </a:t>
            </a:r>
          </a:p>
          <a:p>
            <a:r>
              <a:rPr lang="en-US"/>
              <a:t>representation</a:t>
            </a:r>
          </a:p>
        </p:txBody>
      </p:sp>
      <p:graphicFrame>
        <p:nvGraphicFramePr>
          <p:cNvPr id="324615" name="Object 7"/>
          <p:cNvGraphicFramePr>
            <a:graphicFrameLocks noChangeAspect="1"/>
          </p:cNvGraphicFramePr>
          <p:nvPr/>
        </p:nvGraphicFramePr>
        <p:xfrm>
          <a:off x="4495800" y="3429000"/>
          <a:ext cx="328613" cy="393700"/>
        </p:xfrm>
        <a:graphic>
          <a:graphicData uri="http://schemas.openxmlformats.org/presentationml/2006/ole">
            <p:oleObj spid="_x0000_s324615" name="Equation" r:id="rId4" imgW="33012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Elementary Questions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about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Regular Languages</a:t>
            </a:r>
          </a:p>
        </p:txBody>
      </p:sp>
      <p:sp>
        <p:nvSpPr>
          <p:cNvPr id="32153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4201-F00E-48A4-990E-B77ACCE8996B}" type="slidenum">
              <a:rPr lang="en-US"/>
              <a:pPr/>
              <a:t>4</a:t>
            </a:fld>
            <a:endParaRPr lang="en-US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Membership Question</a:t>
            </a:r>
          </a:p>
        </p:txBody>
      </p:sp>
      <p:sp>
        <p:nvSpPr>
          <p:cNvPr id="346115" name="Text Box 3"/>
          <p:cNvSpPr txBox="1">
            <a:spLocks noChangeArrowheads="1"/>
          </p:cNvSpPr>
          <p:nvPr/>
        </p:nvSpPr>
        <p:spPr bwMode="auto">
          <a:xfrm>
            <a:off x="0" y="1066800"/>
            <a:ext cx="2085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Question:</a:t>
            </a:r>
          </a:p>
        </p:txBody>
      </p:sp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2362200" y="1066800"/>
            <a:ext cx="63627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regular language</a:t>
            </a:r>
          </a:p>
          <a:p>
            <a:r>
              <a:rPr lang="en-US"/>
              <a:t>and string </a:t>
            </a:r>
          </a:p>
          <a:p>
            <a:r>
              <a:rPr lang="en-US"/>
              <a:t>how can we check if               </a:t>
            </a:r>
            <a:r>
              <a:rPr lang="en-US" b="1"/>
              <a:t>?  </a:t>
            </a:r>
          </a:p>
        </p:txBody>
      </p:sp>
      <p:graphicFrame>
        <p:nvGraphicFramePr>
          <p:cNvPr id="346117" name="Object 5"/>
          <p:cNvGraphicFramePr>
            <a:graphicFrameLocks noChangeAspect="1"/>
          </p:cNvGraphicFramePr>
          <p:nvPr/>
        </p:nvGraphicFramePr>
        <p:xfrm>
          <a:off x="6858000" y="1143000"/>
          <a:ext cx="328613" cy="393700"/>
        </p:xfrm>
        <a:graphic>
          <a:graphicData uri="http://schemas.openxmlformats.org/presentationml/2006/ole">
            <p:oleObj spid="_x0000_s346117" name="Equation" r:id="rId3" imgW="330120" imgH="393480" progId="Equation.3">
              <p:embed/>
            </p:oleObj>
          </a:graphicData>
        </a:graphic>
      </p:graphicFrame>
      <p:graphicFrame>
        <p:nvGraphicFramePr>
          <p:cNvPr id="346118" name="Object 6"/>
          <p:cNvGraphicFramePr>
            <a:graphicFrameLocks noChangeAspect="1"/>
          </p:cNvGraphicFramePr>
          <p:nvPr/>
        </p:nvGraphicFramePr>
        <p:xfrm>
          <a:off x="6553200" y="2286000"/>
          <a:ext cx="1422400" cy="517525"/>
        </p:xfrm>
        <a:graphic>
          <a:graphicData uri="http://schemas.openxmlformats.org/presentationml/2006/ole">
            <p:oleObj spid="_x0000_s346118" name="Equation" r:id="rId4" imgW="1422360" imgH="520560" progId="Equation.3">
              <p:embed/>
            </p:oleObj>
          </a:graphicData>
        </a:graphic>
      </p:graphicFrame>
      <p:graphicFrame>
        <p:nvGraphicFramePr>
          <p:cNvPr id="346119" name="Object 7"/>
          <p:cNvGraphicFramePr>
            <a:graphicFrameLocks noChangeAspect="1"/>
          </p:cNvGraphicFramePr>
          <p:nvPr/>
        </p:nvGraphicFramePr>
        <p:xfrm>
          <a:off x="4572000" y="1828800"/>
          <a:ext cx="368300" cy="304800"/>
        </p:xfrm>
        <a:graphic>
          <a:graphicData uri="http://schemas.openxmlformats.org/presentationml/2006/ole">
            <p:oleObj spid="_x0000_s346119" name="Equation" r:id="rId5" imgW="368280" imgH="304560" progId="Equation.3">
              <p:embed/>
            </p:oleObj>
          </a:graphicData>
        </a:graphic>
      </p:graphicFrame>
      <p:grpSp>
        <p:nvGrpSpPr>
          <p:cNvPr id="346124" name="Group 12"/>
          <p:cNvGrpSpPr>
            <a:grpSpLocks/>
          </p:cNvGrpSpPr>
          <p:nvPr/>
        </p:nvGrpSpPr>
        <p:grpSpPr bwMode="auto">
          <a:xfrm>
            <a:off x="0" y="4572000"/>
            <a:ext cx="8088313" cy="1163638"/>
            <a:chOff x="0" y="2880"/>
            <a:chExt cx="5095" cy="733"/>
          </a:xfrm>
        </p:grpSpPr>
        <p:sp>
          <p:nvSpPr>
            <p:cNvPr id="346120" name="Text Box 8"/>
            <p:cNvSpPr txBox="1">
              <a:spLocks noChangeArrowheads="1"/>
            </p:cNvSpPr>
            <p:nvPr/>
          </p:nvSpPr>
          <p:spPr bwMode="auto">
            <a:xfrm>
              <a:off x="0" y="2880"/>
              <a:ext cx="122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FF3300"/>
                  </a:solidFill>
                </a:rPr>
                <a:t>Answer:</a:t>
              </a:r>
              <a:r>
                <a:rPr lang="en-US" b="1"/>
                <a:t> </a:t>
              </a:r>
            </a:p>
          </p:txBody>
        </p:sp>
        <p:sp>
          <p:nvSpPr>
            <p:cNvPr id="346121" name="Text Box 9"/>
            <p:cNvSpPr txBox="1">
              <a:spLocks noChangeArrowheads="1"/>
            </p:cNvSpPr>
            <p:nvPr/>
          </p:nvSpPr>
          <p:spPr bwMode="auto">
            <a:xfrm>
              <a:off x="1440" y="2880"/>
              <a:ext cx="3550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Take the DFA that accepts</a:t>
              </a:r>
            </a:p>
            <a:p>
              <a:r>
                <a:rPr lang="en-US"/>
                <a:t>and check if       is accepted </a:t>
              </a:r>
            </a:p>
          </p:txBody>
        </p:sp>
        <p:graphicFrame>
          <p:nvGraphicFramePr>
            <p:cNvPr id="346122" name="Object 10"/>
            <p:cNvGraphicFramePr>
              <a:graphicFrameLocks noChangeAspect="1"/>
            </p:cNvGraphicFramePr>
            <p:nvPr/>
          </p:nvGraphicFramePr>
          <p:xfrm>
            <a:off x="4888" y="2920"/>
            <a:ext cx="207" cy="248"/>
          </p:xfrm>
          <a:graphic>
            <a:graphicData uri="http://schemas.openxmlformats.org/presentationml/2006/ole">
              <p:oleObj spid="_x0000_s346122" name="Equation" r:id="rId6" imgW="330120" imgH="393480" progId="Equation.3">
                <p:embed/>
              </p:oleObj>
            </a:graphicData>
          </a:graphic>
        </p:graphicFrame>
        <p:graphicFrame>
          <p:nvGraphicFramePr>
            <p:cNvPr id="346123" name="Object 11"/>
            <p:cNvGraphicFramePr>
              <a:graphicFrameLocks noChangeAspect="1"/>
            </p:cNvGraphicFramePr>
            <p:nvPr/>
          </p:nvGraphicFramePr>
          <p:xfrm>
            <a:off x="3108" y="3352"/>
            <a:ext cx="232" cy="192"/>
          </p:xfrm>
          <a:graphic>
            <a:graphicData uri="http://schemas.openxmlformats.org/presentationml/2006/ole">
              <p:oleObj spid="_x0000_s346123" name="Equation" r:id="rId7" imgW="368280" imgH="30456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4A24B-551E-448F-9E5E-9D4FE2152D0D}" type="slidenum">
              <a:rPr lang="en-US"/>
              <a:pPr/>
              <a:t>5</a:t>
            </a:fld>
            <a:endParaRPr lang="en-US"/>
          </a:p>
        </p:txBody>
      </p:sp>
      <p:sp>
        <p:nvSpPr>
          <p:cNvPr id="348162" name="Rectangle 1026"/>
          <p:cNvSpPr>
            <a:spLocks noChangeArrowheads="1"/>
          </p:cNvSpPr>
          <p:nvPr/>
        </p:nvSpPr>
        <p:spPr bwMode="auto">
          <a:xfrm>
            <a:off x="2286000" y="10668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63" name="Oval 1027"/>
          <p:cNvSpPr>
            <a:spLocks noChangeArrowheads="1"/>
          </p:cNvSpPr>
          <p:nvPr/>
        </p:nvSpPr>
        <p:spPr bwMode="auto">
          <a:xfrm>
            <a:off x="2514600" y="160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64" name="Oval 1028"/>
          <p:cNvSpPr>
            <a:spLocks noChangeArrowheads="1"/>
          </p:cNvSpPr>
          <p:nvPr/>
        </p:nvSpPr>
        <p:spPr bwMode="auto">
          <a:xfrm>
            <a:off x="4191000" y="160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65" name="Oval 1029"/>
          <p:cNvSpPr>
            <a:spLocks noChangeArrowheads="1"/>
          </p:cNvSpPr>
          <p:nvPr/>
        </p:nvSpPr>
        <p:spPr bwMode="auto">
          <a:xfrm>
            <a:off x="4114800" y="152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66" name="Line 1030"/>
          <p:cNvSpPr>
            <a:spLocks noChangeShapeType="1"/>
          </p:cNvSpPr>
          <p:nvPr/>
        </p:nvSpPr>
        <p:spPr bwMode="auto">
          <a:xfrm>
            <a:off x="1905000" y="1752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67" name="Freeform 1031"/>
          <p:cNvSpPr>
            <a:spLocks/>
          </p:cNvSpPr>
          <p:nvPr/>
        </p:nvSpPr>
        <p:spPr bwMode="auto">
          <a:xfrm>
            <a:off x="2895600" y="13843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68" name="Text Box 1032"/>
          <p:cNvSpPr txBox="1">
            <a:spLocks noChangeArrowheads="1"/>
          </p:cNvSpPr>
          <p:nvPr/>
        </p:nvSpPr>
        <p:spPr bwMode="auto">
          <a:xfrm>
            <a:off x="3048000" y="457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graphicFrame>
        <p:nvGraphicFramePr>
          <p:cNvPr id="363520" name="Object 1024"/>
          <p:cNvGraphicFramePr>
            <a:graphicFrameLocks noChangeAspect="1"/>
          </p:cNvGraphicFramePr>
          <p:nvPr/>
        </p:nvGraphicFramePr>
        <p:xfrm>
          <a:off x="5613400" y="1682750"/>
          <a:ext cx="1155700" cy="406400"/>
        </p:xfrm>
        <a:graphic>
          <a:graphicData uri="http://schemas.openxmlformats.org/presentationml/2006/ole">
            <p:oleObj spid="_x0000_s363520" name="Equation" r:id="rId3" imgW="1155600" imgH="406080" progId="Equation.3">
              <p:embed/>
            </p:oleObj>
          </a:graphicData>
        </a:graphic>
      </p:graphicFrame>
      <p:sp>
        <p:nvSpPr>
          <p:cNvPr id="348170" name="Rectangle 1034"/>
          <p:cNvSpPr>
            <a:spLocks noChangeArrowheads="1"/>
          </p:cNvSpPr>
          <p:nvPr/>
        </p:nvSpPr>
        <p:spPr bwMode="auto">
          <a:xfrm>
            <a:off x="2362200" y="44196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71" name="Oval 1035"/>
          <p:cNvSpPr>
            <a:spLocks noChangeArrowheads="1"/>
          </p:cNvSpPr>
          <p:nvPr/>
        </p:nvSpPr>
        <p:spPr bwMode="auto">
          <a:xfrm>
            <a:off x="2590800" y="4953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72" name="Oval 1036"/>
          <p:cNvSpPr>
            <a:spLocks noChangeArrowheads="1"/>
          </p:cNvSpPr>
          <p:nvPr/>
        </p:nvSpPr>
        <p:spPr bwMode="auto">
          <a:xfrm>
            <a:off x="4267200" y="4953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73" name="Oval 1037"/>
          <p:cNvSpPr>
            <a:spLocks noChangeArrowheads="1"/>
          </p:cNvSpPr>
          <p:nvPr/>
        </p:nvSpPr>
        <p:spPr bwMode="auto">
          <a:xfrm>
            <a:off x="4191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74" name="Line 1038"/>
          <p:cNvSpPr>
            <a:spLocks noChangeShapeType="1"/>
          </p:cNvSpPr>
          <p:nvPr/>
        </p:nvSpPr>
        <p:spPr bwMode="auto">
          <a:xfrm>
            <a:off x="19812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75" name="Freeform 1039"/>
          <p:cNvSpPr>
            <a:spLocks/>
          </p:cNvSpPr>
          <p:nvPr/>
        </p:nvSpPr>
        <p:spPr bwMode="auto">
          <a:xfrm>
            <a:off x="2971800" y="47371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76" name="Text Box 1040"/>
          <p:cNvSpPr txBox="1">
            <a:spLocks noChangeArrowheads="1"/>
          </p:cNvSpPr>
          <p:nvPr/>
        </p:nvSpPr>
        <p:spPr bwMode="auto">
          <a:xfrm>
            <a:off x="3124200" y="38100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sp>
        <p:nvSpPr>
          <p:cNvPr id="348178" name="Line 1042"/>
          <p:cNvSpPr>
            <a:spLocks noChangeShapeType="1"/>
          </p:cNvSpPr>
          <p:nvPr/>
        </p:nvSpPr>
        <p:spPr bwMode="auto">
          <a:xfrm>
            <a:off x="3200400" y="4572000"/>
            <a:ext cx="762000" cy="99060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8179" name="Line 1043"/>
          <p:cNvSpPr>
            <a:spLocks noChangeShapeType="1"/>
          </p:cNvSpPr>
          <p:nvPr/>
        </p:nvSpPr>
        <p:spPr bwMode="auto">
          <a:xfrm flipH="1">
            <a:off x="3200400" y="4572000"/>
            <a:ext cx="762000" cy="99060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63521" name="Object 1025"/>
          <p:cNvGraphicFramePr>
            <a:graphicFrameLocks noChangeAspect="1"/>
          </p:cNvGraphicFramePr>
          <p:nvPr/>
        </p:nvGraphicFramePr>
        <p:xfrm>
          <a:off x="5638800" y="4933950"/>
          <a:ext cx="1155700" cy="444500"/>
        </p:xfrm>
        <a:graphic>
          <a:graphicData uri="http://schemas.openxmlformats.org/presentationml/2006/ole">
            <p:oleObj spid="_x0000_s363521" name="Equation" r:id="rId4" imgW="1155600" imgH="444240" progId="Equation.3">
              <p:embed/>
            </p:oleObj>
          </a:graphicData>
        </a:graphic>
      </p:graphicFrame>
      <p:graphicFrame>
        <p:nvGraphicFramePr>
          <p:cNvPr id="363522" name="Object 1026"/>
          <p:cNvGraphicFramePr>
            <a:graphicFrameLocks noChangeAspect="1"/>
          </p:cNvGraphicFramePr>
          <p:nvPr/>
        </p:nvGraphicFramePr>
        <p:xfrm>
          <a:off x="3352800" y="1143000"/>
          <a:ext cx="368300" cy="304800"/>
        </p:xfrm>
        <a:graphic>
          <a:graphicData uri="http://schemas.openxmlformats.org/presentationml/2006/ole">
            <p:oleObj spid="_x0000_s363522" name="Equation" r:id="rId5" imgW="368280" imgH="304560" progId="Equation.3">
              <p:embed/>
            </p:oleObj>
          </a:graphicData>
        </a:graphic>
      </p:graphicFrame>
      <p:graphicFrame>
        <p:nvGraphicFramePr>
          <p:cNvPr id="363523" name="Object 1027"/>
          <p:cNvGraphicFramePr>
            <a:graphicFrameLocks noChangeAspect="1"/>
          </p:cNvGraphicFramePr>
          <p:nvPr/>
        </p:nvGraphicFramePr>
        <p:xfrm>
          <a:off x="3352800" y="4495800"/>
          <a:ext cx="368300" cy="304800"/>
        </p:xfrm>
        <a:graphic>
          <a:graphicData uri="http://schemas.openxmlformats.org/presentationml/2006/ole">
            <p:oleObj spid="_x0000_s363523" name="Equation" r:id="rId6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E925-20BD-49EC-81E1-867C97F27B22}" type="slidenum">
              <a:rPr lang="en-US"/>
              <a:pPr/>
              <a:t>6</a:t>
            </a:fld>
            <a:endParaRPr lang="en-US"/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2438400" y="457200"/>
            <a:ext cx="57197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regular language</a:t>
            </a:r>
          </a:p>
          <a:p>
            <a:r>
              <a:rPr lang="en-US"/>
              <a:t>how can we check</a:t>
            </a:r>
          </a:p>
          <a:p>
            <a:r>
              <a:rPr lang="en-US"/>
              <a:t>if      is empty:                  ?</a:t>
            </a:r>
            <a:r>
              <a:rPr lang="en-US" b="1"/>
              <a:t>  </a:t>
            </a:r>
          </a:p>
        </p:txBody>
      </p:sp>
      <p:graphicFrame>
        <p:nvGraphicFramePr>
          <p:cNvPr id="364544" name="Object 1024"/>
          <p:cNvGraphicFramePr>
            <a:graphicFrameLocks noChangeAspect="1"/>
          </p:cNvGraphicFramePr>
          <p:nvPr/>
        </p:nvGraphicFramePr>
        <p:xfrm>
          <a:off x="7089775" y="571500"/>
          <a:ext cx="328613" cy="393700"/>
        </p:xfrm>
        <a:graphic>
          <a:graphicData uri="http://schemas.openxmlformats.org/presentationml/2006/ole">
            <p:oleObj spid="_x0000_s364544" name="Equation" r:id="rId3" imgW="330120" imgH="393480" progId="Equation.3">
              <p:embed/>
            </p:oleObj>
          </a:graphicData>
        </a:graphic>
      </p:graphicFrame>
      <p:graphicFrame>
        <p:nvGraphicFramePr>
          <p:cNvPr id="364545" name="Object 1025"/>
          <p:cNvGraphicFramePr>
            <a:graphicFrameLocks noChangeAspect="1"/>
          </p:cNvGraphicFramePr>
          <p:nvPr/>
        </p:nvGraphicFramePr>
        <p:xfrm>
          <a:off x="3127375" y="1714500"/>
          <a:ext cx="328613" cy="393700"/>
        </p:xfrm>
        <a:graphic>
          <a:graphicData uri="http://schemas.openxmlformats.org/presentationml/2006/ole">
            <p:oleObj spid="_x0000_s364545" name="Equation" r:id="rId4" imgW="330120" imgH="393480" progId="Equation.3">
              <p:embed/>
            </p:oleObj>
          </a:graphicData>
        </a:graphic>
      </p:graphicFrame>
      <p:sp>
        <p:nvSpPr>
          <p:cNvPr id="325639" name="Text Box 7"/>
          <p:cNvSpPr txBox="1">
            <a:spLocks noChangeArrowheads="1"/>
          </p:cNvSpPr>
          <p:nvPr/>
        </p:nvSpPr>
        <p:spPr bwMode="auto">
          <a:xfrm>
            <a:off x="2133600" y="3962400"/>
            <a:ext cx="6286500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the DFA that accepts      </a:t>
            </a:r>
          </a:p>
          <a:p>
            <a:endParaRPr lang="en-US"/>
          </a:p>
          <a:p>
            <a:r>
              <a:rPr lang="en-US"/>
              <a:t>Check if there is any path from </a:t>
            </a:r>
          </a:p>
          <a:p>
            <a:r>
              <a:rPr lang="en-US"/>
              <a:t>the initial state to a final state</a:t>
            </a:r>
          </a:p>
        </p:txBody>
      </p:sp>
      <p:graphicFrame>
        <p:nvGraphicFramePr>
          <p:cNvPr id="364546" name="Object 1026"/>
          <p:cNvGraphicFramePr>
            <a:graphicFrameLocks noChangeAspect="1"/>
          </p:cNvGraphicFramePr>
          <p:nvPr/>
        </p:nvGraphicFramePr>
        <p:xfrm>
          <a:off x="7620000" y="4038600"/>
          <a:ext cx="328613" cy="393700"/>
        </p:xfrm>
        <a:graphic>
          <a:graphicData uri="http://schemas.openxmlformats.org/presentationml/2006/ole">
            <p:oleObj spid="_x0000_s364546" name="Equation" r:id="rId5" imgW="330120" imgH="393480" progId="Equation.3">
              <p:embed/>
            </p:oleObj>
          </a:graphicData>
        </a:graphic>
      </p:graphicFrame>
      <p:graphicFrame>
        <p:nvGraphicFramePr>
          <p:cNvPr id="364547" name="Object 1027"/>
          <p:cNvGraphicFramePr>
            <a:graphicFrameLocks noChangeAspect="1"/>
          </p:cNvGraphicFramePr>
          <p:nvPr/>
        </p:nvGraphicFramePr>
        <p:xfrm>
          <a:off x="5730875" y="1701800"/>
          <a:ext cx="1600200" cy="531813"/>
        </p:xfrm>
        <a:graphic>
          <a:graphicData uri="http://schemas.openxmlformats.org/presentationml/2006/ole">
            <p:oleObj spid="_x0000_s364547" name="Equation" r:id="rId6" imgW="1600200" imgH="533160" progId="Equation.3">
              <p:embed/>
            </p:oleObj>
          </a:graphicData>
        </a:graphic>
      </p:graphicFrame>
      <p:sp>
        <p:nvSpPr>
          <p:cNvPr id="325643" name="Text Box 11"/>
          <p:cNvSpPr txBox="1">
            <a:spLocks noChangeArrowheads="1"/>
          </p:cNvSpPr>
          <p:nvPr/>
        </p:nvSpPr>
        <p:spPr bwMode="auto">
          <a:xfrm>
            <a:off x="0" y="457200"/>
            <a:ext cx="2085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Question:</a:t>
            </a:r>
          </a:p>
        </p:txBody>
      </p:sp>
      <p:sp>
        <p:nvSpPr>
          <p:cNvPr id="325644" name="Text Box 12"/>
          <p:cNvSpPr txBox="1">
            <a:spLocks noChangeArrowheads="1"/>
          </p:cNvSpPr>
          <p:nvPr/>
        </p:nvSpPr>
        <p:spPr bwMode="auto">
          <a:xfrm>
            <a:off x="0" y="3886200"/>
            <a:ext cx="1768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Answer: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BFB-53FC-4792-97BA-59C7E9954557}" type="slidenum">
              <a:rPr lang="en-US"/>
              <a:pPr/>
              <a:t>7</a:t>
            </a:fld>
            <a:endParaRPr lang="en-US"/>
          </a:p>
        </p:txBody>
      </p:sp>
      <p:sp>
        <p:nvSpPr>
          <p:cNvPr id="347142" name="Rectangle 6"/>
          <p:cNvSpPr>
            <a:spLocks noChangeArrowheads="1"/>
          </p:cNvSpPr>
          <p:nvPr/>
        </p:nvSpPr>
        <p:spPr bwMode="auto">
          <a:xfrm>
            <a:off x="2286000" y="10668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43" name="Oval 7"/>
          <p:cNvSpPr>
            <a:spLocks noChangeArrowheads="1"/>
          </p:cNvSpPr>
          <p:nvPr/>
        </p:nvSpPr>
        <p:spPr bwMode="auto">
          <a:xfrm>
            <a:off x="2514600" y="160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44" name="Oval 8"/>
          <p:cNvSpPr>
            <a:spLocks noChangeArrowheads="1"/>
          </p:cNvSpPr>
          <p:nvPr/>
        </p:nvSpPr>
        <p:spPr bwMode="auto">
          <a:xfrm>
            <a:off x="4191000" y="160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45" name="Oval 9"/>
          <p:cNvSpPr>
            <a:spLocks noChangeArrowheads="1"/>
          </p:cNvSpPr>
          <p:nvPr/>
        </p:nvSpPr>
        <p:spPr bwMode="auto">
          <a:xfrm>
            <a:off x="4114800" y="152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46" name="Line 10"/>
          <p:cNvSpPr>
            <a:spLocks noChangeShapeType="1"/>
          </p:cNvSpPr>
          <p:nvPr/>
        </p:nvSpPr>
        <p:spPr bwMode="auto">
          <a:xfrm>
            <a:off x="1905000" y="1752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47" name="Freeform 11"/>
          <p:cNvSpPr>
            <a:spLocks/>
          </p:cNvSpPr>
          <p:nvPr/>
        </p:nvSpPr>
        <p:spPr bwMode="auto">
          <a:xfrm>
            <a:off x="2895600" y="13843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1" name="Text Box 15"/>
          <p:cNvSpPr txBox="1">
            <a:spLocks noChangeArrowheads="1"/>
          </p:cNvSpPr>
          <p:nvPr/>
        </p:nvSpPr>
        <p:spPr bwMode="auto">
          <a:xfrm>
            <a:off x="3048000" y="457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graphicFrame>
        <p:nvGraphicFramePr>
          <p:cNvPr id="365568" name="Object 1024"/>
          <p:cNvGraphicFramePr>
            <a:graphicFrameLocks noChangeAspect="1"/>
          </p:cNvGraphicFramePr>
          <p:nvPr/>
        </p:nvGraphicFramePr>
        <p:xfrm>
          <a:off x="5562600" y="1676400"/>
          <a:ext cx="1257300" cy="419100"/>
        </p:xfrm>
        <a:graphic>
          <a:graphicData uri="http://schemas.openxmlformats.org/presentationml/2006/ole">
            <p:oleObj spid="_x0000_s365568" name="Equation" r:id="rId3" imgW="1257120" imgH="419040" progId="Equation.3">
              <p:embed/>
            </p:oleObj>
          </a:graphicData>
        </a:graphic>
      </p:graphicFrame>
      <p:sp>
        <p:nvSpPr>
          <p:cNvPr id="347153" name="Rectangle 17"/>
          <p:cNvSpPr>
            <a:spLocks noChangeArrowheads="1"/>
          </p:cNvSpPr>
          <p:nvPr/>
        </p:nvSpPr>
        <p:spPr bwMode="auto">
          <a:xfrm>
            <a:off x="2362200" y="4419600"/>
            <a:ext cx="2590800" cy="144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4" name="Oval 18"/>
          <p:cNvSpPr>
            <a:spLocks noChangeArrowheads="1"/>
          </p:cNvSpPr>
          <p:nvPr/>
        </p:nvSpPr>
        <p:spPr bwMode="auto">
          <a:xfrm>
            <a:off x="2590800" y="4953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5" name="Oval 19"/>
          <p:cNvSpPr>
            <a:spLocks noChangeArrowheads="1"/>
          </p:cNvSpPr>
          <p:nvPr/>
        </p:nvSpPr>
        <p:spPr bwMode="auto">
          <a:xfrm>
            <a:off x="4267200" y="4953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6" name="Oval 20"/>
          <p:cNvSpPr>
            <a:spLocks noChangeArrowheads="1"/>
          </p:cNvSpPr>
          <p:nvPr/>
        </p:nvSpPr>
        <p:spPr bwMode="auto">
          <a:xfrm>
            <a:off x="4191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7" name="Line 21"/>
          <p:cNvSpPr>
            <a:spLocks noChangeShapeType="1"/>
          </p:cNvSpPr>
          <p:nvPr/>
        </p:nvSpPr>
        <p:spPr bwMode="auto">
          <a:xfrm>
            <a:off x="19812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8" name="Freeform 22"/>
          <p:cNvSpPr>
            <a:spLocks/>
          </p:cNvSpPr>
          <p:nvPr/>
        </p:nvSpPr>
        <p:spPr bwMode="auto">
          <a:xfrm>
            <a:off x="2971800" y="4737100"/>
            <a:ext cx="1295400" cy="5969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96" y="88"/>
              </a:cxn>
              <a:cxn ang="0">
                <a:pos x="192" y="328"/>
              </a:cxn>
              <a:cxn ang="0">
                <a:pos x="384" y="40"/>
              </a:cxn>
              <a:cxn ang="0">
                <a:pos x="480" y="376"/>
              </a:cxn>
              <a:cxn ang="0">
                <a:pos x="672" y="40"/>
              </a:cxn>
              <a:cxn ang="0">
                <a:pos x="816" y="136"/>
              </a:cxn>
            </a:cxnLst>
            <a:rect l="0" t="0" r="r" b="b"/>
            <a:pathLst>
              <a:path w="816" h="376">
                <a:moveTo>
                  <a:pt x="0" y="232"/>
                </a:moveTo>
                <a:cubicBezTo>
                  <a:pt x="32" y="152"/>
                  <a:pt x="64" y="72"/>
                  <a:pt x="96" y="88"/>
                </a:cubicBezTo>
                <a:cubicBezTo>
                  <a:pt x="128" y="104"/>
                  <a:pt x="144" y="336"/>
                  <a:pt x="192" y="328"/>
                </a:cubicBezTo>
                <a:cubicBezTo>
                  <a:pt x="240" y="320"/>
                  <a:pt x="336" y="32"/>
                  <a:pt x="384" y="40"/>
                </a:cubicBezTo>
                <a:cubicBezTo>
                  <a:pt x="432" y="48"/>
                  <a:pt x="432" y="376"/>
                  <a:pt x="480" y="376"/>
                </a:cubicBezTo>
                <a:cubicBezTo>
                  <a:pt x="528" y="376"/>
                  <a:pt x="616" y="80"/>
                  <a:pt x="672" y="40"/>
                </a:cubicBezTo>
                <a:cubicBezTo>
                  <a:pt x="728" y="0"/>
                  <a:pt x="772" y="68"/>
                  <a:pt x="816" y="1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7159" name="Text Box 23"/>
          <p:cNvSpPr txBox="1">
            <a:spLocks noChangeArrowheads="1"/>
          </p:cNvSpPr>
          <p:nvPr/>
        </p:nvSpPr>
        <p:spPr bwMode="auto">
          <a:xfrm>
            <a:off x="3124200" y="38100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graphicFrame>
        <p:nvGraphicFramePr>
          <p:cNvPr id="365569" name="Object 1025"/>
          <p:cNvGraphicFramePr>
            <a:graphicFrameLocks noChangeAspect="1"/>
          </p:cNvGraphicFramePr>
          <p:nvPr/>
        </p:nvGraphicFramePr>
        <p:xfrm>
          <a:off x="5645150" y="5029200"/>
          <a:ext cx="1244600" cy="419100"/>
        </p:xfrm>
        <a:graphic>
          <a:graphicData uri="http://schemas.openxmlformats.org/presentationml/2006/ole">
            <p:oleObj spid="_x0000_s365569" name="Equation" r:id="rId4" imgW="1244520" imgH="419040" progId="Equation.3">
              <p:embed/>
            </p:oleObj>
          </a:graphicData>
        </a:graphic>
      </p:graphicFrame>
      <p:sp>
        <p:nvSpPr>
          <p:cNvPr id="347165" name="Line 29"/>
          <p:cNvSpPr>
            <a:spLocks noChangeShapeType="1"/>
          </p:cNvSpPr>
          <p:nvPr/>
        </p:nvSpPr>
        <p:spPr bwMode="auto">
          <a:xfrm>
            <a:off x="3200400" y="4572000"/>
            <a:ext cx="762000" cy="99060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47166" name="Line 30"/>
          <p:cNvSpPr>
            <a:spLocks noChangeShapeType="1"/>
          </p:cNvSpPr>
          <p:nvPr/>
        </p:nvSpPr>
        <p:spPr bwMode="auto">
          <a:xfrm flipH="1">
            <a:off x="3200400" y="4572000"/>
            <a:ext cx="762000" cy="99060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C59BC-C000-45E7-9093-85F80AB2DC13}" type="slidenum">
              <a:rPr lang="en-US"/>
              <a:pPr/>
              <a:t>8</a:t>
            </a:fld>
            <a:endParaRPr lang="en-US"/>
          </a:p>
        </p:txBody>
      </p:sp>
      <p:sp>
        <p:nvSpPr>
          <p:cNvPr id="349186" name="Text Box 1026"/>
          <p:cNvSpPr txBox="1">
            <a:spLocks noChangeArrowheads="1"/>
          </p:cNvSpPr>
          <p:nvPr/>
        </p:nvSpPr>
        <p:spPr bwMode="auto">
          <a:xfrm>
            <a:off x="2438400" y="457200"/>
            <a:ext cx="44164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regular language</a:t>
            </a:r>
          </a:p>
          <a:p>
            <a:r>
              <a:rPr lang="en-US"/>
              <a:t>how can we check</a:t>
            </a:r>
          </a:p>
          <a:p>
            <a:r>
              <a:rPr lang="en-US"/>
              <a:t>if      is finite?</a:t>
            </a:r>
            <a:r>
              <a:rPr lang="en-US" b="1"/>
              <a:t>  </a:t>
            </a:r>
          </a:p>
        </p:txBody>
      </p:sp>
      <p:graphicFrame>
        <p:nvGraphicFramePr>
          <p:cNvPr id="366592" name="Object 1024"/>
          <p:cNvGraphicFramePr>
            <a:graphicFrameLocks noChangeAspect="1"/>
          </p:cNvGraphicFramePr>
          <p:nvPr/>
        </p:nvGraphicFramePr>
        <p:xfrm>
          <a:off x="7089775" y="571500"/>
          <a:ext cx="328613" cy="393700"/>
        </p:xfrm>
        <a:graphic>
          <a:graphicData uri="http://schemas.openxmlformats.org/presentationml/2006/ole">
            <p:oleObj spid="_x0000_s366592" name="Equation" r:id="rId3" imgW="330120" imgH="393480" progId="Equation.3">
              <p:embed/>
            </p:oleObj>
          </a:graphicData>
        </a:graphic>
      </p:graphicFrame>
      <p:graphicFrame>
        <p:nvGraphicFramePr>
          <p:cNvPr id="366593" name="Object 1025"/>
          <p:cNvGraphicFramePr>
            <a:graphicFrameLocks noChangeAspect="1"/>
          </p:cNvGraphicFramePr>
          <p:nvPr/>
        </p:nvGraphicFramePr>
        <p:xfrm>
          <a:off x="3127375" y="1714500"/>
          <a:ext cx="328613" cy="393700"/>
        </p:xfrm>
        <a:graphic>
          <a:graphicData uri="http://schemas.openxmlformats.org/presentationml/2006/ole">
            <p:oleObj spid="_x0000_s366593" name="Equation" r:id="rId4" imgW="330120" imgH="393480" progId="Equation.3">
              <p:embed/>
            </p:oleObj>
          </a:graphicData>
        </a:graphic>
      </p:graphicFrame>
      <p:sp>
        <p:nvSpPr>
          <p:cNvPr id="349189" name="Text Box 1029"/>
          <p:cNvSpPr txBox="1">
            <a:spLocks noChangeArrowheads="1"/>
          </p:cNvSpPr>
          <p:nvPr/>
        </p:nvSpPr>
        <p:spPr bwMode="auto">
          <a:xfrm>
            <a:off x="1752600" y="3962400"/>
            <a:ext cx="7180263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the DFA that accepts      </a:t>
            </a:r>
          </a:p>
          <a:p>
            <a:endParaRPr lang="en-US"/>
          </a:p>
          <a:p>
            <a:r>
              <a:rPr lang="en-US"/>
              <a:t>Check if there is a walk with cycle</a:t>
            </a:r>
          </a:p>
          <a:p>
            <a:r>
              <a:rPr lang="en-US"/>
              <a:t>from the initial state to a final state</a:t>
            </a:r>
          </a:p>
        </p:txBody>
      </p:sp>
      <p:graphicFrame>
        <p:nvGraphicFramePr>
          <p:cNvPr id="366594" name="Object 1026"/>
          <p:cNvGraphicFramePr>
            <a:graphicFrameLocks noChangeAspect="1"/>
          </p:cNvGraphicFramePr>
          <p:nvPr/>
        </p:nvGraphicFramePr>
        <p:xfrm>
          <a:off x="7620000" y="4038600"/>
          <a:ext cx="328613" cy="393700"/>
        </p:xfrm>
        <a:graphic>
          <a:graphicData uri="http://schemas.openxmlformats.org/presentationml/2006/ole">
            <p:oleObj spid="_x0000_s366594" name="Equation" r:id="rId5" imgW="330120" imgH="393480" progId="Equation.3">
              <p:embed/>
            </p:oleObj>
          </a:graphicData>
        </a:graphic>
      </p:graphicFrame>
      <p:sp>
        <p:nvSpPr>
          <p:cNvPr id="349192" name="Text Box 1032"/>
          <p:cNvSpPr txBox="1">
            <a:spLocks noChangeArrowheads="1"/>
          </p:cNvSpPr>
          <p:nvPr/>
        </p:nvSpPr>
        <p:spPr bwMode="auto">
          <a:xfrm>
            <a:off x="0" y="457200"/>
            <a:ext cx="2085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Question:</a:t>
            </a:r>
          </a:p>
        </p:txBody>
      </p:sp>
      <p:sp>
        <p:nvSpPr>
          <p:cNvPr id="349193" name="Text Box 1033"/>
          <p:cNvSpPr txBox="1">
            <a:spLocks noChangeArrowheads="1"/>
          </p:cNvSpPr>
          <p:nvPr/>
        </p:nvSpPr>
        <p:spPr bwMode="auto">
          <a:xfrm>
            <a:off x="0" y="3886200"/>
            <a:ext cx="1768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Answer: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AF6A9-9626-4BAD-81D1-9BCE6B46DBFA}" type="slidenum">
              <a:rPr lang="en-US"/>
              <a:pPr/>
              <a:t>9</a:t>
            </a:fld>
            <a:endParaRPr lang="en-US"/>
          </a:p>
        </p:txBody>
      </p:sp>
      <p:sp>
        <p:nvSpPr>
          <p:cNvPr id="350210" name="Rectangle 2"/>
          <p:cNvSpPr>
            <a:spLocks noChangeArrowheads="1"/>
          </p:cNvSpPr>
          <p:nvPr/>
        </p:nvSpPr>
        <p:spPr bwMode="auto">
          <a:xfrm>
            <a:off x="1143000" y="762000"/>
            <a:ext cx="44196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1" name="Oval 3"/>
          <p:cNvSpPr>
            <a:spLocks noChangeArrowheads="1"/>
          </p:cNvSpPr>
          <p:nvPr/>
        </p:nvSpPr>
        <p:spPr bwMode="auto">
          <a:xfrm>
            <a:off x="1371600" y="167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2" name="Oval 4"/>
          <p:cNvSpPr>
            <a:spLocks noChangeArrowheads="1"/>
          </p:cNvSpPr>
          <p:nvPr/>
        </p:nvSpPr>
        <p:spPr bwMode="auto">
          <a:xfrm>
            <a:off x="4876800" y="167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3" name="Oval 5"/>
          <p:cNvSpPr>
            <a:spLocks noChangeArrowheads="1"/>
          </p:cNvSpPr>
          <p:nvPr/>
        </p:nvSpPr>
        <p:spPr bwMode="auto">
          <a:xfrm>
            <a:off x="4800600" y="160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4" name="Line 6"/>
          <p:cNvSpPr>
            <a:spLocks noChangeShapeType="1"/>
          </p:cNvSpPr>
          <p:nvPr/>
        </p:nvSpPr>
        <p:spPr bwMode="auto">
          <a:xfrm>
            <a:off x="762000" y="182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16" name="Text Box 8"/>
          <p:cNvSpPr txBox="1">
            <a:spLocks noChangeArrowheads="1"/>
          </p:cNvSpPr>
          <p:nvPr/>
        </p:nvSpPr>
        <p:spPr bwMode="auto">
          <a:xfrm>
            <a:off x="2819400" y="1524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grpSp>
        <p:nvGrpSpPr>
          <p:cNvPr id="350236" name="Group 28"/>
          <p:cNvGrpSpPr>
            <a:grpSpLocks/>
          </p:cNvGrpSpPr>
          <p:nvPr/>
        </p:nvGrpSpPr>
        <p:grpSpPr bwMode="auto">
          <a:xfrm>
            <a:off x="2895600" y="4419600"/>
            <a:ext cx="762000" cy="762000"/>
            <a:chOff x="2016" y="2880"/>
            <a:chExt cx="480" cy="624"/>
          </a:xfrm>
        </p:grpSpPr>
        <p:sp>
          <p:nvSpPr>
            <p:cNvPr id="350226" name="Line 18"/>
            <p:cNvSpPr>
              <a:spLocks noChangeShapeType="1"/>
            </p:cNvSpPr>
            <p:nvPr/>
          </p:nvSpPr>
          <p:spPr bwMode="auto">
            <a:xfrm>
              <a:off x="2016" y="2880"/>
              <a:ext cx="480" cy="624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50227" name="Line 19"/>
            <p:cNvSpPr>
              <a:spLocks noChangeShapeType="1"/>
            </p:cNvSpPr>
            <p:nvPr/>
          </p:nvSpPr>
          <p:spPr bwMode="auto">
            <a:xfrm flipH="1">
              <a:off x="2016" y="2880"/>
              <a:ext cx="480" cy="624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50228" name="Oval 20"/>
          <p:cNvSpPr>
            <a:spLocks noChangeArrowheads="1"/>
          </p:cNvSpPr>
          <p:nvPr/>
        </p:nvSpPr>
        <p:spPr bwMode="auto">
          <a:xfrm>
            <a:off x="2514600" y="167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29" name="Oval 21"/>
          <p:cNvSpPr>
            <a:spLocks noChangeArrowheads="1"/>
          </p:cNvSpPr>
          <p:nvPr/>
        </p:nvSpPr>
        <p:spPr bwMode="auto">
          <a:xfrm>
            <a:off x="3657600" y="167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33" name="Freeform 25"/>
          <p:cNvSpPr>
            <a:spLocks/>
          </p:cNvSpPr>
          <p:nvPr/>
        </p:nvSpPr>
        <p:spPr bwMode="auto">
          <a:xfrm>
            <a:off x="2743200" y="965200"/>
            <a:ext cx="1066800" cy="711200"/>
          </a:xfrm>
          <a:custGeom>
            <a:avLst/>
            <a:gdLst/>
            <a:ahLst/>
            <a:cxnLst>
              <a:cxn ang="0">
                <a:pos x="672" y="448"/>
              </a:cxn>
              <a:cxn ang="0">
                <a:pos x="576" y="160"/>
              </a:cxn>
              <a:cxn ang="0">
                <a:pos x="384" y="16"/>
              </a:cxn>
              <a:cxn ang="0">
                <a:pos x="288" y="160"/>
              </a:cxn>
              <a:cxn ang="0">
                <a:pos x="144" y="16"/>
              </a:cxn>
              <a:cxn ang="0">
                <a:pos x="48" y="256"/>
              </a:cxn>
              <a:cxn ang="0">
                <a:pos x="0" y="448"/>
              </a:cxn>
            </a:cxnLst>
            <a:rect l="0" t="0" r="r" b="b"/>
            <a:pathLst>
              <a:path w="672" h="448">
                <a:moveTo>
                  <a:pt x="672" y="448"/>
                </a:moveTo>
                <a:cubicBezTo>
                  <a:pt x="648" y="340"/>
                  <a:pt x="624" y="232"/>
                  <a:pt x="576" y="160"/>
                </a:cubicBezTo>
                <a:cubicBezTo>
                  <a:pt x="528" y="88"/>
                  <a:pt x="432" y="16"/>
                  <a:pt x="384" y="16"/>
                </a:cubicBezTo>
                <a:cubicBezTo>
                  <a:pt x="336" y="16"/>
                  <a:pt x="328" y="160"/>
                  <a:pt x="288" y="160"/>
                </a:cubicBezTo>
                <a:cubicBezTo>
                  <a:pt x="248" y="160"/>
                  <a:pt x="184" y="0"/>
                  <a:pt x="144" y="16"/>
                </a:cubicBezTo>
                <a:cubicBezTo>
                  <a:pt x="104" y="32"/>
                  <a:pt x="72" y="184"/>
                  <a:pt x="48" y="256"/>
                </a:cubicBezTo>
                <a:cubicBezTo>
                  <a:pt x="24" y="328"/>
                  <a:pt x="12" y="388"/>
                  <a:pt x="0" y="4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367616" name="Object 1024"/>
          <p:cNvGraphicFramePr>
            <a:graphicFrameLocks noChangeAspect="1"/>
          </p:cNvGraphicFramePr>
          <p:nvPr/>
        </p:nvGraphicFramePr>
        <p:xfrm>
          <a:off x="6096000" y="1447800"/>
          <a:ext cx="328613" cy="393700"/>
        </p:xfrm>
        <a:graphic>
          <a:graphicData uri="http://schemas.openxmlformats.org/presentationml/2006/ole">
            <p:oleObj spid="_x0000_s367616" name="Equation" r:id="rId3" imgW="330120" imgH="393480" progId="Equation.3">
              <p:embed/>
            </p:oleObj>
          </a:graphicData>
        </a:graphic>
      </p:graphicFrame>
      <p:sp>
        <p:nvSpPr>
          <p:cNvPr id="350235" name="Text Box 27"/>
          <p:cNvSpPr txBox="1">
            <a:spLocks noChangeArrowheads="1"/>
          </p:cNvSpPr>
          <p:nvPr/>
        </p:nvSpPr>
        <p:spPr bwMode="auto">
          <a:xfrm>
            <a:off x="6553200" y="1371600"/>
            <a:ext cx="2008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infinite</a:t>
            </a:r>
          </a:p>
        </p:txBody>
      </p:sp>
      <p:sp>
        <p:nvSpPr>
          <p:cNvPr id="350237" name="Freeform 29"/>
          <p:cNvSpPr>
            <a:spLocks/>
          </p:cNvSpPr>
          <p:nvPr/>
        </p:nvSpPr>
        <p:spPr bwMode="auto">
          <a:xfrm>
            <a:off x="1752600" y="1574800"/>
            <a:ext cx="762000" cy="4445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96" y="16"/>
              </a:cxn>
              <a:cxn ang="0">
                <a:pos x="288" y="256"/>
              </a:cxn>
              <a:cxn ang="0">
                <a:pos x="480" y="160"/>
              </a:cxn>
            </a:cxnLst>
            <a:rect l="0" t="0" r="r" b="b"/>
            <a:pathLst>
              <a:path w="480" h="280">
                <a:moveTo>
                  <a:pt x="0" y="160"/>
                </a:moveTo>
                <a:cubicBezTo>
                  <a:pt x="24" y="80"/>
                  <a:pt x="48" y="0"/>
                  <a:pt x="96" y="16"/>
                </a:cubicBezTo>
                <a:cubicBezTo>
                  <a:pt x="144" y="32"/>
                  <a:pt x="224" y="232"/>
                  <a:pt x="288" y="256"/>
                </a:cubicBezTo>
                <a:cubicBezTo>
                  <a:pt x="352" y="280"/>
                  <a:pt x="416" y="220"/>
                  <a:pt x="480" y="1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0238" name="Freeform 30"/>
          <p:cNvSpPr>
            <a:spLocks/>
          </p:cNvSpPr>
          <p:nvPr/>
        </p:nvSpPr>
        <p:spPr bwMode="auto">
          <a:xfrm>
            <a:off x="2895600" y="1600200"/>
            <a:ext cx="762000" cy="4445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96" y="16"/>
              </a:cxn>
              <a:cxn ang="0">
                <a:pos x="288" y="256"/>
              </a:cxn>
              <a:cxn ang="0">
                <a:pos x="480" y="160"/>
              </a:cxn>
            </a:cxnLst>
            <a:rect l="0" t="0" r="r" b="b"/>
            <a:pathLst>
              <a:path w="480" h="280">
                <a:moveTo>
                  <a:pt x="0" y="160"/>
                </a:moveTo>
                <a:cubicBezTo>
                  <a:pt x="24" y="80"/>
                  <a:pt x="48" y="0"/>
                  <a:pt x="96" y="16"/>
                </a:cubicBezTo>
                <a:cubicBezTo>
                  <a:pt x="144" y="32"/>
                  <a:pt x="224" y="232"/>
                  <a:pt x="288" y="256"/>
                </a:cubicBezTo>
                <a:cubicBezTo>
                  <a:pt x="352" y="280"/>
                  <a:pt x="416" y="220"/>
                  <a:pt x="480" y="1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0239" name="Freeform 31"/>
          <p:cNvSpPr>
            <a:spLocks/>
          </p:cNvSpPr>
          <p:nvPr/>
        </p:nvSpPr>
        <p:spPr bwMode="auto">
          <a:xfrm>
            <a:off x="4038600" y="1600200"/>
            <a:ext cx="762000" cy="4445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96" y="16"/>
              </a:cxn>
              <a:cxn ang="0">
                <a:pos x="288" y="256"/>
              </a:cxn>
              <a:cxn ang="0">
                <a:pos x="480" y="160"/>
              </a:cxn>
            </a:cxnLst>
            <a:rect l="0" t="0" r="r" b="b"/>
            <a:pathLst>
              <a:path w="480" h="280">
                <a:moveTo>
                  <a:pt x="0" y="160"/>
                </a:moveTo>
                <a:cubicBezTo>
                  <a:pt x="24" y="80"/>
                  <a:pt x="48" y="0"/>
                  <a:pt x="96" y="16"/>
                </a:cubicBezTo>
                <a:cubicBezTo>
                  <a:pt x="144" y="32"/>
                  <a:pt x="224" y="232"/>
                  <a:pt x="288" y="256"/>
                </a:cubicBezTo>
                <a:cubicBezTo>
                  <a:pt x="352" y="280"/>
                  <a:pt x="416" y="220"/>
                  <a:pt x="480" y="1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0240" name="Rectangle 32"/>
          <p:cNvSpPr>
            <a:spLocks noChangeArrowheads="1"/>
          </p:cNvSpPr>
          <p:nvPr/>
        </p:nvSpPr>
        <p:spPr bwMode="auto">
          <a:xfrm>
            <a:off x="1143000" y="4419600"/>
            <a:ext cx="44196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1" name="Oval 33"/>
          <p:cNvSpPr>
            <a:spLocks noChangeArrowheads="1"/>
          </p:cNvSpPr>
          <p:nvPr/>
        </p:nvSpPr>
        <p:spPr bwMode="auto">
          <a:xfrm>
            <a:off x="1371600" y="5334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2" name="Oval 34"/>
          <p:cNvSpPr>
            <a:spLocks noChangeArrowheads="1"/>
          </p:cNvSpPr>
          <p:nvPr/>
        </p:nvSpPr>
        <p:spPr bwMode="auto">
          <a:xfrm>
            <a:off x="4876800" y="5334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3" name="Oval 35"/>
          <p:cNvSpPr>
            <a:spLocks noChangeArrowheads="1"/>
          </p:cNvSpPr>
          <p:nvPr/>
        </p:nvSpPr>
        <p:spPr bwMode="auto">
          <a:xfrm>
            <a:off x="4800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4" name="Line 36"/>
          <p:cNvSpPr>
            <a:spLocks noChangeShapeType="1"/>
          </p:cNvSpPr>
          <p:nvPr/>
        </p:nvSpPr>
        <p:spPr bwMode="auto">
          <a:xfrm>
            <a:off x="7620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5" name="Text Box 37"/>
          <p:cNvSpPr txBox="1">
            <a:spLocks noChangeArrowheads="1"/>
          </p:cNvSpPr>
          <p:nvPr/>
        </p:nvSpPr>
        <p:spPr bwMode="auto">
          <a:xfrm>
            <a:off x="2819400" y="38100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sp>
        <p:nvSpPr>
          <p:cNvPr id="350246" name="Oval 38"/>
          <p:cNvSpPr>
            <a:spLocks noChangeArrowheads="1"/>
          </p:cNvSpPr>
          <p:nvPr/>
        </p:nvSpPr>
        <p:spPr bwMode="auto">
          <a:xfrm>
            <a:off x="2514600" y="5334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7" name="Oval 39"/>
          <p:cNvSpPr>
            <a:spLocks noChangeArrowheads="1"/>
          </p:cNvSpPr>
          <p:nvPr/>
        </p:nvSpPr>
        <p:spPr bwMode="auto">
          <a:xfrm>
            <a:off x="3657600" y="5334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0248" name="Freeform 40"/>
          <p:cNvSpPr>
            <a:spLocks/>
          </p:cNvSpPr>
          <p:nvPr/>
        </p:nvSpPr>
        <p:spPr bwMode="auto">
          <a:xfrm>
            <a:off x="2743200" y="4622800"/>
            <a:ext cx="1066800" cy="711200"/>
          </a:xfrm>
          <a:custGeom>
            <a:avLst/>
            <a:gdLst/>
            <a:ahLst/>
            <a:cxnLst>
              <a:cxn ang="0">
                <a:pos x="672" y="448"/>
              </a:cxn>
              <a:cxn ang="0">
                <a:pos x="576" y="160"/>
              </a:cxn>
              <a:cxn ang="0">
                <a:pos x="384" y="16"/>
              </a:cxn>
              <a:cxn ang="0">
                <a:pos x="288" y="160"/>
              </a:cxn>
              <a:cxn ang="0">
                <a:pos x="144" y="16"/>
              </a:cxn>
              <a:cxn ang="0">
                <a:pos x="48" y="256"/>
              </a:cxn>
              <a:cxn ang="0">
                <a:pos x="0" y="448"/>
              </a:cxn>
            </a:cxnLst>
            <a:rect l="0" t="0" r="r" b="b"/>
            <a:pathLst>
              <a:path w="672" h="448">
                <a:moveTo>
                  <a:pt x="672" y="448"/>
                </a:moveTo>
                <a:cubicBezTo>
                  <a:pt x="648" y="340"/>
                  <a:pt x="624" y="232"/>
                  <a:pt x="576" y="160"/>
                </a:cubicBezTo>
                <a:cubicBezTo>
                  <a:pt x="528" y="88"/>
                  <a:pt x="432" y="16"/>
                  <a:pt x="384" y="16"/>
                </a:cubicBezTo>
                <a:cubicBezTo>
                  <a:pt x="336" y="16"/>
                  <a:pt x="328" y="160"/>
                  <a:pt x="288" y="160"/>
                </a:cubicBezTo>
                <a:cubicBezTo>
                  <a:pt x="248" y="160"/>
                  <a:pt x="184" y="0"/>
                  <a:pt x="144" y="16"/>
                </a:cubicBezTo>
                <a:cubicBezTo>
                  <a:pt x="104" y="32"/>
                  <a:pt x="72" y="184"/>
                  <a:pt x="48" y="256"/>
                </a:cubicBezTo>
                <a:cubicBezTo>
                  <a:pt x="24" y="328"/>
                  <a:pt x="12" y="388"/>
                  <a:pt x="0" y="4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0249" name="Freeform 41"/>
          <p:cNvSpPr>
            <a:spLocks/>
          </p:cNvSpPr>
          <p:nvPr/>
        </p:nvSpPr>
        <p:spPr bwMode="auto">
          <a:xfrm>
            <a:off x="1752600" y="5232400"/>
            <a:ext cx="762000" cy="4445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96" y="16"/>
              </a:cxn>
              <a:cxn ang="0">
                <a:pos x="288" y="256"/>
              </a:cxn>
              <a:cxn ang="0">
                <a:pos x="480" y="160"/>
              </a:cxn>
            </a:cxnLst>
            <a:rect l="0" t="0" r="r" b="b"/>
            <a:pathLst>
              <a:path w="480" h="280">
                <a:moveTo>
                  <a:pt x="0" y="160"/>
                </a:moveTo>
                <a:cubicBezTo>
                  <a:pt x="24" y="80"/>
                  <a:pt x="48" y="0"/>
                  <a:pt x="96" y="16"/>
                </a:cubicBezTo>
                <a:cubicBezTo>
                  <a:pt x="144" y="32"/>
                  <a:pt x="224" y="232"/>
                  <a:pt x="288" y="256"/>
                </a:cubicBezTo>
                <a:cubicBezTo>
                  <a:pt x="352" y="280"/>
                  <a:pt x="416" y="220"/>
                  <a:pt x="480" y="1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0250" name="Freeform 42"/>
          <p:cNvSpPr>
            <a:spLocks/>
          </p:cNvSpPr>
          <p:nvPr/>
        </p:nvSpPr>
        <p:spPr bwMode="auto">
          <a:xfrm>
            <a:off x="2895600" y="5257800"/>
            <a:ext cx="762000" cy="4445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96" y="16"/>
              </a:cxn>
              <a:cxn ang="0">
                <a:pos x="288" y="256"/>
              </a:cxn>
              <a:cxn ang="0">
                <a:pos x="480" y="160"/>
              </a:cxn>
            </a:cxnLst>
            <a:rect l="0" t="0" r="r" b="b"/>
            <a:pathLst>
              <a:path w="480" h="280">
                <a:moveTo>
                  <a:pt x="0" y="160"/>
                </a:moveTo>
                <a:cubicBezTo>
                  <a:pt x="24" y="80"/>
                  <a:pt x="48" y="0"/>
                  <a:pt x="96" y="16"/>
                </a:cubicBezTo>
                <a:cubicBezTo>
                  <a:pt x="144" y="32"/>
                  <a:pt x="224" y="232"/>
                  <a:pt x="288" y="256"/>
                </a:cubicBezTo>
                <a:cubicBezTo>
                  <a:pt x="352" y="280"/>
                  <a:pt x="416" y="220"/>
                  <a:pt x="480" y="1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0251" name="Freeform 43"/>
          <p:cNvSpPr>
            <a:spLocks/>
          </p:cNvSpPr>
          <p:nvPr/>
        </p:nvSpPr>
        <p:spPr bwMode="auto">
          <a:xfrm>
            <a:off x="4038600" y="5257800"/>
            <a:ext cx="762000" cy="4445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96" y="16"/>
              </a:cxn>
              <a:cxn ang="0">
                <a:pos x="288" y="256"/>
              </a:cxn>
              <a:cxn ang="0">
                <a:pos x="480" y="160"/>
              </a:cxn>
            </a:cxnLst>
            <a:rect l="0" t="0" r="r" b="b"/>
            <a:pathLst>
              <a:path w="480" h="280">
                <a:moveTo>
                  <a:pt x="0" y="160"/>
                </a:moveTo>
                <a:cubicBezTo>
                  <a:pt x="24" y="80"/>
                  <a:pt x="48" y="0"/>
                  <a:pt x="96" y="16"/>
                </a:cubicBezTo>
                <a:cubicBezTo>
                  <a:pt x="144" y="32"/>
                  <a:pt x="224" y="232"/>
                  <a:pt x="288" y="256"/>
                </a:cubicBezTo>
                <a:cubicBezTo>
                  <a:pt x="352" y="280"/>
                  <a:pt x="416" y="220"/>
                  <a:pt x="480" y="16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367617" name="Object 1025"/>
          <p:cNvGraphicFramePr>
            <a:graphicFrameLocks noChangeAspect="1"/>
          </p:cNvGraphicFramePr>
          <p:nvPr/>
        </p:nvGraphicFramePr>
        <p:xfrm>
          <a:off x="6096000" y="5257800"/>
          <a:ext cx="328613" cy="393700"/>
        </p:xfrm>
        <a:graphic>
          <a:graphicData uri="http://schemas.openxmlformats.org/presentationml/2006/ole">
            <p:oleObj spid="_x0000_s367617" name="Equation" r:id="rId4" imgW="330120" imgH="393480" progId="Equation.3">
              <p:embed/>
            </p:oleObj>
          </a:graphicData>
        </a:graphic>
      </p:graphicFrame>
      <p:sp>
        <p:nvSpPr>
          <p:cNvPr id="350253" name="Text Box 45"/>
          <p:cNvSpPr txBox="1">
            <a:spLocks noChangeArrowheads="1"/>
          </p:cNvSpPr>
          <p:nvPr/>
        </p:nvSpPr>
        <p:spPr bwMode="auto">
          <a:xfrm>
            <a:off x="6553200" y="5181600"/>
            <a:ext cx="1681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finite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B1105-B34F-4E29-BB08-556E25FCDD61}" type="slidenum">
              <a:rPr lang="en-US"/>
              <a:pPr/>
              <a:t>10</a:t>
            </a:fld>
            <a:endParaRPr lang="en-US"/>
          </a:p>
        </p:txBody>
      </p:sp>
      <p:sp>
        <p:nvSpPr>
          <p:cNvPr id="330755" name="Text Box 3"/>
          <p:cNvSpPr txBox="1">
            <a:spLocks noChangeArrowheads="1"/>
          </p:cNvSpPr>
          <p:nvPr/>
        </p:nvSpPr>
        <p:spPr bwMode="auto">
          <a:xfrm>
            <a:off x="2133600" y="533400"/>
            <a:ext cx="63738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regular languages        and </a:t>
            </a:r>
          </a:p>
          <a:p>
            <a:r>
              <a:rPr lang="en-US"/>
              <a:t>how can we check if               </a:t>
            </a:r>
            <a:r>
              <a:rPr lang="en-US" b="1"/>
              <a:t>?  </a:t>
            </a:r>
          </a:p>
        </p:txBody>
      </p:sp>
      <p:graphicFrame>
        <p:nvGraphicFramePr>
          <p:cNvPr id="368640" name="Object 1024"/>
          <p:cNvGraphicFramePr>
            <a:graphicFrameLocks noChangeAspect="1"/>
          </p:cNvGraphicFramePr>
          <p:nvPr/>
        </p:nvGraphicFramePr>
        <p:xfrm>
          <a:off x="6921500" y="508000"/>
          <a:ext cx="430213" cy="571500"/>
        </p:xfrm>
        <a:graphic>
          <a:graphicData uri="http://schemas.openxmlformats.org/presentationml/2006/ole">
            <p:oleObj spid="_x0000_s368640" name="Equation" r:id="rId3" imgW="431640" imgH="571320" progId="Equation.3">
              <p:embed/>
            </p:oleObj>
          </a:graphicData>
        </a:graphic>
      </p:graphicFrame>
      <p:graphicFrame>
        <p:nvGraphicFramePr>
          <p:cNvPr id="368641" name="Object 1025"/>
          <p:cNvGraphicFramePr>
            <a:graphicFrameLocks noChangeAspect="1"/>
          </p:cNvGraphicFramePr>
          <p:nvPr/>
        </p:nvGraphicFramePr>
        <p:xfrm>
          <a:off x="8407400" y="508000"/>
          <a:ext cx="508000" cy="571500"/>
        </p:xfrm>
        <a:graphic>
          <a:graphicData uri="http://schemas.openxmlformats.org/presentationml/2006/ole">
            <p:oleObj spid="_x0000_s368641" name="Equation" r:id="rId4" imgW="507960" imgH="571320" progId="Equation.3">
              <p:embed/>
            </p:oleObj>
          </a:graphicData>
        </a:graphic>
      </p:graphicFrame>
      <p:graphicFrame>
        <p:nvGraphicFramePr>
          <p:cNvPr id="368642" name="Object 1026"/>
          <p:cNvGraphicFramePr>
            <a:graphicFrameLocks noChangeAspect="1"/>
          </p:cNvGraphicFramePr>
          <p:nvPr/>
        </p:nvGraphicFramePr>
        <p:xfrm>
          <a:off x="6172200" y="1143000"/>
          <a:ext cx="1460500" cy="571500"/>
        </p:xfrm>
        <a:graphic>
          <a:graphicData uri="http://schemas.openxmlformats.org/presentationml/2006/ole">
            <p:oleObj spid="_x0000_s368642" name="Equation" r:id="rId5" imgW="1460160" imgH="571320" progId="Equation.3">
              <p:embed/>
            </p:oleObj>
          </a:graphicData>
        </a:graphic>
      </p:graphicFrame>
      <p:sp>
        <p:nvSpPr>
          <p:cNvPr id="330763" name="Text Box 11"/>
          <p:cNvSpPr txBox="1">
            <a:spLocks noChangeArrowheads="1"/>
          </p:cNvSpPr>
          <p:nvPr/>
        </p:nvSpPr>
        <p:spPr bwMode="auto">
          <a:xfrm>
            <a:off x="0" y="457200"/>
            <a:ext cx="2085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Question:</a:t>
            </a:r>
          </a:p>
        </p:txBody>
      </p:sp>
      <p:grpSp>
        <p:nvGrpSpPr>
          <p:cNvPr id="330765" name="Group 13"/>
          <p:cNvGrpSpPr>
            <a:grpSpLocks/>
          </p:cNvGrpSpPr>
          <p:nvPr/>
        </p:nvGrpSpPr>
        <p:grpSpPr bwMode="auto">
          <a:xfrm>
            <a:off x="0" y="3886200"/>
            <a:ext cx="8826500" cy="681038"/>
            <a:chOff x="0" y="2448"/>
            <a:chExt cx="5560" cy="429"/>
          </a:xfrm>
        </p:grpSpPr>
        <p:graphicFrame>
          <p:nvGraphicFramePr>
            <p:cNvPr id="368643" name="Object 1027"/>
            <p:cNvGraphicFramePr>
              <a:graphicFrameLocks noChangeAspect="1"/>
            </p:cNvGraphicFramePr>
            <p:nvPr/>
          </p:nvGraphicFramePr>
          <p:xfrm>
            <a:off x="2256" y="2496"/>
            <a:ext cx="3304" cy="375"/>
          </p:xfrm>
          <a:graphic>
            <a:graphicData uri="http://schemas.openxmlformats.org/presentationml/2006/ole">
              <p:oleObj spid="_x0000_s368643" name="Equation" r:id="rId6" imgW="5244840" imgH="596880" progId="Equation.3">
                <p:embed/>
              </p:oleObj>
            </a:graphicData>
          </a:graphic>
        </p:graphicFrame>
        <p:sp>
          <p:nvSpPr>
            <p:cNvPr id="330760" name="Text Box 8"/>
            <p:cNvSpPr txBox="1">
              <a:spLocks noChangeArrowheads="1"/>
            </p:cNvSpPr>
            <p:nvPr/>
          </p:nvSpPr>
          <p:spPr bwMode="auto">
            <a:xfrm>
              <a:off x="1256" y="2512"/>
              <a:ext cx="90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Find if</a:t>
              </a:r>
            </a:p>
          </p:txBody>
        </p:sp>
        <p:sp>
          <p:nvSpPr>
            <p:cNvPr id="330764" name="Text Box 12"/>
            <p:cNvSpPr txBox="1">
              <a:spLocks noChangeArrowheads="1"/>
            </p:cNvSpPr>
            <p:nvPr/>
          </p:nvSpPr>
          <p:spPr bwMode="auto">
            <a:xfrm>
              <a:off x="0" y="2448"/>
              <a:ext cx="111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FF3300"/>
                  </a:solidFill>
                </a:rPr>
                <a:t>Answer: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E49C2-D2DE-421C-93EB-FA49CD00796D}" type="slidenum">
              <a:rPr lang="en-US"/>
              <a:pPr/>
              <a:t>11</a:t>
            </a:fld>
            <a:endParaRPr lang="en-US"/>
          </a:p>
        </p:txBody>
      </p:sp>
      <p:graphicFrame>
        <p:nvGraphicFramePr>
          <p:cNvPr id="369664" name="Object 0"/>
          <p:cNvGraphicFramePr>
            <a:graphicFrameLocks noChangeAspect="1"/>
          </p:cNvGraphicFramePr>
          <p:nvPr/>
        </p:nvGraphicFramePr>
        <p:xfrm>
          <a:off x="1600200" y="152400"/>
          <a:ext cx="5245100" cy="595313"/>
        </p:xfrm>
        <a:graphic>
          <a:graphicData uri="http://schemas.openxmlformats.org/presentationml/2006/ole">
            <p:oleObj spid="_x0000_s369664" name="Equation" r:id="rId3" imgW="5244840" imgH="596880" progId="Equation.3">
              <p:embed/>
            </p:oleObj>
          </a:graphicData>
        </a:graphic>
      </p:graphicFrame>
      <p:grpSp>
        <p:nvGrpSpPr>
          <p:cNvPr id="351265" name="Group 33"/>
          <p:cNvGrpSpPr>
            <a:grpSpLocks/>
          </p:cNvGrpSpPr>
          <p:nvPr/>
        </p:nvGrpSpPr>
        <p:grpSpPr bwMode="auto">
          <a:xfrm>
            <a:off x="381000" y="914400"/>
            <a:ext cx="6883400" cy="1433513"/>
            <a:chOff x="240" y="576"/>
            <a:chExt cx="4336" cy="903"/>
          </a:xfrm>
        </p:grpSpPr>
        <p:sp>
          <p:nvSpPr>
            <p:cNvPr id="351239" name="AutoShape 7"/>
            <p:cNvSpPr>
              <a:spLocks noChangeArrowheads="1"/>
            </p:cNvSpPr>
            <p:nvPr/>
          </p:nvSpPr>
          <p:spPr bwMode="auto">
            <a:xfrm>
              <a:off x="2208" y="576"/>
              <a:ext cx="306" cy="384"/>
            </a:xfrm>
            <a:prstGeom prst="downArrow">
              <a:avLst>
                <a:gd name="adj1" fmla="val 50000"/>
                <a:gd name="adj2" fmla="val 3137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69674" name="Object 10"/>
            <p:cNvGraphicFramePr>
              <a:graphicFrameLocks noChangeAspect="1"/>
            </p:cNvGraphicFramePr>
            <p:nvPr/>
          </p:nvGraphicFramePr>
          <p:xfrm>
            <a:off x="240" y="1104"/>
            <a:ext cx="1552" cy="375"/>
          </p:xfrm>
          <a:graphic>
            <a:graphicData uri="http://schemas.openxmlformats.org/presentationml/2006/ole">
              <p:oleObj spid="_x0000_s369674" name="Equation" r:id="rId4" imgW="2463480" imgH="596880" progId="Equation.3">
                <p:embed/>
              </p:oleObj>
            </a:graphicData>
          </a:graphic>
        </p:graphicFrame>
        <p:graphicFrame>
          <p:nvGraphicFramePr>
            <p:cNvPr id="369675" name="Object 11"/>
            <p:cNvGraphicFramePr>
              <a:graphicFrameLocks noChangeAspect="1"/>
            </p:cNvGraphicFramePr>
            <p:nvPr/>
          </p:nvGraphicFramePr>
          <p:xfrm>
            <a:off x="3024" y="1104"/>
            <a:ext cx="1552" cy="375"/>
          </p:xfrm>
          <a:graphic>
            <a:graphicData uri="http://schemas.openxmlformats.org/presentationml/2006/ole">
              <p:oleObj spid="_x0000_s369675" name="Equation" r:id="rId5" imgW="2463480" imgH="596880" progId="Equation.3">
                <p:embed/>
              </p:oleObj>
            </a:graphicData>
          </a:graphic>
        </p:graphicFrame>
        <p:sp>
          <p:nvSpPr>
            <p:cNvPr id="351243" name="Text Box 11"/>
            <p:cNvSpPr txBox="1">
              <a:spLocks noChangeArrowheads="1"/>
            </p:cNvSpPr>
            <p:nvPr/>
          </p:nvSpPr>
          <p:spPr bwMode="auto">
            <a:xfrm>
              <a:off x="2102" y="1072"/>
              <a:ext cx="53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and</a:t>
              </a:r>
            </a:p>
          </p:txBody>
        </p:sp>
      </p:grpSp>
      <p:grpSp>
        <p:nvGrpSpPr>
          <p:cNvPr id="351267" name="Group 35"/>
          <p:cNvGrpSpPr>
            <a:grpSpLocks/>
          </p:cNvGrpSpPr>
          <p:nvPr/>
        </p:nvGrpSpPr>
        <p:grpSpPr bwMode="auto">
          <a:xfrm>
            <a:off x="3048000" y="4724400"/>
            <a:ext cx="1460500" cy="1409700"/>
            <a:chOff x="1920" y="2976"/>
            <a:chExt cx="920" cy="888"/>
          </a:xfrm>
        </p:grpSpPr>
        <p:sp>
          <p:nvSpPr>
            <p:cNvPr id="351261" name="AutoShape 29"/>
            <p:cNvSpPr>
              <a:spLocks noChangeArrowheads="1"/>
            </p:cNvSpPr>
            <p:nvPr/>
          </p:nvSpPr>
          <p:spPr bwMode="auto">
            <a:xfrm>
              <a:off x="2208" y="2976"/>
              <a:ext cx="306" cy="384"/>
            </a:xfrm>
            <a:prstGeom prst="downArrow">
              <a:avLst>
                <a:gd name="adj1" fmla="val 50000"/>
                <a:gd name="adj2" fmla="val 3137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69673" name="Object 9"/>
            <p:cNvGraphicFramePr>
              <a:graphicFrameLocks noChangeAspect="1"/>
            </p:cNvGraphicFramePr>
            <p:nvPr/>
          </p:nvGraphicFramePr>
          <p:xfrm>
            <a:off x="1920" y="3504"/>
            <a:ext cx="920" cy="360"/>
          </p:xfrm>
          <a:graphic>
            <a:graphicData uri="http://schemas.openxmlformats.org/presentationml/2006/ole">
              <p:oleObj spid="_x0000_s369673" name="Equation" r:id="rId6" imgW="1460160" imgH="571320" progId="Equation.3">
                <p:embed/>
              </p:oleObj>
            </a:graphicData>
          </a:graphic>
        </p:graphicFrame>
      </p:grpSp>
      <p:grpSp>
        <p:nvGrpSpPr>
          <p:cNvPr id="351266" name="Group 34"/>
          <p:cNvGrpSpPr>
            <a:grpSpLocks/>
          </p:cNvGrpSpPr>
          <p:nvPr/>
        </p:nvGrpSpPr>
        <p:grpSpPr bwMode="auto">
          <a:xfrm>
            <a:off x="304800" y="2514600"/>
            <a:ext cx="7302500" cy="2171700"/>
            <a:chOff x="288" y="1584"/>
            <a:chExt cx="4600" cy="1368"/>
          </a:xfrm>
        </p:grpSpPr>
        <p:sp>
          <p:nvSpPr>
            <p:cNvPr id="351245" name="Oval 13"/>
            <p:cNvSpPr>
              <a:spLocks noChangeArrowheads="1"/>
            </p:cNvSpPr>
            <p:nvPr/>
          </p:nvSpPr>
          <p:spPr bwMode="auto">
            <a:xfrm>
              <a:off x="432" y="1728"/>
              <a:ext cx="672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69665" name="Object 1"/>
            <p:cNvGraphicFramePr>
              <a:graphicFrameLocks noChangeAspect="1"/>
            </p:cNvGraphicFramePr>
            <p:nvPr/>
          </p:nvGraphicFramePr>
          <p:xfrm>
            <a:off x="576" y="1824"/>
            <a:ext cx="272" cy="360"/>
          </p:xfrm>
          <a:graphic>
            <a:graphicData uri="http://schemas.openxmlformats.org/presentationml/2006/ole">
              <p:oleObj spid="_x0000_s369665" name="Equation" r:id="rId7" imgW="431640" imgH="571320" progId="Equation.3">
                <p:embed/>
              </p:oleObj>
            </a:graphicData>
          </a:graphic>
        </p:graphicFrame>
        <p:graphicFrame>
          <p:nvGraphicFramePr>
            <p:cNvPr id="369666" name="Object 2"/>
            <p:cNvGraphicFramePr>
              <a:graphicFrameLocks noChangeAspect="1"/>
            </p:cNvGraphicFramePr>
            <p:nvPr/>
          </p:nvGraphicFramePr>
          <p:xfrm>
            <a:off x="1248" y="1920"/>
            <a:ext cx="320" cy="360"/>
          </p:xfrm>
          <a:graphic>
            <a:graphicData uri="http://schemas.openxmlformats.org/presentationml/2006/ole">
              <p:oleObj spid="_x0000_s369666" name="Equation" r:id="rId8" imgW="507960" imgH="571320" progId="Equation.3">
                <p:embed/>
              </p:oleObj>
            </a:graphicData>
          </a:graphic>
        </p:graphicFrame>
        <p:sp>
          <p:nvSpPr>
            <p:cNvPr id="351253" name="Oval 21"/>
            <p:cNvSpPr>
              <a:spLocks noChangeArrowheads="1"/>
            </p:cNvSpPr>
            <p:nvPr/>
          </p:nvSpPr>
          <p:spPr bwMode="auto">
            <a:xfrm>
              <a:off x="288" y="1584"/>
              <a:ext cx="1440" cy="9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1254" name="Oval 22"/>
            <p:cNvSpPr>
              <a:spLocks noChangeArrowheads="1"/>
            </p:cNvSpPr>
            <p:nvPr/>
          </p:nvSpPr>
          <p:spPr bwMode="auto">
            <a:xfrm>
              <a:off x="3168" y="1728"/>
              <a:ext cx="672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69667" name="Object 3"/>
            <p:cNvGraphicFramePr>
              <a:graphicFrameLocks noChangeAspect="1"/>
            </p:cNvGraphicFramePr>
            <p:nvPr/>
          </p:nvGraphicFramePr>
          <p:xfrm>
            <a:off x="4032" y="1920"/>
            <a:ext cx="272" cy="360"/>
          </p:xfrm>
          <a:graphic>
            <a:graphicData uri="http://schemas.openxmlformats.org/presentationml/2006/ole">
              <p:oleObj spid="_x0000_s369667" name="Equation" r:id="rId9" imgW="431640" imgH="571320" progId="Equation.3">
                <p:embed/>
              </p:oleObj>
            </a:graphicData>
          </a:graphic>
        </p:graphicFrame>
        <p:graphicFrame>
          <p:nvGraphicFramePr>
            <p:cNvPr id="369668" name="Object 4"/>
            <p:cNvGraphicFramePr>
              <a:graphicFrameLocks noChangeAspect="1"/>
            </p:cNvGraphicFramePr>
            <p:nvPr/>
          </p:nvGraphicFramePr>
          <p:xfrm>
            <a:off x="3360" y="1872"/>
            <a:ext cx="320" cy="360"/>
          </p:xfrm>
          <a:graphic>
            <a:graphicData uri="http://schemas.openxmlformats.org/presentationml/2006/ole">
              <p:oleObj spid="_x0000_s369668" name="Equation" r:id="rId10" imgW="507960" imgH="571320" progId="Equation.3">
                <p:embed/>
              </p:oleObj>
            </a:graphicData>
          </a:graphic>
        </p:graphicFrame>
        <p:sp>
          <p:nvSpPr>
            <p:cNvPr id="351257" name="Oval 25"/>
            <p:cNvSpPr>
              <a:spLocks noChangeArrowheads="1"/>
            </p:cNvSpPr>
            <p:nvPr/>
          </p:nvSpPr>
          <p:spPr bwMode="auto">
            <a:xfrm>
              <a:off x="3024" y="1584"/>
              <a:ext cx="1440" cy="9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69669" name="Object 5"/>
            <p:cNvGraphicFramePr>
              <a:graphicFrameLocks noChangeAspect="1"/>
            </p:cNvGraphicFramePr>
            <p:nvPr/>
          </p:nvGraphicFramePr>
          <p:xfrm>
            <a:off x="480" y="2592"/>
            <a:ext cx="968" cy="360"/>
          </p:xfrm>
          <a:graphic>
            <a:graphicData uri="http://schemas.openxmlformats.org/presentationml/2006/ole">
              <p:oleObj spid="_x0000_s369669" name="Equation" r:id="rId11" imgW="1536480" imgH="571320" progId="Equation.3">
                <p:embed/>
              </p:oleObj>
            </a:graphicData>
          </a:graphic>
        </p:graphicFrame>
        <p:graphicFrame>
          <p:nvGraphicFramePr>
            <p:cNvPr id="369670" name="Object 6"/>
            <p:cNvGraphicFramePr>
              <a:graphicFrameLocks noChangeAspect="1"/>
            </p:cNvGraphicFramePr>
            <p:nvPr/>
          </p:nvGraphicFramePr>
          <p:xfrm>
            <a:off x="3264" y="2592"/>
            <a:ext cx="968" cy="360"/>
          </p:xfrm>
          <a:graphic>
            <a:graphicData uri="http://schemas.openxmlformats.org/presentationml/2006/ole">
              <p:oleObj spid="_x0000_s369670" name="Equation" r:id="rId12" imgW="1536480" imgH="571320" progId="Equation.3">
                <p:embed/>
              </p:oleObj>
            </a:graphicData>
          </a:graphic>
        </p:graphicFrame>
        <p:graphicFrame>
          <p:nvGraphicFramePr>
            <p:cNvPr id="369671" name="Object 7"/>
            <p:cNvGraphicFramePr>
              <a:graphicFrameLocks noChangeAspect="1"/>
            </p:cNvGraphicFramePr>
            <p:nvPr/>
          </p:nvGraphicFramePr>
          <p:xfrm>
            <a:off x="1760" y="2008"/>
            <a:ext cx="352" cy="376"/>
          </p:xfrm>
          <a:graphic>
            <a:graphicData uri="http://schemas.openxmlformats.org/presentationml/2006/ole">
              <p:oleObj spid="_x0000_s369671" name="Equation" r:id="rId13" imgW="558720" imgH="596880" progId="Equation.3">
                <p:embed/>
              </p:oleObj>
            </a:graphicData>
          </a:graphic>
        </p:graphicFrame>
        <p:graphicFrame>
          <p:nvGraphicFramePr>
            <p:cNvPr id="369672" name="Object 8"/>
            <p:cNvGraphicFramePr>
              <a:graphicFrameLocks noChangeAspect="1"/>
            </p:cNvGraphicFramePr>
            <p:nvPr/>
          </p:nvGraphicFramePr>
          <p:xfrm>
            <a:off x="4584" y="1968"/>
            <a:ext cx="304" cy="376"/>
          </p:xfrm>
          <a:graphic>
            <a:graphicData uri="http://schemas.openxmlformats.org/presentationml/2006/ole">
              <p:oleObj spid="_x0000_s369672" name="Equation" r:id="rId14" imgW="482400" imgH="5968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982ED-46BC-4674-BBA9-E7FF4154EAB9}" type="slidenum">
              <a:rPr lang="en-US"/>
              <a:pPr/>
              <a:t>12</a:t>
            </a:fld>
            <a:endParaRPr lang="en-US"/>
          </a:p>
        </p:txBody>
      </p:sp>
      <p:graphicFrame>
        <p:nvGraphicFramePr>
          <p:cNvPr id="370688" name="Object 2048"/>
          <p:cNvGraphicFramePr>
            <a:graphicFrameLocks noChangeAspect="1"/>
          </p:cNvGraphicFramePr>
          <p:nvPr/>
        </p:nvGraphicFramePr>
        <p:xfrm>
          <a:off x="1600200" y="152400"/>
          <a:ext cx="5245100" cy="595313"/>
        </p:xfrm>
        <a:graphic>
          <a:graphicData uri="http://schemas.openxmlformats.org/presentationml/2006/ole">
            <p:oleObj spid="_x0000_s370688" name="Equation" r:id="rId3" imgW="5244840" imgH="596880" progId="Equation.3">
              <p:embed/>
            </p:oleObj>
          </a:graphicData>
        </a:graphic>
      </p:graphicFrame>
      <p:grpSp>
        <p:nvGrpSpPr>
          <p:cNvPr id="352275" name="Group 1043"/>
          <p:cNvGrpSpPr>
            <a:grpSpLocks/>
          </p:cNvGrpSpPr>
          <p:nvPr/>
        </p:nvGrpSpPr>
        <p:grpSpPr bwMode="auto">
          <a:xfrm>
            <a:off x="374650" y="914400"/>
            <a:ext cx="6896100" cy="1433513"/>
            <a:chOff x="236" y="576"/>
            <a:chExt cx="4344" cy="903"/>
          </a:xfrm>
        </p:grpSpPr>
        <p:sp>
          <p:nvSpPr>
            <p:cNvPr id="352259" name="AutoShape 1027"/>
            <p:cNvSpPr>
              <a:spLocks noChangeArrowheads="1"/>
            </p:cNvSpPr>
            <p:nvPr/>
          </p:nvSpPr>
          <p:spPr bwMode="auto">
            <a:xfrm>
              <a:off x="2208" y="576"/>
              <a:ext cx="306" cy="384"/>
            </a:xfrm>
            <a:prstGeom prst="downArrow">
              <a:avLst>
                <a:gd name="adj1" fmla="val 50000"/>
                <a:gd name="adj2" fmla="val 3137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70696" name="Object 2056"/>
            <p:cNvGraphicFramePr>
              <a:graphicFrameLocks noChangeAspect="1"/>
            </p:cNvGraphicFramePr>
            <p:nvPr/>
          </p:nvGraphicFramePr>
          <p:xfrm>
            <a:off x="236" y="1104"/>
            <a:ext cx="1560" cy="375"/>
          </p:xfrm>
          <a:graphic>
            <a:graphicData uri="http://schemas.openxmlformats.org/presentationml/2006/ole">
              <p:oleObj spid="_x0000_s370696" name="Equation" r:id="rId4" imgW="2476440" imgH="596880" progId="Equation.3">
                <p:embed/>
              </p:oleObj>
            </a:graphicData>
          </a:graphic>
        </p:graphicFrame>
        <p:graphicFrame>
          <p:nvGraphicFramePr>
            <p:cNvPr id="370697" name="Object 2057"/>
            <p:cNvGraphicFramePr>
              <a:graphicFrameLocks noChangeAspect="1"/>
            </p:cNvGraphicFramePr>
            <p:nvPr/>
          </p:nvGraphicFramePr>
          <p:xfrm>
            <a:off x="3020" y="1104"/>
            <a:ext cx="1560" cy="375"/>
          </p:xfrm>
          <a:graphic>
            <a:graphicData uri="http://schemas.openxmlformats.org/presentationml/2006/ole">
              <p:oleObj spid="_x0000_s370697" name="Equation" r:id="rId5" imgW="2476440" imgH="596880" progId="Equation.3">
                <p:embed/>
              </p:oleObj>
            </a:graphicData>
          </a:graphic>
        </p:graphicFrame>
        <p:sp>
          <p:nvSpPr>
            <p:cNvPr id="352262" name="Text Box 1030"/>
            <p:cNvSpPr txBox="1">
              <a:spLocks noChangeArrowheads="1"/>
            </p:cNvSpPr>
            <p:nvPr/>
          </p:nvSpPr>
          <p:spPr bwMode="auto">
            <a:xfrm>
              <a:off x="2102" y="1072"/>
              <a:ext cx="37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or</a:t>
              </a:r>
            </a:p>
          </p:txBody>
        </p:sp>
      </p:grpSp>
      <p:grpSp>
        <p:nvGrpSpPr>
          <p:cNvPr id="352276" name="Group 1044"/>
          <p:cNvGrpSpPr>
            <a:grpSpLocks/>
          </p:cNvGrpSpPr>
          <p:nvPr/>
        </p:nvGrpSpPr>
        <p:grpSpPr bwMode="auto">
          <a:xfrm>
            <a:off x="457200" y="2438400"/>
            <a:ext cx="6477000" cy="2247900"/>
            <a:chOff x="384" y="1536"/>
            <a:chExt cx="4080" cy="1416"/>
          </a:xfrm>
        </p:grpSpPr>
        <p:sp>
          <p:nvSpPr>
            <p:cNvPr id="352263" name="Oval 1031"/>
            <p:cNvSpPr>
              <a:spLocks noChangeArrowheads="1"/>
            </p:cNvSpPr>
            <p:nvPr/>
          </p:nvSpPr>
          <p:spPr bwMode="auto">
            <a:xfrm>
              <a:off x="384" y="1728"/>
              <a:ext cx="672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70690" name="Object 2050"/>
            <p:cNvGraphicFramePr>
              <a:graphicFrameLocks noChangeAspect="1"/>
            </p:cNvGraphicFramePr>
            <p:nvPr/>
          </p:nvGraphicFramePr>
          <p:xfrm>
            <a:off x="576" y="1824"/>
            <a:ext cx="272" cy="360"/>
          </p:xfrm>
          <a:graphic>
            <a:graphicData uri="http://schemas.openxmlformats.org/presentationml/2006/ole">
              <p:oleObj spid="_x0000_s370690" name="Equation" r:id="rId6" imgW="431640" imgH="571320" progId="Equation.3">
                <p:embed/>
              </p:oleObj>
            </a:graphicData>
          </a:graphic>
        </p:graphicFrame>
        <p:graphicFrame>
          <p:nvGraphicFramePr>
            <p:cNvPr id="370691" name="Object 2051"/>
            <p:cNvGraphicFramePr>
              <a:graphicFrameLocks noChangeAspect="1"/>
            </p:cNvGraphicFramePr>
            <p:nvPr/>
          </p:nvGraphicFramePr>
          <p:xfrm>
            <a:off x="1248" y="1920"/>
            <a:ext cx="320" cy="360"/>
          </p:xfrm>
          <a:graphic>
            <a:graphicData uri="http://schemas.openxmlformats.org/presentationml/2006/ole">
              <p:oleObj spid="_x0000_s370691" name="Equation" r:id="rId7" imgW="507960" imgH="571320" progId="Equation.3">
                <p:embed/>
              </p:oleObj>
            </a:graphicData>
          </a:graphic>
        </p:graphicFrame>
        <p:sp>
          <p:nvSpPr>
            <p:cNvPr id="352266" name="Oval 1034"/>
            <p:cNvSpPr>
              <a:spLocks noChangeArrowheads="1"/>
            </p:cNvSpPr>
            <p:nvPr/>
          </p:nvSpPr>
          <p:spPr bwMode="auto">
            <a:xfrm>
              <a:off x="528" y="1536"/>
              <a:ext cx="1440" cy="9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2267" name="Oval 1035"/>
            <p:cNvSpPr>
              <a:spLocks noChangeArrowheads="1"/>
            </p:cNvSpPr>
            <p:nvPr/>
          </p:nvSpPr>
          <p:spPr bwMode="auto">
            <a:xfrm>
              <a:off x="2880" y="1728"/>
              <a:ext cx="672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70692" name="Object 2052"/>
            <p:cNvGraphicFramePr>
              <a:graphicFrameLocks noChangeAspect="1"/>
            </p:cNvGraphicFramePr>
            <p:nvPr/>
          </p:nvGraphicFramePr>
          <p:xfrm>
            <a:off x="4032" y="1920"/>
            <a:ext cx="272" cy="360"/>
          </p:xfrm>
          <a:graphic>
            <a:graphicData uri="http://schemas.openxmlformats.org/presentationml/2006/ole">
              <p:oleObj spid="_x0000_s370692" name="Equation" r:id="rId8" imgW="431640" imgH="571320" progId="Equation.3">
                <p:embed/>
              </p:oleObj>
            </a:graphicData>
          </a:graphic>
        </p:graphicFrame>
        <p:graphicFrame>
          <p:nvGraphicFramePr>
            <p:cNvPr id="370693" name="Object 2053"/>
            <p:cNvGraphicFramePr>
              <a:graphicFrameLocks noChangeAspect="1"/>
            </p:cNvGraphicFramePr>
            <p:nvPr/>
          </p:nvGraphicFramePr>
          <p:xfrm>
            <a:off x="3120" y="1872"/>
            <a:ext cx="320" cy="360"/>
          </p:xfrm>
          <a:graphic>
            <a:graphicData uri="http://schemas.openxmlformats.org/presentationml/2006/ole">
              <p:oleObj spid="_x0000_s370693" name="Equation" r:id="rId9" imgW="507960" imgH="571320" progId="Equation.3">
                <p:embed/>
              </p:oleObj>
            </a:graphicData>
          </a:graphic>
        </p:graphicFrame>
        <p:sp>
          <p:nvSpPr>
            <p:cNvPr id="352270" name="Oval 1038"/>
            <p:cNvSpPr>
              <a:spLocks noChangeArrowheads="1"/>
            </p:cNvSpPr>
            <p:nvPr/>
          </p:nvSpPr>
          <p:spPr bwMode="auto">
            <a:xfrm>
              <a:off x="3024" y="1584"/>
              <a:ext cx="1440" cy="9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70694" name="Object 2054"/>
            <p:cNvGraphicFramePr>
              <a:graphicFrameLocks noChangeAspect="1"/>
            </p:cNvGraphicFramePr>
            <p:nvPr/>
          </p:nvGraphicFramePr>
          <p:xfrm>
            <a:off x="480" y="2592"/>
            <a:ext cx="968" cy="360"/>
          </p:xfrm>
          <a:graphic>
            <a:graphicData uri="http://schemas.openxmlformats.org/presentationml/2006/ole">
              <p:oleObj spid="_x0000_s370694" name="Equation" r:id="rId10" imgW="1536480" imgH="571320" progId="Equation.3">
                <p:embed/>
              </p:oleObj>
            </a:graphicData>
          </a:graphic>
        </p:graphicFrame>
        <p:graphicFrame>
          <p:nvGraphicFramePr>
            <p:cNvPr id="370695" name="Object 2055"/>
            <p:cNvGraphicFramePr>
              <a:graphicFrameLocks noChangeAspect="1"/>
            </p:cNvGraphicFramePr>
            <p:nvPr/>
          </p:nvGraphicFramePr>
          <p:xfrm>
            <a:off x="3264" y="2592"/>
            <a:ext cx="968" cy="360"/>
          </p:xfrm>
          <a:graphic>
            <a:graphicData uri="http://schemas.openxmlformats.org/presentationml/2006/ole">
              <p:oleObj spid="_x0000_s370695" name="Equation" r:id="rId11" imgW="1536480" imgH="571320" progId="Equation.3">
                <p:embed/>
              </p:oleObj>
            </a:graphicData>
          </a:graphic>
        </p:graphicFrame>
      </p:grpSp>
      <p:grpSp>
        <p:nvGrpSpPr>
          <p:cNvPr id="352277" name="Group 1045"/>
          <p:cNvGrpSpPr>
            <a:grpSpLocks/>
          </p:cNvGrpSpPr>
          <p:nvPr/>
        </p:nvGrpSpPr>
        <p:grpSpPr bwMode="auto">
          <a:xfrm>
            <a:off x="3041650" y="4724400"/>
            <a:ext cx="1473200" cy="1409700"/>
            <a:chOff x="1916" y="2976"/>
            <a:chExt cx="928" cy="888"/>
          </a:xfrm>
        </p:grpSpPr>
        <p:sp>
          <p:nvSpPr>
            <p:cNvPr id="352273" name="AutoShape 1041"/>
            <p:cNvSpPr>
              <a:spLocks noChangeArrowheads="1"/>
            </p:cNvSpPr>
            <p:nvPr/>
          </p:nvSpPr>
          <p:spPr bwMode="auto">
            <a:xfrm>
              <a:off x="2208" y="2976"/>
              <a:ext cx="306" cy="384"/>
            </a:xfrm>
            <a:prstGeom prst="downArrow">
              <a:avLst>
                <a:gd name="adj1" fmla="val 50000"/>
                <a:gd name="adj2" fmla="val 3137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70689" name="Object 2049"/>
            <p:cNvGraphicFramePr>
              <a:graphicFrameLocks noChangeAspect="1"/>
            </p:cNvGraphicFramePr>
            <p:nvPr/>
          </p:nvGraphicFramePr>
          <p:xfrm>
            <a:off x="1916" y="3504"/>
            <a:ext cx="928" cy="360"/>
          </p:xfrm>
          <a:graphic>
            <a:graphicData uri="http://schemas.openxmlformats.org/presentationml/2006/ole">
              <p:oleObj spid="_x0000_s370689" name="Equation" r:id="rId12" imgW="1473120" imgH="57132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Non-regular languages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B9017-B93D-4B37-BA83-F8123B60F8FE}" type="slidenum">
              <a:rPr lang="en-US"/>
              <a:pPr/>
              <a:t>14</a:t>
            </a:fld>
            <a:endParaRPr lang="en-US"/>
          </a:p>
        </p:txBody>
      </p:sp>
      <p:sp>
        <p:nvSpPr>
          <p:cNvPr id="354306" name="Oval 1026"/>
          <p:cNvSpPr>
            <a:spLocks noChangeArrowheads="1"/>
          </p:cNvSpPr>
          <p:nvPr/>
        </p:nvSpPr>
        <p:spPr bwMode="auto">
          <a:xfrm>
            <a:off x="1447800" y="2286000"/>
            <a:ext cx="5943600" cy="3962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4307" name="Text Box 1027"/>
          <p:cNvSpPr txBox="1">
            <a:spLocks noChangeArrowheads="1"/>
          </p:cNvSpPr>
          <p:nvPr/>
        </p:nvSpPr>
        <p:spPr bwMode="auto">
          <a:xfrm>
            <a:off x="2743200" y="2743200"/>
            <a:ext cx="3529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 languages</a:t>
            </a:r>
          </a:p>
        </p:txBody>
      </p:sp>
      <p:graphicFrame>
        <p:nvGraphicFramePr>
          <p:cNvPr id="371712" name="Object 2048"/>
          <p:cNvGraphicFramePr>
            <a:graphicFrameLocks noChangeAspect="1"/>
          </p:cNvGraphicFramePr>
          <p:nvPr/>
        </p:nvGraphicFramePr>
        <p:xfrm>
          <a:off x="2438400" y="3505200"/>
          <a:ext cx="901700" cy="431800"/>
        </p:xfrm>
        <a:graphic>
          <a:graphicData uri="http://schemas.openxmlformats.org/presentationml/2006/ole">
            <p:oleObj spid="_x0000_s371712" name="Equation" r:id="rId3" imgW="901440" imgH="431640" progId="Equation.3">
              <p:embed/>
            </p:oleObj>
          </a:graphicData>
        </a:graphic>
      </p:graphicFrame>
      <p:graphicFrame>
        <p:nvGraphicFramePr>
          <p:cNvPr id="371713" name="Object 2049"/>
          <p:cNvGraphicFramePr>
            <a:graphicFrameLocks noChangeAspect="1"/>
          </p:cNvGraphicFramePr>
          <p:nvPr/>
        </p:nvGraphicFramePr>
        <p:xfrm>
          <a:off x="5105400" y="3733800"/>
          <a:ext cx="1587500" cy="431800"/>
        </p:xfrm>
        <a:graphic>
          <a:graphicData uri="http://schemas.openxmlformats.org/presentationml/2006/ole">
            <p:oleObj spid="_x0000_s371713" name="Equation" r:id="rId4" imgW="1587240" imgH="431640" progId="Equation.3">
              <p:embed/>
            </p:oleObj>
          </a:graphicData>
        </a:graphic>
      </p:graphicFrame>
      <p:graphicFrame>
        <p:nvGraphicFramePr>
          <p:cNvPr id="371714" name="Object 2050"/>
          <p:cNvGraphicFramePr>
            <a:graphicFrameLocks noChangeAspect="1"/>
          </p:cNvGraphicFramePr>
          <p:nvPr/>
        </p:nvGraphicFramePr>
        <p:xfrm>
          <a:off x="3505200" y="5486400"/>
          <a:ext cx="952500" cy="355600"/>
        </p:xfrm>
        <a:graphic>
          <a:graphicData uri="http://schemas.openxmlformats.org/presentationml/2006/ole">
            <p:oleObj spid="_x0000_s371714" name="Equation" r:id="rId5" imgW="952200" imgH="355320" progId="Equation.3">
              <p:embed/>
            </p:oleObj>
          </a:graphicData>
        </a:graphic>
      </p:graphicFrame>
      <p:graphicFrame>
        <p:nvGraphicFramePr>
          <p:cNvPr id="371715" name="Object 2051"/>
          <p:cNvGraphicFramePr>
            <a:graphicFrameLocks noChangeAspect="1"/>
          </p:cNvGraphicFramePr>
          <p:nvPr/>
        </p:nvGraphicFramePr>
        <p:xfrm>
          <a:off x="2819400" y="4572000"/>
          <a:ext cx="2578100" cy="533400"/>
        </p:xfrm>
        <a:graphic>
          <a:graphicData uri="http://schemas.openxmlformats.org/presentationml/2006/ole">
            <p:oleObj spid="_x0000_s371715" name="Equation" r:id="rId6" imgW="2577960" imgH="533160" progId="Equation.3">
              <p:embed/>
            </p:oleObj>
          </a:graphicData>
        </a:graphic>
      </p:graphicFrame>
      <p:sp>
        <p:nvSpPr>
          <p:cNvPr id="354313" name="Text Box 1033"/>
          <p:cNvSpPr txBox="1">
            <a:spLocks noChangeArrowheads="1"/>
          </p:cNvSpPr>
          <p:nvPr/>
        </p:nvSpPr>
        <p:spPr bwMode="auto">
          <a:xfrm>
            <a:off x="304800" y="914400"/>
            <a:ext cx="4389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Non-regular languages</a:t>
            </a:r>
          </a:p>
        </p:txBody>
      </p:sp>
      <p:graphicFrame>
        <p:nvGraphicFramePr>
          <p:cNvPr id="371716" name="Object 2052"/>
          <p:cNvGraphicFramePr>
            <a:graphicFrameLocks noChangeAspect="1"/>
          </p:cNvGraphicFramePr>
          <p:nvPr/>
        </p:nvGraphicFramePr>
        <p:xfrm>
          <a:off x="5029200" y="381000"/>
          <a:ext cx="2971800" cy="723900"/>
        </p:xfrm>
        <a:graphic>
          <a:graphicData uri="http://schemas.openxmlformats.org/presentationml/2006/ole">
            <p:oleObj spid="_x0000_s371716" name="Equation" r:id="rId7" imgW="2971800" imgH="723600" progId="Equation.3">
              <p:embed/>
            </p:oleObj>
          </a:graphicData>
        </a:graphic>
      </p:graphicFrame>
      <p:graphicFrame>
        <p:nvGraphicFramePr>
          <p:cNvPr id="371717" name="Object 2053"/>
          <p:cNvGraphicFramePr>
            <a:graphicFrameLocks noChangeAspect="1"/>
          </p:cNvGraphicFramePr>
          <p:nvPr/>
        </p:nvGraphicFramePr>
        <p:xfrm>
          <a:off x="4953000" y="1295400"/>
          <a:ext cx="3810000" cy="717550"/>
        </p:xfrm>
        <a:graphic>
          <a:graphicData uri="http://schemas.openxmlformats.org/presentationml/2006/ole">
            <p:oleObj spid="_x0000_s371717" name="Equation" r:id="rId8" imgW="3035160" imgH="5713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1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1939-ACCB-49D9-9FDE-B96B48FBEA97}" type="slidenum">
              <a:rPr lang="en-US"/>
              <a:pPr/>
              <a:t>15</a:t>
            </a:fld>
            <a:endParaRPr lang="en-US"/>
          </a:p>
        </p:txBody>
      </p:sp>
      <p:sp>
        <p:nvSpPr>
          <p:cNvPr id="355330" name="Text Box 1026"/>
          <p:cNvSpPr txBox="1">
            <a:spLocks noChangeArrowheads="1"/>
          </p:cNvSpPr>
          <p:nvPr/>
        </p:nvSpPr>
        <p:spPr bwMode="auto">
          <a:xfrm>
            <a:off x="365125" y="254000"/>
            <a:ext cx="65405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How can we prove that a language</a:t>
            </a:r>
          </a:p>
          <a:p>
            <a:r>
              <a:rPr lang="en-US"/>
              <a:t>is not regular?</a:t>
            </a:r>
          </a:p>
        </p:txBody>
      </p:sp>
      <p:graphicFrame>
        <p:nvGraphicFramePr>
          <p:cNvPr id="372736" name="Object 1024"/>
          <p:cNvGraphicFramePr>
            <a:graphicFrameLocks noChangeAspect="1"/>
          </p:cNvGraphicFramePr>
          <p:nvPr/>
        </p:nvGraphicFramePr>
        <p:xfrm>
          <a:off x="7010400" y="304800"/>
          <a:ext cx="330200" cy="393700"/>
        </p:xfrm>
        <a:graphic>
          <a:graphicData uri="http://schemas.openxmlformats.org/presentationml/2006/ole">
            <p:oleObj spid="_x0000_s372736" name="Equation" r:id="rId3" imgW="330120" imgH="393480" progId="Equation.3">
              <p:embed/>
            </p:oleObj>
          </a:graphicData>
        </a:graphic>
      </p:graphicFrame>
      <p:grpSp>
        <p:nvGrpSpPr>
          <p:cNvPr id="355338" name="Group 1034"/>
          <p:cNvGrpSpPr>
            <a:grpSpLocks/>
          </p:cNvGrpSpPr>
          <p:nvPr/>
        </p:nvGrpSpPr>
        <p:grpSpPr bwMode="auto">
          <a:xfrm>
            <a:off x="304800" y="2438400"/>
            <a:ext cx="8255000" cy="579438"/>
            <a:chOff x="192" y="1536"/>
            <a:chExt cx="5200" cy="365"/>
          </a:xfrm>
        </p:grpSpPr>
        <p:sp>
          <p:nvSpPr>
            <p:cNvPr id="355331" name="Text Box 1027"/>
            <p:cNvSpPr txBox="1">
              <a:spLocks noChangeArrowheads="1"/>
            </p:cNvSpPr>
            <p:nvPr/>
          </p:nvSpPr>
          <p:spPr bwMode="auto">
            <a:xfrm>
              <a:off x="192" y="1536"/>
              <a:ext cx="501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Prove that there is no </a:t>
              </a:r>
              <a:r>
                <a:rPr lang="en-US">
                  <a:solidFill>
                    <a:srgbClr val="339933"/>
                  </a:solidFill>
                </a:rPr>
                <a:t>DFA</a:t>
              </a:r>
              <a:r>
                <a:rPr lang="en-US"/>
                <a:t> that accepts </a:t>
              </a:r>
            </a:p>
          </p:txBody>
        </p:sp>
        <p:graphicFrame>
          <p:nvGraphicFramePr>
            <p:cNvPr id="372737" name="Object 1025"/>
            <p:cNvGraphicFramePr>
              <a:graphicFrameLocks noChangeAspect="1"/>
            </p:cNvGraphicFramePr>
            <p:nvPr/>
          </p:nvGraphicFramePr>
          <p:xfrm>
            <a:off x="5184" y="1584"/>
            <a:ext cx="208" cy="248"/>
          </p:xfrm>
          <a:graphic>
            <a:graphicData uri="http://schemas.openxmlformats.org/presentationml/2006/ole">
              <p:oleObj spid="_x0000_s372737" name="Equation" r:id="rId4" imgW="330120" imgH="393480" progId="Equation.3">
                <p:embed/>
              </p:oleObj>
            </a:graphicData>
          </a:graphic>
        </p:graphicFrame>
      </p:grpSp>
      <p:sp>
        <p:nvSpPr>
          <p:cNvPr id="355334" name="Text Box 1030"/>
          <p:cNvSpPr txBox="1">
            <a:spLocks noChangeArrowheads="1"/>
          </p:cNvSpPr>
          <p:nvPr/>
        </p:nvSpPr>
        <p:spPr bwMode="auto">
          <a:xfrm>
            <a:off x="304800" y="3810000"/>
            <a:ext cx="67913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Problem:</a:t>
            </a:r>
            <a:r>
              <a:rPr lang="en-US"/>
              <a:t> this is not easy to prove</a:t>
            </a:r>
          </a:p>
        </p:txBody>
      </p:sp>
      <p:sp>
        <p:nvSpPr>
          <p:cNvPr id="355335" name="Text Box 1031"/>
          <p:cNvSpPr txBox="1">
            <a:spLocks noChangeArrowheads="1"/>
          </p:cNvSpPr>
          <p:nvPr/>
        </p:nvSpPr>
        <p:spPr bwMode="auto">
          <a:xfrm>
            <a:off x="304800" y="5257800"/>
            <a:ext cx="63404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Solution:</a:t>
            </a:r>
            <a:r>
              <a:rPr lang="en-US"/>
              <a:t> the Pumping Lemma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4" grpId="0" autoUpdateAnimBg="0"/>
      <p:bldP spid="35533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102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18467" name="Rectangle 1027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The Pigeonhole Principle</a:t>
            </a:r>
          </a:p>
        </p:txBody>
      </p:sp>
      <p:pic>
        <p:nvPicPr>
          <p:cNvPr id="318468" name="Picture 1028" descr="C:\ModComp\pigeon.gif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3733800" y="381000"/>
            <a:ext cx="1828800" cy="1447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2161-737C-400C-B298-FAC0BBD0E66B}" type="slidenum">
              <a:rPr lang="en-US"/>
              <a:pPr/>
              <a:t>17</a:t>
            </a:fld>
            <a:endParaRPr lang="en-US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71379" name="AutoShape 19"/>
          <p:cNvSpPr>
            <a:spLocks noChangeArrowheads="1"/>
          </p:cNvSpPr>
          <p:nvPr/>
        </p:nvSpPr>
        <p:spPr bwMode="auto">
          <a:xfrm>
            <a:off x="838200" y="4267200"/>
            <a:ext cx="1981200" cy="17526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71383" name="Picture 23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1295400" y="1600200"/>
            <a:ext cx="1371600" cy="1143000"/>
          </a:xfrm>
          <a:prstGeom prst="rect">
            <a:avLst/>
          </a:prstGeom>
          <a:noFill/>
        </p:spPr>
      </p:pic>
      <p:sp>
        <p:nvSpPr>
          <p:cNvPr id="271384" name="AutoShape 24"/>
          <p:cNvSpPr>
            <a:spLocks noChangeArrowheads="1"/>
          </p:cNvSpPr>
          <p:nvPr/>
        </p:nvSpPr>
        <p:spPr bwMode="auto">
          <a:xfrm>
            <a:off x="3810000" y="4267200"/>
            <a:ext cx="1981200" cy="17526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1385" name="AutoShape 25"/>
          <p:cNvSpPr>
            <a:spLocks noChangeArrowheads="1"/>
          </p:cNvSpPr>
          <p:nvPr/>
        </p:nvSpPr>
        <p:spPr bwMode="auto">
          <a:xfrm>
            <a:off x="6781800" y="4267200"/>
            <a:ext cx="1981200" cy="17526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71386" name="Picture 26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3352800" y="1143000"/>
            <a:ext cx="1371600" cy="1143000"/>
          </a:xfrm>
          <a:prstGeom prst="rect">
            <a:avLst/>
          </a:prstGeom>
          <a:noFill/>
        </p:spPr>
      </p:pic>
      <p:pic>
        <p:nvPicPr>
          <p:cNvPr id="271387" name="Picture 27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5181600" y="1905000"/>
            <a:ext cx="1371600" cy="1143000"/>
          </a:xfrm>
          <a:prstGeom prst="rect">
            <a:avLst/>
          </a:prstGeom>
          <a:noFill/>
        </p:spPr>
      </p:pic>
      <p:pic>
        <p:nvPicPr>
          <p:cNvPr id="271388" name="Picture 28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6934200" y="914400"/>
            <a:ext cx="1371600" cy="1143000"/>
          </a:xfrm>
          <a:prstGeom prst="rect">
            <a:avLst/>
          </a:prstGeom>
          <a:noFill/>
        </p:spPr>
      </p:pic>
      <p:sp>
        <p:nvSpPr>
          <p:cNvPr id="271389" name="Text Box 29"/>
          <p:cNvSpPr txBox="1">
            <a:spLocks noChangeArrowheads="1"/>
          </p:cNvSpPr>
          <p:nvPr/>
        </p:nvSpPr>
        <p:spPr bwMode="auto">
          <a:xfrm>
            <a:off x="3733800" y="152400"/>
            <a:ext cx="1579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pigeons</a:t>
            </a:r>
          </a:p>
        </p:txBody>
      </p:sp>
      <p:sp>
        <p:nvSpPr>
          <p:cNvPr id="271390" name="Text Box 30"/>
          <p:cNvSpPr txBox="1">
            <a:spLocks noChangeArrowheads="1"/>
          </p:cNvSpPr>
          <p:nvPr/>
        </p:nvSpPr>
        <p:spPr bwMode="auto">
          <a:xfrm>
            <a:off x="3505200" y="3505200"/>
            <a:ext cx="2362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pigeonholes</a:t>
            </a:r>
          </a:p>
        </p:txBody>
      </p:sp>
      <p:graphicFrame>
        <p:nvGraphicFramePr>
          <p:cNvPr id="271391" name="Object 31"/>
          <p:cNvGraphicFramePr>
            <a:graphicFrameLocks noChangeAspect="1"/>
          </p:cNvGraphicFramePr>
          <p:nvPr/>
        </p:nvGraphicFramePr>
        <p:xfrm>
          <a:off x="3429000" y="304800"/>
          <a:ext cx="279400" cy="406400"/>
        </p:xfrm>
        <a:graphic>
          <a:graphicData uri="http://schemas.openxmlformats.org/presentationml/2006/ole">
            <p:oleObj spid="_x0000_s271391" name="Equation" r:id="rId4" imgW="279360" imgH="406080" progId="Equation.3">
              <p:embed/>
            </p:oleObj>
          </a:graphicData>
        </a:graphic>
      </p:graphicFrame>
      <p:graphicFrame>
        <p:nvGraphicFramePr>
          <p:cNvPr id="271392" name="Object 32"/>
          <p:cNvGraphicFramePr>
            <a:graphicFrameLocks noChangeAspect="1"/>
          </p:cNvGraphicFramePr>
          <p:nvPr/>
        </p:nvGraphicFramePr>
        <p:xfrm>
          <a:off x="3200400" y="3581400"/>
          <a:ext cx="241300" cy="419100"/>
        </p:xfrm>
        <a:graphic>
          <a:graphicData uri="http://schemas.openxmlformats.org/presentationml/2006/ole">
            <p:oleObj spid="_x0000_s271392" name="Equation" r:id="rId5" imgW="24120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7245-A7A0-4598-A385-B9797B93C4EB}" type="slidenum">
              <a:rPr lang="en-US"/>
              <a:pPr/>
              <a:t>18</a:t>
            </a:fld>
            <a:endParaRPr lang="en-US"/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72388" name="AutoShape 4"/>
          <p:cNvSpPr>
            <a:spLocks noChangeArrowheads="1"/>
          </p:cNvSpPr>
          <p:nvPr/>
        </p:nvSpPr>
        <p:spPr bwMode="auto">
          <a:xfrm>
            <a:off x="838200" y="4267200"/>
            <a:ext cx="1981200" cy="17526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72389" name="Picture 5" descr="C:\ModComp\pigeon.gif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914400" y="4724400"/>
            <a:ext cx="1371600" cy="1143000"/>
          </a:xfrm>
          <a:prstGeom prst="rect">
            <a:avLst/>
          </a:prstGeom>
          <a:noFill/>
        </p:spPr>
      </p:pic>
      <p:sp>
        <p:nvSpPr>
          <p:cNvPr id="272390" name="AutoShape 6"/>
          <p:cNvSpPr>
            <a:spLocks noChangeArrowheads="1"/>
          </p:cNvSpPr>
          <p:nvPr/>
        </p:nvSpPr>
        <p:spPr bwMode="auto">
          <a:xfrm>
            <a:off x="3810000" y="4267200"/>
            <a:ext cx="1981200" cy="17526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2391" name="AutoShape 7"/>
          <p:cNvSpPr>
            <a:spLocks noChangeArrowheads="1"/>
          </p:cNvSpPr>
          <p:nvPr/>
        </p:nvSpPr>
        <p:spPr bwMode="auto">
          <a:xfrm>
            <a:off x="6781800" y="4267200"/>
            <a:ext cx="1981200" cy="1752600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72392" name="Picture 8" descr="C:\ModComp\pigeon.gif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3886200" y="4724400"/>
            <a:ext cx="1371600" cy="1143000"/>
          </a:xfrm>
          <a:prstGeom prst="rect">
            <a:avLst/>
          </a:prstGeom>
          <a:noFill/>
        </p:spPr>
      </p:pic>
      <p:pic>
        <p:nvPicPr>
          <p:cNvPr id="272393" name="Picture 9" descr="C:\ModComp\pigeon.gif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7086600" y="4953000"/>
            <a:ext cx="1371600" cy="1143000"/>
          </a:xfrm>
          <a:prstGeom prst="rect">
            <a:avLst/>
          </a:prstGeom>
          <a:noFill/>
        </p:spPr>
      </p:pic>
      <p:pic>
        <p:nvPicPr>
          <p:cNvPr id="272394" name="Picture 10" descr="C:\ModComp\pigeon.gif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553200" y="4267200"/>
            <a:ext cx="1371600" cy="1143000"/>
          </a:xfrm>
          <a:prstGeom prst="rect">
            <a:avLst/>
          </a:prstGeom>
          <a:noFill/>
        </p:spPr>
      </p:pic>
      <p:sp>
        <p:nvSpPr>
          <p:cNvPr id="272396" name="Line 12"/>
          <p:cNvSpPr>
            <a:spLocks noChangeShapeType="1"/>
          </p:cNvSpPr>
          <p:nvPr/>
        </p:nvSpPr>
        <p:spPr bwMode="auto">
          <a:xfrm>
            <a:off x="5867400" y="2590800"/>
            <a:ext cx="14478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2397" name="Text Box 13"/>
          <p:cNvSpPr txBox="1">
            <a:spLocks noChangeArrowheads="1"/>
          </p:cNvSpPr>
          <p:nvPr/>
        </p:nvSpPr>
        <p:spPr bwMode="auto">
          <a:xfrm>
            <a:off x="3429000" y="1371600"/>
            <a:ext cx="54483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pigeonhole must</a:t>
            </a:r>
          </a:p>
          <a:p>
            <a:r>
              <a:rPr lang="en-US"/>
              <a:t>contain at least two pigeons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4C18-9C2F-45A2-B5CC-F4FD655EB759}" type="slidenum">
              <a:rPr lang="en-US"/>
              <a:pPr/>
              <a:t>19</a:t>
            </a:fld>
            <a:endParaRPr lang="en-US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pic>
        <p:nvPicPr>
          <p:cNvPr id="273412" name="Picture 4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685800" y="2362200"/>
            <a:ext cx="914400" cy="685800"/>
          </a:xfrm>
          <a:prstGeom prst="rect">
            <a:avLst/>
          </a:prstGeom>
          <a:noFill/>
        </p:spPr>
      </p:pic>
      <p:pic>
        <p:nvPicPr>
          <p:cNvPr id="273413" name="Picture 5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2209800" y="2362200"/>
            <a:ext cx="914400" cy="685800"/>
          </a:xfrm>
          <a:prstGeom prst="rect">
            <a:avLst/>
          </a:prstGeom>
          <a:noFill/>
        </p:spPr>
      </p:pic>
      <p:pic>
        <p:nvPicPr>
          <p:cNvPr id="273414" name="Picture 6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3733800" y="2362200"/>
            <a:ext cx="914400" cy="685800"/>
          </a:xfrm>
          <a:prstGeom prst="rect">
            <a:avLst/>
          </a:prstGeom>
          <a:noFill/>
        </p:spPr>
      </p:pic>
      <p:pic>
        <p:nvPicPr>
          <p:cNvPr id="273415" name="Picture 7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7010400" y="2362200"/>
            <a:ext cx="914400" cy="685800"/>
          </a:xfrm>
          <a:prstGeom prst="rect">
            <a:avLst/>
          </a:prstGeom>
          <a:noFill/>
        </p:spPr>
      </p:pic>
      <p:sp>
        <p:nvSpPr>
          <p:cNvPr id="273417" name="Text Box 9"/>
          <p:cNvSpPr txBox="1">
            <a:spLocks noChangeArrowheads="1"/>
          </p:cNvSpPr>
          <p:nvPr/>
        </p:nvSpPr>
        <p:spPr bwMode="auto">
          <a:xfrm>
            <a:off x="5410200" y="2286000"/>
            <a:ext cx="1301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...........</a:t>
            </a:r>
          </a:p>
        </p:txBody>
      </p:sp>
      <p:sp>
        <p:nvSpPr>
          <p:cNvPr id="273418" name="AutoShape 10"/>
          <p:cNvSpPr>
            <a:spLocks noChangeArrowheads="1"/>
          </p:cNvSpPr>
          <p:nvPr/>
        </p:nvSpPr>
        <p:spPr bwMode="auto">
          <a:xfrm>
            <a:off x="457200" y="48768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3420" name="AutoShape 12"/>
          <p:cNvSpPr>
            <a:spLocks noChangeArrowheads="1"/>
          </p:cNvSpPr>
          <p:nvPr/>
        </p:nvSpPr>
        <p:spPr bwMode="auto">
          <a:xfrm>
            <a:off x="2514600" y="48768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3421" name="AutoShape 13"/>
          <p:cNvSpPr>
            <a:spLocks noChangeArrowheads="1"/>
          </p:cNvSpPr>
          <p:nvPr/>
        </p:nvSpPr>
        <p:spPr bwMode="auto">
          <a:xfrm>
            <a:off x="6324600" y="48768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3422" name="Text Box 14"/>
          <p:cNvSpPr txBox="1">
            <a:spLocks noChangeArrowheads="1"/>
          </p:cNvSpPr>
          <p:nvPr/>
        </p:nvSpPr>
        <p:spPr bwMode="auto">
          <a:xfrm>
            <a:off x="4419600" y="5105400"/>
            <a:ext cx="1301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...........</a:t>
            </a:r>
          </a:p>
        </p:txBody>
      </p:sp>
      <p:sp>
        <p:nvSpPr>
          <p:cNvPr id="273423" name="Text Box 15"/>
          <p:cNvSpPr txBox="1">
            <a:spLocks noChangeArrowheads="1"/>
          </p:cNvSpPr>
          <p:nvPr/>
        </p:nvSpPr>
        <p:spPr bwMode="auto">
          <a:xfrm>
            <a:off x="3733800" y="1066800"/>
            <a:ext cx="1579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pigeons</a:t>
            </a:r>
          </a:p>
        </p:txBody>
      </p:sp>
      <p:sp>
        <p:nvSpPr>
          <p:cNvPr id="273424" name="Text Box 16"/>
          <p:cNvSpPr txBox="1">
            <a:spLocks noChangeArrowheads="1"/>
          </p:cNvSpPr>
          <p:nvPr/>
        </p:nvSpPr>
        <p:spPr bwMode="auto">
          <a:xfrm>
            <a:off x="3352800" y="3962400"/>
            <a:ext cx="2362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pigeonholes</a:t>
            </a:r>
          </a:p>
        </p:txBody>
      </p:sp>
      <p:graphicFrame>
        <p:nvGraphicFramePr>
          <p:cNvPr id="373760" name="Object 1024"/>
          <p:cNvGraphicFramePr>
            <a:graphicFrameLocks noChangeAspect="1"/>
          </p:cNvGraphicFramePr>
          <p:nvPr/>
        </p:nvGraphicFramePr>
        <p:xfrm>
          <a:off x="3352800" y="1219200"/>
          <a:ext cx="290513" cy="304800"/>
        </p:xfrm>
        <a:graphic>
          <a:graphicData uri="http://schemas.openxmlformats.org/presentationml/2006/ole">
            <p:oleObj spid="_x0000_s373760" name="Equation" r:id="rId4" imgW="291960" imgH="304560" progId="Equation.3">
              <p:embed/>
            </p:oleObj>
          </a:graphicData>
        </a:graphic>
      </p:graphicFrame>
      <p:graphicFrame>
        <p:nvGraphicFramePr>
          <p:cNvPr id="373761" name="Object 1025"/>
          <p:cNvGraphicFramePr>
            <a:graphicFrameLocks noChangeAspect="1"/>
          </p:cNvGraphicFramePr>
          <p:nvPr/>
        </p:nvGraphicFramePr>
        <p:xfrm>
          <a:off x="2882900" y="4178300"/>
          <a:ext cx="393700" cy="304800"/>
        </p:xfrm>
        <a:graphic>
          <a:graphicData uri="http://schemas.openxmlformats.org/presentationml/2006/ole">
            <p:oleObj spid="_x0000_s373761" name="Equation" r:id="rId5" imgW="393480" imgH="304560" progId="Equation.3">
              <p:embed/>
            </p:oleObj>
          </a:graphicData>
        </a:graphic>
      </p:graphicFrame>
      <p:graphicFrame>
        <p:nvGraphicFramePr>
          <p:cNvPr id="373762" name="Object 1026"/>
          <p:cNvGraphicFramePr>
            <a:graphicFrameLocks noChangeAspect="1"/>
          </p:cNvGraphicFramePr>
          <p:nvPr/>
        </p:nvGraphicFramePr>
        <p:xfrm>
          <a:off x="6648450" y="4102100"/>
          <a:ext cx="1155700" cy="315913"/>
        </p:xfrm>
        <a:graphic>
          <a:graphicData uri="http://schemas.openxmlformats.org/presentationml/2006/ole">
            <p:oleObj spid="_x0000_s373762" name="Equation" r:id="rId6" imgW="1155600" imgH="31716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6E4C-09FB-4041-8CF1-679246DB7A9F}" type="slidenum">
              <a:rPr lang="en-US"/>
              <a:pPr/>
              <a:t>20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Pigeonhole Principle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pic>
        <p:nvPicPr>
          <p:cNvPr id="274436" name="Picture 4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457200" y="5257800"/>
            <a:ext cx="914400" cy="685800"/>
          </a:xfrm>
          <a:prstGeom prst="rect">
            <a:avLst/>
          </a:prstGeom>
          <a:noFill/>
        </p:spPr>
      </p:pic>
      <p:pic>
        <p:nvPicPr>
          <p:cNvPr id="274437" name="Picture 5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2514600" y="5257800"/>
            <a:ext cx="914400" cy="685800"/>
          </a:xfrm>
          <a:prstGeom prst="rect">
            <a:avLst/>
          </a:prstGeom>
          <a:noFill/>
        </p:spPr>
      </p:pic>
      <p:pic>
        <p:nvPicPr>
          <p:cNvPr id="274438" name="Picture 6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6477000" y="5410200"/>
            <a:ext cx="914400" cy="685800"/>
          </a:xfrm>
          <a:prstGeom prst="rect">
            <a:avLst/>
          </a:prstGeom>
          <a:noFill/>
        </p:spPr>
      </p:pic>
      <p:pic>
        <p:nvPicPr>
          <p:cNvPr id="274439" name="Picture 7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6172200" y="4953000"/>
            <a:ext cx="914400" cy="685800"/>
          </a:xfrm>
          <a:prstGeom prst="rect">
            <a:avLst/>
          </a:prstGeom>
          <a:noFill/>
        </p:spPr>
      </p:pic>
      <p:sp>
        <p:nvSpPr>
          <p:cNvPr id="274441" name="AutoShape 9"/>
          <p:cNvSpPr>
            <a:spLocks noChangeArrowheads="1"/>
          </p:cNvSpPr>
          <p:nvPr/>
        </p:nvSpPr>
        <p:spPr bwMode="auto">
          <a:xfrm>
            <a:off x="457200" y="48768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4442" name="AutoShape 10"/>
          <p:cNvSpPr>
            <a:spLocks noChangeArrowheads="1"/>
          </p:cNvSpPr>
          <p:nvPr/>
        </p:nvSpPr>
        <p:spPr bwMode="auto">
          <a:xfrm>
            <a:off x="2514600" y="48768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4443" name="AutoShape 11"/>
          <p:cNvSpPr>
            <a:spLocks noChangeArrowheads="1"/>
          </p:cNvSpPr>
          <p:nvPr/>
        </p:nvSpPr>
        <p:spPr bwMode="auto">
          <a:xfrm>
            <a:off x="6324600" y="48768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4444" name="Text Box 12"/>
          <p:cNvSpPr txBox="1">
            <a:spLocks noChangeArrowheads="1"/>
          </p:cNvSpPr>
          <p:nvPr/>
        </p:nvSpPr>
        <p:spPr bwMode="auto">
          <a:xfrm>
            <a:off x="4419600" y="5105400"/>
            <a:ext cx="1301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...........</a:t>
            </a:r>
          </a:p>
        </p:txBody>
      </p:sp>
      <p:sp>
        <p:nvSpPr>
          <p:cNvPr id="274445" name="Text Box 13"/>
          <p:cNvSpPr txBox="1">
            <a:spLocks noChangeArrowheads="1"/>
          </p:cNvSpPr>
          <p:nvPr/>
        </p:nvSpPr>
        <p:spPr bwMode="auto">
          <a:xfrm>
            <a:off x="762000" y="1143000"/>
            <a:ext cx="1579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pigeons</a:t>
            </a:r>
          </a:p>
        </p:txBody>
      </p:sp>
      <p:sp>
        <p:nvSpPr>
          <p:cNvPr id="274446" name="Text Box 14"/>
          <p:cNvSpPr txBox="1">
            <a:spLocks noChangeArrowheads="1"/>
          </p:cNvSpPr>
          <p:nvPr/>
        </p:nvSpPr>
        <p:spPr bwMode="auto">
          <a:xfrm>
            <a:off x="762000" y="1981200"/>
            <a:ext cx="2362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pigeonholes</a:t>
            </a:r>
          </a:p>
        </p:txBody>
      </p:sp>
      <p:graphicFrame>
        <p:nvGraphicFramePr>
          <p:cNvPr id="374784" name="Object 1024"/>
          <p:cNvGraphicFramePr>
            <a:graphicFrameLocks noChangeAspect="1"/>
          </p:cNvGraphicFramePr>
          <p:nvPr/>
        </p:nvGraphicFramePr>
        <p:xfrm>
          <a:off x="304800" y="1371600"/>
          <a:ext cx="290513" cy="304800"/>
        </p:xfrm>
        <a:graphic>
          <a:graphicData uri="http://schemas.openxmlformats.org/presentationml/2006/ole">
            <p:oleObj spid="_x0000_s374784" name="Equation" r:id="rId4" imgW="291960" imgH="304560" progId="Equation.3">
              <p:embed/>
            </p:oleObj>
          </a:graphicData>
        </a:graphic>
      </p:graphicFrame>
      <p:graphicFrame>
        <p:nvGraphicFramePr>
          <p:cNvPr id="374785" name="Object 1025"/>
          <p:cNvGraphicFramePr>
            <a:graphicFrameLocks noChangeAspect="1"/>
          </p:cNvGraphicFramePr>
          <p:nvPr/>
        </p:nvGraphicFramePr>
        <p:xfrm>
          <a:off x="292100" y="2197100"/>
          <a:ext cx="393700" cy="304800"/>
        </p:xfrm>
        <a:graphic>
          <a:graphicData uri="http://schemas.openxmlformats.org/presentationml/2006/ole">
            <p:oleObj spid="_x0000_s374785" name="Equation" r:id="rId5" imgW="393480" imgH="304560" progId="Equation.3">
              <p:embed/>
            </p:oleObj>
          </a:graphicData>
        </a:graphic>
      </p:graphicFrame>
      <p:graphicFrame>
        <p:nvGraphicFramePr>
          <p:cNvPr id="374786" name="Object 1026"/>
          <p:cNvGraphicFramePr>
            <a:graphicFrameLocks noChangeAspect="1"/>
          </p:cNvGraphicFramePr>
          <p:nvPr/>
        </p:nvGraphicFramePr>
        <p:xfrm>
          <a:off x="1143000" y="2895600"/>
          <a:ext cx="1155700" cy="315913"/>
        </p:xfrm>
        <a:graphic>
          <a:graphicData uri="http://schemas.openxmlformats.org/presentationml/2006/ole">
            <p:oleObj spid="_x0000_s374786" name="Equation" r:id="rId6" imgW="1155600" imgH="317160" progId="Equation.3">
              <p:embed/>
            </p:oleObj>
          </a:graphicData>
        </a:graphic>
      </p:graphicFrame>
      <p:sp>
        <p:nvSpPr>
          <p:cNvPr id="274450" name="Line 18"/>
          <p:cNvSpPr>
            <a:spLocks noChangeShapeType="1"/>
          </p:cNvSpPr>
          <p:nvPr/>
        </p:nvSpPr>
        <p:spPr bwMode="auto">
          <a:xfrm>
            <a:off x="6172200" y="3581400"/>
            <a:ext cx="762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4451" name="Text Box 19"/>
          <p:cNvSpPr txBox="1">
            <a:spLocks noChangeArrowheads="1"/>
          </p:cNvSpPr>
          <p:nvPr/>
        </p:nvSpPr>
        <p:spPr bwMode="auto">
          <a:xfrm>
            <a:off x="3886200" y="2286000"/>
            <a:ext cx="45894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a pigeonhole</a:t>
            </a:r>
          </a:p>
          <a:p>
            <a:r>
              <a:rPr lang="en-US"/>
              <a:t> with at least 2 pigeons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The Pigeonhole Principle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and 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DFAs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689B-3986-404E-9355-E75898DAAEEB}" type="slidenum">
              <a:rPr lang="en-US"/>
              <a:pPr/>
              <a:t>22</a:t>
            </a:fld>
            <a:endParaRPr lang="en-US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77524" name="Text Box 20"/>
          <p:cNvSpPr txBox="1">
            <a:spLocks noChangeArrowheads="1"/>
          </p:cNvSpPr>
          <p:nvPr/>
        </p:nvSpPr>
        <p:spPr bwMode="auto">
          <a:xfrm>
            <a:off x="2438400" y="1676400"/>
            <a:ext cx="4151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 with       states </a:t>
            </a:r>
          </a:p>
        </p:txBody>
      </p:sp>
      <p:graphicFrame>
        <p:nvGraphicFramePr>
          <p:cNvPr id="375808" name="Object 1024"/>
          <p:cNvGraphicFramePr>
            <a:graphicFrameLocks noChangeAspect="1"/>
          </p:cNvGraphicFramePr>
          <p:nvPr/>
        </p:nvGraphicFramePr>
        <p:xfrm>
          <a:off x="4541838" y="1765300"/>
          <a:ext cx="277812" cy="406400"/>
        </p:xfrm>
        <a:graphic>
          <a:graphicData uri="http://schemas.openxmlformats.org/presentationml/2006/ole">
            <p:oleObj spid="_x0000_s375808" name="Equation" r:id="rId3" imgW="279360" imgH="406080" progId="Equation.3">
              <p:embed/>
            </p:oleObj>
          </a:graphicData>
        </a:graphic>
      </p:graphicFrame>
      <p:sp>
        <p:nvSpPr>
          <p:cNvPr id="277551" name="Oval 47"/>
          <p:cNvSpPr>
            <a:spLocks noChangeArrowheads="1"/>
          </p:cNvSpPr>
          <p:nvPr/>
        </p:nvSpPr>
        <p:spPr bwMode="auto">
          <a:xfrm>
            <a:off x="1539875" y="462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52" name="Oval 48"/>
          <p:cNvSpPr>
            <a:spLocks noChangeArrowheads="1"/>
          </p:cNvSpPr>
          <p:nvPr/>
        </p:nvSpPr>
        <p:spPr bwMode="auto">
          <a:xfrm>
            <a:off x="32766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53" name="Oval 49"/>
          <p:cNvSpPr>
            <a:spLocks noChangeArrowheads="1"/>
          </p:cNvSpPr>
          <p:nvPr/>
        </p:nvSpPr>
        <p:spPr bwMode="auto">
          <a:xfrm>
            <a:off x="6934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54" name="Oval 50"/>
          <p:cNvSpPr>
            <a:spLocks noChangeArrowheads="1"/>
          </p:cNvSpPr>
          <p:nvPr/>
        </p:nvSpPr>
        <p:spPr bwMode="auto">
          <a:xfrm>
            <a:off x="6781800" y="44958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7555" name="Line 51"/>
          <p:cNvSpPr>
            <a:spLocks noChangeShapeType="1"/>
          </p:cNvSpPr>
          <p:nvPr/>
        </p:nvSpPr>
        <p:spPr bwMode="auto">
          <a:xfrm>
            <a:off x="1006475" y="4927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5809" name="Object 1025"/>
          <p:cNvGraphicFramePr>
            <a:graphicFrameLocks noChangeAspect="1"/>
          </p:cNvGraphicFramePr>
          <p:nvPr/>
        </p:nvGraphicFramePr>
        <p:xfrm>
          <a:off x="1616075" y="4622800"/>
          <a:ext cx="381000" cy="520700"/>
        </p:xfrm>
        <a:graphic>
          <a:graphicData uri="http://schemas.openxmlformats.org/presentationml/2006/ole">
            <p:oleObj spid="_x0000_s375809" name="Equation" r:id="rId4" imgW="380880" imgH="520560" progId="Equation.3">
              <p:embed/>
            </p:oleObj>
          </a:graphicData>
        </a:graphic>
      </p:graphicFrame>
      <p:graphicFrame>
        <p:nvGraphicFramePr>
          <p:cNvPr id="375810" name="Object 1026"/>
          <p:cNvGraphicFramePr>
            <a:graphicFrameLocks noChangeAspect="1"/>
          </p:cNvGraphicFramePr>
          <p:nvPr/>
        </p:nvGraphicFramePr>
        <p:xfrm>
          <a:off x="3398838" y="4648200"/>
          <a:ext cx="442912" cy="520700"/>
        </p:xfrm>
        <a:graphic>
          <a:graphicData uri="http://schemas.openxmlformats.org/presentationml/2006/ole">
            <p:oleObj spid="_x0000_s375810" name="Equation" r:id="rId5" imgW="444240" imgH="520560" progId="Equation.3">
              <p:embed/>
            </p:oleObj>
          </a:graphicData>
        </a:graphic>
      </p:graphicFrame>
      <p:graphicFrame>
        <p:nvGraphicFramePr>
          <p:cNvPr id="375811" name="Object 1027"/>
          <p:cNvGraphicFramePr>
            <a:graphicFrameLocks noChangeAspect="1"/>
          </p:cNvGraphicFramePr>
          <p:nvPr/>
        </p:nvGraphicFramePr>
        <p:xfrm>
          <a:off x="5105400" y="4648200"/>
          <a:ext cx="430213" cy="531813"/>
        </p:xfrm>
        <a:graphic>
          <a:graphicData uri="http://schemas.openxmlformats.org/presentationml/2006/ole">
            <p:oleObj spid="_x0000_s375811" name="Equation" r:id="rId6" imgW="431640" imgH="533160" progId="Equation.3">
              <p:embed/>
            </p:oleObj>
          </a:graphicData>
        </a:graphic>
      </p:graphicFrame>
      <p:graphicFrame>
        <p:nvGraphicFramePr>
          <p:cNvPr id="375812" name="Object 1028"/>
          <p:cNvGraphicFramePr>
            <a:graphicFrameLocks noChangeAspect="1"/>
          </p:cNvGraphicFramePr>
          <p:nvPr/>
        </p:nvGraphicFramePr>
        <p:xfrm>
          <a:off x="2590800" y="4572000"/>
          <a:ext cx="265113" cy="279400"/>
        </p:xfrm>
        <a:graphic>
          <a:graphicData uri="http://schemas.openxmlformats.org/presentationml/2006/ole">
            <p:oleObj spid="_x0000_s375812" name="Equation" r:id="rId7" imgW="266400" imgH="279360" progId="Equation.3">
              <p:embed/>
            </p:oleObj>
          </a:graphicData>
        </a:graphic>
      </p:graphicFrame>
      <p:graphicFrame>
        <p:nvGraphicFramePr>
          <p:cNvPr id="375813" name="Object 1029"/>
          <p:cNvGraphicFramePr>
            <a:graphicFrameLocks noChangeAspect="1"/>
          </p:cNvGraphicFramePr>
          <p:nvPr/>
        </p:nvGraphicFramePr>
        <p:xfrm>
          <a:off x="1828800" y="3352800"/>
          <a:ext cx="252413" cy="392113"/>
        </p:xfrm>
        <a:graphic>
          <a:graphicData uri="http://schemas.openxmlformats.org/presentationml/2006/ole">
            <p:oleObj spid="_x0000_s375813" name="Equation" r:id="rId8" imgW="253800" imgH="393480" progId="Equation.3">
              <p:embed/>
            </p:oleObj>
          </a:graphicData>
        </a:graphic>
      </p:graphicFrame>
      <p:sp>
        <p:nvSpPr>
          <p:cNvPr id="277574" name="Line 70"/>
          <p:cNvSpPr>
            <a:spLocks noChangeShapeType="1"/>
          </p:cNvSpPr>
          <p:nvPr/>
        </p:nvSpPr>
        <p:spPr bwMode="auto">
          <a:xfrm>
            <a:off x="2133600" y="4953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5814" name="Object 1030"/>
          <p:cNvGraphicFramePr>
            <a:graphicFrameLocks noChangeAspect="1"/>
          </p:cNvGraphicFramePr>
          <p:nvPr/>
        </p:nvGraphicFramePr>
        <p:xfrm>
          <a:off x="6992938" y="4622800"/>
          <a:ext cx="479425" cy="571500"/>
        </p:xfrm>
        <a:graphic>
          <a:graphicData uri="http://schemas.openxmlformats.org/presentationml/2006/ole">
            <p:oleObj spid="_x0000_s375814" name="Equation" r:id="rId9" imgW="482400" imgH="571320" progId="Equation.3">
              <p:embed/>
            </p:oleObj>
          </a:graphicData>
        </a:graphic>
      </p:graphicFrame>
      <p:sp>
        <p:nvSpPr>
          <p:cNvPr id="277579" name="Oval 75"/>
          <p:cNvSpPr>
            <a:spLocks noChangeArrowheads="1"/>
          </p:cNvSpPr>
          <p:nvPr/>
        </p:nvSpPr>
        <p:spPr bwMode="auto">
          <a:xfrm>
            <a:off x="5029200" y="4648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80" name="Line 76"/>
          <p:cNvSpPr>
            <a:spLocks noChangeShapeType="1"/>
          </p:cNvSpPr>
          <p:nvPr/>
        </p:nvSpPr>
        <p:spPr bwMode="auto">
          <a:xfrm>
            <a:off x="3886200" y="4953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81" name="Line 77"/>
          <p:cNvSpPr>
            <a:spLocks noChangeShapeType="1"/>
          </p:cNvSpPr>
          <p:nvPr/>
        </p:nvSpPr>
        <p:spPr bwMode="auto">
          <a:xfrm>
            <a:off x="5638800" y="4953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82" name="Freeform 78"/>
          <p:cNvSpPr>
            <a:spLocks/>
          </p:cNvSpPr>
          <p:nvPr/>
        </p:nvSpPr>
        <p:spPr bwMode="auto">
          <a:xfrm>
            <a:off x="1498600" y="37973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83" name="Freeform 79"/>
          <p:cNvSpPr>
            <a:spLocks/>
          </p:cNvSpPr>
          <p:nvPr/>
        </p:nvSpPr>
        <p:spPr bwMode="auto">
          <a:xfrm>
            <a:off x="3200400" y="38100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84" name="Freeform 80"/>
          <p:cNvSpPr>
            <a:spLocks/>
          </p:cNvSpPr>
          <p:nvPr/>
        </p:nvSpPr>
        <p:spPr bwMode="auto">
          <a:xfrm>
            <a:off x="6819900" y="3556000"/>
            <a:ext cx="965200" cy="1016000"/>
          </a:xfrm>
          <a:custGeom>
            <a:avLst/>
            <a:gdLst/>
            <a:ahLst/>
            <a:cxnLst>
              <a:cxn ang="0">
                <a:pos x="408" y="640"/>
              </a:cxn>
              <a:cxn ang="0">
                <a:pos x="600" y="256"/>
              </a:cxn>
              <a:cxn ang="0">
                <a:pos x="360" y="16"/>
              </a:cxn>
              <a:cxn ang="0">
                <a:pos x="24" y="160"/>
              </a:cxn>
              <a:cxn ang="0">
                <a:pos x="216" y="592"/>
              </a:cxn>
            </a:cxnLst>
            <a:rect l="0" t="0" r="r" b="b"/>
            <a:pathLst>
              <a:path w="608" h="640">
                <a:moveTo>
                  <a:pt x="408" y="640"/>
                </a:moveTo>
                <a:cubicBezTo>
                  <a:pt x="508" y="500"/>
                  <a:pt x="608" y="360"/>
                  <a:pt x="600" y="256"/>
                </a:cubicBezTo>
                <a:cubicBezTo>
                  <a:pt x="592" y="152"/>
                  <a:pt x="456" y="32"/>
                  <a:pt x="360" y="16"/>
                </a:cubicBezTo>
                <a:cubicBezTo>
                  <a:pt x="264" y="0"/>
                  <a:pt x="48" y="64"/>
                  <a:pt x="24" y="160"/>
                </a:cubicBezTo>
                <a:cubicBezTo>
                  <a:pt x="0" y="256"/>
                  <a:pt x="108" y="424"/>
                  <a:pt x="216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85" name="Freeform 81"/>
          <p:cNvSpPr>
            <a:spLocks/>
          </p:cNvSpPr>
          <p:nvPr/>
        </p:nvSpPr>
        <p:spPr bwMode="auto">
          <a:xfrm>
            <a:off x="5410200" y="5257800"/>
            <a:ext cx="1600200" cy="381000"/>
          </a:xfrm>
          <a:custGeom>
            <a:avLst/>
            <a:gdLst/>
            <a:ahLst/>
            <a:cxnLst>
              <a:cxn ang="0">
                <a:pos x="1200" y="96"/>
              </a:cxn>
              <a:cxn ang="0">
                <a:pos x="624" y="288"/>
              </a:cxn>
              <a:cxn ang="0">
                <a:pos x="0" y="0"/>
              </a:cxn>
            </a:cxnLst>
            <a:rect l="0" t="0" r="r" b="b"/>
            <a:pathLst>
              <a:path w="1200" h="304">
                <a:moveTo>
                  <a:pt x="1200" y="96"/>
                </a:moveTo>
                <a:cubicBezTo>
                  <a:pt x="1012" y="200"/>
                  <a:pt x="824" y="304"/>
                  <a:pt x="624" y="288"/>
                </a:cubicBezTo>
                <a:cubicBezTo>
                  <a:pt x="424" y="272"/>
                  <a:pt x="212" y="13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7586" name="Freeform 82"/>
          <p:cNvSpPr>
            <a:spLocks/>
          </p:cNvSpPr>
          <p:nvPr/>
        </p:nvSpPr>
        <p:spPr bwMode="auto">
          <a:xfrm>
            <a:off x="3657600" y="5257800"/>
            <a:ext cx="1600200" cy="304800"/>
          </a:xfrm>
          <a:custGeom>
            <a:avLst/>
            <a:gdLst/>
            <a:ahLst/>
            <a:cxnLst>
              <a:cxn ang="0">
                <a:pos x="1008" y="0"/>
              </a:cxn>
              <a:cxn ang="0">
                <a:pos x="528" y="192"/>
              </a:cxn>
              <a:cxn ang="0">
                <a:pos x="0" y="0"/>
              </a:cxn>
            </a:cxnLst>
            <a:rect l="0" t="0" r="r" b="b"/>
            <a:pathLst>
              <a:path w="1008" h="192">
                <a:moveTo>
                  <a:pt x="1008" y="0"/>
                </a:moveTo>
                <a:cubicBezTo>
                  <a:pt x="852" y="96"/>
                  <a:pt x="696" y="192"/>
                  <a:pt x="528" y="192"/>
                </a:cubicBezTo>
                <a:cubicBezTo>
                  <a:pt x="360" y="192"/>
                  <a:pt x="180" y="9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5815" name="Object 1031"/>
          <p:cNvGraphicFramePr>
            <a:graphicFrameLocks noChangeAspect="1"/>
          </p:cNvGraphicFramePr>
          <p:nvPr/>
        </p:nvGraphicFramePr>
        <p:xfrm>
          <a:off x="3505200" y="3352800"/>
          <a:ext cx="252413" cy="392113"/>
        </p:xfrm>
        <a:graphic>
          <a:graphicData uri="http://schemas.openxmlformats.org/presentationml/2006/ole">
            <p:oleObj spid="_x0000_s375815" name="Equation" r:id="rId10" imgW="253800" imgH="393480" progId="Equation.3">
              <p:embed/>
            </p:oleObj>
          </a:graphicData>
        </a:graphic>
      </p:graphicFrame>
      <p:graphicFrame>
        <p:nvGraphicFramePr>
          <p:cNvPr id="375816" name="Object 1032"/>
          <p:cNvGraphicFramePr>
            <a:graphicFrameLocks noChangeAspect="1"/>
          </p:cNvGraphicFramePr>
          <p:nvPr/>
        </p:nvGraphicFramePr>
        <p:xfrm>
          <a:off x="4267200" y="4495800"/>
          <a:ext cx="252413" cy="392113"/>
        </p:xfrm>
        <a:graphic>
          <a:graphicData uri="http://schemas.openxmlformats.org/presentationml/2006/ole">
            <p:oleObj spid="_x0000_s375816" name="Equation" r:id="rId11" imgW="253800" imgH="393480" progId="Equation.3">
              <p:embed/>
            </p:oleObj>
          </a:graphicData>
        </a:graphic>
      </p:graphicFrame>
      <p:graphicFrame>
        <p:nvGraphicFramePr>
          <p:cNvPr id="375817" name="Object 1033"/>
          <p:cNvGraphicFramePr>
            <a:graphicFrameLocks noChangeAspect="1"/>
          </p:cNvGraphicFramePr>
          <p:nvPr/>
        </p:nvGraphicFramePr>
        <p:xfrm>
          <a:off x="6019800" y="4495800"/>
          <a:ext cx="252413" cy="392113"/>
        </p:xfrm>
        <a:graphic>
          <a:graphicData uri="http://schemas.openxmlformats.org/presentationml/2006/ole">
            <p:oleObj spid="_x0000_s375817" name="Equation" r:id="rId12" imgW="253800" imgH="393480" progId="Equation.3">
              <p:embed/>
            </p:oleObj>
          </a:graphicData>
        </a:graphic>
      </p:graphicFrame>
      <p:graphicFrame>
        <p:nvGraphicFramePr>
          <p:cNvPr id="375818" name="Object 1034"/>
          <p:cNvGraphicFramePr>
            <a:graphicFrameLocks noChangeAspect="1"/>
          </p:cNvGraphicFramePr>
          <p:nvPr/>
        </p:nvGraphicFramePr>
        <p:xfrm>
          <a:off x="7162800" y="3124200"/>
          <a:ext cx="252413" cy="392113"/>
        </p:xfrm>
        <a:graphic>
          <a:graphicData uri="http://schemas.openxmlformats.org/presentationml/2006/ole">
            <p:oleObj spid="_x0000_s375818" name="Equation" r:id="rId13" imgW="253800" imgH="393480" progId="Equation.3">
              <p:embed/>
            </p:oleObj>
          </a:graphicData>
        </a:graphic>
      </p:graphicFrame>
      <p:graphicFrame>
        <p:nvGraphicFramePr>
          <p:cNvPr id="375819" name="Object 1035"/>
          <p:cNvGraphicFramePr>
            <a:graphicFrameLocks noChangeAspect="1"/>
          </p:cNvGraphicFramePr>
          <p:nvPr/>
        </p:nvGraphicFramePr>
        <p:xfrm>
          <a:off x="4343400" y="5638800"/>
          <a:ext cx="265113" cy="279400"/>
        </p:xfrm>
        <a:graphic>
          <a:graphicData uri="http://schemas.openxmlformats.org/presentationml/2006/ole">
            <p:oleObj spid="_x0000_s375819" name="Equation" r:id="rId14" imgW="266400" imgH="279360" progId="Equation.3">
              <p:embed/>
            </p:oleObj>
          </a:graphicData>
        </a:graphic>
      </p:graphicFrame>
      <p:graphicFrame>
        <p:nvGraphicFramePr>
          <p:cNvPr id="375820" name="Object 1036"/>
          <p:cNvGraphicFramePr>
            <a:graphicFrameLocks noChangeAspect="1"/>
          </p:cNvGraphicFramePr>
          <p:nvPr/>
        </p:nvGraphicFramePr>
        <p:xfrm>
          <a:off x="6096000" y="5715000"/>
          <a:ext cx="265113" cy="279400"/>
        </p:xfrm>
        <a:graphic>
          <a:graphicData uri="http://schemas.openxmlformats.org/presentationml/2006/ole">
            <p:oleObj spid="_x0000_s375820" name="Equation" r:id="rId15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8ABC0-909E-4ABC-891E-D0EDB08DF6A5}" type="slidenum">
              <a:rPr lang="en-US"/>
              <a:pPr/>
              <a:t>23</a:t>
            </a:fld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78565" name="Oval 37"/>
          <p:cNvSpPr>
            <a:spLocks noChangeArrowheads="1"/>
          </p:cNvSpPr>
          <p:nvPr/>
        </p:nvSpPr>
        <p:spPr bwMode="auto">
          <a:xfrm>
            <a:off x="1501775" y="5029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66" name="Oval 38"/>
          <p:cNvSpPr>
            <a:spLocks noChangeArrowheads="1"/>
          </p:cNvSpPr>
          <p:nvPr/>
        </p:nvSpPr>
        <p:spPr bwMode="auto">
          <a:xfrm>
            <a:off x="32385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67" name="Oval 39"/>
          <p:cNvSpPr>
            <a:spLocks noChangeArrowheads="1"/>
          </p:cNvSpPr>
          <p:nvPr/>
        </p:nvSpPr>
        <p:spPr bwMode="auto">
          <a:xfrm>
            <a:off x="68961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68" name="Oval 40"/>
          <p:cNvSpPr>
            <a:spLocks noChangeArrowheads="1"/>
          </p:cNvSpPr>
          <p:nvPr/>
        </p:nvSpPr>
        <p:spPr bwMode="auto">
          <a:xfrm>
            <a:off x="6743700" y="49022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8569" name="Line 41"/>
          <p:cNvSpPr>
            <a:spLocks noChangeShapeType="1"/>
          </p:cNvSpPr>
          <p:nvPr/>
        </p:nvSpPr>
        <p:spPr bwMode="auto">
          <a:xfrm>
            <a:off x="968375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6832" name="Object 1024"/>
          <p:cNvGraphicFramePr>
            <a:graphicFrameLocks noChangeAspect="1"/>
          </p:cNvGraphicFramePr>
          <p:nvPr/>
        </p:nvGraphicFramePr>
        <p:xfrm>
          <a:off x="1577975" y="5029200"/>
          <a:ext cx="381000" cy="520700"/>
        </p:xfrm>
        <a:graphic>
          <a:graphicData uri="http://schemas.openxmlformats.org/presentationml/2006/ole">
            <p:oleObj spid="_x0000_s376832" name="Equation" r:id="rId3" imgW="380880" imgH="520560" progId="Equation.3">
              <p:embed/>
            </p:oleObj>
          </a:graphicData>
        </a:graphic>
      </p:graphicFrame>
      <p:graphicFrame>
        <p:nvGraphicFramePr>
          <p:cNvPr id="376833" name="Object 1025"/>
          <p:cNvGraphicFramePr>
            <a:graphicFrameLocks noChangeAspect="1"/>
          </p:cNvGraphicFramePr>
          <p:nvPr/>
        </p:nvGraphicFramePr>
        <p:xfrm>
          <a:off x="3360738" y="5054600"/>
          <a:ext cx="442912" cy="520700"/>
        </p:xfrm>
        <a:graphic>
          <a:graphicData uri="http://schemas.openxmlformats.org/presentationml/2006/ole">
            <p:oleObj spid="_x0000_s376833" name="Equation" r:id="rId4" imgW="444240" imgH="520560" progId="Equation.3">
              <p:embed/>
            </p:oleObj>
          </a:graphicData>
        </a:graphic>
      </p:graphicFrame>
      <p:graphicFrame>
        <p:nvGraphicFramePr>
          <p:cNvPr id="376834" name="Object 1026"/>
          <p:cNvGraphicFramePr>
            <a:graphicFrameLocks noChangeAspect="1"/>
          </p:cNvGraphicFramePr>
          <p:nvPr/>
        </p:nvGraphicFramePr>
        <p:xfrm>
          <a:off x="5067300" y="5054600"/>
          <a:ext cx="430213" cy="531813"/>
        </p:xfrm>
        <a:graphic>
          <a:graphicData uri="http://schemas.openxmlformats.org/presentationml/2006/ole">
            <p:oleObj spid="_x0000_s376834" name="Equation" r:id="rId5" imgW="431640" imgH="533160" progId="Equation.3">
              <p:embed/>
            </p:oleObj>
          </a:graphicData>
        </a:graphic>
      </p:graphicFrame>
      <p:graphicFrame>
        <p:nvGraphicFramePr>
          <p:cNvPr id="376835" name="Object 1027"/>
          <p:cNvGraphicFramePr>
            <a:graphicFrameLocks noChangeAspect="1"/>
          </p:cNvGraphicFramePr>
          <p:nvPr/>
        </p:nvGraphicFramePr>
        <p:xfrm>
          <a:off x="2552700" y="4978400"/>
          <a:ext cx="265113" cy="279400"/>
        </p:xfrm>
        <a:graphic>
          <a:graphicData uri="http://schemas.openxmlformats.org/presentationml/2006/ole">
            <p:oleObj spid="_x0000_s376835" name="Equation" r:id="rId6" imgW="266400" imgH="279360" progId="Equation.3">
              <p:embed/>
            </p:oleObj>
          </a:graphicData>
        </a:graphic>
      </p:graphicFrame>
      <p:graphicFrame>
        <p:nvGraphicFramePr>
          <p:cNvPr id="376836" name="Object 1028"/>
          <p:cNvGraphicFramePr>
            <a:graphicFrameLocks noChangeAspect="1"/>
          </p:cNvGraphicFramePr>
          <p:nvPr/>
        </p:nvGraphicFramePr>
        <p:xfrm>
          <a:off x="1790700" y="3759200"/>
          <a:ext cx="252413" cy="392113"/>
        </p:xfrm>
        <a:graphic>
          <a:graphicData uri="http://schemas.openxmlformats.org/presentationml/2006/ole">
            <p:oleObj spid="_x0000_s376836" name="Equation" r:id="rId7" imgW="253800" imgH="393480" progId="Equation.3">
              <p:embed/>
            </p:oleObj>
          </a:graphicData>
        </a:graphic>
      </p:graphicFrame>
      <p:sp>
        <p:nvSpPr>
          <p:cNvPr id="278575" name="Line 47"/>
          <p:cNvSpPr>
            <a:spLocks noChangeShapeType="1"/>
          </p:cNvSpPr>
          <p:nvPr/>
        </p:nvSpPr>
        <p:spPr bwMode="auto">
          <a:xfrm>
            <a:off x="20955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6837" name="Object 1029"/>
          <p:cNvGraphicFramePr>
            <a:graphicFrameLocks noChangeAspect="1"/>
          </p:cNvGraphicFramePr>
          <p:nvPr/>
        </p:nvGraphicFramePr>
        <p:xfrm>
          <a:off x="6953250" y="5029200"/>
          <a:ext cx="481013" cy="571500"/>
        </p:xfrm>
        <a:graphic>
          <a:graphicData uri="http://schemas.openxmlformats.org/presentationml/2006/ole">
            <p:oleObj spid="_x0000_s376837" name="Equation" r:id="rId8" imgW="482400" imgH="571320" progId="Equation.3">
              <p:embed/>
            </p:oleObj>
          </a:graphicData>
        </a:graphic>
      </p:graphicFrame>
      <p:sp>
        <p:nvSpPr>
          <p:cNvPr id="278577" name="Oval 49"/>
          <p:cNvSpPr>
            <a:spLocks noChangeArrowheads="1"/>
          </p:cNvSpPr>
          <p:nvPr/>
        </p:nvSpPr>
        <p:spPr bwMode="auto">
          <a:xfrm>
            <a:off x="49911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78" name="Line 50"/>
          <p:cNvSpPr>
            <a:spLocks noChangeShapeType="1"/>
          </p:cNvSpPr>
          <p:nvPr/>
        </p:nvSpPr>
        <p:spPr bwMode="auto">
          <a:xfrm>
            <a:off x="38481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79" name="Line 51"/>
          <p:cNvSpPr>
            <a:spLocks noChangeShapeType="1"/>
          </p:cNvSpPr>
          <p:nvPr/>
        </p:nvSpPr>
        <p:spPr bwMode="auto">
          <a:xfrm>
            <a:off x="56007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80" name="Freeform 52"/>
          <p:cNvSpPr>
            <a:spLocks/>
          </p:cNvSpPr>
          <p:nvPr/>
        </p:nvSpPr>
        <p:spPr bwMode="auto">
          <a:xfrm>
            <a:off x="1460500" y="42037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81" name="Freeform 53"/>
          <p:cNvSpPr>
            <a:spLocks/>
          </p:cNvSpPr>
          <p:nvPr/>
        </p:nvSpPr>
        <p:spPr bwMode="auto">
          <a:xfrm>
            <a:off x="3162300" y="42164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82" name="Freeform 54"/>
          <p:cNvSpPr>
            <a:spLocks/>
          </p:cNvSpPr>
          <p:nvPr/>
        </p:nvSpPr>
        <p:spPr bwMode="auto">
          <a:xfrm>
            <a:off x="6781800" y="3962400"/>
            <a:ext cx="965200" cy="1016000"/>
          </a:xfrm>
          <a:custGeom>
            <a:avLst/>
            <a:gdLst/>
            <a:ahLst/>
            <a:cxnLst>
              <a:cxn ang="0">
                <a:pos x="408" y="640"/>
              </a:cxn>
              <a:cxn ang="0">
                <a:pos x="600" y="256"/>
              </a:cxn>
              <a:cxn ang="0">
                <a:pos x="360" y="16"/>
              </a:cxn>
              <a:cxn ang="0">
                <a:pos x="24" y="160"/>
              </a:cxn>
              <a:cxn ang="0">
                <a:pos x="216" y="592"/>
              </a:cxn>
            </a:cxnLst>
            <a:rect l="0" t="0" r="r" b="b"/>
            <a:pathLst>
              <a:path w="608" h="640">
                <a:moveTo>
                  <a:pt x="408" y="640"/>
                </a:moveTo>
                <a:cubicBezTo>
                  <a:pt x="508" y="500"/>
                  <a:pt x="608" y="360"/>
                  <a:pt x="600" y="256"/>
                </a:cubicBezTo>
                <a:cubicBezTo>
                  <a:pt x="592" y="152"/>
                  <a:pt x="456" y="32"/>
                  <a:pt x="360" y="16"/>
                </a:cubicBezTo>
                <a:cubicBezTo>
                  <a:pt x="264" y="0"/>
                  <a:pt x="48" y="64"/>
                  <a:pt x="24" y="160"/>
                </a:cubicBezTo>
                <a:cubicBezTo>
                  <a:pt x="0" y="256"/>
                  <a:pt x="108" y="424"/>
                  <a:pt x="216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83" name="Freeform 55"/>
          <p:cNvSpPr>
            <a:spLocks/>
          </p:cNvSpPr>
          <p:nvPr/>
        </p:nvSpPr>
        <p:spPr bwMode="auto">
          <a:xfrm>
            <a:off x="5372100" y="5664200"/>
            <a:ext cx="1600200" cy="381000"/>
          </a:xfrm>
          <a:custGeom>
            <a:avLst/>
            <a:gdLst/>
            <a:ahLst/>
            <a:cxnLst>
              <a:cxn ang="0">
                <a:pos x="1200" y="96"/>
              </a:cxn>
              <a:cxn ang="0">
                <a:pos x="624" y="288"/>
              </a:cxn>
              <a:cxn ang="0">
                <a:pos x="0" y="0"/>
              </a:cxn>
            </a:cxnLst>
            <a:rect l="0" t="0" r="r" b="b"/>
            <a:pathLst>
              <a:path w="1200" h="304">
                <a:moveTo>
                  <a:pt x="1200" y="96"/>
                </a:moveTo>
                <a:cubicBezTo>
                  <a:pt x="1012" y="200"/>
                  <a:pt x="824" y="304"/>
                  <a:pt x="624" y="288"/>
                </a:cubicBezTo>
                <a:cubicBezTo>
                  <a:pt x="424" y="272"/>
                  <a:pt x="212" y="13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8584" name="Freeform 56"/>
          <p:cNvSpPr>
            <a:spLocks/>
          </p:cNvSpPr>
          <p:nvPr/>
        </p:nvSpPr>
        <p:spPr bwMode="auto">
          <a:xfrm>
            <a:off x="3619500" y="5664200"/>
            <a:ext cx="1600200" cy="304800"/>
          </a:xfrm>
          <a:custGeom>
            <a:avLst/>
            <a:gdLst/>
            <a:ahLst/>
            <a:cxnLst>
              <a:cxn ang="0">
                <a:pos x="1008" y="0"/>
              </a:cxn>
              <a:cxn ang="0">
                <a:pos x="528" y="192"/>
              </a:cxn>
              <a:cxn ang="0">
                <a:pos x="0" y="0"/>
              </a:cxn>
            </a:cxnLst>
            <a:rect l="0" t="0" r="r" b="b"/>
            <a:pathLst>
              <a:path w="1008" h="192">
                <a:moveTo>
                  <a:pt x="1008" y="0"/>
                </a:moveTo>
                <a:cubicBezTo>
                  <a:pt x="852" y="96"/>
                  <a:pt x="696" y="192"/>
                  <a:pt x="528" y="192"/>
                </a:cubicBezTo>
                <a:cubicBezTo>
                  <a:pt x="360" y="192"/>
                  <a:pt x="180" y="9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6838" name="Object 1030"/>
          <p:cNvGraphicFramePr>
            <a:graphicFrameLocks noChangeAspect="1"/>
          </p:cNvGraphicFramePr>
          <p:nvPr/>
        </p:nvGraphicFramePr>
        <p:xfrm>
          <a:off x="3467100" y="3759200"/>
          <a:ext cx="252413" cy="392113"/>
        </p:xfrm>
        <a:graphic>
          <a:graphicData uri="http://schemas.openxmlformats.org/presentationml/2006/ole">
            <p:oleObj spid="_x0000_s376838" name="Equation" r:id="rId9" imgW="253800" imgH="393480" progId="Equation.3">
              <p:embed/>
            </p:oleObj>
          </a:graphicData>
        </a:graphic>
      </p:graphicFrame>
      <p:graphicFrame>
        <p:nvGraphicFramePr>
          <p:cNvPr id="376839" name="Object 1031"/>
          <p:cNvGraphicFramePr>
            <a:graphicFrameLocks noChangeAspect="1"/>
          </p:cNvGraphicFramePr>
          <p:nvPr/>
        </p:nvGraphicFramePr>
        <p:xfrm>
          <a:off x="5981700" y="4902200"/>
          <a:ext cx="252413" cy="392113"/>
        </p:xfrm>
        <a:graphic>
          <a:graphicData uri="http://schemas.openxmlformats.org/presentationml/2006/ole">
            <p:oleObj spid="_x0000_s376839" name="Equation" r:id="rId10" imgW="253800" imgH="393480" progId="Equation.3">
              <p:embed/>
            </p:oleObj>
          </a:graphicData>
        </a:graphic>
      </p:graphicFrame>
      <p:graphicFrame>
        <p:nvGraphicFramePr>
          <p:cNvPr id="376840" name="Object 1032"/>
          <p:cNvGraphicFramePr>
            <a:graphicFrameLocks noChangeAspect="1"/>
          </p:cNvGraphicFramePr>
          <p:nvPr/>
        </p:nvGraphicFramePr>
        <p:xfrm>
          <a:off x="7124700" y="3530600"/>
          <a:ext cx="252413" cy="392113"/>
        </p:xfrm>
        <a:graphic>
          <a:graphicData uri="http://schemas.openxmlformats.org/presentationml/2006/ole">
            <p:oleObj spid="_x0000_s376840" name="Equation" r:id="rId11" imgW="253800" imgH="393480" progId="Equation.3">
              <p:embed/>
            </p:oleObj>
          </a:graphicData>
        </a:graphic>
      </p:graphicFrame>
      <p:graphicFrame>
        <p:nvGraphicFramePr>
          <p:cNvPr id="376841" name="Object 1033"/>
          <p:cNvGraphicFramePr>
            <a:graphicFrameLocks noChangeAspect="1"/>
          </p:cNvGraphicFramePr>
          <p:nvPr/>
        </p:nvGraphicFramePr>
        <p:xfrm>
          <a:off x="4305300" y="6045200"/>
          <a:ext cx="265113" cy="279400"/>
        </p:xfrm>
        <a:graphic>
          <a:graphicData uri="http://schemas.openxmlformats.org/presentationml/2006/ole">
            <p:oleObj spid="_x0000_s376841" name="Equation" r:id="rId12" imgW="266400" imgH="279360" progId="Equation.3">
              <p:embed/>
            </p:oleObj>
          </a:graphicData>
        </a:graphic>
      </p:graphicFrame>
      <p:graphicFrame>
        <p:nvGraphicFramePr>
          <p:cNvPr id="376842" name="Object 1034"/>
          <p:cNvGraphicFramePr>
            <a:graphicFrameLocks noChangeAspect="1"/>
          </p:cNvGraphicFramePr>
          <p:nvPr/>
        </p:nvGraphicFramePr>
        <p:xfrm>
          <a:off x="6057900" y="6121400"/>
          <a:ext cx="265113" cy="279400"/>
        </p:xfrm>
        <a:graphic>
          <a:graphicData uri="http://schemas.openxmlformats.org/presentationml/2006/ole">
            <p:oleObj spid="_x0000_s376842" name="Equation" r:id="rId13" imgW="266400" imgH="279360" progId="Equation.3">
              <p:embed/>
            </p:oleObj>
          </a:graphicData>
        </a:graphic>
      </p:graphicFrame>
      <p:graphicFrame>
        <p:nvGraphicFramePr>
          <p:cNvPr id="376843" name="Object 1035"/>
          <p:cNvGraphicFramePr>
            <a:graphicFrameLocks noChangeAspect="1"/>
          </p:cNvGraphicFramePr>
          <p:nvPr/>
        </p:nvGraphicFramePr>
        <p:xfrm>
          <a:off x="4305300" y="4978400"/>
          <a:ext cx="265113" cy="279400"/>
        </p:xfrm>
        <a:graphic>
          <a:graphicData uri="http://schemas.openxmlformats.org/presentationml/2006/ole">
            <p:oleObj spid="_x0000_s376843" name="Equation" r:id="rId14" imgW="266400" imgH="279360" progId="Equation.3">
              <p:embed/>
            </p:oleObj>
          </a:graphicData>
        </a:graphic>
      </p:graphicFrame>
      <p:sp>
        <p:nvSpPr>
          <p:cNvPr id="278592" name="Text Box 64"/>
          <p:cNvSpPr txBox="1">
            <a:spLocks noChangeArrowheads="1"/>
          </p:cNvSpPr>
          <p:nvPr/>
        </p:nvSpPr>
        <p:spPr bwMode="auto">
          <a:xfrm>
            <a:off x="228600" y="228600"/>
            <a:ext cx="3870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walks of strings:</a:t>
            </a:r>
          </a:p>
        </p:txBody>
      </p:sp>
      <p:graphicFrame>
        <p:nvGraphicFramePr>
          <p:cNvPr id="376844" name="Object 1036"/>
          <p:cNvGraphicFramePr>
            <a:graphicFrameLocks noChangeAspect="1"/>
          </p:cNvGraphicFramePr>
          <p:nvPr/>
        </p:nvGraphicFramePr>
        <p:xfrm>
          <a:off x="4267200" y="381000"/>
          <a:ext cx="798513" cy="1828800"/>
        </p:xfrm>
        <a:graphic>
          <a:graphicData uri="http://schemas.openxmlformats.org/presentationml/2006/ole">
            <p:oleObj spid="_x0000_s376844" name="Equation" r:id="rId15" imgW="799920" imgH="1828800" progId="Equation.3">
              <p:embed/>
            </p:oleObj>
          </a:graphicData>
        </a:graphic>
      </p:graphicFrame>
      <p:sp>
        <p:nvSpPr>
          <p:cNvPr id="278595" name="Text Box 67"/>
          <p:cNvSpPr txBox="1">
            <a:spLocks noChangeArrowheads="1"/>
          </p:cNvSpPr>
          <p:nvPr/>
        </p:nvSpPr>
        <p:spPr bwMode="auto">
          <a:xfrm>
            <a:off x="5943600" y="228600"/>
            <a:ext cx="23368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 state</a:t>
            </a:r>
          </a:p>
          <a:p>
            <a:r>
              <a:rPr lang="en-US">
                <a:solidFill>
                  <a:srgbClr val="FF3300"/>
                </a:solidFill>
              </a:rPr>
              <a:t>is repeated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DCF13-5225-471D-80BF-5E4CB0E79CB6}" type="slidenum">
              <a:rPr lang="en-US"/>
              <a:pPr/>
              <a:t>24</a:t>
            </a:fld>
            <a:endParaRPr lang="en-US"/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79587" name="Text Box 35"/>
          <p:cNvSpPr txBox="1">
            <a:spLocks noChangeArrowheads="1"/>
          </p:cNvSpPr>
          <p:nvPr/>
        </p:nvSpPr>
        <p:spPr bwMode="auto">
          <a:xfrm>
            <a:off x="76200" y="304800"/>
            <a:ext cx="3870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walks of strings:</a:t>
            </a:r>
          </a:p>
        </p:txBody>
      </p:sp>
      <p:sp>
        <p:nvSpPr>
          <p:cNvPr id="279588" name="Oval 36"/>
          <p:cNvSpPr>
            <a:spLocks noChangeArrowheads="1"/>
          </p:cNvSpPr>
          <p:nvPr/>
        </p:nvSpPr>
        <p:spPr bwMode="auto">
          <a:xfrm>
            <a:off x="1501775" y="5029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589" name="Oval 37"/>
          <p:cNvSpPr>
            <a:spLocks noChangeArrowheads="1"/>
          </p:cNvSpPr>
          <p:nvPr/>
        </p:nvSpPr>
        <p:spPr bwMode="auto">
          <a:xfrm>
            <a:off x="32385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590" name="Oval 38"/>
          <p:cNvSpPr>
            <a:spLocks noChangeArrowheads="1"/>
          </p:cNvSpPr>
          <p:nvPr/>
        </p:nvSpPr>
        <p:spPr bwMode="auto">
          <a:xfrm>
            <a:off x="68961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591" name="Oval 39"/>
          <p:cNvSpPr>
            <a:spLocks noChangeArrowheads="1"/>
          </p:cNvSpPr>
          <p:nvPr/>
        </p:nvSpPr>
        <p:spPr bwMode="auto">
          <a:xfrm>
            <a:off x="6743700" y="49022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9592" name="Line 40"/>
          <p:cNvSpPr>
            <a:spLocks noChangeShapeType="1"/>
          </p:cNvSpPr>
          <p:nvPr/>
        </p:nvSpPr>
        <p:spPr bwMode="auto">
          <a:xfrm>
            <a:off x="968375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7856" name="Object 0"/>
          <p:cNvGraphicFramePr>
            <a:graphicFrameLocks noChangeAspect="1"/>
          </p:cNvGraphicFramePr>
          <p:nvPr/>
        </p:nvGraphicFramePr>
        <p:xfrm>
          <a:off x="1577975" y="5029200"/>
          <a:ext cx="381000" cy="520700"/>
        </p:xfrm>
        <a:graphic>
          <a:graphicData uri="http://schemas.openxmlformats.org/presentationml/2006/ole">
            <p:oleObj spid="_x0000_s377856" name="Equation" r:id="rId3" imgW="380880" imgH="520560" progId="Equation.3">
              <p:embed/>
            </p:oleObj>
          </a:graphicData>
        </a:graphic>
      </p:graphicFrame>
      <p:graphicFrame>
        <p:nvGraphicFramePr>
          <p:cNvPr id="377857" name="Object 1"/>
          <p:cNvGraphicFramePr>
            <a:graphicFrameLocks noChangeAspect="1"/>
          </p:cNvGraphicFramePr>
          <p:nvPr/>
        </p:nvGraphicFramePr>
        <p:xfrm>
          <a:off x="3360738" y="5054600"/>
          <a:ext cx="442912" cy="520700"/>
        </p:xfrm>
        <a:graphic>
          <a:graphicData uri="http://schemas.openxmlformats.org/presentationml/2006/ole">
            <p:oleObj spid="_x0000_s377857" name="Equation" r:id="rId4" imgW="444240" imgH="520560" progId="Equation.3">
              <p:embed/>
            </p:oleObj>
          </a:graphicData>
        </a:graphic>
      </p:graphicFrame>
      <p:graphicFrame>
        <p:nvGraphicFramePr>
          <p:cNvPr id="377858" name="Object 2"/>
          <p:cNvGraphicFramePr>
            <a:graphicFrameLocks noChangeAspect="1"/>
          </p:cNvGraphicFramePr>
          <p:nvPr/>
        </p:nvGraphicFramePr>
        <p:xfrm>
          <a:off x="5067300" y="5054600"/>
          <a:ext cx="430213" cy="531813"/>
        </p:xfrm>
        <a:graphic>
          <a:graphicData uri="http://schemas.openxmlformats.org/presentationml/2006/ole">
            <p:oleObj spid="_x0000_s377858" name="Equation" r:id="rId5" imgW="431640" imgH="533160" progId="Equation.3">
              <p:embed/>
            </p:oleObj>
          </a:graphicData>
        </a:graphic>
      </p:graphicFrame>
      <p:graphicFrame>
        <p:nvGraphicFramePr>
          <p:cNvPr id="377859" name="Object 3"/>
          <p:cNvGraphicFramePr>
            <a:graphicFrameLocks noChangeAspect="1"/>
          </p:cNvGraphicFramePr>
          <p:nvPr/>
        </p:nvGraphicFramePr>
        <p:xfrm>
          <a:off x="2552700" y="4978400"/>
          <a:ext cx="265113" cy="279400"/>
        </p:xfrm>
        <a:graphic>
          <a:graphicData uri="http://schemas.openxmlformats.org/presentationml/2006/ole">
            <p:oleObj spid="_x0000_s377859" name="Equation" r:id="rId6" imgW="266400" imgH="279360" progId="Equation.3">
              <p:embed/>
            </p:oleObj>
          </a:graphicData>
        </a:graphic>
      </p:graphicFrame>
      <p:graphicFrame>
        <p:nvGraphicFramePr>
          <p:cNvPr id="377860" name="Object 4"/>
          <p:cNvGraphicFramePr>
            <a:graphicFrameLocks noChangeAspect="1"/>
          </p:cNvGraphicFramePr>
          <p:nvPr/>
        </p:nvGraphicFramePr>
        <p:xfrm>
          <a:off x="1790700" y="3759200"/>
          <a:ext cx="252413" cy="392113"/>
        </p:xfrm>
        <a:graphic>
          <a:graphicData uri="http://schemas.openxmlformats.org/presentationml/2006/ole">
            <p:oleObj spid="_x0000_s377860" name="Equation" r:id="rId7" imgW="253800" imgH="393480" progId="Equation.3">
              <p:embed/>
            </p:oleObj>
          </a:graphicData>
        </a:graphic>
      </p:graphicFrame>
      <p:sp>
        <p:nvSpPr>
          <p:cNvPr id="279598" name="Line 46"/>
          <p:cNvSpPr>
            <a:spLocks noChangeShapeType="1"/>
          </p:cNvSpPr>
          <p:nvPr/>
        </p:nvSpPr>
        <p:spPr bwMode="auto">
          <a:xfrm>
            <a:off x="20955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7861" name="Object 5"/>
          <p:cNvGraphicFramePr>
            <a:graphicFrameLocks noChangeAspect="1"/>
          </p:cNvGraphicFramePr>
          <p:nvPr/>
        </p:nvGraphicFramePr>
        <p:xfrm>
          <a:off x="6953250" y="5029200"/>
          <a:ext cx="481013" cy="571500"/>
        </p:xfrm>
        <a:graphic>
          <a:graphicData uri="http://schemas.openxmlformats.org/presentationml/2006/ole">
            <p:oleObj spid="_x0000_s377861" name="Equation" r:id="rId8" imgW="482400" imgH="571320" progId="Equation.3">
              <p:embed/>
            </p:oleObj>
          </a:graphicData>
        </a:graphic>
      </p:graphicFrame>
      <p:sp>
        <p:nvSpPr>
          <p:cNvPr id="279600" name="Oval 48"/>
          <p:cNvSpPr>
            <a:spLocks noChangeArrowheads="1"/>
          </p:cNvSpPr>
          <p:nvPr/>
        </p:nvSpPr>
        <p:spPr bwMode="auto">
          <a:xfrm>
            <a:off x="49911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601" name="Line 49"/>
          <p:cNvSpPr>
            <a:spLocks noChangeShapeType="1"/>
          </p:cNvSpPr>
          <p:nvPr/>
        </p:nvSpPr>
        <p:spPr bwMode="auto">
          <a:xfrm>
            <a:off x="38481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602" name="Line 50"/>
          <p:cNvSpPr>
            <a:spLocks noChangeShapeType="1"/>
          </p:cNvSpPr>
          <p:nvPr/>
        </p:nvSpPr>
        <p:spPr bwMode="auto">
          <a:xfrm>
            <a:off x="56007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603" name="Freeform 51"/>
          <p:cNvSpPr>
            <a:spLocks/>
          </p:cNvSpPr>
          <p:nvPr/>
        </p:nvSpPr>
        <p:spPr bwMode="auto">
          <a:xfrm>
            <a:off x="1460500" y="42037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604" name="Freeform 52"/>
          <p:cNvSpPr>
            <a:spLocks/>
          </p:cNvSpPr>
          <p:nvPr/>
        </p:nvSpPr>
        <p:spPr bwMode="auto">
          <a:xfrm>
            <a:off x="3162300" y="42164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605" name="Freeform 53"/>
          <p:cNvSpPr>
            <a:spLocks/>
          </p:cNvSpPr>
          <p:nvPr/>
        </p:nvSpPr>
        <p:spPr bwMode="auto">
          <a:xfrm>
            <a:off x="6781800" y="3962400"/>
            <a:ext cx="965200" cy="1016000"/>
          </a:xfrm>
          <a:custGeom>
            <a:avLst/>
            <a:gdLst/>
            <a:ahLst/>
            <a:cxnLst>
              <a:cxn ang="0">
                <a:pos x="408" y="640"/>
              </a:cxn>
              <a:cxn ang="0">
                <a:pos x="600" y="256"/>
              </a:cxn>
              <a:cxn ang="0">
                <a:pos x="360" y="16"/>
              </a:cxn>
              <a:cxn ang="0">
                <a:pos x="24" y="160"/>
              </a:cxn>
              <a:cxn ang="0">
                <a:pos x="216" y="592"/>
              </a:cxn>
            </a:cxnLst>
            <a:rect l="0" t="0" r="r" b="b"/>
            <a:pathLst>
              <a:path w="608" h="640">
                <a:moveTo>
                  <a:pt x="408" y="640"/>
                </a:moveTo>
                <a:cubicBezTo>
                  <a:pt x="508" y="500"/>
                  <a:pt x="608" y="360"/>
                  <a:pt x="600" y="256"/>
                </a:cubicBezTo>
                <a:cubicBezTo>
                  <a:pt x="592" y="152"/>
                  <a:pt x="456" y="32"/>
                  <a:pt x="360" y="16"/>
                </a:cubicBezTo>
                <a:cubicBezTo>
                  <a:pt x="264" y="0"/>
                  <a:pt x="48" y="64"/>
                  <a:pt x="24" y="160"/>
                </a:cubicBezTo>
                <a:cubicBezTo>
                  <a:pt x="0" y="256"/>
                  <a:pt x="108" y="424"/>
                  <a:pt x="216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606" name="Freeform 54"/>
          <p:cNvSpPr>
            <a:spLocks/>
          </p:cNvSpPr>
          <p:nvPr/>
        </p:nvSpPr>
        <p:spPr bwMode="auto">
          <a:xfrm>
            <a:off x="5372100" y="5664200"/>
            <a:ext cx="1600200" cy="381000"/>
          </a:xfrm>
          <a:custGeom>
            <a:avLst/>
            <a:gdLst/>
            <a:ahLst/>
            <a:cxnLst>
              <a:cxn ang="0">
                <a:pos x="1200" y="96"/>
              </a:cxn>
              <a:cxn ang="0">
                <a:pos x="624" y="288"/>
              </a:cxn>
              <a:cxn ang="0">
                <a:pos x="0" y="0"/>
              </a:cxn>
            </a:cxnLst>
            <a:rect l="0" t="0" r="r" b="b"/>
            <a:pathLst>
              <a:path w="1200" h="304">
                <a:moveTo>
                  <a:pt x="1200" y="96"/>
                </a:moveTo>
                <a:cubicBezTo>
                  <a:pt x="1012" y="200"/>
                  <a:pt x="824" y="304"/>
                  <a:pt x="624" y="288"/>
                </a:cubicBezTo>
                <a:cubicBezTo>
                  <a:pt x="424" y="272"/>
                  <a:pt x="212" y="13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9607" name="Freeform 55"/>
          <p:cNvSpPr>
            <a:spLocks/>
          </p:cNvSpPr>
          <p:nvPr/>
        </p:nvSpPr>
        <p:spPr bwMode="auto">
          <a:xfrm>
            <a:off x="3619500" y="5664200"/>
            <a:ext cx="1600200" cy="304800"/>
          </a:xfrm>
          <a:custGeom>
            <a:avLst/>
            <a:gdLst/>
            <a:ahLst/>
            <a:cxnLst>
              <a:cxn ang="0">
                <a:pos x="1008" y="0"/>
              </a:cxn>
              <a:cxn ang="0">
                <a:pos x="528" y="192"/>
              </a:cxn>
              <a:cxn ang="0">
                <a:pos x="0" y="0"/>
              </a:cxn>
            </a:cxnLst>
            <a:rect l="0" t="0" r="r" b="b"/>
            <a:pathLst>
              <a:path w="1008" h="192">
                <a:moveTo>
                  <a:pt x="1008" y="0"/>
                </a:moveTo>
                <a:cubicBezTo>
                  <a:pt x="852" y="96"/>
                  <a:pt x="696" y="192"/>
                  <a:pt x="528" y="192"/>
                </a:cubicBezTo>
                <a:cubicBezTo>
                  <a:pt x="360" y="192"/>
                  <a:pt x="180" y="9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7862" name="Object 6"/>
          <p:cNvGraphicFramePr>
            <a:graphicFrameLocks noChangeAspect="1"/>
          </p:cNvGraphicFramePr>
          <p:nvPr/>
        </p:nvGraphicFramePr>
        <p:xfrm>
          <a:off x="3467100" y="3759200"/>
          <a:ext cx="252413" cy="392113"/>
        </p:xfrm>
        <a:graphic>
          <a:graphicData uri="http://schemas.openxmlformats.org/presentationml/2006/ole">
            <p:oleObj spid="_x0000_s377862" name="Equation" r:id="rId9" imgW="253800" imgH="393480" progId="Equation.3">
              <p:embed/>
            </p:oleObj>
          </a:graphicData>
        </a:graphic>
      </p:graphicFrame>
      <p:graphicFrame>
        <p:nvGraphicFramePr>
          <p:cNvPr id="377863" name="Object 7"/>
          <p:cNvGraphicFramePr>
            <a:graphicFrameLocks noChangeAspect="1"/>
          </p:cNvGraphicFramePr>
          <p:nvPr/>
        </p:nvGraphicFramePr>
        <p:xfrm>
          <a:off x="5981700" y="4902200"/>
          <a:ext cx="252413" cy="392113"/>
        </p:xfrm>
        <a:graphic>
          <a:graphicData uri="http://schemas.openxmlformats.org/presentationml/2006/ole">
            <p:oleObj spid="_x0000_s377863" name="Equation" r:id="rId10" imgW="253800" imgH="393480" progId="Equation.3">
              <p:embed/>
            </p:oleObj>
          </a:graphicData>
        </a:graphic>
      </p:graphicFrame>
      <p:graphicFrame>
        <p:nvGraphicFramePr>
          <p:cNvPr id="377864" name="Object 8"/>
          <p:cNvGraphicFramePr>
            <a:graphicFrameLocks noChangeAspect="1"/>
          </p:cNvGraphicFramePr>
          <p:nvPr/>
        </p:nvGraphicFramePr>
        <p:xfrm>
          <a:off x="7124700" y="3530600"/>
          <a:ext cx="252413" cy="392113"/>
        </p:xfrm>
        <a:graphic>
          <a:graphicData uri="http://schemas.openxmlformats.org/presentationml/2006/ole">
            <p:oleObj spid="_x0000_s377864" name="Equation" r:id="rId11" imgW="253800" imgH="393480" progId="Equation.3">
              <p:embed/>
            </p:oleObj>
          </a:graphicData>
        </a:graphic>
      </p:graphicFrame>
      <p:graphicFrame>
        <p:nvGraphicFramePr>
          <p:cNvPr id="377865" name="Object 9"/>
          <p:cNvGraphicFramePr>
            <a:graphicFrameLocks noChangeAspect="1"/>
          </p:cNvGraphicFramePr>
          <p:nvPr/>
        </p:nvGraphicFramePr>
        <p:xfrm>
          <a:off x="4305300" y="6045200"/>
          <a:ext cx="265113" cy="279400"/>
        </p:xfrm>
        <a:graphic>
          <a:graphicData uri="http://schemas.openxmlformats.org/presentationml/2006/ole">
            <p:oleObj spid="_x0000_s377865" name="Equation" r:id="rId12" imgW="266400" imgH="279360" progId="Equation.3">
              <p:embed/>
            </p:oleObj>
          </a:graphicData>
        </a:graphic>
      </p:graphicFrame>
      <p:graphicFrame>
        <p:nvGraphicFramePr>
          <p:cNvPr id="377866" name="Object 10"/>
          <p:cNvGraphicFramePr>
            <a:graphicFrameLocks noChangeAspect="1"/>
          </p:cNvGraphicFramePr>
          <p:nvPr/>
        </p:nvGraphicFramePr>
        <p:xfrm>
          <a:off x="6057900" y="6121400"/>
          <a:ext cx="265113" cy="279400"/>
        </p:xfrm>
        <a:graphic>
          <a:graphicData uri="http://schemas.openxmlformats.org/presentationml/2006/ole">
            <p:oleObj spid="_x0000_s377866" name="Equation" r:id="rId13" imgW="266400" imgH="279360" progId="Equation.3">
              <p:embed/>
            </p:oleObj>
          </a:graphicData>
        </a:graphic>
      </p:graphicFrame>
      <p:graphicFrame>
        <p:nvGraphicFramePr>
          <p:cNvPr id="377867" name="Object 11"/>
          <p:cNvGraphicFramePr>
            <a:graphicFrameLocks noChangeAspect="1"/>
          </p:cNvGraphicFramePr>
          <p:nvPr/>
        </p:nvGraphicFramePr>
        <p:xfrm>
          <a:off x="4305300" y="4978400"/>
          <a:ext cx="265113" cy="279400"/>
        </p:xfrm>
        <a:graphic>
          <a:graphicData uri="http://schemas.openxmlformats.org/presentationml/2006/ole">
            <p:oleObj spid="_x0000_s377867" name="Equation" r:id="rId14" imgW="266400" imgH="279360" progId="Equation.3">
              <p:embed/>
            </p:oleObj>
          </a:graphicData>
        </a:graphic>
      </p:graphicFrame>
      <p:graphicFrame>
        <p:nvGraphicFramePr>
          <p:cNvPr id="377868" name="Object 12"/>
          <p:cNvGraphicFramePr>
            <a:graphicFrameLocks noChangeAspect="1"/>
          </p:cNvGraphicFramePr>
          <p:nvPr/>
        </p:nvGraphicFramePr>
        <p:xfrm>
          <a:off x="4038600" y="381000"/>
          <a:ext cx="2908300" cy="2717800"/>
        </p:xfrm>
        <a:graphic>
          <a:graphicData uri="http://schemas.openxmlformats.org/presentationml/2006/ole">
            <p:oleObj spid="_x0000_s377868" name="Equation" r:id="rId15" imgW="2908080" imgH="2717640" progId="Equation.3">
              <p:embed/>
            </p:oleObj>
          </a:graphicData>
        </a:graphic>
      </p:graphicFrame>
      <p:sp>
        <p:nvSpPr>
          <p:cNvPr id="279615" name="Text Box 63"/>
          <p:cNvSpPr txBox="1">
            <a:spLocks noChangeArrowheads="1"/>
          </p:cNvSpPr>
          <p:nvPr/>
        </p:nvSpPr>
        <p:spPr bwMode="auto">
          <a:xfrm>
            <a:off x="6400800" y="304800"/>
            <a:ext cx="23368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a state</a:t>
            </a:r>
          </a:p>
          <a:p>
            <a:r>
              <a:rPr lang="en-US">
                <a:solidFill>
                  <a:srgbClr val="FF3300"/>
                </a:solidFill>
              </a:rPr>
              <a:t>is repeated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2BA-EAF4-4C5A-A5C6-FDCDCA2731A4}" type="slidenum">
              <a:rPr lang="en-US"/>
              <a:pPr/>
              <a:t>25</a:t>
            </a:fld>
            <a:endParaRPr lang="en-US"/>
          </a:p>
        </p:txBody>
      </p:sp>
      <p:sp>
        <p:nvSpPr>
          <p:cNvPr id="280578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76200" y="304800"/>
            <a:ext cx="6627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string       has length               :</a:t>
            </a:r>
          </a:p>
        </p:txBody>
      </p:sp>
      <p:sp>
        <p:nvSpPr>
          <p:cNvPr id="280580" name="Oval 4"/>
          <p:cNvSpPr>
            <a:spLocks noChangeArrowheads="1"/>
          </p:cNvSpPr>
          <p:nvPr/>
        </p:nvSpPr>
        <p:spPr bwMode="auto">
          <a:xfrm>
            <a:off x="1501775" y="5029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81" name="Oval 5"/>
          <p:cNvSpPr>
            <a:spLocks noChangeArrowheads="1"/>
          </p:cNvSpPr>
          <p:nvPr/>
        </p:nvSpPr>
        <p:spPr bwMode="auto">
          <a:xfrm>
            <a:off x="32385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82" name="Oval 6"/>
          <p:cNvSpPr>
            <a:spLocks noChangeArrowheads="1"/>
          </p:cNvSpPr>
          <p:nvPr/>
        </p:nvSpPr>
        <p:spPr bwMode="auto">
          <a:xfrm>
            <a:off x="68961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83" name="Oval 7"/>
          <p:cNvSpPr>
            <a:spLocks noChangeArrowheads="1"/>
          </p:cNvSpPr>
          <p:nvPr/>
        </p:nvSpPr>
        <p:spPr bwMode="auto">
          <a:xfrm>
            <a:off x="6743700" y="49022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584" name="Line 8"/>
          <p:cNvSpPr>
            <a:spLocks noChangeShapeType="1"/>
          </p:cNvSpPr>
          <p:nvPr/>
        </p:nvSpPr>
        <p:spPr bwMode="auto">
          <a:xfrm>
            <a:off x="968375" y="533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8880" name="Object 0"/>
          <p:cNvGraphicFramePr>
            <a:graphicFrameLocks noChangeAspect="1"/>
          </p:cNvGraphicFramePr>
          <p:nvPr/>
        </p:nvGraphicFramePr>
        <p:xfrm>
          <a:off x="1577975" y="5029200"/>
          <a:ext cx="381000" cy="520700"/>
        </p:xfrm>
        <a:graphic>
          <a:graphicData uri="http://schemas.openxmlformats.org/presentationml/2006/ole">
            <p:oleObj spid="_x0000_s378880" name="Equation" r:id="rId3" imgW="380880" imgH="520560" progId="Equation.3">
              <p:embed/>
            </p:oleObj>
          </a:graphicData>
        </a:graphic>
      </p:graphicFrame>
      <p:graphicFrame>
        <p:nvGraphicFramePr>
          <p:cNvPr id="378881" name="Object 1"/>
          <p:cNvGraphicFramePr>
            <a:graphicFrameLocks noChangeAspect="1"/>
          </p:cNvGraphicFramePr>
          <p:nvPr/>
        </p:nvGraphicFramePr>
        <p:xfrm>
          <a:off x="3360738" y="5054600"/>
          <a:ext cx="442912" cy="520700"/>
        </p:xfrm>
        <a:graphic>
          <a:graphicData uri="http://schemas.openxmlformats.org/presentationml/2006/ole">
            <p:oleObj spid="_x0000_s378881" name="Equation" r:id="rId4" imgW="444240" imgH="520560" progId="Equation.3">
              <p:embed/>
            </p:oleObj>
          </a:graphicData>
        </a:graphic>
      </p:graphicFrame>
      <p:graphicFrame>
        <p:nvGraphicFramePr>
          <p:cNvPr id="378882" name="Object 2"/>
          <p:cNvGraphicFramePr>
            <a:graphicFrameLocks noChangeAspect="1"/>
          </p:cNvGraphicFramePr>
          <p:nvPr/>
        </p:nvGraphicFramePr>
        <p:xfrm>
          <a:off x="5067300" y="5054600"/>
          <a:ext cx="430213" cy="531813"/>
        </p:xfrm>
        <a:graphic>
          <a:graphicData uri="http://schemas.openxmlformats.org/presentationml/2006/ole">
            <p:oleObj spid="_x0000_s378882" name="Equation" r:id="rId5" imgW="431640" imgH="533160" progId="Equation.3">
              <p:embed/>
            </p:oleObj>
          </a:graphicData>
        </a:graphic>
      </p:graphicFrame>
      <p:graphicFrame>
        <p:nvGraphicFramePr>
          <p:cNvPr id="378883" name="Object 3"/>
          <p:cNvGraphicFramePr>
            <a:graphicFrameLocks noChangeAspect="1"/>
          </p:cNvGraphicFramePr>
          <p:nvPr/>
        </p:nvGraphicFramePr>
        <p:xfrm>
          <a:off x="2552700" y="4978400"/>
          <a:ext cx="265113" cy="279400"/>
        </p:xfrm>
        <a:graphic>
          <a:graphicData uri="http://schemas.openxmlformats.org/presentationml/2006/ole">
            <p:oleObj spid="_x0000_s378883" name="Equation" r:id="rId6" imgW="266400" imgH="279360" progId="Equation.3">
              <p:embed/>
            </p:oleObj>
          </a:graphicData>
        </a:graphic>
      </p:graphicFrame>
      <p:graphicFrame>
        <p:nvGraphicFramePr>
          <p:cNvPr id="378884" name="Object 4"/>
          <p:cNvGraphicFramePr>
            <a:graphicFrameLocks noChangeAspect="1"/>
          </p:cNvGraphicFramePr>
          <p:nvPr/>
        </p:nvGraphicFramePr>
        <p:xfrm>
          <a:off x="1790700" y="3759200"/>
          <a:ext cx="252413" cy="392113"/>
        </p:xfrm>
        <a:graphic>
          <a:graphicData uri="http://schemas.openxmlformats.org/presentationml/2006/ole">
            <p:oleObj spid="_x0000_s378884" name="Equation" r:id="rId7" imgW="253800" imgH="393480" progId="Equation.3">
              <p:embed/>
            </p:oleObj>
          </a:graphicData>
        </a:graphic>
      </p:graphicFrame>
      <p:sp>
        <p:nvSpPr>
          <p:cNvPr id="280590" name="Line 14"/>
          <p:cNvSpPr>
            <a:spLocks noChangeShapeType="1"/>
          </p:cNvSpPr>
          <p:nvPr/>
        </p:nvSpPr>
        <p:spPr bwMode="auto">
          <a:xfrm>
            <a:off x="20955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8885" name="Object 5"/>
          <p:cNvGraphicFramePr>
            <a:graphicFrameLocks noChangeAspect="1"/>
          </p:cNvGraphicFramePr>
          <p:nvPr/>
        </p:nvGraphicFramePr>
        <p:xfrm>
          <a:off x="6953250" y="5029200"/>
          <a:ext cx="481013" cy="571500"/>
        </p:xfrm>
        <a:graphic>
          <a:graphicData uri="http://schemas.openxmlformats.org/presentationml/2006/ole">
            <p:oleObj spid="_x0000_s378885" name="Equation" r:id="rId8" imgW="482400" imgH="571320" progId="Equation.3">
              <p:embed/>
            </p:oleObj>
          </a:graphicData>
        </a:graphic>
      </p:graphicFrame>
      <p:sp>
        <p:nvSpPr>
          <p:cNvPr id="280592" name="Oval 16"/>
          <p:cNvSpPr>
            <a:spLocks noChangeArrowheads="1"/>
          </p:cNvSpPr>
          <p:nvPr/>
        </p:nvSpPr>
        <p:spPr bwMode="auto">
          <a:xfrm>
            <a:off x="4991100" y="5054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3" name="Line 17"/>
          <p:cNvSpPr>
            <a:spLocks noChangeShapeType="1"/>
          </p:cNvSpPr>
          <p:nvPr/>
        </p:nvSpPr>
        <p:spPr bwMode="auto">
          <a:xfrm>
            <a:off x="38481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4" name="Line 18"/>
          <p:cNvSpPr>
            <a:spLocks noChangeShapeType="1"/>
          </p:cNvSpPr>
          <p:nvPr/>
        </p:nvSpPr>
        <p:spPr bwMode="auto">
          <a:xfrm>
            <a:off x="5600700" y="5359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5" name="Freeform 19"/>
          <p:cNvSpPr>
            <a:spLocks/>
          </p:cNvSpPr>
          <p:nvPr/>
        </p:nvSpPr>
        <p:spPr bwMode="auto">
          <a:xfrm>
            <a:off x="1460500" y="42037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6" name="Freeform 20"/>
          <p:cNvSpPr>
            <a:spLocks/>
          </p:cNvSpPr>
          <p:nvPr/>
        </p:nvSpPr>
        <p:spPr bwMode="auto">
          <a:xfrm>
            <a:off x="3162300" y="4216400"/>
            <a:ext cx="800100" cy="850900"/>
          </a:xfrm>
          <a:custGeom>
            <a:avLst/>
            <a:gdLst/>
            <a:ahLst/>
            <a:cxnLst>
              <a:cxn ang="0">
                <a:pos x="304" y="536"/>
              </a:cxn>
              <a:cxn ang="0">
                <a:pos x="496" y="200"/>
              </a:cxn>
              <a:cxn ang="0">
                <a:pos x="256" y="8"/>
              </a:cxn>
              <a:cxn ang="0">
                <a:pos x="16" y="152"/>
              </a:cxn>
              <a:cxn ang="0">
                <a:pos x="160" y="536"/>
              </a:cxn>
            </a:cxnLst>
            <a:rect l="0" t="0" r="r" b="b"/>
            <a:pathLst>
              <a:path w="504" h="536">
                <a:moveTo>
                  <a:pt x="304" y="536"/>
                </a:moveTo>
                <a:cubicBezTo>
                  <a:pt x="404" y="412"/>
                  <a:pt x="504" y="288"/>
                  <a:pt x="496" y="200"/>
                </a:cubicBezTo>
                <a:cubicBezTo>
                  <a:pt x="488" y="112"/>
                  <a:pt x="336" y="16"/>
                  <a:pt x="256" y="8"/>
                </a:cubicBezTo>
                <a:cubicBezTo>
                  <a:pt x="176" y="0"/>
                  <a:pt x="32" y="64"/>
                  <a:pt x="16" y="152"/>
                </a:cubicBezTo>
                <a:cubicBezTo>
                  <a:pt x="0" y="240"/>
                  <a:pt x="80" y="388"/>
                  <a:pt x="160" y="53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7" name="Freeform 21"/>
          <p:cNvSpPr>
            <a:spLocks/>
          </p:cNvSpPr>
          <p:nvPr/>
        </p:nvSpPr>
        <p:spPr bwMode="auto">
          <a:xfrm>
            <a:off x="6781800" y="3962400"/>
            <a:ext cx="965200" cy="1016000"/>
          </a:xfrm>
          <a:custGeom>
            <a:avLst/>
            <a:gdLst/>
            <a:ahLst/>
            <a:cxnLst>
              <a:cxn ang="0">
                <a:pos x="408" y="640"/>
              </a:cxn>
              <a:cxn ang="0">
                <a:pos x="600" y="256"/>
              </a:cxn>
              <a:cxn ang="0">
                <a:pos x="360" y="16"/>
              </a:cxn>
              <a:cxn ang="0">
                <a:pos x="24" y="160"/>
              </a:cxn>
              <a:cxn ang="0">
                <a:pos x="216" y="592"/>
              </a:cxn>
            </a:cxnLst>
            <a:rect l="0" t="0" r="r" b="b"/>
            <a:pathLst>
              <a:path w="608" h="640">
                <a:moveTo>
                  <a:pt x="408" y="640"/>
                </a:moveTo>
                <a:cubicBezTo>
                  <a:pt x="508" y="500"/>
                  <a:pt x="608" y="360"/>
                  <a:pt x="600" y="256"/>
                </a:cubicBezTo>
                <a:cubicBezTo>
                  <a:pt x="592" y="152"/>
                  <a:pt x="456" y="32"/>
                  <a:pt x="360" y="16"/>
                </a:cubicBezTo>
                <a:cubicBezTo>
                  <a:pt x="264" y="0"/>
                  <a:pt x="48" y="64"/>
                  <a:pt x="24" y="160"/>
                </a:cubicBezTo>
                <a:cubicBezTo>
                  <a:pt x="0" y="256"/>
                  <a:pt x="108" y="424"/>
                  <a:pt x="216" y="5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8" name="Freeform 22"/>
          <p:cNvSpPr>
            <a:spLocks/>
          </p:cNvSpPr>
          <p:nvPr/>
        </p:nvSpPr>
        <p:spPr bwMode="auto">
          <a:xfrm>
            <a:off x="5372100" y="5664200"/>
            <a:ext cx="1600200" cy="381000"/>
          </a:xfrm>
          <a:custGeom>
            <a:avLst/>
            <a:gdLst/>
            <a:ahLst/>
            <a:cxnLst>
              <a:cxn ang="0">
                <a:pos x="1200" y="96"/>
              </a:cxn>
              <a:cxn ang="0">
                <a:pos x="624" y="288"/>
              </a:cxn>
              <a:cxn ang="0">
                <a:pos x="0" y="0"/>
              </a:cxn>
            </a:cxnLst>
            <a:rect l="0" t="0" r="r" b="b"/>
            <a:pathLst>
              <a:path w="1200" h="304">
                <a:moveTo>
                  <a:pt x="1200" y="96"/>
                </a:moveTo>
                <a:cubicBezTo>
                  <a:pt x="1012" y="200"/>
                  <a:pt x="824" y="304"/>
                  <a:pt x="624" y="288"/>
                </a:cubicBezTo>
                <a:cubicBezTo>
                  <a:pt x="424" y="272"/>
                  <a:pt x="212" y="13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599" name="Freeform 23"/>
          <p:cNvSpPr>
            <a:spLocks/>
          </p:cNvSpPr>
          <p:nvPr/>
        </p:nvSpPr>
        <p:spPr bwMode="auto">
          <a:xfrm>
            <a:off x="3619500" y="5664200"/>
            <a:ext cx="1600200" cy="304800"/>
          </a:xfrm>
          <a:custGeom>
            <a:avLst/>
            <a:gdLst/>
            <a:ahLst/>
            <a:cxnLst>
              <a:cxn ang="0">
                <a:pos x="1008" y="0"/>
              </a:cxn>
              <a:cxn ang="0">
                <a:pos x="528" y="192"/>
              </a:cxn>
              <a:cxn ang="0">
                <a:pos x="0" y="0"/>
              </a:cxn>
            </a:cxnLst>
            <a:rect l="0" t="0" r="r" b="b"/>
            <a:pathLst>
              <a:path w="1008" h="192">
                <a:moveTo>
                  <a:pt x="1008" y="0"/>
                </a:moveTo>
                <a:cubicBezTo>
                  <a:pt x="852" y="96"/>
                  <a:pt x="696" y="192"/>
                  <a:pt x="528" y="192"/>
                </a:cubicBezTo>
                <a:cubicBezTo>
                  <a:pt x="360" y="192"/>
                  <a:pt x="180" y="9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8886" name="Object 6"/>
          <p:cNvGraphicFramePr>
            <a:graphicFrameLocks noChangeAspect="1"/>
          </p:cNvGraphicFramePr>
          <p:nvPr/>
        </p:nvGraphicFramePr>
        <p:xfrm>
          <a:off x="3467100" y="3759200"/>
          <a:ext cx="252413" cy="392113"/>
        </p:xfrm>
        <a:graphic>
          <a:graphicData uri="http://schemas.openxmlformats.org/presentationml/2006/ole">
            <p:oleObj spid="_x0000_s378886" name="Equation" r:id="rId9" imgW="253800" imgH="393480" progId="Equation.3">
              <p:embed/>
            </p:oleObj>
          </a:graphicData>
        </a:graphic>
      </p:graphicFrame>
      <p:graphicFrame>
        <p:nvGraphicFramePr>
          <p:cNvPr id="378887" name="Object 7"/>
          <p:cNvGraphicFramePr>
            <a:graphicFrameLocks noChangeAspect="1"/>
          </p:cNvGraphicFramePr>
          <p:nvPr/>
        </p:nvGraphicFramePr>
        <p:xfrm>
          <a:off x="5981700" y="4902200"/>
          <a:ext cx="252413" cy="392113"/>
        </p:xfrm>
        <a:graphic>
          <a:graphicData uri="http://schemas.openxmlformats.org/presentationml/2006/ole">
            <p:oleObj spid="_x0000_s378887" name="Equation" r:id="rId10" imgW="253800" imgH="393480" progId="Equation.3">
              <p:embed/>
            </p:oleObj>
          </a:graphicData>
        </a:graphic>
      </p:graphicFrame>
      <p:graphicFrame>
        <p:nvGraphicFramePr>
          <p:cNvPr id="378888" name="Object 8"/>
          <p:cNvGraphicFramePr>
            <a:graphicFrameLocks noChangeAspect="1"/>
          </p:cNvGraphicFramePr>
          <p:nvPr/>
        </p:nvGraphicFramePr>
        <p:xfrm>
          <a:off x="7124700" y="3530600"/>
          <a:ext cx="252413" cy="392113"/>
        </p:xfrm>
        <a:graphic>
          <a:graphicData uri="http://schemas.openxmlformats.org/presentationml/2006/ole">
            <p:oleObj spid="_x0000_s378888" name="Equation" r:id="rId11" imgW="253800" imgH="393480" progId="Equation.3">
              <p:embed/>
            </p:oleObj>
          </a:graphicData>
        </a:graphic>
      </p:graphicFrame>
      <p:graphicFrame>
        <p:nvGraphicFramePr>
          <p:cNvPr id="378889" name="Object 9"/>
          <p:cNvGraphicFramePr>
            <a:graphicFrameLocks noChangeAspect="1"/>
          </p:cNvGraphicFramePr>
          <p:nvPr/>
        </p:nvGraphicFramePr>
        <p:xfrm>
          <a:off x="4305300" y="6045200"/>
          <a:ext cx="265113" cy="279400"/>
        </p:xfrm>
        <a:graphic>
          <a:graphicData uri="http://schemas.openxmlformats.org/presentationml/2006/ole">
            <p:oleObj spid="_x0000_s378889" name="Equation" r:id="rId12" imgW="266400" imgH="279360" progId="Equation.3">
              <p:embed/>
            </p:oleObj>
          </a:graphicData>
        </a:graphic>
      </p:graphicFrame>
      <p:graphicFrame>
        <p:nvGraphicFramePr>
          <p:cNvPr id="378890" name="Object 10"/>
          <p:cNvGraphicFramePr>
            <a:graphicFrameLocks noChangeAspect="1"/>
          </p:cNvGraphicFramePr>
          <p:nvPr/>
        </p:nvGraphicFramePr>
        <p:xfrm>
          <a:off x="6057900" y="6121400"/>
          <a:ext cx="265113" cy="279400"/>
        </p:xfrm>
        <a:graphic>
          <a:graphicData uri="http://schemas.openxmlformats.org/presentationml/2006/ole">
            <p:oleObj spid="_x0000_s378890" name="Equation" r:id="rId13" imgW="266400" imgH="279360" progId="Equation.3">
              <p:embed/>
            </p:oleObj>
          </a:graphicData>
        </a:graphic>
      </p:graphicFrame>
      <p:graphicFrame>
        <p:nvGraphicFramePr>
          <p:cNvPr id="378891" name="Object 11"/>
          <p:cNvGraphicFramePr>
            <a:graphicFrameLocks noChangeAspect="1"/>
          </p:cNvGraphicFramePr>
          <p:nvPr/>
        </p:nvGraphicFramePr>
        <p:xfrm>
          <a:off x="4305300" y="4978400"/>
          <a:ext cx="265113" cy="279400"/>
        </p:xfrm>
        <a:graphic>
          <a:graphicData uri="http://schemas.openxmlformats.org/presentationml/2006/ole">
            <p:oleObj spid="_x0000_s378891" name="Equation" r:id="rId14" imgW="266400" imgH="279360" progId="Equation.3">
              <p:embed/>
            </p:oleObj>
          </a:graphicData>
        </a:graphic>
      </p:graphicFrame>
      <p:graphicFrame>
        <p:nvGraphicFramePr>
          <p:cNvPr id="378892" name="Object 12"/>
          <p:cNvGraphicFramePr>
            <a:graphicFrameLocks noChangeAspect="1"/>
          </p:cNvGraphicFramePr>
          <p:nvPr/>
        </p:nvGraphicFramePr>
        <p:xfrm>
          <a:off x="2057400" y="457200"/>
          <a:ext cx="368300" cy="304800"/>
        </p:xfrm>
        <a:graphic>
          <a:graphicData uri="http://schemas.openxmlformats.org/presentationml/2006/ole">
            <p:oleObj spid="_x0000_s378892" name="Equation" r:id="rId15" imgW="368280" imgH="304560" progId="Equation.3">
              <p:embed/>
            </p:oleObj>
          </a:graphicData>
        </a:graphic>
      </p:graphicFrame>
      <p:graphicFrame>
        <p:nvGraphicFramePr>
          <p:cNvPr id="378893" name="Object 13"/>
          <p:cNvGraphicFramePr>
            <a:graphicFrameLocks noChangeAspect="1"/>
          </p:cNvGraphicFramePr>
          <p:nvPr/>
        </p:nvGraphicFramePr>
        <p:xfrm>
          <a:off x="4876800" y="304800"/>
          <a:ext cx="1574800" cy="544513"/>
        </p:xfrm>
        <a:graphic>
          <a:graphicData uri="http://schemas.openxmlformats.org/presentationml/2006/ole">
            <p:oleObj spid="_x0000_s378893" name="Equation" r:id="rId16" imgW="1574640" imgH="545760" progId="Equation.3">
              <p:embed/>
            </p:oleObj>
          </a:graphicData>
        </a:graphic>
      </p:graphicFrame>
      <p:sp>
        <p:nvSpPr>
          <p:cNvPr id="280610" name="Text Box 34"/>
          <p:cNvSpPr txBox="1">
            <a:spLocks noChangeArrowheads="1"/>
          </p:cNvSpPr>
          <p:nvPr/>
        </p:nvSpPr>
        <p:spPr bwMode="auto">
          <a:xfrm>
            <a:off x="914400" y="2667000"/>
            <a:ext cx="6148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Thus, a state must be repeated</a:t>
            </a:r>
          </a:p>
        </p:txBody>
      </p:sp>
      <p:sp>
        <p:nvSpPr>
          <p:cNvPr id="280612" name="Text Box 36"/>
          <p:cNvSpPr txBox="1">
            <a:spLocks noChangeArrowheads="1"/>
          </p:cNvSpPr>
          <p:nvPr/>
        </p:nvSpPr>
        <p:spPr bwMode="auto">
          <a:xfrm>
            <a:off x="990600" y="1143000"/>
            <a:ext cx="72278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the transitions of string </a:t>
            </a:r>
          </a:p>
          <a:p>
            <a:r>
              <a:rPr lang="en-US"/>
              <a:t>are more than the states of the DFA</a:t>
            </a:r>
          </a:p>
        </p:txBody>
      </p:sp>
      <p:graphicFrame>
        <p:nvGraphicFramePr>
          <p:cNvPr id="378894" name="Object 14"/>
          <p:cNvGraphicFramePr>
            <a:graphicFrameLocks noChangeAspect="1"/>
          </p:cNvGraphicFramePr>
          <p:nvPr/>
        </p:nvGraphicFramePr>
        <p:xfrm>
          <a:off x="6934200" y="1295400"/>
          <a:ext cx="368300" cy="304800"/>
        </p:xfrm>
        <a:graphic>
          <a:graphicData uri="http://schemas.openxmlformats.org/presentationml/2006/ole">
            <p:oleObj spid="_x0000_s378894" name="Equation" r:id="rId17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AA06-56AB-4709-875C-494985805BD8}" type="slidenum">
              <a:rPr lang="en-US"/>
              <a:pPr/>
              <a:t>26</a:t>
            </a:fld>
            <a:endParaRPr lang="en-US"/>
          </a:p>
        </p:txBody>
      </p:sp>
      <p:sp>
        <p:nvSpPr>
          <p:cNvPr id="284674" name="Text Box 2"/>
          <p:cNvSpPr txBox="1">
            <a:spLocks noChangeArrowheads="1"/>
          </p:cNvSpPr>
          <p:nvPr/>
        </p:nvSpPr>
        <p:spPr bwMode="auto">
          <a:xfrm>
            <a:off x="228600" y="0"/>
            <a:ext cx="88249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general, for any DFA:</a:t>
            </a:r>
          </a:p>
          <a:p>
            <a:endParaRPr lang="en-US"/>
          </a:p>
          <a:p>
            <a:r>
              <a:rPr lang="en-US"/>
              <a:t>String       has  length       number of states   </a:t>
            </a:r>
          </a:p>
        </p:txBody>
      </p:sp>
      <p:graphicFrame>
        <p:nvGraphicFramePr>
          <p:cNvPr id="379904" name="Object 1024"/>
          <p:cNvGraphicFramePr>
            <a:graphicFrameLocks noChangeAspect="1"/>
          </p:cNvGraphicFramePr>
          <p:nvPr/>
        </p:nvGraphicFramePr>
        <p:xfrm>
          <a:off x="1676400" y="1371600"/>
          <a:ext cx="368300" cy="304800"/>
        </p:xfrm>
        <a:graphic>
          <a:graphicData uri="http://schemas.openxmlformats.org/presentationml/2006/ole">
            <p:oleObj spid="_x0000_s379904" name="Equation" r:id="rId3" imgW="368280" imgH="304560" progId="Equation.3">
              <p:embed/>
            </p:oleObj>
          </a:graphicData>
        </a:graphic>
      </p:graphicFrame>
      <p:graphicFrame>
        <p:nvGraphicFramePr>
          <p:cNvPr id="379905" name="Object 1025"/>
          <p:cNvGraphicFramePr>
            <a:graphicFrameLocks noChangeAspect="1"/>
          </p:cNvGraphicFramePr>
          <p:nvPr/>
        </p:nvGraphicFramePr>
        <p:xfrm>
          <a:off x="4648200" y="1295400"/>
          <a:ext cx="304800" cy="368300"/>
        </p:xfrm>
        <a:graphic>
          <a:graphicData uri="http://schemas.openxmlformats.org/presentationml/2006/ole">
            <p:oleObj spid="_x0000_s379905" name="Equation" r:id="rId4" imgW="304560" imgH="368280" progId="Equation.3">
              <p:embed/>
            </p:oleObj>
          </a:graphicData>
        </a:graphic>
      </p:graphicFrame>
      <p:sp>
        <p:nvSpPr>
          <p:cNvPr id="284677" name="Text Box 5"/>
          <p:cNvSpPr txBox="1">
            <a:spLocks noChangeArrowheads="1"/>
          </p:cNvSpPr>
          <p:nvPr/>
        </p:nvSpPr>
        <p:spPr bwMode="auto">
          <a:xfrm>
            <a:off x="0" y="2667000"/>
            <a:ext cx="8761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state        must be repeated in the walk of </a:t>
            </a:r>
          </a:p>
        </p:txBody>
      </p:sp>
      <p:graphicFrame>
        <p:nvGraphicFramePr>
          <p:cNvPr id="379906" name="Object 1026"/>
          <p:cNvGraphicFramePr>
            <a:graphicFrameLocks noChangeAspect="1"/>
          </p:cNvGraphicFramePr>
          <p:nvPr/>
        </p:nvGraphicFramePr>
        <p:xfrm>
          <a:off x="8775700" y="2819400"/>
          <a:ext cx="368300" cy="304800"/>
        </p:xfrm>
        <a:graphic>
          <a:graphicData uri="http://schemas.openxmlformats.org/presentationml/2006/ole">
            <p:oleObj spid="_x0000_s379906" name="Equation" r:id="rId5" imgW="368280" imgH="304560" progId="Equation.3">
              <p:embed/>
            </p:oleObj>
          </a:graphicData>
        </a:graphic>
      </p:graphicFrame>
      <p:graphicFrame>
        <p:nvGraphicFramePr>
          <p:cNvPr id="379907" name="Object 1027"/>
          <p:cNvGraphicFramePr>
            <a:graphicFrameLocks noChangeAspect="1"/>
          </p:cNvGraphicFramePr>
          <p:nvPr/>
        </p:nvGraphicFramePr>
        <p:xfrm>
          <a:off x="1752600" y="2819400"/>
          <a:ext cx="290513" cy="406400"/>
        </p:xfrm>
        <a:graphic>
          <a:graphicData uri="http://schemas.openxmlformats.org/presentationml/2006/ole">
            <p:oleObj spid="_x0000_s379907" name="Equation" r:id="rId6" imgW="291960" imgH="406080" progId="Equation.3">
              <p:embed/>
            </p:oleObj>
          </a:graphicData>
        </a:graphic>
      </p:graphicFrame>
      <p:sp>
        <p:nvSpPr>
          <p:cNvPr id="284682" name="AutoShape 10"/>
          <p:cNvSpPr>
            <a:spLocks noChangeArrowheads="1"/>
          </p:cNvSpPr>
          <p:nvPr/>
        </p:nvSpPr>
        <p:spPr bwMode="auto">
          <a:xfrm>
            <a:off x="4419600" y="1905000"/>
            <a:ext cx="485775" cy="671513"/>
          </a:xfrm>
          <a:prstGeom prst="downArrow">
            <a:avLst>
              <a:gd name="adj1" fmla="val 50000"/>
              <a:gd name="adj2" fmla="val 345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83" name="Oval 11"/>
          <p:cNvSpPr>
            <a:spLocks noChangeArrowheads="1"/>
          </p:cNvSpPr>
          <p:nvPr/>
        </p:nvSpPr>
        <p:spPr bwMode="auto">
          <a:xfrm>
            <a:off x="1066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5" name="Oval 13"/>
          <p:cNvSpPr>
            <a:spLocks noChangeArrowheads="1"/>
          </p:cNvSpPr>
          <p:nvPr/>
        </p:nvSpPr>
        <p:spPr bwMode="auto">
          <a:xfrm>
            <a:off x="4648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6" name="Oval 14"/>
          <p:cNvSpPr>
            <a:spLocks noChangeArrowheads="1"/>
          </p:cNvSpPr>
          <p:nvPr/>
        </p:nvSpPr>
        <p:spPr bwMode="auto">
          <a:xfrm>
            <a:off x="7315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7" name="Oval 15"/>
          <p:cNvSpPr>
            <a:spLocks noChangeArrowheads="1"/>
          </p:cNvSpPr>
          <p:nvPr/>
        </p:nvSpPr>
        <p:spPr bwMode="auto">
          <a:xfrm>
            <a:off x="2209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8" name="Line 16"/>
          <p:cNvSpPr>
            <a:spLocks noChangeShapeType="1"/>
          </p:cNvSpPr>
          <p:nvPr/>
        </p:nvSpPr>
        <p:spPr bwMode="auto">
          <a:xfrm>
            <a:off x="381000" y="5791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9" name="Line 17"/>
          <p:cNvSpPr>
            <a:spLocks noChangeShapeType="1"/>
          </p:cNvSpPr>
          <p:nvPr/>
        </p:nvSpPr>
        <p:spPr bwMode="auto">
          <a:xfrm>
            <a:off x="16002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0" name="Line 18"/>
          <p:cNvSpPr>
            <a:spLocks noChangeShapeType="1"/>
          </p:cNvSpPr>
          <p:nvPr/>
        </p:nvSpPr>
        <p:spPr bwMode="auto">
          <a:xfrm>
            <a:off x="27432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1" name="Line 19"/>
          <p:cNvSpPr>
            <a:spLocks noChangeShapeType="1"/>
          </p:cNvSpPr>
          <p:nvPr/>
        </p:nvSpPr>
        <p:spPr bwMode="auto">
          <a:xfrm>
            <a:off x="42672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3" name="Line 21"/>
          <p:cNvSpPr>
            <a:spLocks noChangeShapeType="1"/>
          </p:cNvSpPr>
          <p:nvPr/>
        </p:nvSpPr>
        <p:spPr bwMode="auto">
          <a:xfrm>
            <a:off x="51816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4" name="Oval 22"/>
          <p:cNvSpPr>
            <a:spLocks noChangeArrowheads="1"/>
          </p:cNvSpPr>
          <p:nvPr/>
        </p:nvSpPr>
        <p:spPr bwMode="auto">
          <a:xfrm>
            <a:off x="5486400" y="46482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5" name="Oval 23"/>
          <p:cNvSpPr>
            <a:spLocks noChangeArrowheads="1"/>
          </p:cNvSpPr>
          <p:nvPr/>
        </p:nvSpPr>
        <p:spPr bwMode="auto">
          <a:xfrm>
            <a:off x="4038600" y="46482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7" name="Line 25"/>
          <p:cNvSpPr>
            <a:spLocks noChangeShapeType="1"/>
          </p:cNvSpPr>
          <p:nvPr/>
        </p:nvSpPr>
        <p:spPr bwMode="auto">
          <a:xfrm flipV="1">
            <a:off x="5105400" y="5181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98" name="Line 26"/>
          <p:cNvSpPr>
            <a:spLocks noChangeShapeType="1"/>
          </p:cNvSpPr>
          <p:nvPr/>
        </p:nvSpPr>
        <p:spPr bwMode="auto">
          <a:xfrm>
            <a:off x="4419600" y="5181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9" name="Freeform 27"/>
          <p:cNvSpPr>
            <a:spLocks/>
          </p:cNvSpPr>
          <p:nvPr/>
        </p:nvSpPr>
        <p:spPr bwMode="auto">
          <a:xfrm>
            <a:off x="4343400" y="41275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00" name="Line 28"/>
          <p:cNvSpPr>
            <a:spLocks noChangeShapeType="1"/>
          </p:cNvSpPr>
          <p:nvPr/>
        </p:nvSpPr>
        <p:spPr bwMode="auto">
          <a:xfrm>
            <a:off x="69342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79908" name="Object 1028"/>
          <p:cNvGraphicFramePr>
            <a:graphicFrameLocks noChangeAspect="1"/>
          </p:cNvGraphicFramePr>
          <p:nvPr/>
        </p:nvGraphicFramePr>
        <p:xfrm>
          <a:off x="4800600" y="5638800"/>
          <a:ext cx="265113" cy="368300"/>
        </p:xfrm>
        <a:graphic>
          <a:graphicData uri="http://schemas.openxmlformats.org/presentationml/2006/ole">
            <p:oleObj spid="_x0000_s379908" name="Equation" r:id="rId7" imgW="266400" imgH="368280" progId="Equation.3">
              <p:embed/>
            </p:oleObj>
          </a:graphicData>
        </a:graphic>
      </p:graphicFrame>
      <p:sp>
        <p:nvSpPr>
          <p:cNvPr id="284704" name="Text Box 32"/>
          <p:cNvSpPr txBox="1">
            <a:spLocks noChangeArrowheads="1"/>
          </p:cNvSpPr>
          <p:nvPr/>
        </p:nvSpPr>
        <p:spPr bwMode="auto">
          <a:xfrm>
            <a:off x="33528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84705" name="Text Box 33"/>
          <p:cNvSpPr txBox="1">
            <a:spLocks noChangeArrowheads="1"/>
          </p:cNvSpPr>
          <p:nvPr/>
        </p:nvSpPr>
        <p:spPr bwMode="auto">
          <a:xfrm>
            <a:off x="59436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84706" name="Text Box 34"/>
          <p:cNvSpPr txBox="1">
            <a:spLocks noChangeArrowheads="1"/>
          </p:cNvSpPr>
          <p:nvPr/>
        </p:nvSpPr>
        <p:spPr bwMode="auto">
          <a:xfrm>
            <a:off x="609600" y="48006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walk of </a:t>
            </a:r>
          </a:p>
        </p:txBody>
      </p:sp>
      <p:graphicFrame>
        <p:nvGraphicFramePr>
          <p:cNvPr id="379909" name="Object 1029"/>
          <p:cNvGraphicFramePr>
            <a:graphicFrameLocks noChangeAspect="1"/>
          </p:cNvGraphicFramePr>
          <p:nvPr/>
        </p:nvGraphicFramePr>
        <p:xfrm>
          <a:off x="2225675" y="5003800"/>
          <a:ext cx="368300" cy="304800"/>
        </p:xfrm>
        <a:graphic>
          <a:graphicData uri="http://schemas.openxmlformats.org/presentationml/2006/ole">
            <p:oleObj spid="_x0000_s379909" name="Equation" r:id="rId8" imgW="368280" imgH="304560" progId="Equation.3">
              <p:embed/>
            </p:oleObj>
          </a:graphicData>
        </a:graphic>
      </p:graphicFrame>
      <p:sp>
        <p:nvSpPr>
          <p:cNvPr id="284710" name="Text Box 38"/>
          <p:cNvSpPr txBox="1">
            <a:spLocks noChangeArrowheads="1"/>
          </p:cNvSpPr>
          <p:nvPr/>
        </p:nvSpPr>
        <p:spPr bwMode="auto">
          <a:xfrm>
            <a:off x="3581400" y="6172200"/>
            <a:ext cx="3097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Repeated state</a:t>
            </a:r>
          </a:p>
        </p:txBody>
      </p:sp>
      <p:sp>
        <p:nvSpPr>
          <p:cNvPr id="284711" name="Freeform 39"/>
          <p:cNvSpPr>
            <a:spLocks/>
          </p:cNvSpPr>
          <p:nvPr/>
        </p:nvSpPr>
        <p:spPr bwMode="auto">
          <a:xfrm>
            <a:off x="390525" y="4395788"/>
            <a:ext cx="6870700" cy="1233487"/>
          </a:xfrm>
          <a:custGeom>
            <a:avLst/>
            <a:gdLst/>
            <a:ahLst/>
            <a:cxnLst>
              <a:cxn ang="0">
                <a:pos x="0" y="763"/>
              </a:cxn>
              <a:cxn ang="0">
                <a:pos x="1812" y="772"/>
              </a:cxn>
              <a:cxn ang="0">
                <a:pos x="2083" y="738"/>
              </a:cxn>
              <a:cxn ang="0">
                <a:pos x="2727" y="746"/>
              </a:cxn>
              <a:cxn ang="0">
                <a:pos x="2897" y="704"/>
              </a:cxn>
              <a:cxn ang="0">
                <a:pos x="2998" y="628"/>
              </a:cxn>
              <a:cxn ang="0">
                <a:pos x="3142" y="475"/>
              </a:cxn>
              <a:cxn ang="0">
                <a:pos x="3185" y="399"/>
              </a:cxn>
              <a:cxn ang="0">
                <a:pos x="3202" y="348"/>
              </a:cxn>
              <a:cxn ang="0">
                <a:pos x="3210" y="323"/>
              </a:cxn>
              <a:cxn ang="0">
                <a:pos x="3176" y="119"/>
              </a:cxn>
              <a:cxn ang="0">
                <a:pos x="3100" y="86"/>
              </a:cxn>
              <a:cxn ang="0">
                <a:pos x="2778" y="1"/>
              </a:cxn>
              <a:cxn ang="0">
                <a:pos x="2659" y="52"/>
              </a:cxn>
              <a:cxn ang="0">
                <a:pos x="2668" y="475"/>
              </a:cxn>
              <a:cxn ang="0">
                <a:pos x="2786" y="577"/>
              </a:cxn>
              <a:cxn ang="0">
                <a:pos x="3058" y="755"/>
              </a:cxn>
              <a:cxn ang="0">
                <a:pos x="4328" y="772"/>
              </a:cxn>
            </a:cxnLst>
            <a:rect l="0" t="0" r="r" b="b"/>
            <a:pathLst>
              <a:path w="4328" h="777">
                <a:moveTo>
                  <a:pt x="0" y="763"/>
                </a:moveTo>
                <a:cubicBezTo>
                  <a:pt x="656" y="775"/>
                  <a:pt x="1082" y="777"/>
                  <a:pt x="1812" y="772"/>
                </a:cubicBezTo>
                <a:cubicBezTo>
                  <a:pt x="1903" y="761"/>
                  <a:pt x="1992" y="746"/>
                  <a:pt x="2083" y="738"/>
                </a:cubicBezTo>
                <a:cubicBezTo>
                  <a:pt x="2311" y="743"/>
                  <a:pt x="2503" y="755"/>
                  <a:pt x="2727" y="746"/>
                </a:cubicBezTo>
                <a:cubicBezTo>
                  <a:pt x="2785" y="732"/>
                  <a:pt x="2840" y="721"/>
                  <a:pt x="2897" y="704"/>
                </a:cubicBezTo>
                <a:cubicBezTo>
                  <a:pt x="2933" y="680"/>
                  <a:pt x="2963" y="652"/>
                  <a:pt x="2998" y="628"/>
                </a:cubicBezTo>
                <a:cubicBezTo>
                  <a:pt x="3037" y="569"/>
                  <a:pt x="3103" y="533"/>
                  <a:pt x="3142" y="475"/>
                </a:cubicBezTo>
                <a:cubicBezTo>
                  <a:pt x="3159" y="450"/>
                  <a:pt x="3168" y="424"/>
                  <a:pt x="3185" y="399"/>
                </a:cubicBezTo>
                <a:cubicBezTo>
                  <a:pt x="3191" y="382"/>
                  <a:pt x="3196" y="365"/>
                  <a:pt x="3202" y="348"/>
                </a:cubicBezTo>
                <a:cubicBezTo>
                  <a:pt x="3205" y="340"/>
                  <a:pt x="3210" y="323"/>
                  <a:pt x="3210" y="323"/>
                </a:cubicBezTo>
                <a:cubicBezTo>
                  <a:pt x="3204" y="233"/>
                  <a:pt x="3202" y="195"/>
                  <a:pt x="3176" y="119"/>
                </a:cubicBezTo>
                <a:cubicBezTo>
                  <a:pt x="3172" y="106"/>
                  <a:pt x="3115" y="91"/>
                  <a:pt x="3100" y="86"/>
                </a:cubicBezTo>
                <a:cubicBezTo>
                  <a:pt x="2994" y="50"/>
                  <a:pt x="2889" y="18"/>
                  <a:pt x="2778" y="1"/>
                </a:cubicBezTo>
                <a:cubicBezTo>
                  <a:pt x="2711" y="8"/>
                  <a:pt x="2693" y="0"/>
                  <a:pt x="2659" y="52"/>
                </a:cubicBezTo>
                <a:cubicBezTo>
                  <a:pt x="2615" y="183"/>
                  <a:pt x="2605" y="351"/>
                  <a:pt x="2668" y="475"/>
                </a:cubicBezTo>
                <a:cubicBezTo>
                  <a:pt x="2690" y="518"/>
                  <a:pt x="2750" y="545"/>
                  <a:pt x="2786" y="577"/>
                </a:cubicBezTo>
                <a:cubicBezTo>
                  <a:pt x="2872" y="654"/>
                  <a:pt x="2940" y="730"/>
                  <a:pt x="3058" y="755"/>
                </a:cubicBezTo>
                <a:cubicBezTo>
                  <a:pt x="3479" y="736"/>
                  <a:pt x="3906" y="772"/>
                  <a:pt x="4328" y="772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F1438-0E31-4CCB-9F1E-0928678C0354}" type="slidenum">
              <a:rPr lang="en-US"/>
              <a:pPr/>
              <a:t>27</a:t>
            </a:fld>
            <a:endParaRPr lang="en-US"/>
          </a:p>
        </p:txBody>
      </p:sp>
      <p:sp>
        <p:nvSpPr>
          <p:cNvPr id="281602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6213475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other words for a string     :</a:t>
            </a:r>
          </a:p>
          <a:p>
            <a:r>
              <a:rPr lang="en-US"/>
              <a:t>          </a:t>
            </a:r>
          </a:p>
          <a:p>
            <a:r>
              <a:rPr lang="en-US"/>
              <a:t>              transitions are pigeons</a:t>
            </a:r>
          </a:p>
          <a:p>
            <a:endParaRPr lang="en-US"/>
          </a:p>
          <a:p>
            <a:r>
              <a:rPr lang="en-US"/>
              <a:t>              states are pigeonholes</a:t>
            </a:r>
          </a:p>
        </p:txBody>
      </p:sp>
      <p:pic>
        <p:nvPicPr>
          <p:cNvPr id="281629" name="Picture 29" descr="C:\ModComp\pigeon.gif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6934200" y="1295400"/>
            <a:ext cx="914400" cy="685800"/>
          </a:xfrm>
          <a:prstGeom prst="rect">
            <a:avLst/>
          </a:prstGeom>
          <a:noFill/>
        </p:spPr>
      </p:pic>
      <p:sp>
        <p:nvSpPr>
          <p:cNvPr id="281630" name="AutoShape 30"/>
          <p:cNvSpPr>
            <a:spLocks noChangeArrowheads="1"/>
          </p:cNvSpPr>
          <p:nvPr/>
        </p:nvSpPr>
        <p:spPr bwMode="auto">
          <a:xfrm>
            <a:off x="6858000" y="2514600"/>
            <a:ext cx="1214438" cy="1214438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31" name="Line 31"/>
          <p:cNvSpPr>
            <a:spLocks noChangeShapeType="1"/>
          </p:cNvSpPr>
          <p:nvPr/>
        </p:nvSpPr>
        <p:spPr bwMode="auto">
          <a:xfrm>
            <a:off x="838200" y="175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32" name="Oval 32"/>
          <p:cNvSpPr>
            <a:spLocks noChangeArrowheads="1"/>
          </p:cNvSpPr>
          <p:nvPr/>
        </p:nvSpPr>
        <p:spPr bwMode="auto">
          <a:xfrm>
            <a:off x="914400" y="2667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80928" name="Object 0"/>
          <p:cNvGraphicFramePr>
            <a:graphicFrameLocks noChangeAspect="1"/>
          </p:cNvGraphicFramePr>
          <p:nvPr/>
        </p:nvGraphicFramePr>
        <p:xfrm>
          <a:off x="1143000" y="2819400"/>
          <a:ext cx="265113" cy="368300"/>
        </p:xfrm>
        <a:graphic>
          <a:graphicData uri="http://schemas.openxmlformats.org/presentationml/2006/ole">
            <p:oleObj spid="_x0000_s380928" name="Equation" r:id="rId4" imgW="266400" imgH="368280" progId="Equation.3">
              <p:embed/>
            </p:oleObj>
          </a:graphicData>
        </a:graphic>
      </p:graphicFrame>
      <p:graphicFrame>
        <p:nvGraphicFramePr>
          <p:cNvPr id="380929" name="Object 1"/>
          <p:cNvGraphicFramePr>
            <a:graphicFrameLocks noChangeAspect="1"/>
          </p:cNvGraphicFramePr>
          <p:nvPr/>
        </p:nvGraphicFramePr>
        <p:xfrm>
          <a:off x="1136650" y="1427163"/>
          <a:ext cx="265113" cy="279400"/>
        </p:xfrm>
        <a:graphic>
          <a:graphicData uri="http://schemas.openxmlformats.org/presentationml/2006/ole">
            <p:oleObj spid="_x0000_s380929" name="Equation" r:id="rId5" imgW="266400" imgH="279360" progId="Equation.3">
              <p:embed/>
            </p:oleObj>
          </a:graphicData>
        </a:graphic>
      </p:graphicFrame>
      <p:graphicFrame>
        <p:nvGraphicFramePr>
          <p:cNvPr id="380930" name="Object 2"/>
          <p:cNvGraphicFramePr>
            <a:graphicFrameLocks noChangeAspect="1"/>
          </p:cNvGraphicFramePr>
          <p:nvPr/>
        </p:nvGraphicFramePr>
        <p:xfrm>
          <a:off x="5791200" y="381000"/>
          <a:ext cx="368300" cy="304800"/>
        </p:xfrm>
        <a:graphic>
          <a:graphicData uri="http://schemas.openxmlformats.org/presentationml/2006/ole">
            <p:oleObj spid="_x0000_s380930" name="Equation" r:id="rId6" imgW="368280" imgH="304560" progId="Equation.3">
              <p:embed/>
            </p:oleObj>
          </a:graphicData>
        </a:graphic>
      </p:graphicFrame>
      <p:sp>
        <p:nvSpPr>
          <p:cNvPr id="281636" name="Oval 36"/>
          <p:cNvSpPr>
            <a:spLocks noChangeArrowheads="1"/>
          </p:cNvSpPr>
          <p:nvPr/>
        </p:nvSpPr>
        <p:spPr bwMode="auto">
          <a:xfrm>
            <a:off x="1066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37" name="Oval 37"/>
          <p:cNvSpPr>
            <a:spLocks noChangeArrowheads="1"/>
          </p:cNvSpPr>
          <p:nvPr/>
        </p:nvSpPr>
        <p:spPr bwMode="auto">
          <a:xfrm>
            <a:off x="4648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38" name="Oval 38"/>
          <p:cNvSpPr>
            <a:spLocks noChangeArrowheads="1"/>
          </p:cNvSpPr>
          <p:nvPr/>
        </p:nvSpPr>
        <p:spPr bwMode="auto">
          <a:xfrm>
            <a:off x="7315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39" name="Oval 39"/>
          <p:cNvSpPr>
            <a:spLocks noChangeArrowheads="1"/>
          </p:cNvSpPr>
          <p:nvPr/>
        </p:nvSpPr>
        <p:spPr bwMode="auto">
          <a:xfrm>
            <a:off x="2209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0" name="Line 40"/>
          <p:cNvSpPr>
            <a:spLocks noChangeShapeType="1"/>
          </p:cNvSpPr>
          <p:nvPr/>
        </p:nvSpPr>
        <p:spPr bwMode="auto">
          <a:xfrm>
            <a:off x="381000" y="5791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1" name="Line 41"/>
          <p:cNvSpPr>
            <a:spLocks noChangeShapeType="1"/>
          </p:cNvSpPr>
          <p:nvPr/>
        </p:nvSpPr>
        <p:spPr bwMode="auto">
          <a:xfrm>
            <a:off x="16002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2" name="Line 42"/>
          <p:cNvSpPr>
            <a:spLocks noChangeShapeType="1"/>
          </p:cNvSpPr>
          <p:nvPr/>
        </p:nvSpPr>
        <p:spPr bwMode="auto">
          <a:xfrm>
            <a:off x="27432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3" name="Line 43"/>
          <p:cNvSpPr>
            <a:spLocks noChangeShapeType="1"/>
          </p:cNvSpPr>
          <p:nvPr/>
        </p:nvSpPr>
        <p:spPr bwMode="auto">
          <a:xfrm>
            <a:off x="42672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4" name="Line 44"/>
          <p:cNvSpPr>
            <a:spLocks noChangeShapeType="1"/>
          </p:cNvSpPr>
          <p:nvPr/>
        </p:nvSpPr>
        <p:spPr bwMode="auto">
          <a:xfrm>
            <a:off x="51816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5" name="Oval 45"/>
          <p:cNvSpPr>
            <a:spLocks noChangeArrowheads="1"/>
          </p:cNvSpPr>
          <p:nvPr/>
        </p:nvSpPr>
        <p:spPr bwMode="auto">
          <a:xfrm>
            <a:off x="5486400" y="46482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6" name="Oval 46"/>
          <p:cNvSpPr>
            <a:spLocks noChangeArrowheads="1"/>
          </p:cNvSpPr>
          <p:nvPr/>
        </p:nvSpPr>
        <p:spPr bwMode="auto">
          <a:xfrm>
            <a:off x="4038600" y="46482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7" name="Line 47"/>
          <p:cNvSpPr>
            <a:spLocks noChangeShapeType="1"/>
          </p:cNvSpPr>
          <p:nvPr/>
        </p:nvSpPr>
        <p:spPr bwMode="auto">
          <a:xfrm flipV="1">
            <a:off x="5105400" y="5181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48" name="Line 48"/>
          <p:cNvSpPr>
            <a:spLocks noChangeShapeType="1"/>
          </p:cNvSpPr>
          <p:nvPr/>
        </p:nvSpPr>
        <p:spPr bwMode="auto">
          <a:xfrm>
            <a:off x="4419600" y="5181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1649" name="Freeform 49"/>
          <p:cNvSpPr>
            <a:spLocks/>
          </p:cNvSpPr>
          <p:nvPr/>
        </p:nvSpPr>
        <p:spPr bwMode="auto">
          <a:xfrm>
            <a:off x="4343400" y="41275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50" name="Line 50"/>
          <p:cNvSpPr>
            <a:spLocks noChangeShapeType="1"/>
          </p:cNvSpPr>
          <p:nvPr/>
        </p:nvSpPr>
        <p:spPr bwMode="auto">
          <a:xfrm>
            <a:off x="69342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80931" name="Object 3"/>
          <p:cNvGraphicFramePr>
            <a:graphicFrameLocks noChangeAspect="1"/>
          </p:cNvGraphicFramePr>
          <p:nvPr/>
        </p:nvGraphicFramePr>
        <p:xfrm>
          <a:off x="4800600" y="5638800"/>
          <a:ext cx="265113" cy="368300"/>
        </p:xfrm>
        <a:graphic>
          <a:graphicData uri="http://schemas.openxmlformats.org/presentationml/2006/ole">
            <p:oleObj spid="_x0000_s380931" name="Equation" r:id="rId7" imgW="266400" imgH="368280" progId="Equation.3">
              <p:embed/>
            </p:oleObj>
          </a:graphicData>
        </a:graphic>
      </p:graphicFrame>
      <p:sp>
        <p:nvSpPr>
          <p:cNvPr id="281652" name="Text Box 52"/>
          <p:cNvSpPr txBox="1">
            <a:spLocks noChangeArrowheads="1"/>
          </p:cNvSpPr>
          <p:nvPr/>
        </p:nvSpPr>
        <p:spPr bwMode="auto">
          <a:xfrm>
            <a:off x="33528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81653" name="Text Box 53"/>
          <p:cNvSpPr txBox="1">
            <a:spLocks noChangeArrowheads="1"/>
          </p:cNvSpPr>
          <p:nvPr/>
        </p:nvSpPr>
        <p:spPr bwMode="auto">
          <a:xfrm>
            <a:off x="59436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81654" name="Text Box 54"/>
          <p:cNvSpPr txBox="1">
            <a:spLocks noChangeArrowheads="1"/>
          </p:cNvSpPr>
          <p:nvPr/>
        </p:nvSpPr>
        <p:spPr bwMode="auto">
          <a:xfrm>
            <a:off x="1143000" y="44958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walk of </a:t>
            </a:r>
          </a:p>
        </p:txBody>
      </p:sp>
      <p:graphicFrame>
        <p:nvGraphicFramePr>
          <p:cNvPr id="380932" name="Object 4"/>
          <p:cNvGraphicFramePr>
            <a:graphicFrameLocks noChangeAspect="1"/>
          </p:cNvGraphicFramePr>
          <p:nvPr/>
        </p:nvGraphicFramePr>
        <p:xfrm>
          <a:off x="2759075" y="4699000"/>
          <a:ext cx="368300" cy="304800"/>
        </p:xfrm>
        <a:graphic>
          <a:graphicData uri="http://schemas.openxmlformats.org/presentationml/2006/ole">
            <p:oleObj spid="_x0000_s380932" name="Equation" r:id="rId8" imgW="368280" imgH="304560" progId="Equation.3">
              <p:embed/>
            </p:oleObj>
          </a:graphicData>
        </a:graphic>
      </p:graphicFrame>
      <p:sp>
        <p:nvSpPr>
          <p:cNvPr id="281656" name="Text Box 56"/>
          <p:cNvSpPr txBox="1">
            <a:spLocks noChangeArrowheads="1"/>
          </p:cNvSpPr>
          <p:nvPr/>
        </p:nvSpPr>
        <p:spPr bwMode="auto">
          <a:xfrm>
            <a:off x="3657600" y="6096000"/>
            <a:ext cx="3097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Repeated state</a:t>
            </a:r>
          </a:p>
        </p:txBody>
      </p:sp>
      <p:sp>
        <p:nvSpPr>
          <p:cNvPr id="281657" name="Freeform 57"/>
          <p:cNvSpPr>
            <a:spLocks/>
          </p:cNvSpPr>
          <p:nvPr/>
        </p:nvSpPr>
        <p:spPr bwMode="auto">
          <a:xfrm>
            <a:off x="390525" y="4395788"/>
            <a:ext cx="6870700" cy="1233487"/>
          </a:xfrm>
          <a:custGeom>
            <a:avLst/>
            <a:gdLst/>
            <a:ahLst/>
            <a:cxnLst>
              <a:cxn ang="0">
                <a:pos x="0" y="763"/>
              </a:cxn>
              <a:cxn ang="0">
                <a:pos x="1812" y="772"/>
              </a:cxn>
              <a:cxn ang="0">
                <a:pos x="2083" y="738"/>
              </a:cxn>
              <a:cxn ang="0">
                <a:pos x="2727" y="746"/>
              </a:cxn>
              <a:cxn ang="0">
                <a:pos x="2897" y="704"/>
              </a:cxn>
              <a:cxn ang="0">
                <a:pos x="2998" y="628"/>
              </a:cxn>
              <a:cxn ang="0">
                <a:pos x="3142" y="475"/>
              </a:cxn>
              <a:cxn ang="0">
                <a:pos x="3185" y="399"/>
              </a:cxn>
              <a:cxn ang="0">
                <a:pos x="3202" y="348"/>
              </a:cxn>
              <a:cxn ang="0">
                <a:pos x="3210" y="323"/>
              </a:cxn>
              <a:cxn ang="0">
                <a:pos x="3176" y="119"/>
              </a:cxn>
              <a:cxn ang="0">
                <a:pos x="3100" y="86"/>
              </a:cxn>
              <a:cxn ang="0">
                <a:pos x="2778" y="1"/>
              </a:cxn>
              <a:cxn ang="0">
                <a:pos x="2659" y="52"/>
              </a:cxn>
              <a:cxn ang="0">
                <a:pos x="2668" y="475"/>
              </a:cxn>
              <a:cxn ang="0">
                <a:pos x="2786" y="577"/>
              </a:cxn>
              <a:cxn ang="0">
                <a:pos x="3058" y="755"/>
              </a:cxn>
              <a:cxn ang="0">
                <a:pos x="4328" y="772"/>
              </a:cxn>
            </a:cxnLst>
            <a:rect l="0" t="0" r="r" b="b"/>
            <a:pathLst>
              <a:path w="4328" h="777">
                <a:moveTo>
                  <a:pt x="0" y="763"/>
                </a:moveTo>
                <a:cubicBezTo>
                  <a:pt x="656" y="775"/>
                  <a:pt x="1082" y="777"/>
                  <a:pt x="1812" y="772"/>
                </a:cubicBezTo>
                <a:cubicBezTo>
                  <a:pt x="1903" y="761"/>
                  <a:pt x="1992" y="746"/>
                  <a:pt x="2083" y="738"/>
                </a:cubicBezTo>
                <a:cubicBezTo>
                  <a:pt x="2311" y="743"/>
                  <a:pt x="2503" y="755"/>
                  <a:pt x="2727" y="746"/>
                </a:cubicBezTo>
                <a:cubicBezTo>
                  <a:pt x="2785" y="732"/>
                  <a:pt x="2840" y="721"/>
                  <a:pt x="2897" y="704"/>
                </a:cubicBezTo>
                <a:cubicBezTo>
                  <a:pt x="2933" y="680"/>
                  <a:pt x="2963" y="652"/>
                  <a:pt x="2998" y="628"/>
                </a:cubicBezTo>
                <a:cubicBezTo>
                  <a:pt x="3037" y="569"/>
                  <a:pt x="3103" y="533"/>
                  <a:pt x="3142" y="475"/>
                </a:cubicBezTo>
                <a:cubicBezTo>
                  <a:pt x="3159" y="450"/>
                  <a:pt x="3168" y="424"/>
                  <a:pt x="3185" y="399"/>
                </a:cubicBezTo>
                <a:cubicBezTo>
                  <a:pt x="3191" y="382"/>
                  <a:pt x="3196" y="365"/>
                  <a:pt x="3202" y="348"/>
                </a:cubicBezTo>
                <a:cubicBezTo>
                  <a:pt x="3205" y="340"/>
                  <a:pt x="3210" y="323"/>
                  <a:pt x="3210" y="323"/>
                </a:cubicBezTo>
                <a:cubicBezTo>
                  <a:pt x="3204" y="233"/>
                  <a:pt x="3202" y="195"/>
                  <a:pt x="3176" y="119"/>
                </a:cubicBezTo>
                <a:cubicBezTo>
                  <a:pt x="3172" y="106"/>
                  <a:pt x="3115" y="91"/>
                  <a:pt x="3100" y="86"/>
                </a:cubicBezTo>
                <a:cubicBezTo>
                  <a:pt x="2994" y="50"/>
                  <a:pt x="2889" y="18"/>
                  <a:pt x="2778" y="1"/>
                </a:cubicBezTo>
                <a:cubicBezTo>
                  <a:pt x="2711" y="8"/>
                  <a:pt x="2693" y="0"/>
                  <a:pt x="2659" y="52"/>
                </a:cubicBezTo>
                <a:cubicBezTo>
                  <a:pt x="2615" y="183"/>
                  <a:pt x="2605" y="351"/>
                  <a:pt x="2668" y="475"/>
                </a:cubicBezTo>
                <a:cubicBezTo>
                  <a:pt x="2690" y="518"/>
                  <a:pt x="2750" y="545"/>
                  <a:pt x="2786" y="577"/>
                </a:cubicBezTo>
                <a:cubicBezTo>
                  <a:pt x="2872" y="654"/>
                  <a:pt x="2940" y="730"/>
                  <a:pt x="3058" y="755"/>
                </a:cubicBezTo>
                <a:cubicBezTo>
                  <a:pt x="3479" y="736"/>
                  <a:pt x="3906" y="772"/>
                  <a:pt x="4328" y="772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The Pumping Lemma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E9739-CAE0-4DEB-8F5F-44CCC3D02A22}" type="slidenum">
              <a:rPr lang="en-US"/>
              <a:pPr/>
              <a:t>29</a:t>
            </a:fld>
            <a:endParaRPr lang="en-US"/>
          </a:p>
        </p:txBody>
      </p:sp>
      <p:sp>
        <p:nvSpPr>
          <p:cNvPr id="288770" name="Text Box 2"/>
          <p:cNvSpPr txBox="1">
            <a:spLocks noChangeArrowheads="1"/>
          </p:cNvSpPr>
          <p:nvPr/>
        </p:nvSpPr>
        <p:spPr bwMode="auto">
          <a:xfrm>
            <a:off x="365125" y="177800"/>
            <a:ext cx="63722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an </a:t>
            </a:r>
            <a:r>
              <a:rPr lang="en-US">
                <a:solidFill>
                  <a:srgbClr val="FF3300"/>
                </a:solidFill>
              </a:rPr>
              <a:t>infinite</a:t>
            </a:r>
            <a:r>
              <a:rPr lang="en-US"/>
              <a:t> regular language</a:t>
            </a:r>
          </a:p>
        </p:txBody>
      </p:sp>
      <p:graphicFrame>
        <p:nvGraphicFramePr>
          <p:cNvPr id="381952" name="Object 0"/>
          <p:cNvGraphicFramePr>
            <a:graphicFrameLocks noChangeAspect="1"/>
          </p:cNvGraphicFramePr>
          <p:nvPr/>
        </p:nvGraphicFramePr>
        <p:xfrm>
          <a:off x="6858000" y="228600"/>
          <a:ext cx="303213" cy="368300"/>
        </p:xfrm>
        <a:graphic>
          <a:graphicData uri="http://schemas.openxmlformats.org/presentationml/2006/ole">
            <p:oleObj spid="_x0000_s381952" name="Equation" r:id="rId3" imgW="304560" imgH="368280" progId="Equation.3">
              <p:embed/>
            </p:oleObj>
          </a:graphicData>
        </a:graphic>
      </p:graphicFrame>
      <p:sp>
        <p:nvSpPr>
          <p:cNvPr id="288773" name="Text Box 5"/>
          <p:cNvSpPr txBox="1">
            <a:spLocks noChangeArrowheads="1"/>
          </p:cNvSpPr>
          <p:nvPr/>
        </p:nvSpPr>
        <p:spPr bwMode="auto">
          <a:xfrm>
            <a:off x="533400" y="2362200"/>
            <a:ext cx="656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exists a DFA that accepts </a:t>
            </a:r>
          </a:p>
        </p:txBody>
      </p:sp>
      <p:graphicFrame>
        <p:nvGraphicFramePr>
          <p:cNvPr id="381953" name="Object 1"/>
          <p:cNvGraphicFramePr>
            <a:graphicFrameLocks noChangeAspect="1"/>
          </p:cNvGraphicFramePr>
          <p:nvPr/>
        </p:nvGraphicFramePr>
        <p:xfrm>
          <a:off x="7086600" y="2438400"/>
          <a:ext cx="328613" cy="393700"/>
        </p:xfrm>
        <a:graphic>
          <a:graphicData uri="http://schemas.openxmlformats.org/presentationml/2006/ole">
            <p:oleObj spid="_x0000_s381953" name="Equation" r:id="rId4" imgW="330120" imgH="393480" progId="Equation.3">
              <p:embed/>
            </p:oleObj>
          </a:graphicData>
        </a:graphic>
      </p:graphicFrame>
      <p:sp>
        <p:nvSpPr>
          <p:cNvPr id="288776" name="Oval 8"/>
          <p:cNvSpPr>
            <a:spLocks noChangeArrowheads="1"/>
          </p:cNvSpPr>
          <p:nvPr/>
        </p:nvSpPr>
        <p:spPr bwMode="auto">
          <a:xfrm>
            <a:off x="990600" y="4419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77" name="Oval 9"/>
          <p:cNvSpPr>
            <a:spLocks noChangeArrowheads="1"/>
          </p:cNvSpPr>
          <p:nvPr/>
        </p:nvSpPr>
        <p:spPr bwMode="auto">
          <a:xfrm>
            <a:off x="21336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78" name="Oval 10"/>
          <p:cNvSpPr>
            <a:spLocks noChangeArrowheads="1"/>
          </p:cNvSpPr>
          <p:nvPr/>
        </p:nvSpPr>
        <p:spPr bwMode="auto">
          <a:xfrm>
            <a:off x="2209800" y="518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79" name="Oval 11"/>
          <p:cNvSpPr>
            <a:spLocks noChangeArrowheads="1"/>
          </p:cNvSpPr>
          <p:nvPr/>
        </p:nvSpPr>
        <p:spPr bwMode="auto">
          <a:xfrm>
            <a:off x="6019800" y="5181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80" name="Oval 12"/>
          <p:cNvSpPr>
            <a:spLocks noChangeArrowheads="1"/>
          </p:cNvSpPr>
          <p:nvPr/>
        </p:nvSpPr>
        <p:spPr bwMode="auto">
          <a:xfrm>
            <a:off x="5943600" y="5105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81" name="Line 13"/>
          <p:cNvSpPr>
            <a:spLocks noChangeShapeType="1"/>
          </p:cNvSpPr>
          <p:nvPr/>
        </p:nvSpPr>
        <p:spPr bwMode="auto">
          <a:xfrm>
            <a:off x="457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82" name="Line 14"/>
          <p:cNvSpPr>
            <a:spLocks noChangeShapeType="1"/>
          </p:cNvSpPr>
          <p:nvPr/>
        </p:nvSpPr>
        <p:spPr bwMode="auto">
          <a:xfrm>
            <a:off x="4419600" y="5486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83" name="Line 15"/>
          <p:cNvSpPr>
            <a:spLocks noChangeShapeType="1"/>
          </p:cNvSpPr>
          <p:nvPr/>
        </p:nvSpPr>
        <p:spPr bwMode="auto">
          <a:xfrm flipV="1">
            <a:off x="2667000" y="3886200"/>
            <a:ext cx="1219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84" name="Oval 16"/>
          <p:cNvSpPr>
            <a:spLocks noChangeArrowheads="1"/>
          </p:cNvSpPr>
          <p:nvPr/>
        </p:nvSpPr>
        <p:spPr bwMode="auto">
          <a:xfrm>
            <a:off x="3810000" y="3429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85" name="Oval 17"/>
          <p:cNvSpPr>
            <a:spLocks noChangeArrowheads="1"/>
          </p:cNvSpPr>
          <p:nvPr/>
        </p:nvSpPr>
        <p:spPr bwMode="auto">
          <a:xfrm>
            <a:off x="60198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86" name="Oval 18"/>
          <p:cNvSpPr>
            <a:spLocks noChangeArrowheads="1"/>
          </p:cNvSpPr>
          <p:nvPr/>
        </p:nvSpPr>
        <p:spPr bwMode="auto">
          <a:xfrm>
            <a:off x="5943600" y="3429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87" name="Oval 19"/>
          <p:cNvSpPr>
            <a:spLocks noChangeArrowheads="1"/>
          </p:cNvSpPr>
          <p:nvPr/>
        </p:nvSpPr>
        <p:spPr bwMode="auto">
          <a:xfrm>
            <a:off x="38862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88" name="Freeform 20"/>
          <p:cNvSpPr>
            <a:spLocks/>
          </p:cNvSpPr>
          <p:nvPr/>
        </p:nvSpPr>
        <p:spPr bwMode="auto">
          <a:xfrm>
            <a:off x="2590800" y="5715000"/>
            <a:ext cx="3581400" cy="850900"/>
          </a:xfrm>
          <a:custGeom>
            <a:avLst/>
            <a:gdLst/>
            <a:ahLst/>
            <a:cxnLst>
              <a:cxn ang="0">
                <a:pos x="2256" y="48"/>
              </a:cxn>
              <a:cxn ang="0">
                <a:pos x="1344" y="528"/>
              </a:cxn>
              <a:cxn ang="0">
                <a:pos x="0" y="0"/>
              </a:cxn>
            </a:cxnLst>
            <a:rect l="0" t="0" r="r" b="b"/>
            <a:pathLst>
              <a:path w="2256" h="536">
                <a:moveTo>
                  <a:pt x="2256" y="48"/>
                </a:moveTo>
                <a:cubicBezTo>
                  <a:pt x="1988" y="292"/>
                  <a:pt x="1720" y="536"/>
                  <a:pt x="1344" y="528"/>
                </a:cubicBezTo>
                <a:cubicBezTo>
                  <a:pt x="968" y="520"/>
                  <a:pt x="484" y="260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8789" name="Line 21"/>
          <p:cNvSpPr>
            <a:spLocks noChangeShapeType="1"/>
          </p:cNvSpPr>
          <p:nvPr/>
        </p:nvSpPr>
        <p:spPr bwMode="auto">
          <a:xfrm flipV="1">
            <a:off x="1447800" y="38862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90" name="Line 22"/>
          <p:cNvSpPr>
            <a:spLocks noChangeShapeType="1"/>
          </p:cNvSpPr>
          <p:nvPr/>
        </p:nvSpPr>
        <p:spPr bwMode="auto">
          <a:xfrm>
            <a:off x="1447800" y="48768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91" name="Line 23"/>
          <p:cNvSpPr>
            <a:spLocks noChangeShapeType="1"/>
          </p:cNvSpPr>
          <p:nvPr/>
        </p:nvSpPr>
        <p:spPr bwMode="auto">
          <a:xfrm>
            <a:off x="2667000" y="3886200"/>
            <a:ext cx="1371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8792" name="Line 24"/>
          <p:cNvSpPr>
            <a:spLocks noChangeShapeType="1"/>
          </p:cNvSpPr>
          <p:nvPr/>
        </p:nvSpPr>
        <p:spPr bwMode="auto">
          <a:xfrm flipV="1">
            <a:off x="4267200" y="3886200"/>
            <a:ext cx="1676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81954" name="Object 2"/>
          <p:cNvGraphicFramePr>
            <a:graphicFrameLocks noChangeAspect="1"/>
          </p:cNvGraphicFramePr>
          <p:nvPr/>
        </p:nvGraphicFramePr>
        <p:xfrm>
          <a:off x="7835900" y="4559300"/>
          <a:ext cx="393700" cy="304800"/>
        </p:xfrm>
        <a:graphic>
          <a:graphicData uri="http://schemas.openxmlformats.org/presentationml/2006/ole">
            <p:oleObj spid="_x0000_s381954" name="Equation" r:id="rId5" imgW="393480" imgH="304560" progId="Equation.3">
              <p:embed/>
            </p:oleObj>
          </a:graphicData>
        </a:graphic>
      </p:graphicFrame>
      <p:sp>
        <p:nvSpPr>
          <p:cNvPr id="288794" name="Text Box 26"/>
          <p:cNvSpPr txBox="1">
            <a:spLocks noChangeArrowheads="1"/>
          </p:cNvSpPr>
          <p:nvPr/>
        </p:nvSpPr>
        <p:spPr bwMode="auto">
          <a:xfrm>
            <a:off x="7467600" y="4876800"/>
            <a:ext cx="1395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states</a:t>
            </a:r>
          </a:p>
        </p:txBody>
      </p:sp>
      <p:sp>
        <p:nvSpPr>
          <p:cNvPr id="288795" name="Line 27"/>
          <p:cNvSpPr>
            <a:spLocks noChangeShapeType="1"/>
          </p:cNvSpPr>
          <p:nvPr/>
        </p:nvSpPr>
        <p:spPr bwMode="auto">
          <a:xfrm>
            <a:off x="4267200" y="3886200"/>
            <a:ext cx="1752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E06D-4C61-40D3-AD82-7B808AABA441}" type="slidenum">
              <a:rPr lang="en-US"/>
              <a:pPr/>
              <a:t>30</a:t>
            </a:fld>
            <a:endParaRPr lang="en-US"/>
          </a:p>
        </p:txBody>
      </p:sp>
      <p:sp>
        <p:nvSpPr>
          <p:cNvPr id="289794" name="Text Box 2"/>
          <p:cNvSpPr txBox="1">
            <a:spLocks noChangeArrowheads="1"/>
          </p:cNvSpPr>
          <p:nvPr/>
        </p:nvSpPr>
        <p:spPr bwMode="auto">
          <a:xfrm>
            <a:off x="457200" y="990600"/>
            <a:ext cx="4402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string        with  </a:t>
            </a:r>
          </a:p>
        </p:txBody>
      </p:sp>
      <p:graphicFrame>
        <p:nvGraphicFramePr>
          <p:cNvPr id="289795" name="Object 3"/>
          <p:cNvGraphicFramePr>
            <a:graphicFrameLocks noChangeAspect="1"/>
          </p:cNvGraphicFramePr>
          <p:nvPr/>
        </p:nvGraphicFramePr>
        <p:xfrm>
          <a:off x="2968625" y="1181100"/>
          <a:ext cx="368300" cy="304800"/>
        </p:xfrm>
        <a:graphic>
          <a:graphicData uri="http://schemas.openxmlformats.org/presentationml/2006/ole">
            <p:oleObj spid="_x0000_s289795" name="Equation" r:id="rId3" imgW="368280" imgH="304560" progId="Equation.3">
              <p:embed/>
            </p:oleObj>
          </a:graphicData>
        </a:graphic>
      </p:graphicFrame>
      <p:graphicFrame>
        <p:nvGraphicFramePr>
          <p:cNvPr id="289798" name="Object 6"/>
          <p:cNvGraphicFramePr>
            <a:graphicFrameLocks noChangeAspect="1"/>
          </p:cNvGraphicFramePr>
          <p:nvPr/>
        </p:nvGraphicFramePr>
        <p:xfrm>
          <a:off x="4743450" y="1054100"/>
          <a:ext cx="1155700" cy="406400"/>
        </p:xfrm>
        <a:graphic>
          <a:graphicData uri="http://schemas.openxmlformats.org/presentationml/2006/ole">
            <p:oleObj spid="_x0000_s289798" name="Equation" r:id="rId4" imgW="1155600" imgH="406080" progId="Equation.3">
              <p:embed/>
            </p:oleObj>
          </a:graphicData>
        </a:graphic>
      </p:graphicFrame>
      <p:sp>
        <p:nvSpPr>
          <p:cNvPr id="289799" name="Text Box 7"/>
          <p:cNvSpPr txBox="1">
            <a:spLocks noChangeArrowheads="1"/>
          </p:cNvSpPr>
          <p:nvPr/>
        </p:nvSpPr>
        <p:spPr bwMode="auto">
          <a:xfrm>
            <a:off x="1447800" y="3429000"/>
            <a:ext cx="5851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a walk with label      :</a:t>
            </a:r>
          </a:p>
        </p:txBody>
      </p:sp>
      <p:graphicFrame>
        <p:nvGraphicFramePr>
          <p:cNvPr id="289800" name="Object 8"/>
          <p:cNvGraphicFramePr>
            <a:graphicFrameLocks noChangeAspect="1"/>
          </p:cNvGraphicFramePr>
          <p:nvPr/>
        </p:nvGraphicFramePr>
        <p:xfrm>
          <a:off x="6629400" y="3581400"/>
          <a:ext cx="368300" cy="304800"/>
        </p:xfrm>
        <a:graphic>
          <a:graphicData uri="http://schemas.openxmlformats.org/presentationml/2006/ole">
            <p:oleObj spid="_x0000_s289800" name="Equation" r:id="rId5" imgW="368280" imgH="304560" progId="Equation.3">
              <p:embed/>
            </p:oleObj>
          </a:graphicData>
        </a:graphic>
      </p:graphicFrame>
      <p:sp>
        <p:nvSpPr>
          <p:cNvPr id="289801" name="Oval 9"/>
          <p:cNvSpPr>
            <a:spLocks noChangeArrowheads="1"/>
          </p:cNvSpPr>
          <p:nvPr/>
        </p:nvSpPr>
        <p:spPr bwMode="auto">
          <a:xfrm>
            <a:off x="1600200" y="548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03" name="Oval 11"/>
          <p:cNvSpPr>
            <a:spLocks noChangeArrowheads="1"/>
          </p:cNvSpPr>
          <p:nvPr/>
        </p:nvSpPr>
        <p:spPr bwMode="auto">
          <a:xfrm>
            <a:off x="6934200" y="548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04" name="Oval 12"/>
          <p:cNvSpPr>
            <a:spLocks noChangeArrowheads="1"/>
          </p:cNvSpPr>
          <p:nvPr/>
        </p:nvSpPr>
        <p:spPr bwMode="auto">
          <a:xfrm>
            <a:off x="2743200" y="548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05" name="Line 13"/>
          <p:cNvSpPr>
            <a:spLocks noChangeShapeType="1"/>
          </p:cNvSpPr>
          <p:nvPr/>
        </p:nvSpPr>
        <p:spPr bwMode="auto">
          <a:xfrm>
            <a:off x="914400" y="5715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06" name="Line 14"/>
          <p:cNvSpPr>
            <a:spLocks noChangeShapeType="1"/>
          </p:cNvSpPr>
          <p:nvPr/>
        </p:nvSpPr>
        <p:spPr bwMode="auto">
          <a:xfrm>
            <a:off x="2133600" y="5715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07" name="Line 15"/>
          <p:cNvSpPr>
            <a:spLocks noChangeShapeType="1"/>
          </p:cNvSpPr>
          <p:nvPr/>
        </p:nvSpPr>
        <p:spPr bwMode="auto">
          <a:xfrm>
            <a:off x="3276600" y="5715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15" name="Line 23"/>
          <p:cNvSpPr>
            <a:spLocks noChangeShapeType="1"/>
          </p:cNvSpPr>
          <p:nvPr/>
        </p:nvSpPr>
        <p:spPr bwMode="auto">
          <a:xfrm>
            <a:off x="6248400" y="5715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9817" name="Oval 25"/>
          <p:cNvSpPr>
            <a:spLocks noChangeArrowheads="1"/>
          </p:cNvSpPr>
          <p:nvPr/>
        </p:nvSpPr>
        <p:spPr bwMode="auto">
          <a:xfrm>
            <a:off x="5715000" y="548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18" name="Oval 26"/>
          <p:cNvSpPr>
            <a:spLocks noChangeArrowheads="1"/>
          </p:cNvSpPr>
          <p:nvPr/>
        </p:nvSpPr>
        <p:spPr bwMode="auto">
          <a:xfrm>
            <a:off x="6858000" y="5410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9819" name="Line 27"/>
          <p:cNvSpPr>
            <a:spLocks noChangeShapeType="1"/>
          </p:cNvSpPr>
          <p:nvPr/>
        </p:nvSpPr>
        <p:spPr bwMode="auto">
          <a:xfrm>
            <a:off x="5334000" y="5715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9820" name="Text Box 28"/>
          <p:cNvSpPr txBox="1">
            <a:spLocks noChangeArrowheads="1"/>
          </p:cNvSpPr>
          <p:nvPr/>
        </p:nvSpPr>
        <p:spPr bwMode="auto">
          <a:xfrm>
            <a:off x="3962400" y="53340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.........</a:t>
            </a:r>
          </a:p>
        </p:txBody>
      </p:sp>
      <p:sp>
        <p:nvSpPr>
          <p:cNvPr id="289821" name="Text Box 29"/>
          <p:cNvSpPr txBox="1">
            <a:spLocks noChangeArrowheads="1"/>
          </p:cNvSpPr>
          <p:nvPr/>
        </p:nvSpPr>
        <p:spPr bwMode="auto">
          <a:xfrm>
            <a:off x="3505200" y="6096000"/>
            <a:ext cx="1000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walk</a:t>
            </a:r>
          </a:p>
        </p:txBody>
      </p:sp>
      <p:graphicFrame>
        <p:nvGraphicFramePr>
          <p:cNvPr id="289822" name="Object 30"/>
          <p:cNvGraphicFramePr>
            <a:graphicFrameLocks noChangeAspect="1"/>
          </p:cNvGraphicFramePr>
          <p:nvPr/>
        </p:nvGraphicFramePr>
        <p:xfrm>
          <a:off x="4572000" y="6248400"/>
          <a:ext cx="368300" cy="304800"/>
        </p:xfrm>
        <a:graphic>
          <a:graphicData uri="http://schemas.openxmlformats.org/presentationml/2006/ole">
            <p:oleObj spid="_x0000_s289822" name="Equation" r:id="rId6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EF7E2-D0C3-40F8-818C-50477D2F6C3D}" type="slidenum">
              <a:rPr lang="en-US"/>
              <a:pPr/>
              <a:t>31</a:t>
            </a:fld>
            <a:endParaRPr lang="en-US"/>
          </a:p>
        </p:txBody>
      </p:sp>
      <p:sp>
        <p:nvSpPr>
          <p:cNvPr id="290818" name="Text Box 2"/>
          <p:cNvSpPr txBox="1">
            <a:spLocks noChangeArrowheads="1"/>
          </p:cNvSpPr>
          <p:nvPr/>
        </p:nvSpPr>
        <p:spPr bwMode="auto">
          <a:xfrm>
            <a:off x="0" y="0"/>
            <a:ext cx="4916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string        has length </a:t>
            </a:r>
          </a:p>
        </p:txBody>
      </p:sp>
      <p:graphicFrame>
        <p:nvGraphicFramePr>
          <p:cNvPr id="382976" name="Object 1024"/>
          <p:cNvGraphicFramePr>
            <a:graphicFrameLocks noChangeAspect="1"/>
          </p:cNvGraphicFramePr>
          <p:nvPr/>
        </p:nvGraphicFramePr>
        <p:xfrm>
          <a:off x="2057400" y="152400"/>
          <a:ext cx="368300" cy="304800"/>
        </p:xfrm>
        <a:graphic>
          <a:graphicData uri="http://schemas.openxmlformats.org/presentationml/2006/ole">
            <p:oleObj spid="_x0000_s382976" name="Equation" r:id="rId3" imgW="368280" imgH="304560" progId="Equation.3">
              <p:embed/>
            </p:oleObj>
          </a:graphicData>
        </a:graphic>
      </p:graphicFrame>
      <p:graphicFrame>
        <p:nvGraphicFramePr>
          <p:cNvPr id="382977" name="Object 1025"/>
          <p:cNvGraphicFramePr>
            <a:graphicFrameLocks noChangeAspect="1"/>
          </p:cNvGraphicFramePr>
          <p:nvPr/>
        </p:nvGraphicFramePr>
        <p:xfrm>
          <a:off x="4953000" y="0"/>
          <a:ext cx="1828800" cy="544513"/>
        </p:xfrm>
        <a:graphic>
          <a:graphicData uri="http://schemas.openxmlformats.org/presentationml/2006/ole">
            <p:oleObj spid="_x0000_s382977" name="Equation" r:id="rId4" imgW="1828800" imgH="545760" progId="Equation.3">
              <p:embed/>
            </p:oleObj>
          </a:graphicData>
        </a:graphic>
      </p:graphicFrame>
      <p:sp>
        <p:nvSpPr>
          <p:cNvPr id="290821" name="Text Box 5"/>
          <p:cNvSpPr txBox="1">
            <a:spLocks noChangeArrowheads="1"/>
          </p:cNvSpPr>
          <p:nvPr/>
        </p:nvSpPr>
        <p:spPr bwMode="auto">
          <a:xfrm>
            <a:off x="6934200" y="96838"/>
            <a:ext cx="1493838" cy="13335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(number </a:t>
            </a:r>
          </a:p>
          <a:p>
            <a:r>
              <a:rPr lang="en-US" sz="2400"/>
              <a:t>of states</a:t>
            </a:r>
          </a:p>
          <a:p>
            <a:r>
              <a:rPr lang="en-US" sz="2400"/>
              <a:t>of DFA)</a:t>
            </a:r>
          </a:p>
        </p:txBody>
      </p:sp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0" y="1981200"/>
            <a:ext cx="76723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then, from the pigeonhole principle:</a:t>
            </a:r>
          </a:p>
          <a:p>
            <a:r>
              <a:rPr lang="en-US"/>
              <a:t>               </a:t>
            </a:r>
          </a:p>
          <a:p>
            <a:r>
              <a:rPr lang="en-US"/>
              <a:t>             a state is repeated  in the walk</a:t>
            </a:r>
          </a:p>
        </p:txBody>
      </p:sp>
      <p:graphicFrame>
        <p:nvGraphicFramePr>
          <p:cNvPr id="382978" name="Object 1026"/>
          <p:cNvGraphicFramePr>
            <a:graphicFrameLocks noChangeAspect="1"/>
          </p:cNvGraphicFramePr>
          <p:nvPr/>
        </p:nvGraphicFramePr>
        <p:xfrm>
          <a:off x="7772400" y="3352800"/>
          <a:ext cx="368300" cy="304800"/>
        </p:xfrm>
        <a:graphic>
          <a:graphicData uri="http://schemas.openxmlformats.org/presentationml/2006/ole">
            <p:oleObj spid="_x0000_s382978" name="Equation" r:id="rId5" imgW="368280" imgH="304560" progId="Equation.3">
              <p:embed/>
            </p:oleObj>
          </a:graphicData>
        </a:graphic>
      </p:graphicFrame>
      <p:sp>
        <p:nvSpPr>
          <p:cNvPr id="290825" name="Oval 9"/>
          <p:cNvSpPr>
            <a:spLocks noChangeArrowheads="1"/>
          </p:cNvSpPr>
          <p:nvPr/>
        </p:nvSpPr>
        <p:spPr bwMode="auto">
          <a:xfrm>
            <a:off x="1066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26" name="Oval 10"/>
          <p:cNvSpPr>
            <a:spLocks noChangeArrowheads="1"/>
          </p:cNvSpPr>
          <p:nvPr/>
        </p:nvSpPr>
        <p:spPr bwMode="auto">
          <a:xfrm>
            <a:off x="4800600" y="5549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27" name="Oval 11"/>
          <p:cNvSpPr>
            <a:spLocks noChangeArrowheads="1"/>
          </p:cNvSpPr>
          <p:nvPr/>
        </p:nvSpPr>
        <p:spPr bwMode="auto">
          <a:xfrm>
            <a:off x="7696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28" name="Oval 12"/>
          <p:cNvSpPr>
            <a:spLocks noChangeArrowheads="1"/>
          </p:cNvSpPr>
          <p:nvPr/>
        </p:nvSpPr>
        <p:spPr bwMode="auto">
          <a:xfrm>
            <a:off x="2209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29" name="Line 13"/>
          <p:cNvSpPr>
            <a:spLocks noChangeShapeType="1"/>
          </p:cNvSpPr>
          <p:nvPr/>
        </p:nvSpPr>
        <p:spPr bwMode="auto">
          <a:xfrm>
            <a:off x="6096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0830" name="Line 14"/>
          <p:cNvSpPr>
            <a:spLocks noChangeShapeType="1"/>
          </p:cNvSpPr>
          <p:nvPr/>
        </p:nvSpPr>
        <p:spPr bwMode="auto">
          <a:xfrm>
            <a:off x="16002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31" name="Line 15"/>
          <p:cNvSpPr>
            <a:spLocks noChangeShapeType="1"/>
          </p:cNvSpPr>
          <p:nvPr/>
        </p:nvSpPr>
        <p:spPr bwMode="auto">
          <a:xfrm>
            <a:off x="27432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0832" name="Line 16"/>
          <p:cNvSpPr>
            <a:spLocks noChangeShapeType="1"/>
          </p:cNvSpPr>
          <p:nvPr/>
        </p:nvSpPr>
        <p:spPr bwMode="auto">
          <a:xfrm>
            <a:off x="4267200" y="57785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0833" name="Line 17"/>
          <p:cNvSpPr>
            <a:spLocks noChangeShapeType="1"/>
          </p:cNvSpPr>
          <p:nvPr/>
        </p:nvSpPr>
        <p:spPr bwMode="auto">
          <a:xfrm>
            <a:off x="5334000" y="57785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0834" name="Oval 18"/>
          <p:cNvSpPr>
            <a:spLocks noChangeArrowheads="1"/>
          </p:cNvSpPr>
          <p:nvPr/>
        </p:nvSpPr>
        <p:spPr bwMode="auto">
          <a:xfrm>
            <a:off x="5638800" y="46482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35" name="Oval 19"/>
          <p:cNvSpPr>
            <a:spLocks noChangeArrowheads="1"/>
          </p:cNvSpPr>
          <p:nvPr/>
        </p:nvSpPr>
        <p:spPr bwMode="auto">
          <a:xfrm>
            <a:off x="4191000" y="46355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36" name="Line 20"/>
          <p:cNvSpPr>
            <a:spLocks noChangeShapeType="1"/>
          </p:cNvSpPr>
          <p:nvPr/>
        </p:nvSpPr>
        <p:spPr bwMode="auto">
          <a:xfrm flipV="1">
            <a:off x="5257800" y="51689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37" name="Line 21"/>
          <p:cNvSpPr>
            <a:spLocks noChangeShapeType="1"/>
          </p:cNvSpPr>
          <p:nvPr/>
        </p:nvSpPr>
        <p:spPr bwMode="auto">
          <a:xfrm>
            <a:off x="4572000" y="51689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0838" name="Freeform 22"/>
          <p:cNvSpPr>
            <a:spLocks/>
          </p:cNvSpPr>
          <p:nvPr/>
        </p:nvSpPr>
        <p:spPr bwMode="auto">
          <a:xfrm>
            <a:off x="4495800" y="41148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39" name="Line 23"/>
          <p:cNvSpPr>
            <a:spLocks noChangeShapeType="1"/>
          </p:cNvSpPr>
          <p:nvPr/>
        </p:nvSpPr>
        <p:spPr bwMode="auto">
          <a:xfrm>
            <a:off x="70104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2979" name="Object 1027"/>
          <p:cNvGraphicFramePr>
            <a:graphicFrameLocks noChangeAspect="1"/>
          </p:cNvGraphicFramePr>
          <p:nvPr/>
        </p:nvGraphicFramePr>
        <p:xfrm>
          <a:off x="4953000" y="5626100"/>
          <a:ext cx="265113" cy="368300"/>
        </p:xfrm>
        <a:graphic>
          <a:graphicData uri="http://schemas.openxmlformats.org/presentationml/2006/ole">
            <p:oleObj spid="_x0000_s382979" name="Equation" r:id="rId6" imgW="266400" imgH="368280" progId="Equation.3">
              <p:embed/>
            </p:oleObj>
          </a:graphicData>
        </a:graphic>
      </p:graphicFrame>
      <p:sp>
        <p:nvSpPr>
          <p:cNvPr id="290841" name="Text Box 25"/>
          <p:cNvSpPr txBox="1">
            <a:spLocks noChangeArrowheads="1"/>
          </p:cNvSpPr>
          <p:nvPr/>
        </p:nvSpPr>
        <p:spPr bwMode="auto">
          <a:xfrm>
            <a:off x="33528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0842" name="Text Box 26"/>
          <p:cNvSpPr txBox="1">
            <a:spLocks noChangeArrowheads="1"/>
          </p:cNvSpPr>
          <p:nvPr/>
        </p:nvSpPr>
        <p:spPr bwMode="auto">
          <a:xfrm>
            <a:off x="60960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0843" name="Oval 27"/>
          <p:cNvSpPr>
            <a:spLocks noChangeArrowheads="1"/>
          </p:cNvSpPr>
          <p:nvPr/>
        </p:nvSpPr>
        <p:spPr bwMode="auto">
          <a:xfrm>
            <a:off x="76200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0846" name="Text Box 30"/>
          <p:cNvSpPr txBox="1">
            <a:spLocks noChangeArrowheads="1"/>
          </p:cNvSpPr>
          <p:nvPr/>
        </p:nvSpPr>
        <p:spPr bwMode="auto">
          <a:xfrm>
            <a:off x="3505200" y="6096000"/>
            <a:ext cx="1000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walk</a:t>
            </a:r>
          </a:p>
        </p:txBody>
      </p:sp>
      <p:graphicFrame>
        <p:nvGraphicFramePr>
          <p:cNvPr id="382980" name="Object 1028"/>
          <p:cNvGraphicFramePr>
            <a:graphicFrameLocks noChangeAspect="1"/>
          </p:cNvGraphicFramePr>
          <p:nvPr/>
        </p:nvGraphicFramePr>
        <p:xfrm>
          <a:off x="4572000" y="6248400"/>
          <a:ext cx="368300" cy="304800"/>
        </p:xfrm>
        <a:graphic>
          <a:graphicData uri="http://schemas.openxmlformats.org/presentationml/2006/ole">
            <p:oleObj spid="_x0000_s382980" name="Equation" r:id="rId7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52620-5F56-4EFF-9545-133B28B95817}" type="slidenum">
              <a:rPr lang="en-US"/>
              <a:pPr/>
              <a:t>32</a:t>
            </a:fld>
            <a:endParaRPr lang="en-US"/>
          </a:p>
        </p:txBody>
      </p:sp>
      <p:graphicFrame>
        <p:nvGraphicFramePr>
          <p:cNvPr id="384000" name="Object 1024"/>
          <p:cNvGraphicFramePr>
            <a:graphicFrameLocks noChangeAspect="1"/>
          </p:cNvGraphicFramePr>
          <p:nvPr/>
        </p:nvGraphicFramePr>
        <p:xfrm>
          <a:off x="1371600" y="2743200"/>
          <a:ext cx="290513" cy="406400"/>
        </p:xfrm>
        <a:graphic>
          <a:graphicData uri="http://schemas.openxmlformats.org/presentationml/2006/ole">
            <p:oleObj spid="_x0000_s384000" name="Equation" r:id="rId3" imgW="291960" imgH="406080" progId="Equation.3">
              <p:embed/>
            </p:oleObj>
          </a:graphicData>
        </a:graphic>
      </p:graphicFrame>
      <p:sp>
        <p:nvSpPr>
          <p:cNvPr id="359433" name="Oval 1033"/>
          <p:cNvSpPr>
            <a:spLocks noChangeArrowheads="1"/>
          </p:cNvSpPr>
          <p:nvPr/>
        </p:nvSpPr>
        <p:spPr bwMode="auto">
          <a:xfrm>
            <a:off x="1066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34" name="Oval 1034"/>
          <p:cNvSpPr>
            <a:spLocks noChangeArrowheads="1"/>
          </p:cNvSpPr>
          <p:nvPr/>
        </p:nvSpPr>
        <p:spPr bwMode="auto">
          <a:xfrm>
            <a:off x="4800600" y="5549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35" name="Oval 1035"/>
          <p:cNvSpPr>
            <a:spLocks noChangeArrowheads="1"/>
          </p:cNvSpPr>
          <p:nvPr/>
        </p:nvSpPr>
        <p:spPr bwMode="auto">
          <a:xfrm>
            <a:off x="7696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36" name="Oval 1036"/>
          <p:cNvSpPr>
            <a:spLocks noChangeArrowheads="1"/>
          </p:cNvSpPr>
          <p:nvPr/>
        </p:nvSpPr>
        <p:spPr bwMode="auto">
          <a:xfrm>
            <a:off x="22098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37" name="Line 1037"/>
          <p:cNvSpPr>
            <a:spLocks noChangeShapeType="1"/>
          </p:cNvSpPr>
          <p:nvPr/>
        </p:nvSpPr>
        <p:spPr bwMode="auto">
          <a:xfrm>
            <a:off x="6096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38" name="Line 1038"/>
          <p:cNvSpPr>
            <a:spLocks noChangeShapeType="1"/>
          </p:cNvSpPr>
          <p:nvPr/>
        </p:nvSpPr>
        <p:spPr bwMode="auto">
          <a:xfrm>
            <a:off x="16002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39" name="Line 1039"/>
          <p:cNvSpPr>
            <a:spLocks noChangeShapeType="1"/>
          </p:cNvSpPr>
          <p:nvPr/>
        </p:nvSpPr>
        <p:spPr bwMode="auto">
          <a:xfrm>
            <a:off x="27432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40" name="Line 1040"/>
          <p:cNvSpPr>
            <a:spLocks noChangeShapeType="1"/>
          </p:cNvSpPr>
          <p:nvPr/>
        </p:nvSpPr>
        <p:spPr bwMode="auto">
          <a:xfrm>
            <a:off x="4267200" y="57785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41" name="Line 1041"/>
          <p:cNvSpPr>
            <a:spLocks noChangeShapeType="1"/>
          </p:cNvSpPr>
          <p:nvPr/>
        </p:nvSpPr>
        <p:spPr bwMode="auto">
          <a:xfrm>
            <a:off x="5334000" y="57785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42" name="Oval 1042"/>
          <p:cNvSpPr>
            <a:spLocks noChangeArrowheads="1"/>
          </p:cNvSpPr>
          <p:nvPr/>
        </p:nvSpPr>
        <p:spPr bwMode="auto">
          <a:xfrm>
            <a:off x="5638800" y="46482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43" name="Oval 1043"/>
          <p:cNvSpPr>
            <a:spLocks noChangeArrowheads="1"/>
          </p:cNvSpPr>
          <p:nvPr/>
        </p:nvSpPr>
        <p:spPr bwMode="auto">
          <a:xfrm>
            <a:off x="4191000" y="46355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44" name="Line 1044"/>
          <p:cNvSpPr>
            <a:spLocks noChangeShapeType="1"/>
          </p:cNvSpPr>
          <p:nvPr/>
        </p:nvSpPr>
        <p:spPr bwMode="auto">
          <a:xfrm flipV="1">
            <a:off x="5257800" y="51689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45" name="Line 1045"/>
          <p:cNvSpPr>
            <a:spLocks noChangeShapeType="1"/>
          </p:cNvSpPr>
          <p:nvPr/>
        </p:nvSpPr>
        <p:spPr bwMode="auto">
          <a:xfrm>
            <a:off x="4572000" y="51689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46" name="Freeform 1046"/>
          <p:cNvSpPr>
            <a:spLocks/>
          </p:cNvSpPr>
          <p:nvPr/>
        </p:nvSpPr>
        <p:spPr bwMode="auto">
          <a:xfrm>
            <a:off x="4495800" y="41148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9447" name="Line 1047"/>
          <p:cNvSpPr>
            <a:spLocks noChangeShapeType="1"/>
          </p:cNvSpPr>
          <p:nvPr/>
        </p:nvSpPr>
        <p:spPr bwMode="auto">
          <a:xfrm>
            <a:off x="7010400" y="579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4001" name="Object 1025"/>
          <p:cNvGraphicFramePr>
            <a:graphicFrameLocks noChangeAspect="1"/>
          </p:cNvGraphicFramePr>
          <p:nvPr/>
        </p:nvGraphicFramePr>
        <p:xfrm>
          <a:off x="4953000" y="5626100"/>
          <a:ext cx="265113" cy="368300"/>
        </p:xfrm>
        <a:graphic>
          <a:graphicData uri="http://schemas.openxmlformats.org/presentationml/2006/ole">
            <p:oleObj spid="_x0000_s384001" name="Equation" r:id="rId4" imgW="266400" imgH="368280" progId="Equation.3">
              <p:embed/>
            </p:oleObj>
          </a:graphicData>
        </a:graphic>
      </p:graphicFrame>
      <p:sp>
        <p:nvSpPr>
          <p:cNvPr id="359449" name="Text Box 1049"/>
          <p:cNvSpPr txBox="1">
            <a:spLocks noChangeArrowheads="1"/>
          </p:cNvSpPr>
          <p:nvPr/>
        </p:nvSpPr>
        <p:spPr bwMode="auto">
          <a:xfrm>
            <a:off x="33528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359450" name="Text Box 1050"/>
          <p:cNvSpPr txBox="1">
            <a:spLocks noChangeArrowheads="1"/>
          </p:cNvSpPr>
          <p:nvPr/>
        </p:nvSpPr>
        <p:spPr bwMode="auto">
          <a:xfrm>
            <a:off x="6096000" y="5410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359451" name="Oval 1051"/>
          <p:cNvSpPr>
            <a:spLocks noChangeArrowheads="1"/>
          </p:cNvSpPr>
          <p:nvPr/>
        </p:nvSpPr>
        <p:spPr bwMode="auto">
          <a:xfrm>
            <a:off x="76200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9452" name="Text Box 1052"/>
          <p:cNvSpPr txBox="1">
            <a:spLocks noChangeArrowheads="1"/>
          </p:cNvSpPr>
          <p:nvPr/>
        </p:nvSpPr>
        <p:spPr bwMode="auto">
          <a:xfrm>
            <a:off x="3505200" y="6096000"/>
            <a:ext cx="1000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walk</a:t>
            </a:r>
          </a:p>
        </p:txBody>
      </p:sp>
      <p:graphicFrame>
        <p:nvGraphicFramePr>
          <p:cNvPr id="384002" name="Object 1026"/>
          <p:cNvGraphicFramePr>
            <a:graphicFrameLocks noChangeAspect="1"/>
          </p:cNvGraphicFramePr>
          <p:nvPr/>
        </p:nvGraphicFramePr>
        <p:xfrm>
          <a:off x="4572000" y="6248400"/>
          <a:ext cx="368300" cy="304800"/>
        </p:xfrm>
        <a:graphic>
          <a:graphicData uri="http://schemas.openxmlformats.org/presentationml/2006/ole">
            <p:oleObj spid="_x0000_s384002" name="Equation" r:id="rId5" imgW="368280" imgH="304560" progId="Equation.3">
              <p:embed/>
            </p:oleObj>
          </a:graphicData>
        </a:graphic>
      </p:graphicFrame>
      <p:sp>
        <p:nvSpPr>
          <p:cNvPr id="359454" name="Text Box 1054"/>
          <p:cNvSpPr txBox="1">
            <a:spLocks noChangeArrowheads="1"/>
          </p:cNvSpPr>
          <p:nvPr/>
        </p:nvSpPr>
        <p:spPr bwMode="auto">
          <a:xfrm>
            <a:off x="441325" y="2616200"/>
            <a:ext cx="81375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be the first state repeated in the</a:t>
            </a:r>
          </a:p>
          <a:p>
            <a:r>
              <a:rPr lang="en-US"/>
              <a:t>walk of </a:t>
            </a:r>
          </a:p>
        </p:txBody>
      </p:sp>
      <p:graphicFrame>
        <p:nvGraphicFramePr>
          <p:cNvPr id="384003" name="Object 1027"/>
          <p:cNvGraphicFramePr>
            <a:graphicFrameLocks noChangeAspect="1"/>
          </p:cNvGraphicFramePr>
          <p:nvPr/>
        </p:nvGraphicFramePr>
        <p:xfrm>
          <a:off x="2133600" y="3352800"/>
          <a:ext cx="368300" cy="304800"/>
        </p:xfrm>
        <a:graphic>
          <a:graphicData uri="http://schemas.openxmlformats.org/presentationml/2006/ole">
            <p:oleObj spid="_x0000_s384003" name="Equation" r:id="rId6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23D7-3D92-41A5-A55D-B56E12BAB7BF}" type="slidenum">
              <a:rPr lang="en-US"/>
              <a:pPr/>
              <a:t>33</a:t>
            </a:fld>
            <a:endParaRPr lang="en-US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55575" y="1035050"/>
            <a:ext cx="1574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Write  </a:t>
            </a:r>
          </a:p>
        </p:txBody>
      </p:sp>
      <p:graphicFrame>
        <p:nvGraphicFramePr>
          <p:cNvPr id="385024" name="Object 1024"/>
          <p:cNvGraphicFramePr>
            <a:graphicFrameLocks noChangeAspect="1"/>
          </p:cNvGraphicFramePr>
          <p:nvPr/>
        </p:nvGraphicFramePr>
        <p:xfrm>
          <a:off x="1752600" y="1219200"/>
          <a:ext cx="1879600" cy="419100"/>
        </p:xfrm>
        <a:graphic>
          <a:graphicData uri="http://schemas.openxmlformats.org/presentationml/2006/ole">
            <p:oleObj spid="_x0000_s385024" name="Equation" r:id="rId3" imgW="1879560" imgH="419040" progId="Equation.3">
              <p:embed/>
            </p:oleObj>
          </a:graphicData>
        </a:graphic>
      </p:graphicFrame>
      <p:sp>
        <p:nvSpPr>
          <p:cNvPr id="291889" name="Oval 49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890" name="Oval 50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891" name="Oval 51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892" name="Oval 52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893" name="Line 53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894" name="Line 54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895" name="Line 55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896" name="Line 56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897" name="Line 57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898" name="Oval 58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899" name="Oval 59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900" name="Line 60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901" name="Line 61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902" name="Freeform 62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1903" name="Line 63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5025" name="Object 1025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85025" name="Equation" r:id="rId4" imgW="266400" imgH="368280" progId="Equation.3">
              <p:embed/>
            </p:oleObj>
          </a:graphicData>
        </a:graphic>
      </p:graphicFrame>
      <p:sp>
        <p:nvSpPr>
          <p:cNvPr id="291905" name="Text Box 65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1906" name="Text Box 66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1907" name="Oval 67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908" name="AutoShape 68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909" name="AutoShape 69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1910" name="AutoShape 70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5026" name="Object 1026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85026" name="Equation" r:id="rId5" imgW="291960" imgH="304560" progId="Equation.3">
              <p:embed/>
            </p:oleObj>
          </a:graphicData>
        </a:graphic>
      </p:graphicFrame>
      <p:graphicFrame>
        <p:nvGraphicFramePr>
          <p:cNvPr id="385027" name="Object 1027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85027" name="Equation" r:id="rId6" imgW="317160" imgH="406080" progId="Equation.3">
              <p:embed/>
            </p:oleObj>
          </a:graphicData>
        </a:graphic>
      </p:graphicFrame>
      <p:graphicFrame>
        <p:nvGraphicFramePr>
          <p:cNvPr id="385028" name="Object 1028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85028" name="Equation" r:id="rId7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ED919-0E2A-4E0A-B476-9ACEDDA8251F}" type="slidenum">
              <a:rPr lang="en-US"/>
              <a:pPr/>
              <a:t>34</a:t>
            </a:fld>
            <a:endParaRPr lang="en-US"/>
          </a:p>
        </p:txBody>
      </p:sp>
      <p:sp>
        <p:nvSpPr>
          <p:cNvPr id="293890" name="Oval 1026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891" name="Oval 1027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892" name="Oval 1028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893" name="Oval 1029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894" name="Line 1030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895" name="Line 1031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896" name="Line 1032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897" name="Line 1033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898" name="Line 1034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899" name="Oval 1035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900" name="Oval 1036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901" name="Line 1037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902" name="Line 1038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903" name="Freeform 1039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3904" name="Line 1040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6048" name="Object 1024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86048" name="Equation" r:id="rId3" imgW="266400" imgH="368280" progId="Equation.3">
              <p:embed/>
            </p:oleObj>
          </a:graphicData>
        </a:graphic>
      </p:graphicFrame>
      <p:sp>
        <p:nvSpPr>
          <p:cNvPr id="293906" name="Text Box 1042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3907" name="Text Box 1043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3908" name="Oval 1044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909" name="AutoShape 1045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910" name="AutoShape 1046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3911" name="AutoShape 1047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6049" name="Object 1025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86049" name="Equation" r:id="rId4" imgW="291960" imgH="304560" progId="Equation.3">
              <p:embed/>
            </p:oleObj>
          </a:graphicData>
        </a:graphic>
      </p:graphicFrame>
      <p:graphicFrame>
        <p:nvGraphicFramePr>
          <p:cNvPr id="386050" name="Object 1026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86050" name="Equation" r:id="rId5" imgW="317160" imgH="406080" progId="Equation.3">
              <p:embed/>
            </p:oleObj>
          </a:graphicData>
        </a:graphic>
      </p:graphicFrame>
      <p:graphicFrame>
        <p:nvGraphicFramePr>
          <p:cNvPr id="386051" name="Object 1027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86051" name="Equation" r:id="rId6" imgW="266400" imgH="279360" progId="Equation.3">
              <p:embed/>
            </p:oleObj>
          </a:graphicData>
        </a:graphic>
      </p:graphicFrame>
      <p:sp>
        <p:nvSpPr>
          <p:cNvPr id="293915" name="Text Box 1051"/>
          <p:cNvSpPr txBox="1">
            <a:spLocks noChangeArrowheads="1"/>
          </p:cNvSpPr>
          <p:nvPr/>
        </p:nvSpPr>
        <p:spPr bwMode="auto">
          <a:xfrm>
            <a:off x="0" y="152400"/>
            <a:ext cx="2825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Observations:</a:t>
            </a:r>
          </a:p>
        </p:txBody>
      </p:sp>
      <p:graphicFrame>
        <p:nvGraphicFramePr>
          <p:cNvPr id="386052" name="Object 1028"/>
          <p:cNvGraphicFramePr>
            <a:graphicFrameLocks noChangeAspect="1"/>
          </p:cNvGraphicFramePr>
          <p:nvPr/>
        </p:nvGraphicFramePr>
        <p:xfrm>
          <a:off x="4851400" y="203200"/>
          <a:ext cx="2146300" cy="544513"/>
        </p:xfrm>
        <a:graphic>
          <a:graphicData uri="http://schemas.openxmlformats.org/presentationml/2006/ole">
            <p:oleObj spid="_x0000_s386052" name="Equation" r:id="rId7" imgW="2145960" imgH="545760" progId="Equation.3">
              <p:embed/>
            </p:oleObj>
          </a:graphicData>
        </a:graphic>
      </p:graphicFrame>
      <p:sp>
        <p:nvSpPr>
          <p:cNvPr id="293918" name="Text Box 1054"/>
          <p:cNvSpPr txBox="1">
            <a:spLocks noChangeArrowheads="1"/>
          </p:cNvSpPr>
          <p:nvPr/>
        </p:nvSpPr>
        <p:spPr bwMode="auto">
          <a:xfrm>
            <a:off x="3352800" y="152400"/>
            <a:ext cx="1373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length</a:t>
            </a:r>
          </a:p>
        </p:txBody>
      </p:sp>
      <p:sp>
        <p:nvSpPr>
          <p:cNvPr id="293919" name="Text Box 1055"/>
          <p:cNvSpPr txBox="1">
            <a:spLocks noChangeArrowheads="1"/>
          </p:cNvSpPr>
          <p:nvPr/>
        </p:nvSpPr>
        <p:spPr bwMode="auto">
          <a:xfrm>
            <a:off x="7086600" y="152400"/>
            <a:ext cx="19383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number</a:t>
            </a:r>
          </a:p>
          <a:p>
            <a:r>
              <a:rPr lang="en-US"/>
              <a:t>of states</a:t>
            </a:r>
          </a:p>
          <a:p>
            <a:r>
              <a:rPr lang="en-US"/>
              <a:t>of DFA</a:t>
            </a:r>
          </a:p>
        </p:txBody>
      </p:sp>
      <p:graphicFrame>
        <p:nvGraphicFramePr>
          <p:cNvPr id="386053" name="Object 1029"/>
          <p:cNvGraphicFramePr>
            <a:graphicFrameLocks noChangeAspect="1"/>
          </p:cNvGraphicFramePr>
          <p:nvPr/>
        </p:nvGraphicFramePr>
        <p:xfrm>
          <a:off x="4876800" y="1447800"/>
          <a:ext cx="1435100" cy="542925"/>
        </p:xfrm>
        <a:graphic>
          <a:graphicData uri="http://schemas.openxmlformats.org/presentationml/2006/ole">
            <p:oleObj spid="_x0000_s386053" name="Equation" r:id="rId8" imgW="1434960" imgH="545760" progId="Equation.3">
              <p:embed/>
            </p:oleObj>
          </a:graphicData>
        </a:graphic>
      </p:graphicFrame>
      <p:sp>
        <p:nvSpPr>
          <p:cNvPr id="293921" name="Text Box 1057"/>
          <p:cNvSpPr txBox="1">
            <a:spLocks noChangeArrowheads="1"/>
          </p:cNvSpPr>
          <p:nvPr/>
        </p:nvSpPr>
        <p:spPr bwMode="auto">
          <a:xfrm>
            <a:off x="3352800" y="1371600"/>
            <a:ext cx="1373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length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A8A48-E2F4-4FDD-A31D-4FAB8DA2B559}" type="slidenum">
              <a:rPr lang="en-US"/>
              <a:pPr/>
              <a:t>35</a:t>
            </a:fld>
            <a:endParaRPr lang="en-US"/>
          </a:p>
        </p:txBody>
      </p:sp>
      <p:sp>
        <p:nvSpPr>
          <p:cNvPr id="292866" name="Text Box 2"/>
          <p:cNvSpPr txBox="1">
            <a:spLocks noChangeArrowheads="1"/>
          </p:cNvSpPr>
          <p:nvPr/>
        </p:nvSpPr>
        <p:spPr bwMode="auto">
          <a:xfrm>
            <a:off x="3276600" y="228600"/>
            <a:ext cx="32686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string         </a:t>
            </a:r>
          </a:p>
          <a:p>
            <a:r>
              <a:rPr lang="en-US"/>
              <a:t>is accepted </a:t>
            </a:r>
          </a:p>
        </p:txBody>
      </p:sp>
      <p:graphicFrame>
        <p:nvGraphicFramePr>
          <p:cNvPr id="387072" name="Object 1024"/>
          <p:cNvGraphicFramePr>
            <a:graphicFrameLocks noChangeAspect="1"/>
          </p:cNvGraphicFramePr>
          <p:nvPr/>
        </p:nvGraphicFramePr>
        <p:xfrm>
          <a:off x="5791200" y="381000"/>
          <a:ext cx="646113" cy="419100"/>
        </p:xfrm>
        <a:graphic>
          <a:graphicData uri="http://schemas.openxmlformats.org/presentationml/2006/ole">
            <p:oleObj spid="_x0000_s387072" name="Equation" r:id="rId3" imgW="647640" imgH="419040" progId="Equation.3">
              <p:embed/>
            </p:oleObj>
          </a:graphicData>
        </a:graphic>
      </p:graphicFrame>
      <p:sp>
        <p:nvSpPr>
          <p:cNvPr id="292868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Observation:</a:t>
            </a:r>
          </a:p>
        </p:txBody>
      </p:sp>
      <p:sp>
        <p:nvSpPr>
          <p:cNvPr id="292919" name="Oval 55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20" name="Oval 56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21" name="Oval 57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22" name="Oval 58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23" name="Line 59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24" name="Line 60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25" name="Line 61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26" name="Line 62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27" name="Line 63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28" name="Oval 64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29" name="Oval 65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30" name="Line 66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31" name="Line 67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32" name="Freeform 68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2933" name="Line 69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7073" name="Object 1025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87073" name="Equation" r:id="rId4" imgW="266400" imgH="368280" progId="Equation.3">
              <p:embed/>
            </p:oleObj>
          </a:graphicData>
        </a:graphic>
      </p:graphicFrame>
      <p:sp>
        <p:nvSpPr>
          <p:cNvPr id="292935" name="Text Box 71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2936" name="Text Box 72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2937" name="Oval 73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38" name="AutoShape 74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39" name="AutoShape 75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2940" name="AutoShape 76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7074" name="Object 1026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87074" name="Equation" r:id="rId5" imgW="291960" imgH="304560" progId="Equation.3">
              <p:embed/>
            </p:oleObj>
          </a:graphicData>
        </a:graphic>
      </p:graphicFrame>
      <p:graphicFrame>
        <p:nvGraphicFramePr>
          <p:cNvPr id="387075" name="Object 1027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87075" name="Equation" r:id="rId6" imgW="317160" imgH="406080" progId="Equation.3">
              <p:embed/>
            </p:oleObj>
          </a:graphicData>
        </a:graphic>
      </p:graphicFrame>
      <p:graphicFrame>
        <p:nvGraphicFramePr>
          <p:cNvPr id="387076" name="Object 1028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87076" name="Equation" r:id="rId7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3F13-B579-48CB-ADB6-9BDD7F3FE566}" type="slidenum">
              <a:rPr lang="en-US"/>
              <a:pPr/>
              <a:t>36</a:t>
            </a:fld>
            <a:endParaRPr lang="en-US"/>
          </a:p>
        </p:txBody>
      </p:sp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3276600" y="228600"/>
            <a:ext cx="32686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string         </a:t>
            </a:r>
          </a:p>
          <a:p>
            <a:r>
              <a:rPr lang="en-US"/>
              <a:t>is accepted </a:t>
            </a:r>
          </a:p>
        </p:txBody>
      </p:sp>
      <p:graphicFrame>
        <p:nvGraphicFramePr>
          <p:cNvPr id="388096" name="Object 1024"/>
          <p:cNvGraphicFramePr>
            <a:graphicFrameLocks noChangeAspect="1"/>
          </p:cNvGraphicFramePr>
          <p:nvPr/>
        </p:nvGraphicFramePr>
        <p:xfrm>
          <a:off x="5721350" y="361950"/>
          <a:ext cx="1435100" cy="419100"/>
        </p:xfrm>
        <a:graphic>
          <a:graphicData uri="http://schemas.openxmlformats.org/presentationml/2006/ole">
            <p:oleObj spid="_x0000_s388096" name="Equation" r:id="rId3" imgW="1434960" imgH="419040" progId="Equation.3">
              <p:embed/>
            </p:oleObj>
          </a:graphicData>
        </a:graphic>
      </p:graphicFrame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Observation:</a:t>
            </a:r>
          </a:p>
        </p:txBody>
      </p:sp>
      <p:sp>
        <p:nvSpPr>
          <p:cNvPr id="294967" name="Oval 55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68" name="Oval 56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69" name="Oval 57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70" name="Oval 58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71" name="Line 59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72" name="Line 60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73" name="Line 61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74" name="Line 62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75" name="Line 63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76" name="Oval 64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77" name="Oval 65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78" name="Line 66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79" name="Line 67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80" name="Freeform 68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4981" name="Line 69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8097" name="Object 1025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88097" name="Equation" r:id="rId4" imgW="266400" imgH="368280" progId="Equation.3">
              <p:embed/>
            </p:oleObj>
          </a:graphicData>
        </a:graphic>
      </p:graphicFrame>
      <p:sp>
        <p:nvSpPr>
          <p:cNvPr id="294983" name="Text Box 71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4984" name="Text Box 72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4985" name="Oval 73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86" name="AutoShape 74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87" name="AutoShape 75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4988" name="AutoShape 76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8098" name="Object 1026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88098" name="Equation" r:id="rId5" imgW="291960" imgH="304560" progId="Equation.3">
              <p:embed/>
            </p:oleObj>
          </a:graphicData>
        </a:graphic>
      </p:graphicFrame>
      <p:graphicFrame>
        <p:nvGraphicFramePr>
          <p:cNvPr id="388099" name="Object 1027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88099" name="Equation" r:id="rId6" imgW="317160" imgH="406080" progId="Equation.3">
              <p:embed/>
            </p:oleObj>
          </a:graphicData>
        </a:graphic>
      </p:graphicFrame>
      <p:graphicFrame>
        <p:nvGraphicFramePr>
          <p:cNvPr id="388100" name="Object 1028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88100" name="Equation" r:id="rId7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32726-F316-42D2-B92B-47B51D018920}" type="slidenum">
              <a:rPr lang="en-US"/>
              <a:pPr/>
              <a:t>37</a:t>
            </a:fld>
            <a:endParaRPr lang="en-US"/>
          </a:p>
        </p:txBody>
      </p:sp>
      <p:sp>
        <p:nvSpPr>
          <p:cNvPr id="295938" name="Text Box 2"/>
          <p:cNvSpPr txBox="1">
            <a:spLocks noChangeArrowheads="1"/>
          </p:cNvSpPr>
          <p:nvPr/>
        </p:nvSpPr>
        <p:spPr bwMode="auto">
          <a:xfrm>
            <a:off x="3276600" y="228600"/>
            <a:ext cx="32686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string         </a:t>
            </a:r>
          </a:p>
          <a:p>
            <a:r>
              <a:rPr lang="en-US"/>
              <a:t>is accepted </a:t>
            </a:r>
          </a:p>
        </p:txBody>
      </p:sp>
      <p:graphicFrame>
        <p:nvGraphicFramePr>
          <p:cNvPr id="389120" name="Object 1024"/>
          <p:cNvGraphicFramePr>
            <a:graphicFrameLocks noChangeAspect="1"/>
          </p:cNvGraphicFramePr>
          <p:nvPr/>
        </p:nvGraphicFramePr>
        <p:xfrm>
          <a:off x="5791200" y="381000"/>
          <a:ext cx="1841500" cy="419100"/>
        </p:xfrm>
        <a:graphic>
          <a:graphicData uri="http://schemas.openxmlformats.org/presentationml/2006/ole">
            <p:oleObj spid="_x0000_s389120" name="Equation" r:id="rId3" imgW="1841400" imgH="419040" progId="Equation.3">
              <p:embed/>
            </p:oleObj>
          </a:graphicData>
        </a:graphic>
      </p:graphicFrame>
      <p:sp>
        <p:nvSpPr>
          <p:cNvPr id="295940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Observation:</a:t>
            </a:r>
          </a:p>
        </p:txBody>
      </p:sp>
      <p:sp>
        <p:nvSpPr>
          <p:cNvPr id="295991" name="Oval 55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5992" name="Oval 56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5993" name="Oval 57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5994" name="Oval 58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5995" name="Line 59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5996" name="Line 60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5997" name="Line 61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5998" name="Line 62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5999" name="Line 63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6000" name="Oval 64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6001" name="Oval 65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6002" name="Line 66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6003" name="Line 67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6004" name="Freeform 68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6005" name="Line 69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9121" name="Object 1025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89121" name="Equation" r:id="rId4" imgW="266400" imgH="368280" progId="Equation.3">
              <p:embed/>
            </p:oleObj>
          </a:graphicData>
        </a:graphic>
      </p:graphicFrame>
      <p:sp>
        <p:nvSpPr>
          <p:cNvPr id="296007" name="Text Box 71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6008" name="Text Box 72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6009" name="Oval 73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6010" name="AutoShape 74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6011" name="AutoShape 75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6012" name="AutoShape 76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9122" name="Object 1026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89122" name="Equation" r:id="rId5" imgW="291960" imgH="304560" progId="Equation.3">
              <p:embed/>
            </p:oleObj>
          </a:graphicData>
        </a:graphic>
      </p:graphicFrame>
      <p:graphicFrame>
        <p:nvGraphicFramePr>
          <p:cNvPr id="389123" name="Object 1027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89123" name="Equation" r:id="rId6" imgW="317160" imgH="406080" progId="Equation.3">
              <p:embed/>
            </p:oleObj>
          </a:graphicData>
        </a:graphic>
      </p:graphicFrame>
      <p:graphicFrame>
        <p:nvGraphicFramePr>
          <p:cNvPr id="389124" name="Object 1028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89124" name="Equation" r:id="rId7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28B6-985B-4E49-B321-AFCA19257F29}" type="slidenum">
              <a:rPr lang="en-US"/>
              <a:pPr/>
              <a:t>38</a:t>
            </a:fld>
            <a:endParaRPr lang="en-US"/>
          </a:p>
        </p:txBody>
      </p:sp>
      <p:sp>
        <p:nvSpPr>
          <p:cNvPr id="296962" name="Text Box 2"/>
          <p:cNvSpPr txBox="1">
            <a:spLocks noChangeArrowheads="1"/>
          </p:cNvSpPr>
          <p:nvPr/>
        </p:nvSpPr>
        <p:spPr bwMode="auto">
          <a:xfrm>
            <a:off x="3276600" y="228600"/>
            <a:ext cx="32686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string         </a:t>
            </a:r>
          </a:p>
          <a:p>
            <a:r>
              <a:rPr lang="en-US"/>
              <a:t>is accepted </a:t>
            </a:r>
          </a:p>
        </p:txBody>
      </p:sp>
      <p:graphicFrame>
        <p:nvGraphicFramePr>
          <p:cNvPr id="390144" name="Object 1024"/>
          <p:cNvGraphicFramePr>
            <a:graphicFrameLocks noChangeAspect="1"/>
          </p:cNvGraphicFramePr>
          <p:nvPr/>
        </p:nvGraphicFramePr>
        <p:xfrm>
          <a:off x="5791200" y="0"/>
          <a:ext cx="1219200" cy="722313"/>
        </p:xfrm>
        <a:graphic>
          <a:graphicData uri="http://schemas.openxmlformats.org/presentationml/2006/ole">
            <p:oleObj spid="_x0000_s390144" name="Equation" r:id="rId3" imgW="1218960" imgH="723600" progId="Equation.3">
              <p:embed/>
            </p:oleObj>
          </a:graphicData>
        </a:graphic>
      </p:graphicFrame>
      <p:sp>
        <p:nvSpPr>
          <p:cNvPr id="296964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2311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In General:</a:t>
            </a:r>
          </a:p>
        </p:txBody>
      </p:sp>
      <p:graphicFrame>
        <p:nvGraphicFramePr>
          <p:cNvPr id="390145" name="Object 1025"/>
          <p:cNvGraphicFramePr>
            <a:graphicFrameLocks noChangeAspect="1"/>
          </p:cNvGraphicFramePr>
          <p:nvPr/>
        </p:nvGraphicFramePr>
        <p:xfrm>
          <a:off x="5791200" y="914400"/>
          <a:ext cx="2324100" cy="531813"/>
        </p:xfrm>
        <a:graphic>
          <a:graphicData uri="http://schemas.openxmlformats.org/presentationml/2006/ole">
            <p:oleObj spid="_x0000_s390145" name="Equation" r:id="rId4" imgW="2323800" imgH="533160" progId="Equation.3">
              <p:embed/>
            </p:oleObj>
          </a:graphicData>
        </a:graphic>
      </p:graphicFrame>
      <p:sp>
        <p:nvSpPr>
          <p:cNvPr id="297016" name="Oval 56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17" name="Oval 57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18" name="Oval 58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19" name="Oval 59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20" name="Line 60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21" name="Line 61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22" name="Line 62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23" name="Line 63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24" name="Line 64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25" name="Oval 65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26" name="Oval 66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27" name="Line 67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28" name="Line 68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29" name="Freeform 69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30" name="Line 70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0146" name="Object 1026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90146" name="Equation" r:id="rId5" imgW="266400" imgH="368280" progId="Equation.3">
              <p:embed/>
            </p:oleObj>
          </a:graphicData>
        </a:graphic>
      </p:graphicFrame>
      <p:sp>
        <p:nvSpPr>
          <p:cNvPr id="297032" name="Text Box 72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7033" name="Text Box 73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297034" name="Oval 74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35" name="AutoShape 75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36" name="AutoShape 76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37" name="AutoShape 77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0147" name="Object 1027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90147" name="Equation" r:id="rId6" imgW="291960" imgH="304560" progId="Equation.3">
              <p:embed/>
            </p:oleObj>
          </a:graphicData>
        </a:graphic>
      </p:graphicFrame>
      <p:graphicFrame>
        <p:nvGraphicFramePr>
          <p:cNvPr id="390148" name="Object 1028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90148" name="Equation" r:id="rId7" imgW="317160" imgH="406080" progId="Equation.3">
              <p:embed/>
            </p:oleObj>
          </a:graphicData>
        </a:graphic>
      </p:graphicFrame>
      <p:graphicFrame>
        <p:nvGraphicFramePr>
          <p:cNvPr id="390149" name="Object 1029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90149" name="Equation" r:id="rId8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6559-4158-4C9A-AA05-7ACB1DC4BDF9}" type="slidenum">
              <a:rPr lang="en-US"/>
              <a:pPr/>
              <a:t>39</a:t>
            </a:fld>
            <a:endParaRPr lang="en-US"/>
          </a:p>
        </p:txBody>
      </p:sp>
      <p:graphicFrame>
        <p:nvGraphicFramePr>
          <p:cNvPr id="391168" name="Object 1024"/>
          <p:cNvGraphicFramePr>
            <a:graphicFrameLocks noChangeAspect="1"/>
          </p:cNvGraphicFramePr>
          <p:nvPr/>
        </p:nvGraphicFramePr>
        <p:xfrm>
          <a:off x="2971800" y="152400"/>
          <a:ext cx="2336800" cy="722313"/>
        </p:xfrm>
        <a:graphic>
          <a:graphicData uri="http://schemas.openxmlformats.org/presentationml/2006/ole">
            <p:oleObj spid="_x0000_s391168" name="Equation" r:id="rId3" imgW="2336760" imgH="723600" progId="Equation.3">
              <p:embed/>
            </p:oleObj>
          </a:graphicData>
        </a:graphic>
      </p:graphicFrame>
      <p:sp>
        <p:nvSpPr>
          <p:cNvPr id="361476" name="Text Box 1028"/>
          <p:cNvSpPr txBox="1">
            <a:spLocks noChangeArrowheads="1"/>
          </p:cNvSpPr>
          <p:nvPr/>
        </p:nvSpPr>
        <p:spPr bwMode="auto">
          <a:xfrm>
            <a:off x="228600" y="228600"/>
            <a:ext cx="2311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In General:</a:t>
            </a:r>
          </a:p>
        </p:txBody>
      </p:sp>
      <p:graphicFrame>
        <p:nvGraphicFramePr>
          <p:cNvPr id="391169" name="Object 1025"/>
          <p:cNvGraphicFramePr>
            <a:graphicFrameLocks noChangeAspect="1"/>
          </p:cNvGraphicFramePr>
          <p:nvPr/>
        </p:nvGraphicFramePr>
        <p:xfrm>
          <a:off x="6477000" y="381000"/>
          <a:ext cx="2324100" cy="531813"/>
        </p:xfrm>
        <a:graphic>
          <a:graphicData uri="http://schemas.openxmlformats.org/presentationml/2006/ole">
            <p:oleObj spid="_x0000_s391169" name="Equation" r:id="rId4" imgW="2323800" imgH="533160" progId="Equation.3">
              <p:embed/>
            </p:oleObj>
          </a:graphicData>
        </a:graphic>
      </p:graphicFrame>
      <p:sp>
        <p:nvSpPr>
          <p:cNvPr id="361478" name="Oval 1030"/>
          <p:cNvSpPr>
            <a:spLocks noChangeArrowheads="1"/>
          </p:cNvSpPr>
          <p:nvPr/>
        </p:nvSpPr>
        <p:spPr bwMode="auto">
          <a:xfrm>
            <a:off x="1143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79" name="Oval 1031"/>
          <p:cNvSpPr>
            <a:spLocks noChangeArrowheads="1"/>
          </p:cNvSpPr>
          <p:nvPr/>
        </p:nvSpPr>
        <p:spPr bwMode="auto">
          <a:xfrm>
            <a:off x="4876800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80" name="Oval 1032"/>
          <p:cNvSpPr>
            <a:spLocks noChangeArrowheads="1"/>
          </p:cNvSpPr>
          <p:nvPr/>
        </p:nvSpPr>
        <p:spPr bwMode="auto">
          <a:xfrm>
            <a:off x="7772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81" name="Oval 1033"/>
          <p:cNvSpPr>
            <a:spLocks noChangeArrowheads="1"/>
          </p:cNvSpPr>
          <p:nvPr/>
        </p:nvSpPr>
        <p:spPr bwMode="auto">
          <a:xfrm>
            <a:off x="22860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82" name="Line 1034"/>
          <p:cNvSpPr>
            <a:spLocks noChangeShapeType="1"/>
          </p:cNvSpPr>
          <p:nvPr/>
        </p:nvSpPr>
        <p:spPr bwMode="auto">
          <a:xfrm>
            <a:off x="685800" y="533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83" name="Line 1035"/>
          <p:cNvSpPr>
            <a:spLocks noChangeShapeType="1"/>
          </p:cNvSpPr>
          <p:nvPr/>
        </p:nvSpPr>
        <p:spPr bwMode="auto">
          <a:xfrm>
            <a:off x="1676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84" name="Line 1036"/>
          <p:cNvSpPr>
            <a:spLocks noChangeShapeType="1"/>
          </p:cNvSpPr>
          <p:nvPr/>
        </p:nvSpPr>
        <p:spPr bwMode="auto">
          <a:xfrm>
            <a:off x="28194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85" name="Line 1037"/>
          <p:cNvSpPr>
            <a:spLocks noChangeShapeType="1"/>
          </p:cNvSpPr>
          <p:nvPr/>
        </p:nvSpPr>
        <p:spPr bwMode="auto">
          <a:xfrm>
            <a:off x="4343400" y="53213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86" name="Line 1038"/>
          <p:cNvSpPr>
            <a:spLocks noChangeShapeType="1"/>
          </p:cNvSpPr>
          <p:nvPr/>
        </p:nvSpPr>
        <p:spPr bwMode="auto">
          <a:xfrm>
            <a:off x="5410200" y="5321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87" name="Oval 1039"/>
          <p:cNvSpPr>
            <a:spLocks noChangeArrowheads="1"/>
          </p:cNvSpPr>
          <p:nvPr/>
        </p:nvSpPr>
        <p:spPr bwMode="auto">
          <a:xfrm>
            <a:off x="5715000" y="41910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88" name="Oval 1040"/>
          <p:cNvSpPr>
            <a:spLocks noChangeArrowheads="1"/>
          </p:cNvSpPr>
          <p:nvPr/>
        </p:nvSpPr>
        <p:spPr bwMode="auto">
          <a:xfrm>
            <a:off x="4267200" y="4178300"/>
            <a:ext cx="533400" cy="5334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89" name="Line 1041"/>
          <p:cNvSpPr>
            <a:spLocks noChangeShapeType="1"/>
          </p:cNvSpPr>
          <p:nvPr/>
        </p:nvSpPr>
        <p:spPr bwMode="auto">
          <a:xfrm flipV="1">
            <a:off x="5334000" y="47117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90" name="Line 1042"/>
          <p:cNvSpPr>
            <a:spLocks noChangeShapeType="1"/>
          </p:cNvSpPr>
          <p:nvPr/>
        </p:nvSpPr>
        <p:spPr bwMode="auto">
          <a:xfrm>
            <a:off x="4648200" y="47117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91" name="Freeform 1043"/>
          <p:cNvSpPr>
            <a:spLocks/>
          </p:cNvSpPr>
          <p:nvPr/>
        </p:nvSpPr>
        <p:spPr bwMode="auto">
          <a:xfrm>
            <a:off x="4572000" y="3657600"/>
            <a:ext cx="1371600" cy="520700"/>
          </a:xfrm>
          <a:custGeom>
            <a:avLst/>
            <a:gdLst/>
            <a:ahLst/>
            <a:cxnLst>
              <a:cxn ang="0">
                <a:pos x="864" y="328"/>
              </a:cxn>
              <a:cxn ang="0">
                <a:pos x="672" y="88"/>
              </a:cxn>
              <a:cxn ang="0">
                <a:pos x="192" y="40"/>
              </a:cxn>
              <a:cxn ang="0">
                <a:pos x="0" y="328"/>
              </a:cxn>
            </a:cxnLst>
            <a:rect l="0" t="0" r="r" b="b"/>
            <a:pathLst>
              <a:path w="864" h="328">
                <a:moveTo>
                  <a:pt x="864" y="328"/>
                </a:moveTo>
                <a:cubicBezTo>
                  <a:pt x="824" y="232"/>
                  <a:pt x="784" y="136"/>
                  <a:pt x="672" y="88"/>
                </a:cubicBezTo>
                <a:cubicBezTo>
                  <a:pt x="560" y="40"/>
                  <a:pt x="304" y="0"/>
                  <a:pt x="192" y="40"/>
                </a:cubicBezTo>
                <a:cubicBezTo>
                  <a:pt x="80" y="80"/>
                  <a:pt x="40" y="204"/>
                  <a:pt x="0" y="3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1492" name="Line 1044"/>
          <p:cNvSpPr>
            <a:spLocks noChangeShapeType="1"/>
          </p:cNvSpPr>
          <p:nvPr/>
        </p:nvSpPr>
        <p:spPr bwMode="auto">
          <a:xfrm>
            <a:off x="7086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1170" name="Object 1026"/>
          <p:cNvGraphicFramePr>
            <a:graphicFrameLocks noChangeAspect="1"/>
          </p:cNvGraphicFramePr>
          <p:nvPr/>
        </p:nvGraphicFramePr>
        <p:xfrm>
          <a:off x="5029200" y="5168900"/>
          <a:ext cx="265113" cy="368300"/>
        </p:xfrm>
        <a:graphic>
          <a:graphicData uri="http://schemas.openxmlformats.org/presentationml/2006/ole">
            <p:oleObj spid="_x0000_s391170" name="Equation" r:id="rId5" imgW="266400" imgH="368280" progId="Equation.3">
              <p:embed/>
            </p:oleObj>
          </a:graphicData>
        </a:graphic>
      </p:graphicFrame>
      <p:sp>
        <p:nvSpPr>
          <p:cNvPr id="361494" name="Text Box 1046"/>
          <p:cNvSpPr txBox="1">
            <a:spLocks noChangeArrowheads="1"/>
          </p:cNvSpPr>
          <p:nvPr/>
        </p:nvSpPr>
        <p:spPr bwMode="auto">
          <a:xfrm>
            <a:off x="34290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361495" name="Text Box 1047"/>
          <p:cNvSpPr txBox="1">
            <a:spLocks noChangeArrowheads="1"/>
          </p:cNvSpPr>
          <p:nvPr/>
        </p:nvSpPr>
        <p:spPr bwMode="auto">
          <a:xfrm>
            <a:off x="6172200" y="4953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361496" name="Oval 1048"/>
          <p:cNvSpPr>
            <a:spLocks noChangeArrowheads="1"/>
          </p:cNvSpPr>
          <p:nvPr/>
        </p:nvSpPr>
        <p:spPr bwMode="auto">
          <a:xfrm>
            <a:off x="76962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97" name="AutoShape 1049"/>
          <p:cNvSpPr>
            <a:spLocks/>
          </p:cNvSpPr>
          <p:nvPr/>
        </p:nvSpPr>
        <p:spPr bwMode="auto">
          <a:xfrm rot="5400000">
            <a:off x="3009900" y="4457700"/>
            <a:ext cx="457200" cy="3276600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98" name="AutoShape 1050"/>
          <p:cNvSpPr>
            <a:spLocks/>
          </p:cNvSpPr>
          <p:nvPr/>
        </p:nvSpPr>
        <p:spPr bwMode="auto">
          <a:xfrm rot="5400000">
            <a:off x="6438900" y="4914900"/>
            <a:ext cx="381000" cy="2286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1499" name="AutoShape 1051"/>
          <p:cNvSpPr>
            <a:spLocks/>
          </p:cNvSpPr>
          <p:nvPr/>
        </p:nvSpPr>
        <p:spPr bwMode="auto">
          <a:xfrm rot="16200000">
            <a:off x="5029200" y="2362200"/>
            <a:ext cx="381000" cy="2057400"/>
          </a:xfrm>
          <a:prstGeom prst="rightBrace">
            <a:avLst>
              <a:gd name="adj1" fmla="val 4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1171" name="Object 1027"/>
          <p:cNvGraphicFramePr>
            <a:graphicFrameLocks noChangeAspect="1"/>
          </p:cNvGraphicFramePr>
          <p:nvPr/>
        </p:nvGraphicFramePr>
        <p:xfrm>
          <a:off x="3111500" y="6388100"/>
          <a:ext cx="290513" cy="304800"/>
        </p:xfrm>
        <a:graphic>
          <a:graphicData uri="http://schemas.openxmlformats.org/presentationml/2006/ole">
            <p:oleObj spid="_x0000_s391171" name="Equation" r:id="rId6" imgW="291960" imgH="304560" progId="Equation.3">
              <p:embed/>
            </p:oleObj>
          </a:graphicData>
        </a:graphic>
      </p:graphicFrame>
      <p:graphicFrame>
        <p:nvGraphicFramePr>
          <p:cNvPr id="391172" name="Object 1028"/>
          <p:cNvGraphicFramePr>
            <a:graphicFrameLocks noChangeAspect="1"/>
          </p:cNvGraphicFramePr>
          <p:nvPr/>
        </p:nvGraphicFramePr>
        <p:xfrm>
          <a:off x="5092700" y="2800350"/>
          <a:ext cx="315913" cy="406400"/>
        </p:xfrm>
        <a:graphic>
          <a:graphicData uri="http://schemas.openxmlformats.org/presentationml/2006/ole">
            <p:oleObj spid="_x0000_s391172" name="Equation" r:id="rId7" imgW="317160" imgH="406080" progId="Equation.3">
              <p:embed/>
            </p:oleObj>
          </a:graphicData>
        </a:graphic>
      </p:graphicFrame>
      <p:graphicFrame>
        <p:nvGraphicFramePr>
          <p:cNvPr id="391173" name="Object 1029"/>
          <p:cNvGraphicFramePr>
            <a:graphicFrameLocks noChangeAspect="1"/>
          </p:cNvGraphicFramePr>
          <p:nvPr/>
        </p:nvGraphicFramePr>
        <p:xfrm>
          <a:off x="6546850" y="6311900"/>
          <a:ext cx="265113" cy="277813"/>
        </p:xfrm>
        <a:graphic>
          <a:graphicData uri="http://schemas.openxmlformats.org/presentationml/2006/ole">
            <p:oleObj spid="_x0000_s391173" name="Equation" r:id="rId8" imgW="266400" imgH="279360" progId="Equation.3">
              <p:embed/>
            </p:oleObj>
          </a:graphicData>
        </a:graphic>
      </p:graphicFrame>
      <p:sp>
        <p:nvSpPr>
          <p:cNvPr id="361503" name="Line 1055"/>
          <p:cNvSpPr>
            <a:spLocks noChangeShapeType="1"/>
          </p:cNvSpPr>
          <p:nvPr/>
        </p:nvSpPr>
        <p:spPr bwMode="auto">
          <a:xfrm flipV="1">
            <a:off x="5029200" y="914400"/>
            <a:ext cx="76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1504" name="Text Box 1056"/>
          <p:cNvSpPr txBox="1">
            <a:spLocks noChangeArrowheads="1"/>
          </p:cNvSpPr>
          <p:nvPr/>
        </p:nvSpPr>
        <p:spPr bwMode="auto">
          <a:xfrm>
            <a:off x="2209800" y="1524000"/>
            <a:ext cx="6048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accepted by the DFA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11F02-A03A-400B-8A55-4A445AA58B4A}" type="slidenum">
              <a:rPr lang="en-US"/>
              <a:pPr/>
              <a:t>40</a:t>
            </a:fld>
            <a:endParaRPr lang="en-US"/>
          </a:p>
        </p:txBody>
      </p:sp>
      <p:sp>
        <p:nvSpPr>
          <p:cNvPr id="297986" name="Text Box 2"/>
          <p:cNvSpPr txBox="1">
            <a:spLocks noChangeArrowheads="1"/>
          </p:cNvSpPr>
          <p:nvPr/>
        </p:nvSpPr>
        <p:spPr bwMode="auto">
          <a:xfrm>
            <a:off x="1905000" y="609600"/>
            <a:ext cx="5905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other words, we described:</a:t>
            </a:r>
          </a:p>
        </p:txBody>
      </p:sp>
      <p:sp>
        <p:nvSpPr>
          <p:cNvPr id="297987" name="AutoShape 3"/>
          <p:cNvSpPr>
            <a:spLocks noChangeArrowheads="1"/>
          </p:cNvSpPr>
          <p:nvPr/>
        </p:nvSpPr>
        <p:spPr bwMode="auto">
          <a:xfrm>
            <a:off x="6019800" y="2057400"/>
            <a:ext cx="962025" cy="914400"/>
          </a:xfrm>
          <a:prstGeom prst="star5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989" name="AutoShape 5"/>
          <p:cNvSpPr>
            <a:spLocks noChangeArrowheads="1"/>
          </p:cNvSpPr>
          <p:nvPr/>
        </p:nvSpPr>
        <p:spPr bwMode="auto">
          <a:xfrm>
            <a:off x="838200" y="3124200"/>
            <a:ext cx="962025" cy="914400"/>
          </a:xfrm>
          <a:prstGeom prst="star5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991" name="AutoShape 7"/>
          <p:cNvSpPr>
            <a:spLocks noChangeArrowheads="1"/>
          </p:cNvSpPr>
          <p:nvPr/>
        </p:nvSpPr>
        <p:spPr bwMode="auto">
          <a:xfrm>
            <a:off x="5486400" y="4495800"/>
            <a:ext cx="962025" cy="914400"/>
          </a:xfrm>
          <a:prstGeom prst="star5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992" name="AutoShape 8"/>
          <p:cNvSpPr>
            <a:spLocks noChangeArrowheads="1"/>
          </p:cNvSpPr>
          <p:nvPr/>
        </p:nvSpPr>
        <p:spPr bwMode="auto">
          <a:xfrm>
            <a:off x="2971800" y="1828800"/>
            <a:ext cx="914400" cy="914400"/>
          </a:xfrm>
          <a:prstGeom prst="irregularSeal1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993" name="AutoShape 9"/>
          <p:cNvSpPr>
            <a:spLocks noChangeArrowheads="1"/>
          </p:cNvSpPr>
          <p:nvPr/>
        </p:nvSpPr>
        <p:spPr bwMode="auto">
          <a:xfrm>
            <a:off x="3276600" y="4495800"/>
            <a:ext cx="914400" cy="914400"/>
          </a:xfrm>
          <a:prstGeom prst="smileyFace">
            <a:avLst>
              <a:gd name="adj" fmla="val 4653"/>
            </a:avLst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995" name="AutoShape 11"/>
          <p:cNvSpPr>
            <a:spLocks noChangeArrowheads="1"/>
          </p:cNvSpPr>
          <p:nvPr/>
        </p:nvSpPr>
        <p:spPr bwMode="auto">
          <a:xfrm>
            <a:off x="7543800" y="3505200"/>
            <a:ext cx="914400" cy="914400"/>
          </a:xfrm>
          <a:prstGeom prst="lightningBol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996" name="Text Box 12"/>
          <p:cNvSpPr txBox="1">
            <a:spLocks noChangeArrowheads="1"/>
          </p:cNvSpPr>
          <p:nvPr/>
        </p:nvSpPr>
        <p:spPr bwMode="auto">
          <a:xfrm>
            <a:off x="2743200" y="3429000"/>
            <a:ext cx="4359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The Pumping Lemma !!!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DA3E5-746F-473F-AB4B-9DA02F884647}" type="slidenum">
              <a:rPr lang="en-US"/>
              <a:pPr/>
              <a:t>41</a:t>
            </a:fld>
            <a:endParaRPr lang="en-US"/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Pumping Lemma:</a:t>
            </a:r>
          </a:p>
        </p:txBody>
      </p:sp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228600" y="914400"/>
            <a:ext cx="6659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Given a infinite regular language </a:t>
            </a:r>
          </a:p>
        </p:txBody>
      </p:sp>
      <p:graphicFrame>
        <p:nvGraphicFramePr>
          <p:cNvPr id="356356" name="Object 4"/>
          <p:cNvGraphicFramePr>
            <a:graphicFrameLocks noChangeAspect="1"/>
          </p:cNvGraphicFramePr>
          <p:nvPr/>
        </p:nvGraphicFramePr>
        <p:xfrm>
          <a:off x="6858000" y="990600"/>
          <a:ext cx="328613" cy="393700"/>
        </p:xfrm>
        <a:graphic>
          <a:graphicData uri="http://schemas.openxmlformats.org/presentationml/2006/ole">
            <p:oleObj spid="_x0000_s356356" name="Equation" r:id="rId3" imgW="330120" imgH="393480" progId="Equation.3">
              <p:embed/>
            </p:oleObj>
          </a:graphicData>
        </a:graphic>
      </p:graphicFrame>
      <p:sp>
        <p:nvSpPr>
          <p:cNvPr id="356357" name="Text Box 5"/>
          <p:cNvSpPr txBox="1">
            <a:spLocks noChangeArrowheads="1"/>
          </p:cNvSpPr>
          <p:nvPr/>
        </p:nvSpPr>
        <p:spPr bwMode="auto">
          <a:xfrm>
            <a:off x="228600" y="1905000"/>
            <a:ext cx="6202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there exists an integer           </a:t>
            </a:r>
          </a:p>
        </p:txBody>
      </p:sp>
      <p:graphicFrame>
        <p:nvGraphicFramePr>
          <p:cNvPr id="356358" name="Object 6"/>
          <p:cNvGraphicFramePr>
            <a:graphicFrameLocks noChangeAspect="1"/>
          </p:cNvGraphicFramePr>
          <p:nvPr/>
        </p:nvGraphicFramePr>
        <p:xfrm>
          <a:off x="5257800" y="2057400"/>
          <a:ext cx="393700" cy="304800"/>
        </p:xfrm>
        <a:graphic>
          <a:graphicData uri="http://schemas.openxmlformats.org/presentationml/2006/ole">
            <p:oleObj spid="_x0000_s356358" name="Equation" r:id="rId4" imgW="393480" imgH="304560" progId="Equation.3">
              <p:embed/>
            </p:oleObj>
          </a:graphicData>
        </a:graphic>
      </p:graphicFrame>
      <p:sp>
        <p:nvSpPr>
          <p:cNvPr id="356359" name="Text Box 7"/>
          <p:cNvSpPr txBox="1">
            <a:spLocks noChangeArrowheads="1"/>
          </p:cNvSpPr>
          <p:nvPr/>
        </p:nvSpPr>
        <p:spPr bwMode="auto">
          <a:xfrm>
            <a:off x="228600" y="2895600"/>
            <a:ext cx="7292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for any string              with length   </a:t>
            </a:r>
          </a:p>
        </p:txBody>
      </p:sp>
      <p:graphicFrame>
        <p:nvGraphicFramePr>
          <p:cNvPr id="356360" name="Object 8"/>
          <p:cNvGraphicFramePr>
            <a:graphicFrameLocks noChangeAspect="1"/>
          </p:cNvGraphicFramePr>
          <p:nvPr/>
        </p:nvGraphicFramePr>
        <p:xfrm>
          <a:off x="3505200" y="2971800"/>
          <a:ext cx="1155700" cy="406400"/>
        </p:xfrm>
        <a:graphic>
          <a:graphicData uri="http://schemas.openxmlformats.org/presentationml/2006/ole">
            <p:oleObj spid="_x0000_s356360" name="Equation" r:id="rId5" imgW="1155600" imgH="406080" progId="Equation.3">
              <p:embed/>
            </p:oleObj>
          </a:graphicData>
        </a:graphic>
      </p:graphicFrame>
      <p:graphicFrame>
        <p:nvGraphicFramePr>
          <p:cNvPr id="356361" name="Object 9"/>
          <p:cNvGraphicFramePr>
            <a:graphicFrameLocks noChangeAspect="1"/>
          </p:cNvGraphicFramePr>
          <p:nvPr/>
        </p:nvGraphicFramePr>
        <p:xfrm>
          <a:off x="7239000" y="2895600"/>
          <a:ext cx="1549400" cy="544513"/>
        </p:xfrm>
        <a:graphic>
          <a:graphicData uri="http://schemas.openxmlformats.org/presentationml/2006/ole">
            <p:oleObj spid="_x0000_s356361" name="Equation" r:id="rId6" imgW="1549080" imgH="545760" progId="Equation.3">
              <p:embed/>
            </p:oleObj>
          </a:graphicData>
        </a:graphic>
      </p:graphicFrame>
      <p:sp>
        <p:nvSpPr>
          <p:cNvPr id="356362" name="Text Box 10"/>
          <p:cNvSpPr txBox="1">
            <a:spLocks noChangeArrowheads="1"/>
          </p:cNvSpPr>
          <p:nvPr/>
        </p:nvSpPr>
        <p:spPr bwMode="auto">
          <a:xfrm>
            <a:off x="228600" y="3886200"/>
            <a:ext cx="2840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we can write</a:t>
            </a:r>
          </a:p>
        </p:txBody>
      </p:sp>
      <p:graphicFrame>
        <p:nvGraphicFramePr>
          <p:cNvPr id="356363" name="Object 11"/>
          <p:cNvGraphicFramePr>
            <a:graphicFrameLocks noChangeAspect="1"/>
          </p:cNvGraphicFramePr>
          <p:nvPr/>
        </p:nvGraphicFramePr>
        <p:xfrm>
          <a:off x="3352800" y="4038600"/>
          <a:ext cx="1879600" cy="419100"/>
        </p:xfrm>
        <a:graphic>
          <a:graphicData uri="http://schemas.openxmlformats.org/presentationml/2006/ole">
            <p:oleObj spid="_x0000_s356363" name="Equation" r:id="rId7" imgW="1879560" imgH="419040" progId="Equation.3">
              <p:embed/>
            </p:oleObj>
          </a:graphicData>
        </a:graphic>
      </p:graphicFrame>
      <p:sp>
        <p:nvSpPr>
          <p:cNvPr id="356364" name="Text Box 12"/>
          <p:cNvSpPr txBox="1">
            <a:spLocks noChangeArrowheads="1"/>
          </p:cNvSpPr>
          <p:nvPr/>
        </p:nvSpPr>
        <p:spPr bwMode="auto">
          <a:xfrm>
            <a:off x="228600" y="4953000"/>
            <a:ext cx="4875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with                        and</a:t>
            </a:r>
          </a:p>
        </p:txBody>
      </p:sp>
      <p:graphicFrame>
        <p:nvGraphicFramePr>
          <p:cNvPr id="356365" name="Object 13"/>
          <p:cNvGraphicFramePr>
            <a:graphicFrameLocks noChangeAspect="1"/>
          </p:cNvGraphicFramePr>
          <p:nvPr/>
        </p:nvGraphicFramePr>
        <p:xfrm>
          <a:off x="1981200" y="4953000"/>
          <a:ext cx="2146300" cy="544513"/>
        </p:xfrm>
        <a:graphic>
          <a:graphicData uri="http://schemas.openxmlformats.org/presentationml/2006/ole">
            <p:oleObj spid="_x0000_s356365" name="Equation" r:id="rId8" imgW="2145960" imgH="545760" progId="Equation.3">
              <p:embed/>
            </p:oleObj>
          </a:graphicData>
        </a:graphic>
      </p:graphicFrame>
      <p:graphicFrame>
        <p:nvGraphicFramePr>
          <p:cNvPr id="356366" name="Object 14"/>
          <p:cNvGraphicFramePr>
            <a:graphicFrameLocks noChangeAspect="1"/>
          </p:cNvGraphicFramePr>
          <p:nvPr/>
        </p:nvGraphicFramePr>
        <p:xfrm>
          <a:off x="5486400" y="4953000"/>
          <a:ext cx="1435100" cy="542925"/>
        </p:xfrm>
        <a:graphic>
          <a:graphicData uri="http://schemas.openxmlformats.org/presentationml/2006/ole">
            <p:oleObj spid="_x0000_s356366" name="Equation" r:id="rId9" imgW="1434960" imgH="545760" progId="Equation.3">
              <p:embed/>
            </p:oleObj>
          </a:graphicData>
        </a:graphic>
      </p:graphicFrame>
      <p:sp>
        <p:nvSpPr>
          <p:cNvPr id="356367" name="Text Box 15"/>
          <p:cNvSpPr txBox="1">
            <a:spLocks noChangeArrowheads="1"/>
          </p:cNvSpPr>
          <p:nvPr/>
        </p:nvSpPr>
        <p:spPr bwMode="auto">
          <a:xfrm>
            <a:off x="228600" y="5943600"/>
            <a:ext cx="2389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srgbClr val="FF3300"/>
                </a:solidFill>
              </a:rPr>
              <a:t> such that:</a:t>
            </a:r>
          </a:p>
        </p:txBody>
      </p:sp>
      <p:graphicFrame>
        <p:nvGraphicFramePr>
          <p:cNvPr id="356368" name="Object 16"/>
          <p:cNvGraphicFramePr>
            <a:graphicFrameLocks noChangeAspect="1"/>
          </p:cNvGraphicFramePr>
          <p:nvPr/>
        </p:nvGraphicFramePr>
        <p:xfrm>
          <a:off x="3048000" y="5791200"/>
          <a:ext cx="2413000" cy="722313"/>
        </p:xfrm>
        <a:graphic>
          <a:graphicData uri="http://schemas.openxmlformats.org/presentationml/2006/ole">
            <p:oleObj spid="_x0000_s356368" name="Equation" r:id="rId10" imgW="2412720" imgH="723600" progId="Equation.3">
              <p:embed/>
            </p:oleObj>
          </a:graphicData>
        </a:graphic>
      </p:graphicFrame>
      <p:graphicFrame>
        <p:nvGraphicFramePr>
          <p:cNvPr id="356369" name="Object 17"/>
          <p:cNvGraphicFramePr>
            <a:graphicFrameLocks noChangeAspect="1"/>
          </p:cNvGraphicFramePr>
          <p:nvPr/>
        </p:nvGraphicFramePr>
        <p:xfrm>
          <a:off x="6629400" y="5943600"/>
          <a:ext cx="2324100" cy="531813"/>
        </p:xfrm>
        <a:graphic>
          <a:graphicData uri="http://schemas.openxmlformats.org/presentationml/2006/ole">
            <p:oleObj spid="_x0000_s356369" name="Equation" r:id="rId11" imgW="2323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Applications 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of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the Pumping Lemma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4322-A9E0-49CD-B3A2-FD5A1780528B}" type="slidenum">
              <a:rPr lang="en-US"/>
              <a:pPr/>
              <a:t>43</a:t>
            </a:fld>
            <a:endParaRPr lang="en-US"/>
          </a:p>
        </p:txBody>
      </p:sp>
      <p:sp>
        <p:nvSpPr>
          <p:cNvPr id="301059" name="Text Box 3"/>
          <p:cNvSpPr txBox="1">
            <a:spLocks noChangeArrowheads="1"/>
          </p:cNvSpPr>
          <p:nvPr/>
        </p:nvSpPr>
        <p:spPr bwMode="auto">
          <a:xfrm>
            <a:off x="0" y="636588"/>
            <a:ext cx="22891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Theorem:</a:t>
            </a:r>
          </a:p>
        </p:txBody>
      </p:sp>
      <p:sp>
        <p:nvSpPr>
          <p:cNvPr id="301060" name="Text Box 4"/>
          <p:cNvSpPr txBox="1">
            <a:spLocks noChangeArrowheads="1"/>
          </p:cNvSpPr>
          <p:nvPr/>
        </p:nvSpPr>
        <p:spPr bwMode="auto">
          <a:xfrm>
            <a:off x="2511425" y="736600"/>
            <a:ext cx="2644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</a:t>
            </a:r>
          </a:p>
        </p:txBody>
      </p:sp>
      <p:graphicFrame>
        <p:nvGraphicFramePr>
          <p:cNvPr id="392192" name="Object 2048"/>
          <p:cNvGraphicFramePr>
            <a:graphicFrameLocks noChangeAspect="1"/>
          </p:cNvGraphicFramePr>
          <p:nvPr/>
        </p:nvGraphicFramePr>
        <p:xfrm>
          <a:off x="5334000" y="609600"/>
          <a:ext cx="3505200" cy="711200"/>
        </p:xfrm>
        <a:graphic>
          <a:graphicData uri="http://schemas.openxmlformats.org/presentationml/2006/ole">
            <p:oleObj spid="_x0000_s392192" name="Equation" r:id="rId3" imgW="3504960" imgH="711000" progId="Equation.3">
              <p:embed/>
            </p:oleObj>
          </a:graphicData>
        </a:graphic>
      </p:graphicFrame>
      <p:sp>
        <p:nvSpPr>
          <p:cNvPr id="301062" name="Text Box 6"/>
          <p:cNvSpPr txBox="1">
            <a:spLocks noChangeArrowheads="1"/>
          </p:cNvSpPr>
          <p:nvPr/>
        </p:nvSpPr>
        <p:spPr bwMode="auto">
          <a:xfrm>
            <a:off x="5575300" y="1625600"/>
            <a:ext cx="2719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not regular</a:t>
            </a:r>
          </a:p>
        </p:txBody>
      </p:sp>
      <p:sp>
        <p:nvSpPr>
          <p:cNvPr id="301063" name="Text Box 7"/>
          <p:cNvSpPr txBox="1">
            <a:spLocks noChangeArrowheads="1"/>
          </p:cNvSpPr>
          <p:nvPr/>
        </p:nvSpPr>
        <p:spPr bwMode="auto">
          <a:xfrm>
            <a:off x="228600" y="4522788"/>
            <a:ext cx="15557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Proof:</a:t>
            </a:r>
          </a:p>
        </p:txBody>
      </p:sp>
      <p:sp>
        <p:nvSpPr>
          <p:cNvPr id="301064" name="Text Box 8"/>
          <p:cNvSpPr txBox="1">
            <a:spLocks noChangeArrowheads="1"/>
          </p:cNvSpPr>
          <p:nvPr/>
        </p:nvSpPr>
        <p:spPr bwMode="auto">
          <a:xfrm>
            <a:off x="2286000" y="4572000"/>
            <a:ext cx="4705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Use the Pumping Lemma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46A2A-5A71-4801-9BEC-9C050CE5ABAD}" type="slidenum">
              <a:rPr lang="en-US"/>
              <a:pPr/>
              <a:t>44</a:t>
            </a:fld>
            <a:endParaRPr lang="en-US"/>
          </a:p>
        </p:txBody>
      </p:sp>
      <p:sp>
        <p:nvSpPr>
          <p:cNvPr id="302083" name="Text Box 3"/>
          <p:cNvSpPr txBox="1">
            <a:spLocks noChangeArrowheads="1"/>
          </p:cNvSpPr>
          <p:nvPr/>
        </p:nvSpPr>
        <p:spPr bwMode="auto">
          <a:xfrm>
            <a:off x="1066800" y="2057400"/>
            <a:ext cx="57181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Assume for </a:t>
            </a:r>
            <a:r>
              <a:rPr lang="en-US">
                <a:solidFill>
                  <a:srgbClr val="FF3300"/>
                </a:solidFill>
              </a:rPr>
              <a:t>contradiction</a:t>
            </a:r>
          </a:p>
          <a:p>
            <a:r>
              <a:rPr lang="en-US"/>
              <a:t>that       is a regular language</a:t>
            </a:r>
          </a:p>
        </p:txBody>
      </p:sp>
      <p:graphicFrame>
        <p:nvGraphicFramePr>
          <p:cNvPr id="393216" name="Object 1024"/>
          <p:cNvGraphicFramePr>
            <a:graphicFrameLocks noChangeAspect="1"/>
          </p:cNvGraphicFramePr>
          <p:nvPr/>
        </p:nvGraphicFramePr>
        <p:xfrm>
          <a:off x="2289175" y="2705100"/>
          <a:ext cx="328613" cy="393700"/>
        </p:xfrm>
        <a:graphic>
          <a:graphicData uri="http://schemas.openxmlformats.org/presentationml/2006/ole">
            <p:oleObj spid="_x0000_s393216" name="Equation" r:id="rId3" imgW="330120" imgH="393480" progId="Equation.3">
              <p:embed/>
            </p:oleObj>
          </a:graphicData>
        </a:graphic>
      </p:graphicFrame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990600" y="4572000"/>
            <a:ext cx="64468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Since        is </a:t>
            </a:r>
            <a:r>
              <a:rPr lang="en-US">
                <a:solidFill>
                  <a:srgbClr val="FF3300"/>
                </a:solidFill>
              </a:rPr>
              <a:t>infinite</a:t>
            </a:r>
          </a:p>
          <a:p>
            <a:r>
              <a:rPr lang="en-US"/>
              <a:t>we can apply the </a:t>
            </a:r>
            <a:r>
              <a:rPr lang="en-US">
                <a:solidFill>
                  <a:srgbClr val="FF3300"/>
                </a:solidFill>
              </a:rPr>
              <a:t>Pumping Lemma</a:t>
            </a:r>
            <a:r>
              <a:rPr lang="en-US"/>
              <a:t> </a:t>
            </a:r>
          </a:p>
        </p:txBody>
      </p:sp>
      <p:graphicFrame>
        <p:nvGraphicFramePr>
          <p:cNvPr id="393217" name="Object 1025"/>
          <p:cNvGraphicFramePr>
            <a:graphicFrameLocks noChangeAspect="1"/>
          </p:cNvGraphicFramePr>
          <p:nvPr/>
        </p:nvGraphicFramePr>
        <p:xfrm>
          <a:off x="2438400" y="4648200"/>
          <a:ext cx="328613" cy="393700"/>
        </p:xfrm>
        <a:graphic>
          <a:graphicData uri="http://schemas.openxmlformats.org/presentationml/2006/ole">
            <p:oleObj spid="_x0000_s393217" name="Equation" r:id="rId4" imgW="330120" imgH="393480" progId="Equation.3">
              <p:embed/>
            </p:oleObj>
          </a:graphicData>
        </a:graphic>
      </p:graphicFrame>
      <p:graphicFrame>
        <p:nvGraphicFramePr>
          <p:cNvPr id="393218" name="Object 1026"/>
          <p:cNvGraphicFramePr>
            <a:graphicFrameLocks noChangeAspect="1"/>
          </p:cNvGraphicFramePr>
          <p:nvPr/>
        </p:nvGraphicFramePr>
        <p:xfrm>
          <a:off x="1981200" y="0"/>
          <a:ext cx="3505200" cy="711200"/>
        </p:xfrm>
        <a:graphic>
          <a:graphicData uri="http://schemas.openxmlformats.org/presentationml/2006/ole">
            <p:oleObj spid="_x0000_s393218" name="Equation" r:id="rId5" imgW="350496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171E-FD61-4881-84AA-0E682A902A20}" type="slidenum">
              <a:rPr lang="en-US"/>
              <a:pPr/>
              <a:t>45</a:t>
            </a:fld>
            <a:endParaRPr lang="en-US"/>
          </a:p>
        </p:txBody>
      </p:sp>
      <p:sp>
        <p:nvSpPr>
          <p:cNvPr id="303109" name="Text Box 5"/>
          <p:cNvSpPr txBox="1">
            <a:spLocks noChangeArrowheads="1"/>
          </p:cNvSpPr>
          <p:nvPr/>
        </p:nvSpPr>
        <p:spPr bwMode="auto">
          <a:xfrm>
            <a:off x="0" y="1143000"/>
            <a:ext cx="8782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Let        be the integer in the </a:t>
            </a:r>
            <a:r>
              <a:rPr lang="en-US">
                <a:solidFill>
                  <a:srgbClr val="FF3300"/>
                </a:solidFill>
              </a:rPr>
              <a:t>Pumping Lemma</a:t>
            </a:r>
          </a:p>
        </p:txBody>
      </p:sp>
      <p:sp>
        <p:nvSpPr>
          <p:cNvPr id="303110" name="Text Box 6"/>
          <p:cNvSpPr txBox="1">
            <a:spLocks noChangeArrowheads="1"/>
          </p:cNvSpPr>
          <p:nvPr/>
        </p:nvSpPr>
        <p:spPr bwMode="auto">
          <a:xfrm>
            <a:off x="0" y="2667000"/>
            <a:ext cx="5545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Pick</a:t>
            </a:r>
            <a:r>
              <a:rPr lang="en-US"/>
              <a:t> a string       such that:  </a:t>
            </a:r>
          </a:p>
        </p:txBody>
      </p:sp>
      <p:graphicFrame>
        <p:nvGraphicFramePr>
          <p:cNvPr id="394240" name="Object 1024"/>
          <p:cNvGraphicFramePr>
            <a:graphicFrameLocks noChangeAspect="1"/>
          </p:cNvGraphicFramePr>
          <p:nvPr/>
        </p:nvGraphicFramePr>
        <p:xfrm>
          <a:off x="2667000" y="2819400"/>
          <a:ext cx="368300" cy="304800"/>
        </p:xfrm>
        <a:graphic>
          <a:graphicData uri="http://schemas.openxmlformats.org/presentationml/2006/ole">
            <p:oleObj spid="_x0000_s394240" name="Equation" r:id="rId3" imgW="368280" imgH="304560" progId="Equation.3">
              <p:embed/>
            </p:oleObj>
          </a:graphicData>
        </a:graphic>
      </p:graphicFrame>
      <p:graphicFrame>
        <p:nvGraphicFramePr>
          <p:cNvPr id="394241" name="Object 1025"/>
          <p:cNvGraphicFramePr>
            <a:graphicFrameLocks noChangeAspect="1"/>
          </p:cNvGraphicFramePr>
          <p:nvPr/>
        </p:nvGraphicFramePr>
        <p:xfrm>
          <a:off x="5562600" y="2743200"/>
          <a:ext cx="1422400" cy="519113"/>
        </p:xfrm>
        <a:graphic>
          <a:graphicData uri="http://schemas.openxmlformats.org/presentationml/2006/ole">
            <p:oleObj spid="_x0000_s394241" name="Equation" r:id="rId4" imgW="1422360" imgH="520560" progId="Equation.3">
              <p:embed/>
            </p:oleObj>
          </a:graphicData>
        </a:graphic>
      </p:graphicFrame>
      <p:graphicFrame>
        <p:nvGraphicFramePr>
          <p:cNvPr id="394242" name="Object 1026"/>
          <p:cNvGraphicFramePr>
            <a:graphicFrameLocks noChangeAspect="1"/>
          </p:cNvGraphicFramePr>
          <p:nvPr/>
        </p:nvGraphicFramePr>
        <p:xfrm>
          <a:off x="7239000" y="3581400"/>
          <a:ext cx="1549400" cy="544513"/>
        </p:xfrm>
        <a:graphic>
          <a:graphicData uri="http://schemas.openxmlformats.org/presentationml/2006/ole">
            <p:oleObj spid="_x0000_s394242" name="Equation" r:id="rId5" imgW="1549080" imgH="545760" progId="Equation.3">
              <p:embed/>
            </p:oleObj>
          </a:graphicData>
        </a:graphic>
      </p:graphicFrame>
      <p:sp>
        <p:nvSpPr>
          <p:cNvPr id="303114" name="Text Box 10"/>
          <p:cNvSpPr txBox="1">
            <a:spLocks noChangeArrowheads="1"/>
          </p:cNvSpPr>
          <p:nvPr/>
        </p:nvSpPr>
        <p:spPr bwMode="auto">
          <a:xfrm>
            <a:off x="5562600" y="3581400"/>
            <a:ext cx="1373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length</a:t>
            </a:r>
          </a:p>
        </p:txBody>
      </p:sp>
      <p:graphicFrame>
        <p:nvGraphicFramePr>
          <p:cNvPr id="394243" name="Object 1027"/>
          <p:cNvGraphicFramePr>
            <a:graphicFrameLocks noChangeAspect="1"/>
          </p:cNvGraphicFramePr>
          <p:nvPr/>
        </p:nvGraphicFramePr>
        <p:xfrm>
          <a:off x="4191000" y="5562600"/>
          <a:ext cx="2019300" cy="609600"/>
        </p:xfrm>
        <a:graphic>
          <a:graphicData uri="http://schemas.openxmlformats.org/presentationml/2006/ole">
            <p:oleObj spid="_x0000_s394243" name="Equation" r:id="rId6" imgW="2019240" imgH="609480" progId="Equation.3">
              <p:embed/>
            </p:oleObj>
          </a:graphicData>
        </a:graphic>
      </p:graphicFrame>
      <p:sp>
        <p:nvSpPr>
          <p:cNvPr id="303119" name="Text Box 15"/>
          <p:cNvSpPr txBox="1">
            <a:spLocks noChangeArrowheads="1"/>
          </p:cNvSpPr>
          <p:nvPr/>
        </p:nvSpPr>
        <p:spPr bwMode="auto">
          <a:xfrm>
            <a:off x="2301875" y="5715000"/>
            <a:ext cx="1711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We pick</a:t>
            </a:r>
          </a:p>
        </p:txBody>
      </p:sp>
      <p:graphicFrame>
        <p:nvGraphicFramePr>
          <p:cNvPr id="394244" name="Object 1028"/>
          <p:cNvGraphicFramePr>
            <a:graphicFrameLocks noChangeAspect="1"/>
          </p:cNvGraphicFramePr>
          <p:nvPr/>
        </p:nvGraphicFramePr>
        <p:xfrm>
          <a:off x="990600" y="1295400"/>
          <a:ext cx="393700" cy="304800"/>
        </p:xfrm>
        <a:graphic>
          <a:graphicData uri="http://schemas.openxmlformats.org/presentationml/2006/ole">
            <p:oleObj spid="_x0000_s394244" name="Equation" r:id="rId7" imgW="393480" imgH="304560" progId="Equation.3">
              <p:embed/>
            </p:oleObj>
          </a:graphicData>
        </a:graphic>
      </p:graphicFrame>
      <p:graphicFrame>
        <p:nvGraphicFramePr>
          <p:cNvPr id="394245" name="Object 1029"/>
          <p:cNvGraphicFramePr>
            <a:graphicFrameLocks noChangeAspect="1"/>
          </p:cNvGraphicFramePr>
          <p:nvPr/>
        </p:nvGraphicFramePr>
        <p:xfrm>
          <a:off x="1981200" y="0"/>
          <a:ext cx="3505200" cy="711200"/>
        </p:xfrm>
        <a:graphic>
          <a:graphicData uri="http://schemas.openxmlformats.org/presentationml/2006/ole">
            <p:oleObj spid="_x0000_s394245" name="Equation" r:id="rId8" imgW="350496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F5E6-5CD1-4E80-9454-B3454ED122C5}" type="slidenum">
              <a:rPr lang="en-US"/>
              <a:pPr/>
              <a:t>46</a:t>
            </a:fld>
            <a:endParaRPr lang="en-US"/>
          </a:p>
        </p:txBody>
      </p:sp>
      <p:sp>
        <p:nvSpPr>
          <p:cNvPr id="360452" name="Text Box 4"/>
          <p:cNvSpPr txBox="1">
            <a:spLocks noChangeArrowheads="1"/>
          </p:cNvSpPr>
          <p:nvPr/>
        </p:nvSpPr>
        <p:spPr bwMode="auto">
          <a:xfrm>
            <a:off x="152400" y="2133600"/>
            <a:ext cx="4376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it must be that length</a:t>
            </a:r>
          </a:p>
        </p:txBody>
      </p:sp>
      <p:sp>
        <p:nvSpPr>
          <p:cNvPr id="360453" name="Text Box 5"/>
          <p:cNvSpPr txBox="1">
            <a:spLocks noChangeArrowheads="1"/>
          </p:cNvSpPr>
          <p:nvPr/>
        </p:nvSpPr>
        <p:spPr bwMode="auto">
          <a:xfrm>
            <a:off x="152400" y="1524000"/>
            <a:ext cx="5078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From the</a:t>
            </a:r>
            <a:r>
              <a:rPr lang="en-US">
                <a:solidFill>
                  <a:srgbClr val="FF3300"/>
                </a:solidFill>
              </a:rPr>
              <a:t> Pumping Lemma</a:t>
            </a:r>
            <a:r>
              <a:rPr lang="en-US"/>
              <a:t> </a:t>
            </a:r>
          </a:p>
        </p:txBody>
      </p:sp>
      <p:graphicFrame>
        <p:nvGraphicFramePr>
          <p:cNvPr id="395264" name="Object 1024"/>
          <p:cNvGraphicFramePr>
            <a:graphicFrameLocks noChangeAspect="1"/>
          </p:cNvGraphicFramePr>
          <p:nvPr/>
        </p:nvGraphicFramePr>
        <p:xfrm>
          <a:off x="4876800" y="2133600"/>
          <a:ext cx="3543300" cy="544513"/>
        </p:xfrm>
        <a:graphic>
          <a:graphicData uri="http://schemas.openxmlformats.org/presentationml/2006/ole">
            <p:oleObj spid="_x0000_s395264" name="Equation" r:id="rId3" imgW="3543120" imgH="545760" progId="Equation.3">
              <p:embed/>
            </p:oleObj>
          </a:graphicData>
        </a:graphic>
      </p:graphicFrame>
      <p:graphicFrame>
        <p:nvGraphicFramePr>
          <p:cNvPr id="395265" name="Object 1025"/>
          <p:cNvGraphicFramePr>
            <a:graphicFrameLocks noChangeAspect="1"/>
          </p:cNvGraphicFramePr>
          <p:nvPr/>
        </p:nvGraphicFramePr>
        <p:xfrm>
          <a:off x="685800" y="3886200"/>
          <a:ext cx="6692900" cy="720725"/>
        </p:xfrm>
        <a:graphic>
          <a:graphicData uri="http://schemas.openxmlformats.org/presentationml/2006/ole">
            <p:oleObj spid="_x0000_s395265" name="Equation" r:id="rId4" imgW="6692760" imgH="723600" progId="Equation.3">
              <p:embed/>
            </p:oleObj>
          </a:graphicData>
        </a:graphic>
      </p:graphicFrame>
      <p:sp>
        <p:nvSpPr>
          <p:cNvPr id="360457" name="Text Box 9"/>
          <p:cNvSpPr txBox="1">
            <a:spLocks noChangeArrowheads="1"/>
          </p:cNvSpPr>
          <p:nvPr/>
        </p:nvSpPr>
        <p:spPr bwMode="auto">
          <a:xfrm>
            <a:off x="3565525" y="6278563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395266" name="Object 1026"/>
          <p:cNvGraphicFramePr>
            <a:graphicFrameLocks noChangeAspect="1"/>
          </p:cNvGraphicFramePr>
          <p:nvPr/>
        </p:nvGraphicFramePr>
        <p:xfrm>
          <a:off x="3124200" y="5943600"/>
          <a:ext cx="2781300" cy="723900"/>
        </p:xfrm>
        <a:graphic>
          <a:graphicData uri="http://schemas.openxmlformats.org/presentationml/2006/ole">
            <p:oleObj spid="_x0000_s395266" name="Equation" r:id="rId5" imgW="2781000" imgH="723600" progId="Equation.3">
              <p:embed/>
            </p:oleObj>
          </a:graphicData>
        </a:graphic>
      </p:graphicFrame>
      <p:sp>
        <p:nvSpPr>
          <p:cNvPr id="360459" name="AutoShape 11"/>
          <p:cNvSpPr>
            <a:spLocks/>
          </p:cNvSpPr>
          <p:nvPr/>
        </p:nvSpPr>
        <p:spPr bwMode="auto">
          <a:xfrm rot="5353442">
            <a:off x="4076700" y="4381500"/>
            <a:ext cx="457200" cy="838200"/>
          </a:xfrm>
          <a:prstGeom prst="rightBrace">
            <a:avLst>
              <a:gd name="adj1" fmla="val 15278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0" name="AutoShape 12"/>
          <p:cNvSpPr>
            <a:spLocks/>
          </p:cNvSpPr>
          <p:nvPr/>
        </p:nvSpPr>
        <p:spPr bwMode="auto">
          <a:xfrm rot="5353442">
            <a:off x="4953000" y="4419600"/>
            <a:ext cx="457200" cy="762000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1" name="AutoShape 13"/>
          <p:cNvSpPr>
            <a:spLocks/>
          </p:cNvSpPr>
          <p:nvPr/>
        </p:nvSpPr>
        <p:spPr bwMode="auto">
          <a:xfrm rot="5353442">
            <a:off x="6246813" y="3960813"/>
            <a:ext cx="457200" cy="1676400"/>
          </a:xfrm>
          <a:prstGeom prst="rightBrace">
            <a:avLst>
              <a:gd name="adj1" fmla="val 30556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2" name="AutoShape 14"/>
          <p:cNvSpPr>
            <a:spLocks/>
          </p:cNvSpPr>
          <p:nvPr/>
        </p:nvSpPr>
        <p:spPr bwMode="auto">
          <a:xfrm rot="16153442">
            <a:off x="4989513" y="2625725"/>
            <a:ext cx="457200" cy="25146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rgbClr val="339966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0463" name="AutoShape 15"/>
          <p:cNvSpPr>
            <a:spLocks/>
          </p:cNvSpPr>
          <p:nvPr/>
        </p:nvSpPr>
        <p:spPr bwMode="auto">
          <a:xfrm rot="16153442">
            <a:off x="6781800" y="3505200"/>
            <a:ext cx="381000" cy="685800"/>
          </a:xfrm>
          <a:prstGeom prst="rightBrace">
            <a:avLst>
              <a:gd name="adj1" fmla="val 15000"/>
              <a:gd name="adj2" fmla="val 50000"/>
            </a:avLst>
          </a:prstGeom>
          <a:noFill/>
          <a:ln w="9525">
            <a:solidFill>
              <a:srgbClr val="339966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5267" name="Object 1027"/>
          <p:cNvGraphicFramePr>
            <a:graphicFrameLocks noChangeAspect="1"/>
          </p:cNvGraphicFramePr>
          <p:nvPr/>
        </p:nvGraphicFramePr>
        <p:xfrm>
          <a:off x="4191000" y="5105400"/>
          <a:ext cx="290513" cy="304800"/>
        </p:xfrm>
        <a:graphic>
          <a:graphicData uri="http://schemas.openxmlformats.org/presentationml/2006/ole">
            <p:oleObj spid="_x0000_s395267" name="Equation" r:id="rId6" imgW="291960" imgH="304560" progId="Equation.3">
              <p:embed/>
            </p:oleObj>
          </a:graphicData>
        </a:graphic>
      </p:graphicFrame>
      <p:graphicFrame>
        <p:nvGraphicFramePr>
          <p:cNvPr id="395268" name="Object 1028"/>
          <p:cNvGraphicFramePr>
            <a:graphicFrameLocks noChangeAspect="1"/>
          </p:cNvGraphicFramePr>
          <p:nvPr/>
        </p:nvGraphicFramePr>
        <p:xfrm>
          <a:off x="5029200" y="5105400"/>
          <a:ext cx="315913" cy="406400"/>
        </p:xfrm>
        <a:graphic>
          <a:graphicData uri="http://schemas.openxmlformats.org/presentationml/2006/ole">
            <p:oleObj spid="_x0000_s395268" name="Equation" r:id="rId7" imgW="317160" imgH="406080" progId="Equation.3">
              <p:embed/>
            </p:oleObj>
          </a:graphicData>
        </a:graphic>
      </p:graphicFrame>
      <p:graphicFrame>
        <p:nvGraphicFramePr>
          <p:cNvPr id="395269" name="Object 1029"/>
          <p:cNvGraphicFramePr>
            <a:graphicFrameLocks noChangeAspect="1"/>
          </p:cNvGraphicFramePr>
          <p:nvPr/>
        </p:nvGraphicFramePr>
        <p:xfrm>
          <a:off x="6324600" y="5105400"/>
          <a:ext cx="265113" cy="277813"/>
        </p:xfrm>
        <a:graphic>
          <a:graphicData uri="http://schemas.openxmlformats.org/presentationml/2006/ole">
            <p:oleObj spid="_x0000_s395269" name="Equation" r:id="rId8" imgW="266400" imgH="279360" progId="Equation.3">
              <p:embed/>
            </p:oleObj>
          </a:graphicData>
        </a:graphic>
      </p:graphicFrame>
      <p:graphicFrame>
        <p:nvGraphicFramePr>
          <p:cNvPr id="395270" name="Object 1030"/>
          <p:cNvGraphicFramePr>
            <a:graphicFrameLocks noChangeAspect="1"/>
          </p:cNvGraphicFramePr>
          <p:nvPr/>
        </p:nvGraphicFramePr>
        <p:xfrm>
          <a:off x="5029200" y="3200400"/>
          <a:ext cx="393700" cy="304800"/>
        </p:xfrm>
        <a:graphic>
          <a:graphicData uri="http://schemas.openxmlformats.org/presentationml/2006/ole">
            <p:oleObj spid="_x0000_s395270" name="Equation" r:id="rId9" imgW="393480" imgH="304560" progId="Equation.3">
              <p:embed/>
            </p:oleObj>
          </a:graphicData>
        </a:graphic>
      </p:graphicFrame>
      <p:graphicFrame>
        <p:nvGraphicFramePr>
          <p:cNvPr id="395271" name="Object 1031"/>
          <p:cNvGraphicFramePr>
            <a:graphicFrameLocks noChangeAspect="1"/>
          </p:cNvGraphicFramePr>
          <p:nvPr/>
        </p:nvGraphicFramePr>
        <p:xfrm>
          <a:off x="6783388" y="3201988"/>
          <a:ext cx="393700" cy="304800"/>
        </p:xfrm>
        <a:graphic>
          <a:graphicData uri="http://schemas.openxmlformats.org/presentationml/2006/ole">
            <p:oleObj spid="_x0000_s395271" name="Equation" r:id="rId10" imgW="393480" imgH="304560" progId="Equation.3">
              <p:embed/>
            </p:oleObj>
          </a:graphicData>
        </a:graphic>
      </p:graphicFrame>
      <p:sp>
        <p:nvSpPr>
          <p:cNvPr id="360469" name="Text Box 21"/>
          <p:cNvSpPr txBox="1">
            <a:spLocks noChangeArrowheads="1"/>
          </p:cNvSpPr>
          <p:nvPr/>
        </p:nvSpPr>
        <p:spPr bwMode="auto">
          <a:xfrm>
            <a:off x="288925" y="177800"/>
            <a:ext cx="1452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Write:</a:t>
            </a:r>
          </a:p>
        </p:txBody>
      </p:sp>
      <p:graphicFrame>
        <p:nvGraphicFramePr>
          <p:cNvPr id="395272" name="Object 1032"/>
          <p:cNvGraphicFramePr>
            <a:graphicFrameLocks noChangeAspect="1"/>
          </p:cNvGraphicFramePr>
          <p:nvPr/>
        </p:nvGraphicFramePr>
        <p:xfrm>
          <a:off x="2057400" y="0"/>
          <a:ext cx="2743200" cy="722313"/>
        </p:xfrm>
        <a:graphic>
          <a:graphicData uri="http://schemas.openxmlformats.org/presentationml/2006/ole">
            <p:oleObj spid="_x0000_s395272" name="Equation" r:id="rId11" imgW="2743200" imgH="723600" progId="Equation.3">
              <p:embed/>
            </p:oleObj>
          </a:graphicData>
        </a:graphic>
      </p:graphicFrame>
      <p:sp>
        <p:nvSpPr>
          <p:cNvPr id="360471" name="Text Box 23"/>
          <p:cNvSpPr txBox="1">
            <a:spLocks noChangeArrowheads="1"/>
          </p:cNvSpPr>
          <p:nvPr/>
        </p:nvSpPr>
        <p:spPr bwMode="auto">
          <a:xfrm>
            <a:off x="1676400" y="6096000"/>
            <a:ext cx="1287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Thus: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616B-57E6-4452-A6E5-4457F7E31A95}" type="slidenum">
              <a:rPr lang="en-US"/>
              <a:pPr/>
              <a:t>47</a:t>
            </a:fld>
            <a:endParaRPr lang="en-US"/>
          </a:p>
        </p:txBody>
      </p:sp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0" y="2209800"/>
            <a:ext cx="5078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From the</a:t>
            </a:r>
            <a:r>
              <a:rPr lang="en-US">
                <a:solidFill>
                  <a:srgbClr val="FF3300"/>
                </a:solidFill>
              </a:rPr>
              <a:t> Pumping Lemma:</a:t>
            </a:r>
          </a:p>
        </p:txBody>
      </p:sp>
      <p:graphicFrame>
        <p:nvGraphicFramePr>
          <p:cNvPr id="396288" name="Object 0"/>
          <p:cNvGraphicFramePr>
            <a:graphicFrameLocks noChangeAspect="1"/>
          </p:cNvGraphicFramePr>
          <p:nvPr/>
        </p:nvGraphicFramePr>
        <p:xfrm>
          <a:off x="5562600" y="2057400"/>
          <a:ext cx="2413000" cy="722313"/>
        </p:xfrm>
        <a:graphic>
          <a:graphicData uri="http://schemas.openxmlformats.org/presentationml/2006/ole">
            <p:oleObj spid="_x0000_s396288" name="Equation" r:id="rId3" imgW="2412720" imgH="723600" progId="Equation.3">
              <p:embed/>
            </p:oleObj>
          </a:graphicData>
        </a:graphic>
      </p:graphicFrame>
      <p:graphicFrame>
        <p:nvGraphicFramePr>
          <p:cNvPr id="396289" name="Object 1"/>
          <p:cNvGraphicFramePr>
            <a:graphicFrameLocks noChangeAspect="1"/>
          </p:cNvGraphicFramePr>
          <p:nvPr/>
        </p:nvGraphicFramePr>
        <p:xfrm>
          <a:off x="5562600" y="3200400"/>
          <a:ext cx="2324100" cy="531813"/>
        </p:xfrm>
        <a:graphic>
          <a:graphicData uri="http://schemas.openxmlformats.org/presentationml/2006/ole">
            <p:oleObj spid="_x0000_s396289" name="Equation" r:id="rId4" imgW="2323800" imgH="533160" progId="Equation.3">
              <p:embed/>
            </p:oleObj>
          </a:graphicData>
        </a:graphic>
      </p:graphicFrame>
      <p:sp>
        <p:nvSpPr>
          <p:cNvPr id="306182" name="Text Box 6"/>
          <p:cNvSpPr txBox="1">
            <a:spLocks noChangeArrowheads="1"/>
          </p:cNvSpPr>
          <p:nvPr/>
        </p:nvSpPr>
        <p:spPr bwMode="auto">
          <a:xfrm>
            <a:off x="2057400" y="5181600"/>
            <a:ext cx="1287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Thus:</a:t>
            </a:r>
          </a:p>
        </p:txBody>
      </p:sp>
      <p:graphicFrame>
        <p:nvGraphicFramePr>
          <p:cNvPr id="396290" name="Object 2"/>
          <p:cNvGraphicFramePr>
            <a:graphicFrameLocks noChangeAspect="1"/>
          </p:cNvGraphicFramePr>
          <p:nvPr/>
        </p:nvGraphicFramePr>
        <p:xfrm>
          <a:off x="1066800" y="0"/>
          <a:ext cx="2692400" cy="722313"/>
        </p:xfrm>
        <a:graphic>
          <a:graphicData uri="http://schemas.openxmlformats.org/presentationml/2006/ole">
            <p:oleObj spid="_x0000_s396290" name="Equation" r:id="rId5" imgW="2692080" imgH="723600" progId="Equation.3">
              <p:embed/>
            </p:oleObj>
          </a:graphicData>
        </a:graphic>
      </p:graphicFrame>
      <p:graphicFrame>
        <p:nvGraphicFramePr>
          <p:cNvPr id="396291" name="Object 3"/>
          <p:cNvGraphicFramePr>
            <a:graphicFrameLocks noChangeAspect="1"/>
          </p:cNvGraphicFramePr>
          <p:nvPr/>
        </p:nvGraphicFramePr>
        <p:xfrm>
          <a:off x="3581400" y="5029200"/>
          <a:ext cx="2501900" cy="722313"/>
        </p:xfrm>
        <a:graphic>
          <a:graphicData uri="http://schemas.openxmlformats.org/presentationml/2006/ole">
            <p:oleObj spid="_x0000_s396291" name="Equation" r:id="rId6" imgW="2501640" imgH="723600" progId="Equation.3">
              <p:embed/>
            </p:oleObj>
          </a:graphicData>
        </a:graphic>
      </p:graphicFrame>
      <p:graphicFrame>
        <p:nvGraphicFramePr>
          <p:cNvPr id="396292" name="Object 4"/>
          <p:cNvGraphicFramePr>
            <a:graphicFrameLocks noChangeAspect="1"/>
          </p:cNvGraphicFramePr>
          <p:nvPr/>
        </p:nvGraphicFramePr>
        <p:xfrm>
          <a:off x="5257800" y="0"/>
          <a:ext cx="2781300" cy="723900"/>
        </p:xfrm>
        <a:graphic>
          <a:graphicData uri="http://schemas.openxmlformats.org/presentationml/2006/ole">
            <p:oleObj spid="_x0000_s396292" name="Equation" r:id="rId7" imgW="2781000" imgH="723600" progId="Equation.3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314E-744B-42BC-9268-DFB5868749EE}" type="slidenum">
              <a:rPr lang="en-US"/>
              <a:pPr/>
              <a:t>48</a:t>
            </a:fld>
            <a:endParaRPr lang="en-US"/>
          </a:p>
        </p:txBody>
      </p:sp>
      <p:sp>
        <p:nvSpPr>
          <p:cNvPr id="362499" name="Text Box 1027"/>
          <p:cNvSpPr txBox="1">
            <a:spLocks noChangeArrowheads="1"/>
          </p:cNvSpPr>
          <p:nvPr/>
        </p:nvSpPr>
        <p:spPr bwMode="auto">
          <a:xfrm>
            <a:off x="152400" y="1524000"/>
            <a:ext cx="5200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From the</a:t>
            </a:r>
            <a:r>
              <a:rPr lang="en-US">
                <a:solidFill>
                  <a:srgbClr val="FF3300"/>
                </a:solidFill>
              </a:rPr>
              <a:t> Pumping Lemma:</a:t>
            </a:r>
            <a:r>
              <a:rPr lang="en-US"/>
              <a:t> </a:t>
            </a:r>
          </a:p>
        </p:txBody>
      </p:sp>
      <p:graphicFrame>
        <p:nvGraphicFramePr>
          <p:cNvPr id="397312" name="Object 1024"/>
          <p:cNvGraphicFramePr>
            <a:graphicFrameLocks noChangeAspect="1"/>
          </p:cNvGraphicFramePr>
          <p:nvPr/>
        </p:nvGraphicFramePr>
        <p:xfrm>
          <a:off x="1066800" y="3429000"/>
          <a:ext cx="6908800" cy="720725"/>
        </p:xfrm>
        <a:graphic>
          <a:graphicData uri="http://schemas.openxmlformats.org/presentationml/2006/ole">
            <p:oleObj spid="_x0000_s397312" name="Equation" r:id="rId3" imgW="6908760" imgH="723600" progId="Equation.3">
              <p:embed/>
            </p:oleObj>
          </a:graphicData>
        </a:graphic>
      </p:graphicFrame>
      <p:sp>
        <p:nvSpPr>
          <p:cNvPr id="362502" name="Text Box 1030"/>
          <p:cNvSpPr txBox="1">
            <a:spLocks noChangeArrowheads="1"/>
          </p:cNvSpPr>
          <p:nvPr/>
        </p:nvSpPr>
        <p:spPr bwMode="auto">
          <a:xfrm>
            <a:off x="3565525" y="6278563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2504" name="AutoShape 1032"/>
          <p:cNvSpPr>
            <a:spLocks/>
          </p:cNvSpPr>
          <p:nvPr/>
        </p:nvSpPr>
        <p:spPr bwMode="auto">
          <a:xfrm rot="5353442">
            <a:off x="2933700" y="3924300"/>
            <a:ext cx="457200" cy="838200"/>
          </a:xfrm>
          <a:prstGeom prst="rightBrace">
            <a:avLst>
              <a:gd name="adj1" fmla="val 15278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2505" name="AutoShape 1033"/>
          <p:cNvSpPr>
            <a:spLocks/>
          </p:cNvSpPr>
          <p:nvPr/>
        </p:nvSpPr>
        <p:spPr bwMode="auto">
          <a:xfrm rot="5353442">
            <a:off x="3810000" y="3962400"/>
            <a:ext cx="457200" cy="762000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2506" name="AutoShape 1034"/>
          <p:cNvSpPr>
            <a:spLocks/>
          </p:cNvSpPr>
          <p:nvPr/>
        </p:nvSpPr>
        <p:spPr bwMode="auto">
          <a:xfrm rot="5353442">
            <a:off x="5942013" y="3502025"/>
            <a:ext cx="457200" cy="1676400"/>
          </a:xfrm>
          <a:prstGeom prst="rightBrace">
            <a:avLst>
              <a:gd name="adj1" fmla="val 30556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2507" name="AutoShape 1035"/>
          <p:cNvSpPr>
            <a:spLocks/>
          </p:cNvSpPr>
          <p:nvPr/>
        </p:nvSpPr>
        <p:spPr bwMode="auto">
          <a:xfrm rot="16153442">
            <a:off x="4229100" y="1638300"/>
            <a:ext cx="457200" cy="3429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9525">
            <a:solidFill>
              <a:srgbClr val="339966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2508" name="AutoShape 1036"/>
          <p:cNvSpPr>
            <a:spLocks/>
          </p:cNvSpPr>
          <p:nvPr/>
        </p:nvSpPr>
        <p:spPr bwMode="auto">
          <a:xfrm rot="16153442">
            <a:off x="6400800" y="3048000"/>
            <a:ext cx="381000" cy="685800"/>
          </a:xfrm>
          <a:prstGeom prst="rightBrace">
            <a:avLst>
              <a:gd name="adj1" fmla="val 15000"/>
              <a:gd name="adj2" fmla="val 50000"/>
            </a:avLst>
          </a:prstGeom>
          <a:noFill/>
          <a:ln w="9525">
            <a:solidFill>
              <a:srgbClr val="339966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7313" name="Object 1025"/>
          <p:cNvGraphicFramePr>
            <a:graphicFrameLocks noChangeAspect="1"/>
          </p:cNvGraphicFramePr>
          <p:nvPr/>
        </p:nvGraphicFramePr>
        <p:xfrm>
          <a:off x="2971800" y="4648200"/>
          <a:ext cx="290513" cy="304800"/>
        </p:xfrm>
        <a:graphic>
          <a:graphicData uri="http://schemas.openxmlformats.org/presentationml/2006/ole">
            <p:oleObj spid="_x0000_s397313" name="Equation" r:id="rId4" imgW="291960" imgH="304560" progId="Equation.3">
              <p:embed/>
            </p:oleObj>
          </a:graphicData>
        </a:graphic>
      </p:graphicFrame>
      <p:graphicFrame>
        <p:nvGraphicFramePr>
          <p:cNvPr id="397314" name="Object 1026"/>
          <p:cNvGraphicFramePr>
            <a:graphicFrameLocks noChangeAspect="1"/>
          </p:cNvGraphicFramePr>
          <p:nvPr/>
        </p:nvGraphicFramePr>
        <p:xfrm>
          <a:off x="3886200" y="4648200"/>
          <a:ext cx="315913" cy="406400"/>
        </p:xfrm>
        <a:graphic>
          <a:graphicData uri="http://schemas.openxmlformats.org/presentationml/2006/ole">
            <p:oleObj spid="_x0000_s397314" name="Equation" r:id="rId5" imgW="317160" imgH="406080" progId="Equation.3">
              <p:embed/>
            </p:oleObj>
          </a:graphicData>
        </a:graphic>
      </p:graphicFrame>
      <p:graphicFrame>
        <p:nvGraphicFramePr>
          <p:cNvPr id="397315" name="Object 1027"/>
          <p:cNvGraphicFramePr>
            <a:graphicFrameLocks noChangeAspect="1"/>
          </p:cNvGraphicFramePr>
          <p:nvPr/>
        </p:nvGraphicFramePr>
        <p:xfrm>
          <a:off x="6096000" y="4648200"/>
          <a:ext cx="265113" cy="277813"/>
        </p:xfrm>
        <a:graphic>
          <a:graphicData uri="http://schemas.openxmlformats.org/presentationml/2006/ole">
            <p:oleObj spid="_x0000_s397315" name="Equation" r:id="rId6" imgW="266400" imgH="279360" progId="Equation.3">
              <p:embed/>
            </p:oleObj>
          </a:graphicData>
        </a:graphic>
      </p:graphicFrame>
      <p:graphicFrame>
        <p:nvGraphicFramePr>
          <p:cNvPr id="397316" name="Object 1028"/>
          <p:cNvGraphicFramePr>
            <a:graphicFrameLocks noChangeAspect="1"/>
          </p:cNvGraphicFramePr>
          <p:nvPr/>
        </p:nvGraphicFramePr>
        <p:xfrm>
          <a:off x="3886200" y="2667000"/>
          <a:ext cx="1130300" cy="431800"/>
        </p:xfrm>
        <a:graphic>
          <a:graphicData uri="http://schemas.openxmlformats.org/presentationml/2006/ole">
            <p:oleObj spid="_x0000_s397316" name="Equation" r:id="rId7" imgW="1130040" imgH="431640" progId="Equation.3">
              <p:embed/>
            </p:oleObj>
          </a:graphicData>
        </a:graphic>
      </p:graphicFrame>
      <p:graphicFrame>
        <p:nvGraphicFramePr>
          <p:cNvPr id="397317" name="Object 1029"/>
          <p:cNvGraphicFramePr>
            <a:graphicFrameLocks noChangeAspect="1"/>
          </p:cNvGraphicFramePr>
          <p:nvPr/>
        </p:nvGraphicFramePr>
        <p:xfrm>
          <a:off x="6477000" y="2743200"/>
          <a:ext cx="393700" cy="304800"/>
        </p:xfrm>
        <a:graphic>
          <a:graphicData uri="http://schemas.openxmlformats.org/presentationml/2006/ole">
            <p:oleObj spid="_x0000_s397317" name="Equation" r:id="rId8" imgW="393480" imgH="304560" progId="Equation.3">
              <p:embed/>
            </p:oleObj>
          </a:graphicData>
        </a:graphic>
      </p:graphicFrame>
      <p:sp>
        <p:nvSpPr>
          <p:cNvPr id="362516" name="Text Box 1044"/>
          <p:cNvSpPr txBox="1">
            <a:spLocks noChangeArrowheads="1"/>
          </p:cNvSpPr>
          <p:nvPr/>
        </p:nvSpPr>
        <p:spPr bwMode="auto">
          <a:xfrm>
            <a:off x="1600200" y="6019800"/>
            <a:ext cx="1287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Thus:</a:t>
            </a:r>
          </a:p>
        </p:txBody>
      </p:sp>
      <p:graphicFrame>
        <p:nvGraphicFramePr>
          <p:cNvPr id="397318" name="Object 1030"/>
          <p:cNvGraphicFramePr>
            <a:graphicFrameLocks noChangeAspect="1"/>
          </p:cNvGraphicFramePr>
          <p:nvPr/>
        </p:nvGraphicFramePr>
        <p:xfrm>
          <a:off x="5486400" y="1371600"/>
          <a:ext cx="2501900" cy="722313"/>
        </p:xfrm>
        <a:graphic>
          <a:graphicData uri="http://schemas.openxmlformats.org/presentationml/2006/ole">
            <p:oleObj spid="_x0000_s397318" name="Equation" r:id="rId9" imgW="2501640" imgH="723600" progId="Equation.3">
              <p:embed/>
            </p:oleObj>
          </a:graphicData>
        </a:graphic>
      </p:graphicFrame>
      <p:graphicFrame>
        <p:nvGraphicFramePr>
          <p:cNvPr id="397319" name="Object 1031"/>
          <p:cNvGraphicFramePr>
            <a:graphicFrameLocks noChangeAspect="1"/>
          </p:cNvGraphicFramePr>
          <p:nvPr/>
        </p:nvGraphicFramePr>
        <p:xfrm>
          <a:off x="1066800" y="0"/>
          <a:ext cx="2692400" cy="722313"/>
        </p:xfrm>
        <a:graphic>
          <a:graphicData uri="http://schemas.openxmlformats.org/presentationml/2006/ole">
            <p:oleObj spid="_x0000_s397319" name="Equation" r:id="rId10" imgW="2692080" imgH="723600" progId="Equation.3">
              <p:embed/>
            </p:oleObj>
          </a:graphicData>
        </a:graphic>
      </p:graphicFrame>
      <p:graphicFrame>
        <p:nvGraphicFramePr>
          <p:cNvPr id="397320" name="Object 1032"/>
          <p:cNvGraphicFramePr>
            <a:graphicFrameLocks noChangeAspect="1"/>
          </p:cNvGraphicFramePr>
          <p:nvPr/>
        </p:nvGraphicFramePr>
        <p:xfrm>
          <a:off x="5257800" y="0"/>
          <a:ext cx="2781300" cy="723900"/>
        </p:xfrm>
        <a:graphic>
          <a:graphicData uri="http://schemas.openxmlformats.org/presentationml/2006/ole">
            <p:oleObj spid="_x0000_s397320" name="Equation" r:id="rId11" imgW="2781000" imgH="723600" progId="Equation.3">
              <p:embed/>
            </p:oleObj>
          </a:graphicData>
        </a:graphic>
      </p:graphicFrame>
      <p:sp>
        <p:nvSpPr>
          <p:cNvPr id="362520" name="AutoShape 1048"/>
          <p:cNvSpPr>
            <a:spLocks/>
          </p:cNvSpPr>
          <p:nvPr/>
        </p:nvSpPr>
        <p:spPr bwMode="auto">
          <a:xfrm rot="5353442">
            <a:off x="4648200" y="3962400"/>
            <a:ext cx="457200" cy="762000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7321" name="Object 1033"/>
          <p:cNvGraphicFramePr>
            <a:graphicFrameLocks noChangeAspect="1"/>
          </p:cNvGraphicFramePr>
          <p:nvPr/>
        </p:nvGraphicFramePr>
        <p:xfrm>
          <a:off x="4724400" y="4648200"/>
          <a:ext cx="315913" cy="406400"/>
        </p:xfrm>
        <a:graphic>
          <a:graphicData uri="http://schemas.openxmlformats.org/presentationml/2006/ole">
            <p:oleObj spid="_x0000_s397321" name="Equation" r:id="rId12" imgW="317160" imgH="406080" progId="Equation.3">
              <p:embed/>
            </p:oleObj>
          </a:graphicData>
        </a:graphic>
      </p:graphicFrame>
      <p:graphicFrame>
        <p:nvGraphicFramePr>
          <p:cNvPr id="397322" name="Object 1034"/>
          <p:cNvGraphicFramePr>
            <a:graphicFrameLocks noChangeAspect="1"/>
          </p:cNvGraphicFramePr>
          <p:nvPr/>
        </p:nvGraphicFramePr>
        <p:xfrm>
          <a:off x="3124200" y="5867400"/>
          <a:ext cx="2476500" cy="609600"/>
        </p:xfrm>
        <a:graphic>
          <a:graphicData uri="http://schemas.openxmlformats.org/presentationml/2006/ole">
            <p:oleObj spid="_x0000_s397322" name="Equation" r:id="rId13" imgW="247644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D7A5F-880C-4EF0-A0C6-4BC5BAB92CF3}" type="slidenum">
              <a:rPr lang="en-US"/>
              <a:pPr/>
              <a:t>49</a:t>
            </a:fld>
            <a:endParaRPr lang="en-US"/>
          </a:p>
        </p:txBody>
      </p:sp>
      <p:graphicFrame>
        <p:nvGraphicFramePr>
          <p:cNvPr id="398336" name="Object 1024"/>
          <p:cNvGraphicFramePr>
            <a:graphicFrameLocks noChangeAspect="1"/>
          </p:cNvGraphicFramePr>
          <p:nvPr/>
        </p:nvGraphicFramePr>
        <p:xfrm>
          <a:off x="3124200" y="0"/>
          <a:ext cx="2476500" cy="609600"/>
        </p:xfrm>
        <a:graphic>
          <a:graphicData uri="http://schemas.openxmlformats.org/presentationml/2006/ole">
            <p:oleObj spid="_x0000_s398336" name="Equation" r:id="rId3" imgW="2476440" imgH="609480" progId="Equation.3">
              <p:embed/>
            </p:oleObj>
          </a:graphicData>
        </a:graphic>
      </p:graphicFrame>
      <p:graphicFrame>
        <p:nvGraphicFramePr>
          <p:cNvPr id="398337" name="Object 1025"/>
          <p:cNvGraphicFramePr>
            <a:graphicFrameLocks noChangeAspect="1"/>
          </p:cNvGraphicFramePr>
          <p:nvPr/>
        </p:nvGraphicFramePr>
        <p:xfrm>
          <a:off x="2349500" y="2032000"/>
          <a:ext cx="3505200" cy="711200"/>
        </p:xfrm>
        <a:graphic>
          <a:graphicData uri="http://schemas.openxmlformats.org/presentationml/2006/ole">
            <p:oleObj spid="_x0000_s398337" name="Equation" r:id="rId4" imgW="3504960" imgH="711000" progId="Equation.3">
              <p:embed/>
            </p:oleObj>
          </a:graphicData>
        </a:graphic>
      </p:graphicFrame>
      <p:sp>
        <p:nvSpPr>
          <p:cNvPr id="305159" name="Text Box 7"/>
          <p:cNvSpPr txBox="1">
            <a:spLocks noChangeArrowheads="1"/>
          </p:cNvSpPr>
          <p:nvPr/>
        </p:nvSpPr>
        <p:spPr bwMode="auto">
          <a:xfrm>
            <a:off x="517525" y="2109788"/>
            <a:ext cx="13255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BUT:</a:t>
            </a:r>
          </a:p>
        </p:txBody>
      </p:sp>
      <p:graphicFrame>
        <p:nvGraphicFramePr>
          <p:cNvPr id="398338" name="Object 1026"/>
          <p:cNvGraphicFramePr>
            <a:graphicFrameLocks noChangeAspect="1"/>
          </p:cNvGraphicFramePr>
          <p:nvPr/>
        </p:nvGraphicFramePr>
        <p:xfrm>
          <a:off x="3105150" y="4165600"/>
          <a:ext cx="2476500" cy="647700"/>
        </p:xfrm>
        <a:graphic>
          <a:graphicData uri="http://schemas.openxmlformats.org/presentationml/2006/ole">
            <p:oleObj spid="_x0000_s398338" name="Equation" r:id="rId5" imgW="2476440" imgH="647640" progId="Equation.3">
              <p:embed/>
            </p:oleObj>
          </a:graphicData>
        </a:graphic>
      </p:graphicFrame>
      <p:sp>
        <p:nvSpPr>
          <p:cNvPr id="305162" name="Text Box 10"/>
          <p:cNvSpPr txBox="1">
            <a:spLocks noChangeArrowheads="1"/>
          </p:cNvSpPr>
          <p:nvPr/>
        </p:nvSpPr>
        <p:spPr bwMode="auto">
          <a:xfrm>
            <a:off x="2133600" y="5457825"/>
            <a:ext cx="45942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3300"/>
                </a:solidFill>
              </a:rPr>
              <a:t>CONTRADICTION!!!</a:t>
            </a:r>
          </a:p>
        </p:txBody>
      </p:sp>
      <p:sp>
        <p:nvSpPr>
          <p:cNvPr id="305164" name="AutoShape 12"/>
          <p:cNvSpPr>
            <a:spLocks noChangeArrowheads="1"/>
          </p:cNvSpPr>
          <p:nvPr/>
        </p:nvSpPr>
        <p:spPr bwMode="auto">
          <a:xfrm>
            <a:off x="4114800" y="3124200"/>
            <a:ext cx="485775" cy="747713"/>
          </a:xfrm>
          <a:prstGeom prst="downArrow">
            <a:avLst>
              <a:gd name="adj1" fmla="val 50000"/>
              <a:gd name="adj2" fmla="val 384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8339" name="Object 1027"/>
          <p:cNvGraphicFramePr>
            <a:graphicFrameLocks noChangeAspect="1"/>
          </p:cNvGraphicFramePr>
          <p:nvPr/>
        </p:nvGraphicFramePr>
        <p:xfrm>
          <a:off x="7004050" y="88900"/>
          <a:ext cx="1117600" cy="546100"/>
        </p:xfrm>
        <a:graphic>
          <a:graphicData uri="http://schemas.openxmlformats.org/presentationml/2006/ole">
            <p:oleObj spid="_x0000_s398339" name="Equation" r:id="rId6" imgW="1117440" imgH="545760" progId="Equation.3">
              <p:embed/>
            </p:oleObj>
          </a:graphicData>
        </a:graphic>
      </p:graphicFrame>
      <p:sp>
        <p:nvSpPr>
          <p:cNvPr id="305166" name="Line 14"/>
          <p:cNvSpPr>
            <a:spLocks noChangeShapeType="1"/>
          </p:cNvSpPr>
          <p:nvPr/>
        </p:nvSpPr>
        <p:spPr bwMode="auto">
          <a:xfrm>
            <a:off x="0" y="1295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2FDD0-1863-45A6-8369-778AAA6FEB0A}" type="slidenum">
              <a:rPr lang="en-US"/>
              <a:pPr/>
              <a:t>50</a:t>
            </a:fld>
            <a:endParaRPr lang="en-US"/>
          </a:p>
        </p:txBody>
      </p:sp>
      <p:sp>
        <p:nvSpPr>
          <p:cNvPr id="315394" name="Text Box 2"/>
          <p:cNvSpPr txBox="1">
            <a:spLocks noChangeArrowheads="1"/>
          </p:cNvSpPr>
          <p:nvPr/>
        </p:nvSpPr>
        <p:spPr bwMode="auto">
          <a:xfrm>
            <a:off x="2590800" y="609600"/>
            <a:ext cx="61547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Our assumption that</a:t>
            </a:r>
          </a:p>
          <a:p>
            <a:r>
              <a:rPr lang="en-US"/>
              <a:t>is a regular language is not true</a:t>
            </a:r>
          </a:p>
        </p:txBody>
      </p:sp>
      <p:graphicFrame>
        <p:nvGraphicFramePr>
          <p:cNvPr id="399360" name="Object 1024"/>
          <p:cNvGraphicFramePr>
            <a:graphicFrameLocks noChangeAspect="1"/>
          </p:cNvGraphicFramePr>
          <p:nvPr/>
        </p:nvGraphicFramePr>
        <p:xfrm>
          <a:off x="6784975" y="647700"/>
          <a:ext cx="328613" cy="393700"/>
        </p:xfrm>
        <a:graphic>
          <a:graphicData uri="http://schemas.openxmlformats.org/presentationml/2006/ole">
            <p:oleObj spid="_x0000_s399360" name="Equation" r:id="rId3" imgW="330120" imgH="393480" progId="Equation.3">
              <p:embed/>
            </p:oleObj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0" y="4246563"/>
            <a:ext cx="2840038" cy="7016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4000" b="1">
                <a:solidFill>
                  <a:srgbClr val="FF3300"/>
                </a:solidFill>
              </a:rPr>
              <a:t>Conclusion:</a:t>
            </a:r>
          </a:p>
        </p:txBody>
      </p:sp>
      <p:graphicFrame>
        <p:nvGraphicFramePr>
          <p:cNvPr id="399361" name="Object 1025"/>
          <p:cNvGraphicFramePr>
            <a:graphicFrameLocks noChangeAspect="1"/>
          </p:cNvGraphicFramePr>
          <p:nvPr/>
        </p:nvGraphicFramePr>
        <p:xfrm>
          <a:off x="3187700" y="4406900"/>
          <a:ext cx="328613" cy="393700"/>
        </p:xfrm>
        <a:graphic>
          <a:graphicData uri="http://schemas.openxmlformats.org/presentationml/2006/ole">
            <p:oleObj spid="_x0000_s399361" name="Equation" r:id="rId4" imgW="330120" imgH="393480" progId="Equation.3">
              <p:embed/>
            </p:oleObj>
          </a:graphicData>
        </a:graphic>
      </p:graphicFrame>
      <p:sp>
        <p:nvSpPr>
          <p:cNvPr id="315398" name="Text Box 6"/>
          <p:cNvSpPr txBox="1">
            <a:spLocks noChangeArrowheads="1"/>
          </p:cNvSpPr>
          <p:nvPr/>
        </p:nvSpPr>
        <p:spPr bwMode="auto">
          <a:xfrm>
            <a:off x="3733800" y="4343400"/>
            <a:ext cx="4776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not a regular language</a:t>
            </a:r>
          </a:p>
        </p:txBody>
      </p:sp>
      <p:sp>
        <p:nvSpPr>
          <p:cNvPr id="315399" name="Text Box 7"/>
          <p:cNvSpPr txBox="1">
            <a:spLocks noChangeArrowheads="1"/>
          </p:cNvSpPr>
          <p:nvPr/>
        </p:nvSpPr>
        <p:spPr bwMode="auto">
          <a:xfrm>
            <a:off x="0" y="6096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Therefore: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26008-2F6C-4192-842F-3AC527846968}" type="slidenum">
              <a:rPr lang="en-US"/>
              <a:pPr/>
              <a:t>51</a:t>
            </a:fld>
            <a:endParaRPr lang="en-US"/>
          </a:p>
        </p:txBody>
      </p:sp>
      <p:sp>
        <p:nvSpPr>
          <p:cNvPr id="357378" name="Oval 2"/>
          <p:cNvSpPr>
            <a:spLocks noChangeArrowheads="1"/>
          </p:cNvSpPr>
          <p:nvPr/>
        </p:nvSpPr>
        <p:spPr bwMode="auto">
          <a:xfrm>
            <a:off x="1447800" y="2286000"/>
            <a:ext cx="5943600" cy="3962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7379" name="Text Box 3"/>
          <p:cNvSpPr txBox="1">
            <a:spLocks noChangeArrowheads="1"/>
          </p:cNvSpPr>
          <p:nvPr/>
        </p:nvSpPr>
        <p:spPr bwMode="auto">
          <a:xfrm>
            <a:off x="2743200" y="2743200"/>
            <a:ext cx="3529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 languages</a:t>
            </a:r>
          </a:p>
        </p:txBody>
      </p:sp>
      <p:sp>
        <p:nvSpPr>
          <p:cNvPr id="357384" name="Text Box 8"/>
          <p:cNvSpPr txBox="1">
            <a:spLocks noChangeArrowheads="1"/>
          </p:cNvSpPr>
          <p:nvPr/>
        </p:nvSpPr>
        <p:spPr bwMode="auto">
          <a:xfrm>
            <a:off x="304800" y="914400"/>
            <a:ext cx="4389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Non-regular languages</a:t>
            </a:r>
          </a:p>
        </p:txBody>
      </p:sp>
      <p:graphicFrame>
        <p:nvGraphicFramePr>
          <p:cNvPr id="400384" name="Object 0"/>
          <p:cNvGraphicFramePr>
            <a:graphicFrameLocks noChangeAspect="1"/>
          </p:cNvGraphicFramePr>
          <p:nvPr/>
        </p:nvGraphicFramePr>
        <p:xfrm>
          <a:off x="5105400" y="838200"/>
          <a:ext cx="2971800" cy="723900"/>
        </p:xfrm>
        <a:graphic>
          <a:graphicData uri="http://schemas.openxmlformats.org/presentationml/2006/ole">
            <p:oleObj spid="_x0000_s400384" name="Equation" r:id="rId3" imgW="2971800" imgH="7236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4231</TotalTime>
  <Words>659</Words>
  <Application>Microsoft Office PowerPoint</Application>
  <PresentationFormat>On-screen Show (4:3)</PresentationFormat>
  <Paragraphs>265</Paragraphs>
  <Slides>51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3" baseType="lpstr">
      <vt:lpstr>class</vt:lpstr>
      <vt:lpstr>Equation</vt:lpstr>
      <vt:lpstr>Standard Representations  of Regular Languages</vt:lpstr>
      <vt:lpstr>Slide 2</vt:lpstr>
      <vt:lpstr>Elementary Questions  about  Regular Languages</vt:lpstr>
      <vt:lpstr>Membership Question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Non-regular languages</vt:lpstr>
      <vt:lpstr>Slide 14</vt:lpstr>
      <vt:lpstr>Slide 15</vt:lpstr>
      <vt:lpstr>The Pigeonhole Principle</vt:lpstr>
      <vt:lpstr>Slide 17</vt:lpstr>
      <vt:lpstr>Slide 18</vt:lpstr>
      <vt:lpstr>Slide 19</vt:lpstr>
      <vt:lpstr>The Pigeonhole Principle</vt:lpstr>
      <vt:lpstr>The Pigeonhole Principle  and   DFAs</vt:lpstr>
      <vt:lpstr>Slide 22</vt:lpstr>
      <vt:lpstr>Slide 23</vt:lpstr>
      <vt:lpstr>Slide 24</vt:lpstr>
      <vt:lpstr>Slide 25</vt:lpstr>
      <vt:lpstr>Slide 26</vt:lpstr>
      <vt:lpstr>Slide 27</vt:lpstr>
      <vt:lpstr>The Pumping Lemma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The Pumping Lemma:</vt:lpstr>
      <vt:lpstr>Applications   of  the Pumping Lemma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951</cp:revision>
  <cp:lastPrinted>2000-09-25T14:54:54Z</cp:lastPrinted>
  <dcterms:created xsi:type="dcterms:W3CDTF">2000-08-31T01:12:33Z</dcterms:created>
  <dcterms:modified xsi:type="dcterms:W3CDTF">2014-01-11T18:36:06Z</dcterms:modified>
</cp:coreProperties>
</file>