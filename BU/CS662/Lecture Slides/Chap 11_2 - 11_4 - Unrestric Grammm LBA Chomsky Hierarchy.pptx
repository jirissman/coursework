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38" r:id="rId2"/>
    <p:sldId id="339" r:id="rId3"/>
    <p:sldId id="340" r:id="rId4"/>
    <p:sldId id="341" r:id="rId5"/>
    <p:sldId id="342" r:id="rId6"/>
    <p:sldId id="256" r:id="rId7"/>
    <p:sldId id="314" r:id="rId8"/>
    <p:sldId id="315" r:id="rId9"/>
    <p:sldId id="316" r:id="rId10"/>
    <p:sldId id="317" r:id="rId11"/>
    <p:sldId id="318" r:id="rId12"/>
    <p:sldId id="319" r:id="rId13"/>
    <p:sldId id="321" r:id="rId14"/>
    <p:sldId id="257" r:id="rId15"/>
    <p:sldId id="308" r:id="rId16"/>
    <p:sldId id="307" r:id="rId17"/>
    <p:sldId id="322" r:id="rId18"/>
    <p:sldId id="310" r:id="rId19"/>
    <p:sldId id="323" r:id="rId20"/>
    <p:sldId id="311" r:id="rId21"/>
    <p:sldId id="312" r:id="rId22"/>
    <p:sldId id="328" r:id="rId23"/>
    <p:sldId id="329" r:id="rId24"/>
    <p:sldId id="330" r:id="rId25"/>
    <p:sldId id="334" r:id="rId26"/>
    <p:sldId id="335" r:id="rId27"/>
    <p:sldId id="336" r:id="rId28"/>
    <p:sldId id="337" r:id="rId29"/>
    <p:sldId id="313" r:id="rId30"/>
    <p:sldId id="258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9" r:id="rId39"/>
    <p:sldId id="270" r:id="rId40"/>
    <p:sldId id="271" r:id="rId41"/>
    <p:sldId id="272" r:id="rId42"/>
    <p:sldId id="324" r:id="rId43"/>
    <p:sldId id="325" r:id="rId44"/>
    <p:sldId id="276" r:id="rId45"/>
    <p:sldId id="326" r:id="rId46"/>
    <p:sldId id="278" r:id="rId47"/>
    <p:sldId id="333" r:id="rId48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9900"/>
    <a:srgbClr val="CC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4" autoAdjust="0"/>
    <p:restoredTop sz="90929"/>
  </p:normalViewPr>
  <p:slideViewPr>
    <p:cSldViewPr>
      <p:cViewPr varScale="1">
        <p:scale>
          <a:sx n="70" d="100"/>
          <a:sy n="70" d="100"/>
        </p:scale>
        <p:origin x="14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24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24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7" Type="http://schemas.openxmlformats.org/officeDocument/2006/relationships/image" Target="../media/image18.wmf"/><Relationship Id="rId2" Type="http://schemas.openxmlformats.org/officeDocument/2006/relationships/image" Target="../media/image36.wmf"/><Relationship Id="rId1" Type="http://schemas.openxmlformats.org/officeDocument/2006/relationships/image" Target="../media/image24.wmf"/><Relationship Id="rId6" Type="http://schemas.openxmlformats.org/officeDocument/2006/relationships/image" Target="../media/image17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1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7.wmf"/><Relationship Id="rId7" Type="http://schemas.openxmlformats.org/officeDocument/2006/relationships/image" Target="../media/image44.wmf"/><Relationship Id="rId2" Type="http://schemas.openxmlformats.org/officeDocument/2006/relationships/image" Target="../media/image42.wmf"/><Relationship Id="rId1" Type="http://schemas.openxmlformats.org/officeDocument/2006/relationships/image" Target="../media/image24.wmf"/><Relationship Id="rId6" Type="http://schemas.openxmlformats.org/officeDocument/2006/relationships/image" Target="../media/image43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17.wmf"/><Relationship Id="rId1" Type="http://schemas.openxmlformats.org/officeDocument/2006/relationships/image" Target="../media/image4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8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5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24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4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3.wmf"/><Relationship Id="rId5" Type="http://schemas.openxmlformats.org/officeDocument/2006/relationships/image" Target="../media/image54.wmf"/><Relationship Id="rId4" Type="http://schemas.openxmlformats.org/officeDocument/2006/relationships/image" Target="../media/image3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ED1D5931-C692-4F34-A672-88616B23D47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8E5F0421-C32A-4AEF-9EB9-F723B05D74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3A37CB-6A47-426E-BCCE-C3AEC2F779D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709095-C0BC-4355-BD34-ED0BD676CAB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F6239D-C002-4195-BDD0-8A8AAE8D3E4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58FACE-CD97-4134-8B3B-CD568F0AA5E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DF9D94-9698-4ACB-9D2D-4A9325C2EF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F186E20-6D52-4B4A-ADEF-F93866BD377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4E492B-EDBE-4159-BE38-A6482655988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BB675A-2C93-4615-96CC-8543B51596D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BB8789-3310-40FD-87AA-7C17C37A775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ACD183-15B8-4202-B8A8-A1A1A922192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CC1CEF-47FD-4985-BA94-2D45C936D87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44F9F9AA-96D0-4D7B-9340-4E395C1692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1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3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1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26.wmf"/><Relationship Id="rId3" Type="http://schemas.openxmlformats.org/officeDocument/2006/relationships/oleObject" Target="../embeddings/oleObject36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25.wmf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3.bin"/><Relationship Id="rId10" Type="http://schemas.openxmlformats.org/officeDocument/2006/relationships/oleObject" Target="../embeddings/oleObject40.bin"/><Relationship Id="rId4" Type="http://schemas.openxmlformats.org/officeDocument/2006/relationships/image" Target="../media/image24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4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4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6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image" Target="../media/image34.wmf"/><Relationship Id="rId10" Type="http://schemas.openxmlformats.org/officeDocument/2006/relationships/image" Target="../media/image32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52.bin"/><Relationship Id="rId14" Type="http://schemas.openxmlformats.org/officeDocument/2006/relationships/oleObject" Target="../embeddings/oleObject5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58.bin"/><Relationship Id="rId4" Type="http://schemas.openxmlformats.org/officeDocument/2006/relationships/image" Target="../media/image35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21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6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1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26.wmf"/><Relationship Id="rId3" Type="http://schemas.openxmlformats.org/officeDocument/2006/relationships/oleObject" Target="../embeddings/oleObject67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25.wmf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4.bin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24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7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10" Type="http://schemas.openxmlformats.org/officeDocument/2006/relationships/image" Target="../media/image38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1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8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38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4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6.bin"/><Relationship Id="rId10" Type="http://schemas.openxmlformats.org/officeDocument/2006/relationships/oleObject" Target="../embeddings/oleObject99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9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7.wmf"/><Relationship Id="rId11" Type="http://schemas.openxmlformats.org/officeDocument/2006/relationships/image" Target="../media/image48.wmf"/><Relationship Id="rId5" Type="http://schemas.openxmlformats.org/officeDocument/2006/relationships/oleObject" Target="../embeddings/oleObject101.bin"/><Relationship Id="rId10" Type="http://schemas.openxmlformats.org/officeDocument/2006/relationships/oleObject" Target="../embeddings/oleObject104.bin"/><Relationship Id="rId4" Type="http://schemas.openxmlformats.org/officeDocument/2006/relationships/image" Target="../media/image46.wmf"/><Relationship Id="rId9" Type="http://schemas.openxmlformats.org/officeDocument/2006/relationships/image" Target="../media/image4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10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53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26.wmf"/><Relationship Id="rId3" Type="http://schemas.openxmlformats.org/officeDocument/2006/relationships/oleObject" Target="../embeddings/oleObject114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25.wmf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1.bin"/><Relationship Id="rId10" Type="http://schemas.openxmlformats.org/officeDocument/2006/relationships/oleObject" Target="../embeddings/oleObject118.bin"/><Relationship Id="rId4" Type="http://schemas.openxmlformats.org/officeDocument/2006/relationships/image" Target="../media/image24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2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125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132.bin"/><Relationship Id="rId18" Type="http://schemas.openxmlformats.org/officeDocument/2006/relationships/oleObject" Target="../embeddings/oleObject136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13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4.bin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5" Type="http://schemas.openxmlformats.org/officeDocument/2006/relationships/image" Target="../media/image33.wmf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137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30.bin"/><Relationship Id="rId14" Type="http://schemas.openxmlformats.org/officeDocument/2006/relationships/oleObject" Target="../embeddings/oleObject13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35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2667000"/>
          </a:xfrm>
        </p:spPr>
        <p:txBody>
          <a:bodyPr/>
          <a:lstStyle/>
          <a:p>
            <a:r>
              <a:rPr lang="en-US" sz="4400" dirty="0"/>
              <a:t>Linear Bounded Automata</a:t>
            </a:r>
            <a:br>
              <a:rPr lang="en-US" sz="4400" dirty="0"/>
            </a:br>
            <a:r>
              <a:rPr lang="en-US" sz="4400" dirty="0"/>
              <a:t>LBAs</a:t>
            </a:r>
            <a:br>
              <a:rPr lang="en-US" sz="4400" dirty="0"/>
            </a:br>
            <a:r>
              <a:rPr lang="en-US" sz="4400" dirty="0"/>
              <a:t>Chomsky Hierarchy</a:t>
            </a:r>
          </a:p>
        </p:txBody>
      </p:sp>
      <p:sp>
        <p:nvSpPr>
          <p:cNvPr id="109875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09C807-7AF5-4BC3-8063-A18E794B00C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99778" name="Text Box 2"/>
          <p:cNvSpPr txBox="1">
            <a:spLocks noChangeArrowheads="1"/>
          </p:cNvSpPr>
          <p:nvPr/>
        </p:nvSpPr>
        <p:spPr bwMode="auto">
          <a:xfrm>
            <a:off x="685800" y="685800"/>
            <a:ext cx="66548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dirty="0"/>
              <a:t>Linear Bounded Automata (LBAs)</a:t>
            </a:r>
          </a:p>
          <a:p>
            <a:r>
              <a:rPr lang="en-US" dirty="0"/>
              <a:t>are the same as Turing Machines</a:t>
            </a:r>
          </a:p>
          <a:p>
            <a:r>
              <a:rPr lang="en-US" dirty="0">
                <a:solidFill>
                  <a:srgbClr val="FF0000"/>
                </a:solidFill>
              </a:rPr>
              <a:t>with one difference:</a:t>
            </a:r>
            <a:endParaRPr lang="en-US" dirty="0"/>
          </a:p>
        </p:txBody>
      </p:sp>
      <p:sp>
        <p:nvSpPr>
          <p:cNvPr id="1099779" name="Text Box 3"/>
          <p:cNvSpPr txBox="1">
            <a:spLocks noChangeArrowheads="1"/>
          </p:cNvSpPr>
          <p:nvPr/>
        </p:nvSpPr>
        <p:spPr bwMode="auto">
          <a:xfrm>
            <a:off x="762000" y="3124200"/>
            <a:ext cx="7712075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dirty="0"/>
              <a:t>The input string tape space is the only</a:t>
            </a:r>
          </a:p>
          <a:p>
            <a:r>
              <a:rPr lang="en-US" dirty="0"/>
              <a:t>tape space allowed to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D4F823-C781-4131-849D-6183470619D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100802" name="Line 1026"/>
          <p:cNvSpPr>
            <a:spLocks noChangeShapeType="1"/>
          </p:cNvSpPr>
          <p:nvPr/>
        </p:nvSpPr>
        <p:spPr bwMode="auto">
          <a:xfrm>
            <a:off x="1447800" y="1676400"/>
            <a:ext cx="571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03" name="Line 1027"/>
          <p:cNvSpPr>
            <a:spLocks noChangeShapeType="1"/>
          </p:cNvSpPr>
          <p:nvPr/>
        </p:nvSpPr>
        <p:spPr bwMode="auto">
          <a:xfrm>
            <a:off x="1447800" y="2362200"/>
            <a:ext cx="571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00804" name="Line 1028"/>
          <p:cNvSpPr>
            <a:spLocks noChangeShapeType="1"/>
          </p:cNvSpPr>
          <p:nvPr/>
        </p:nvSpPr>
        <p:spPr bwMode="auto">
          <a:xfrm>
            <a:off x="19050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05" name="Line 1029"/>
          <p:cNvSpPr>
            <a:spLocks noChangeShapeType="1"/>
          </p:cNvSpPr>
          <p:nvPr/>
        </p:nvSpPr>
        <p:spPr bwMode="auto">
          <a:xfrm>
            <a:off x="24384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06" name="Line 1030"/>
          <p:cNvSpPr>
            <a:spLocks noChangeShapeType="1"/>
          </p:cNvSpPr>
          <p:nvPr/>
        </p:nvSpPr>
        <p:spPr bwMode="auto">
          <a:xfrm>
            <a:off x="29718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07" name="Line 1031"/>
          <p:cNvSpPr>
            <a:spLocks noChangeShapeType="1"/>
          </p:cNvSpPr>
          <p:nvPr/>
        </p:nvSpPr>
        <p:spPr bwMode="auto">
          <a:xfrm>
            <a:off x="35052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08" name="Line 1032"/>
          <p:cNvSpPr>
            <a:spLocks noChangeShapeType="1"/>
          </p:cNvSpPr>
          <p:nvPr/>
        </p:nvSpPr>
        <p:spPr bwMode="auto">
          <a:xfrm>
            <a:off x="40386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09" name="Line 1033"/>
          <p:cNvSpPr>
            <a:spLocks noChangeShapeType="1"/>
          </p:cNvSpPr>
          <p:nvPr/>
        </p:nvSpPr>
        <p:spPr bwMode="auto">
          <a:xfrm>
            <a:off x="45720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10" name="Line 1034"/>
          <p:cNvSpPr>
            <a:spLocks noChangeShapeType="1"/>
          </p:cNvSpPr>
          <p:nvPr/>
        </p:nvSpPr>
        <p:spPr bwMode="auto">
          <a:xfrm>
            <a:off x="51054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11" name="Line 1035"/>
          <p:cNvSpPr>
            <a:spLocks noChangeShapeType="1"/>
          </p:cNvSpPr>
          <p:nvPr/>
        </p:nvSpPr>
        <p:spPr bwMode="auto">
          <a:xfrm>
            <a:off x="56388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12" name="Line 1036"/>
          <p:cNvSpPr>
            <a:spLocks noChangeShapeType="1"/>
          </p:cNvSpPr>
          <p:nvPr/>
        </p:nvSpPr>
        <p:spPr bwMode="auto">
          <a:xfrm>
            <a:off x="61722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00813" name="Line 1037"/>
          <p:cNvSpPr>
            <a:spLocks noChangeShapeType="1"/>
          </p:cNvSpPr>
          <p:nvPr/>
        </p:nvSpPr>
        <p:spPr bwMode="auto">
          <a:xfrm>
            <a:off x="6705600" y="167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00814" name="Object 1038"/>
          <p:cNvGraphicFramePr>
            <a:graphicFrameLocks noChangeAspect="1"/>
          </p:cNvGraphicFramePr>
          <p:nvPr/>
        </p:nvGraphicFramePr>
        <p:xfrm>
          <a:off x="2667000" y="1828800"/>
          <a:ext cx="150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21" name="Equation" r:id="rId3" imgW="152280" imgH="469800" progId="Equation.3">
                  <p:embed/>
                </p:oleObj>
              </mc:Choice>
              <mc:Fallback>
                <p:oleObj name="Equation" r:id="rId3" imgW="152280" imgH="469800" progId="Equation.3">
                  <p:embed/>
                  <p:pic>
                    <p:nvPicPr>
                      <p:cNvPr id="0" name="Picture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828800"/>
                        <a:ext cx="15081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0815" name="Object 1039"/>
          <p:cNvGraphicFramePr>
            <a:graphicFrameLocks noChangeAspect="1"/>
          </p:cNvGraphicFramePr>
          <p:nvPr/>
        </p:nvGraphicFramePr>
        <p:xfrm>
          <a:off x="5791200" y="1828800"/>
          <a:ext cx="150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22" name="Equation" r:id="rId5" imgW="152280" imgH="469800" progId="Equation.3">
                  <p:embed/>
                </p:oleObj>
              </mc:Choice>
              <mc:Fallback>
                <p:oleObj name="Equation" r:id="rId5" imgW="152280" imgH="469800" progId="Equation.3">
                  <p:embed/>
                  <p:pic>
                    <p:nvPicPr>
                      <p:cNvPr id="0" name="Picture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828800"/>
                        <a:ext cx="15081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0816" name="Object 1040"/>
          <p:cNvGraphicFramePr>
            <a:graphicFrameLocks noChangeAspect="1"/>
          </p:cNvGraphicFramePr>
          <p:nvPr/>
        </p:nvGraphicFramePr>
        <p:xfrm>
          <a:off x="3124200" y="1905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23" name="Equation" r:id="rId7" imgW="266400" imgH="279360" progId="Equation.3">
                  <p:embed/>
                </p:oleObj>
              </mc:Choice>
              <mc:Fallback>
                <p:oleObj name="Equation" r:id="rId7" imgW="266400" imgH="279360" progId="Equation.3">
                  <p:embed/>
                  <p:pic>
                    <p:nvPicPr>
                      <p:cNvPr id="0" name="Picture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905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0817" name="Object 1041"/>
          <p:cNvGraphicFramePr>
            <a:graphicFrameLocks noChangeAspect="1"/>
          </p:cNvGraphicFramePr>
          <p:nvPr/>
        </p:nvGraphicFramePr>
        <p:xfrm>
          <a:off x="3657600" y="1828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24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8288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0818" name="Object 1042"/>
          <p:cNvGraphicFramePr>
            <a:graphicFrameLocks noChangeAspect="1"/>
          </p:cNvGraphicFramePr>
          <p:nvPr/>
        </p:nvGraphicFramePr>
        <p:xfrm>
          <a:off x="4191000" y="1905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25" name="Equation" r:id="rId11" imgW="241200" imgH="279360" progId="Equation.3">
                  <p:embed/>
                </p:oleObj>
              </mc:Choice>
              <mc:Fallback>
                <p:oleObj name="Equation" r:id="rId11" imgW="241200" imgH="279360" progId="Equation.3">
                  <p:embed/>
                  <p:pic>
                    <p:nvPicPr>
                      <p:cNvPr id="0" name="Picture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9050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0819" name="Object 1043"/>
          <p:cNvGraphicFramePr>
            <a:graphicFrameLocks noChangeAspect="1"/>
          </p:cNvGraphicFramePr>
          <p:nvPr/>
        </p:nvGraphicFramePr>
        <p:xfrm>
          <a:off x="4724400" y="1828800"/>
          <a:ext cx="3032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26" name="Equation" r:id="rId13" imgW="304560" imgH="393480" progId="Equation.3">
                  <p:embed/>
                </p:oleObj>
              </mc:Choice>
              <mc:Fallback>
                <p:oleObj name="Equation" r:id="rId13" imgW="304560" imgH="393480" progId="Equation.3">
                  <p:embed/>
                  <p:pic>
                    <p:nvPicPr>
                      <p:cNvPr id="0" name="Picture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828800"/>
                        <a:ext cx="3032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0820" name="Object 1044"/>
          <p:cNvGraphicFramePr>
            <a:graphicFrameLocks noChangeAspect="1"/>
          </p:cNvGraphicFramePr>
          <p:nvPr/>
        </p:nvGraphicFramePr>
        <p:xfrm>
          <a:off x="5257800" y="190500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827" name="Equation" r:id="rId15" imgW="228600" imgH="279360" progId="Equation.3">
                  <p:embed/>
                </p:oleObj>
              </mc:Choice>
              <mc:Fallback>
                <p:oleObj name="Equation" r:id="rId15" imgW="228600" imgH="279360" progId="Equation.3">
                  <p:embed/>
                  <p:pic>
                    <p:nvPicPr>
                      <p:cNvPr id="0" name="Picture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905000"/>
                        <a:ext cx="228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0821" name="Line 1045"/>
          <p:cNvSpPr>
            <a:spLocks noChangeShapeType="1"/>
          </p:cNvSpPr>
          <p:nvPr/>
        </p:nvSpPr>
        <p:spPr bwMode="auto">
          <a:xfrm flipV="1">
            <a:off x="1295400" y="2438400"/>
            <a:ext cx="1295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00822" name="Line 1046"/>
          <p:cNvSpPr>
            <a:spLocks noChangeShapeType="1"/>
          </p:cNvSpPr>
          <p:nvPr/>
        </p:nvSpPr>
        <p:spPr bwMode="auto">
          <a:xfrm flipH="1" flipV="1">
            <a:off x="6019800" y="24384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00823" name="Text Box 1047"/>
          <p:cNvSpPr txBox="1">
            <a:spLocks noChangeArrowheads="1"/>
          </p:cNvSpPr>
          <p:nvPr/>
        </p:nvSpPr>
        <p:spPr bwMode="auto">
          <a:xfrm>
            <a:off x="0" y="3429000"/>
            <a:ext cx="18716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Left-end</a:t>
            </a:r>
          </a:p>
          <a:p>
            <a:r>
              <a:rPr lang="en-US">
                <a:solidFill>
                  <a:schemeClr val="tx2"/>
                </a:solidFill>
              </a:rPr>
              <a:t>marker</a:t>
            </a:r>
          </a:p>
        </p:txBody>
      </p:sp>
      <p:sp>
        <p:nvSpPr>
          <p:cNvPr id="1100824" name="Text Box 1048"/>
          <p:cNvSpPr txBox="1">
            <a:spLocks noChangeArrowheads="1"/>
          </p:cNvSpPr>
          <p:nvPr/>
        </p:nvSpPr>
        <p:spPr bwMode="auto">
          <a:xfrm>
            <a:off x="3048000" y="990600"/>
            <a:ext cx="2490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Input string</a:t>
            </a:r>
          </a:p>
        </p:txBody>
      </p:sp>
      <p:sp>
        <p:nvSpPr>
          <p:cNvPr id="1100825" name="Text Box 1049"/>
          <p:cNvSpPr txBox="1">
            <a:spLocks noChangeArrowheads="1"/>
          </p:cNvSpPr>
          <p:nvPr/>
        </p:nvSpPr>
        <p:spPr bwMode="auto">
          <a:xfrm>
            <a:off x="7104063" y="3505200"/>
            <a:ext cx="2039937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Right-end</a:t>
            </a:r>
          </a:p>
          <a:p>
            <a:r>
              <a:rPr lang="en-US">
                <a:solidFill>
                  <a:schemeClr val="tx2"/>
                </a:solidFill>
              </a:rPr>
              <a:t>marker</a:t>
            </a:r>
          </a:p>
        </p:txBody>
      </p:sp>
      <p:sp>
        <p:nvSpPr>
          <p:cNvPr id="1100826" name="Text Box 1050"/>
          <p:cNvSpPr txBox="1">
            <a:spLocks noChangeArrowheads="1"/>
          </p:cNvSpPr>
          <p:nvPr/>
        </p:nvSpPr>
        <p:spPr bwMode="auto">
          <a:xfrm>
            <a:off x="3124200" y="3048000"/>
            <a:ext cx="29559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Working space</a:t>
            </a:r>
          </a:p>
          <a:p>
            <a:r>
              <a:rPr lang="en-US">
                <a:solidFill>
                  <a:srgbClr val="FF0000"/>
                </a:solidFill>
              </a:rPr>
              <a:t> in tape</a:t>
            </a:r>
          </a:p>
        </p:txBody>
      </p:sp>
      <p:sp>
        <p:nvSpPr>
          <p:cNvPr id="1100827" name="AutoShape 1051"/>
          <p:cNvSpPr>
            <a:spLocks/>
          </p:cNvSpPr>
          <p:nvPr/>
        </p:nvSpPr>
        <p:spPr bwMode="auto">
          <a:xfrm rot="-16200000">
            <a:off x="4114800" y="1447800"/>
            <a:ext cx="381000" cy="2514600"/>
          </a:xfrm>
          <a:prstGeom prst="rightBrace">
            <a:avLst>
              <a:gd name="adj1" fmla="val 5500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00828" name="Text Box 1052"/>
          <p:cNvSpPr txBox="1">
            <a:spLocks noChangeArrowheads="1"/>
          </p:cNvSpPr>
          <p:nvPr/>
        </p:nvSpPr>
        <p:spPr bwMode="auto">
          <a:xfrm>
            <a:off x="0" y="5334000"/>
            <a:ext cx="8756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computation is done between end markers</a:t>
            </a:r>
          </a:p>
        </p:txBody>
      </p:sp>
      <p:sp>
        <p:nvSpPr>
          <p:cNvPr id="1100829" name="Text Box 1053"/>
          <p:cNvSpPr txBox="1">
            <a:spLocks noChangeArrowheads="1"/>
          </p:cNvSpPr>
          <p:nvPr/>
        </p:nvSpPr>
        <p:spPr bwMode="auto">
          <a:xfrm>
            <a:off x="1295400" y="0"/>
            <a:ext cx="6657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Linear Bounded Automaton (LBA)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91F9E5-857C-4CB0-A7AC-DD3032AA295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101826" name="Text Box 1026"/>
          <p:cNvSpPr txBox="1">
            <a:spLocks noChangeArrowheads="1"/>
          </p:cNvSpPr>
          <p:nvPr/>
        </p:nvSpPr>
        <p:spPr bwMode="auto">
          <a:xfrm>
            <a:off x="609600" y="457200"/>
            <a:ext cx="733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define LBA’s as NonDeterministic</a:t>
            </a:r>
          </a:p>
        </p:txBody>
      </p:sp>
      <p:sp>
        <p:nvSpPr>
          <p:cNvPr id="1101827" name="Text Box 1027"/>
          <p:cNvSpPr txBox="1">
            <a:spLocks noChangeArrowheads="1"/>
          </p:cNvSpPr>
          <p:nvPr/>
        </p:nvSpPr>
        <p:spPr bwMode="auto">
          <a:xfrm>
            <a:off x="669925" y="3302000"/>
            <a:ext cx="3038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Open Problem:</a:t>
            </a:r>
          </a:p>
        </p:txBody>
      </p:sp>
      <p:sp>
        <p:nvSpPr>
          <p:cNvPr id="1101828" name="Text Box 1028"/>
          <p:cNvSpPr txBox="1">
            <a:spLocks noChangeArrowheads="1"/>
          </p:cNvSpPr>
          <p:nvPr/>
        </p:nvSpPr>
        <p:spPr bwMode="auto">
          <a:xfrm>
            <a:off x="1736725" y="4064000"/>
            <a:ext cx="4918334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Non-Deterministic LBA’s</a:t>
            </a:r>
          </a:p>
          <a:p>
            <a:r>
              <a:rPr lang="en-US" dirty="0"/>
              <a:t>have same power with</a:t>
            </a:r>
          </a:p>
          <a:p>
            <a:r>
              <a:rPr lang="en-US" dirty="0"/>
              <a:t>Deterministic LBA’s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6E339C-02CA-4B27-84A4-5BDF57FE8DE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102850" name="Text Box 2"/>
          <p:cNvSpPr txBox="1">
            <a:spLocks noChangeArrowheads="1"/>
          </p:cNvSpPr>
          <p:nvPr/>
        </p:nvSpPr>
        <p:spPr bwMode="auto">
          <a:xfrm>
            <a:off x="365125" y="330200"/>
            <a:ext cx="7313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 languages accepted by LBAs:</a:t>
            </a:r>
          </a:p>
        </p:txBody>
      </p:sp>
      <p:graphicFrame>
        <p:nvGraphicFramePr>
          <p:cNvPr id="1102851" name="Object 3"/>
          <p:cNvGraphicFramePr>
            <a:graphicFrameLocks noChangeAspect="1"/>
          </p:cNvGraphicFramePr>
          <p:nvPr/>
        </p:nvGraphicFramePr>
        <p:xfrm>
          <a:off x="2362200" y="1295400"/>
          <a:ext cx="2730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53" name="Equation" r:id="rId3" imgW="2730240" imgH="711000" progId="Equation.3">
                  <p:embed/>
                </p:oleObj>
              </mc:Choice>
              <mc:Fallback>
                <p:oleObj name="Equation" r:id="rId3" imgW="2730240" imgH="711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95400"/>
                        <a:ext cx="27305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52" name="Object 4"/>
          <p:cNvGraphicFramePr>
            <a:graphicFrameLocks noChangeAspect="1"/>
          </p:cNvGraphicFramePr>
          <p:nvPr/>
        </p:nvGraphicFramePr>
        <p:xfrm>
          <a:off x="2438400" y="2590800"/>
          <a:ext cx="1828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54" name="Equation" r:id="rId5" imgW="1828800" imgH="711000" progId="Equation.3">
                  <p:embed/>
                </p:oleObj>
              </mc:Choice>
              <mc:Fallback>
                <p:oleObj name="Equation" r:id="rId5" imgW="1828800" imgH="711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90800"/>
                        <a:ext cx="18288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2853" name="Text Box 5"/>
          <p:cNvSpPr txBox="1">
            <a:spLocks noChangeArrowheads="1"/>
          </p:cNvSpPr>
          <p:nvPr/>
        </p:nvSpPr>
        <p:spPr bwMode="auto">
          <a:xfrm>
            <a:off x="304800" y="3962400"/>
            <a:ext cx="7026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LBA’s have more power than NPDA’s</a:t>
            </a:r>
          </a:p>
        </p:txBody>
      </p:sp>
      <p:sp>
        <p:nvSpPr>
          <p:cNvPr id="1102855" name="Text Box 7"/>
          <p:cNvSpPr txBox="1">
            <a:spLocks noChangeArrowheads="1"/>
          </p:cNvSpPr>
          <p:nvPr/>
        </p:nvSpPr>
        <p:spPr bwMode="auto">
          <a:xfrm>
            <a:off x="685800" y="5181600"/>
            <a:ext cx="7620000" cy="107721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LBA’s have also less power than Turing Machines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The Chomsky Hierarchy</a:t>
            </a:r>
          </a:p>
        </p:txBody>
      </p:sp>
      <p:sp>
        <p:nvSpPr>
          <p:cNvPr id="94617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2AF3F5-F7DE-410D-844E-1749F2D616EA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73154" name="Text Box 2"/>
          <p:cNvSpPr txBox="1">
            <a:spLocks noChangeArrowheads="1"/>
          </p:cNvSpPr>
          <p:nvPr/>
        </p:nvSpPr>
        <p:spPr bwMode="auto">
          <a:xfrm>
            <a:off x="441325" y="254000"/>
            <a:ext cx="4833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Unrestricted Grammars:</a:t>
            </a:r>
          </a:p>
        </p:txBody>
      </p:sp>
      <p:sp>
        <p:nvSpPr>
          <p:cNvPr id="1073155" name="Text Box 3"/>
          <p:cNvSpPr txBox="1">
            <a:spLocks noChangeArrowheads="1"/>
          </p:cNvSpPr>
          <p:nvPr/>
        </p:nvSpPr>
        <p:spPr bwMode="auto">
          <a:xfrm>
            <a:off x="3124200" y="1295400"/>
            <a:ext cx="2395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Productions</a:t>
            </a:r>
          </a:p>
        </p:txBody>
      </p:sp>
      <p:graphicFrame>
        <p:nvGraphicFramePr>
          <p:cNvPr id="1073156" name="Object 4"/>
          <p:cNvGraphicFramePr>
            <a:graphicFrameLocks noChangeAspect="1"/>
          </p:cNvGraphicFramePr>
          <p:nvPr/>
        </p:nvGraphicFramePr>
        <p:xfrm>
          <a:off x="3657600" y="2057400"/>
          <a:ext cx="1231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157" name="Equation" r:id="rId3" imgW="1231560" imgH="317160" progId="Equation.3">
                  <p:embed/>
                </p:oleObj>
              </mc:Choice>
              <mc:Fallback>
                <p:oleObj name="Equation" r:id="rId3" imgW="1231560" imgH="317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1231900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3157" name="Line 5"/>
          <p:cNvSpPr>
            <a:spLocks noChangeShapeType="1"/>
          </p:cNvSpPr>
          <p:nvPr/>
        </p:nvSpPr>
        <p:spPr bwMode="auto">
          <a:xfrm flipV="1">
            <a:off x="1981200" y="2438400"/>
            <a:ext cx="1524000" cy="106680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73158" name="Line 6"/>
          <p:cNvSpPr>
            <a:spLocks noChangeShapeType="1"/>
          </p:cNvSpPr>
          <p:nvPr/>
        </p:nvSpPr>
        <p:spPr bwMode="auto">
          <a:xfrm flipH="1" flipV="1">
            <a:off x="4953000" y="2438400"/>
            <a:ext cx="1676400" cy="114300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73159" name="Text Box 7"/>
          <p:cNvSpPr txBox="1">
            <a:spLocks noChangeArrowheads="1"/>
          </p:cNvSpPr>
          <p:nvPr/>
        </p:nvSpPr>
        <p:spPr bwMode="auto">
          <a:xfrm>
            <a:off x="0" y="3657600"/>
            <a:ext cx="37592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variables</a:t>
            </a:r>
          </a:p>
          <a:p>
            <a:r>
              <a:rPr lang="en-US"/>
              <a:t>and terminals</a:t>
            </a:r>
          </a:p>
        </p:txBody>
      </p:sp>
      <p:sp>
        <p:nvSpPr>
          <p:cNvPr id="1073160" name="Text Box 8"/>
          <p:cNvSpPr txBox="1">
            <a:spLocks noChangeArrowheads="1"/>
          </p:cNvSpPr>
          <p:nvPr/>
        </p:nvSpPr>
        <p:spPr bwMode="auto">
          <a:xfrm>
            <a:off x="5384800" y="3733800"/>
            <a:ext cx="37592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variables</a:t>
            </a:r>
          </a:p>
          <a:p>
            <a:r>
              <a:rPr lang="en-US"/>
              <a:t>and terminals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D3517E-3AAE-4057-AB5B-7FF63ABC44A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074178" name="Text Box 1026"/>
          <p:cNvSpPr txBox="1">
            <a:spLocks noChangeArrowheads="1"/>
          </p:cNvSpPr>
          <p:nvPr/>
        </p:nvSpPr>
        <p:spPr bwMode="auto">
          <a:xfrm>
            <a:off x="517525" y="1397000"/>
            <a:ext cx="6176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 unrestricted grammar:</a:t>
            </a:r>
          </a:p>
        </p:txBody>
      </p:sp>
      <p:graphicFrame>
        <p:nvGraphicFramePr>
          <p:cNvPr id="1074180" name="Object 1028"/>
          <p:cNvGraphicFramePr>
            <a:graphicFrameLocks noChangeAspect="1"/>
          </p:cNvGraphicFramePr>
          <p:nvPr/>
        </p:nvGraphicFramePr>
        <p:xfrm>
          <a:off x="3644900" y="2457450"/>
          <a:ext cx="18542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181" name="Equation" r:id="rId3" imgW="1854000" imgH="1942920" progId="Equation.3">
                  <p:embed/>
                </p:oleObj>
              </mc:Choice>
              <mc:Fallback>
                <p:oleObj name="Equation" r:id="rId3" imgW="1854000" imgH="194292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2457450"/>
                        <a:ext cx="1854200" cy="194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75EBEB-56E9-4820-8E1D-0421E4259CAC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75202" name="Text Box 1026"/>
          <p:cNvSpPr txBox="1">
            <a:spLocks noChangeArrowheads="1"/>
          </p:cNvSpPr>
          <p:nvPr/>
        </p:nvSpPr>
        <p:spPr bwMode="auto">
          <a:xfrm>
            <a:off x="457200" y="1371600"/>
            <a:ext cx="81168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language         is recursively enumerable</a:t>
            </a:r>
          </a:p>
          <a:p>
            <a:r>
              <a:rPr lang="en-US"/>
              <a:t>if and only if        is generated by an</a:t>
            </a:r>
          </a:p>
          <a:p>
            <a:r>
              <a:rPr lang="en-US"/>
              <a:t>unrestricted grammar</a:t>
            </a:r>
          </a:p>
        </p:txBody>
      </p:sp>
      <p:graphicFrame>
        <p:nvGraphicFramePr>
          <p:cNvPr id="1075203" name="Object 1027"/>
          <p:cNvGraphicFramePr>
            <a:graphicFrameLocks noChangeAspect="1"/>
          </p:cNvGraphicFramePr>
          <p:nvPr/>
        </p:nvGraphicFramePr>
        <p:xfrm>
          <a:off x="3276600" y="19812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05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812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04" name="Object 1028"/>
          <p:cNvGraphicFramePr>
            <a:graphicFrameLocks noChangeAspect="1"/>
          </p:cNvGraphicFramePr>
          <p:nvPr/>
        </p:nvGraphicFramePr>
        <p:xfrm>
          <a:off x="2974975" y="14097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06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14097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05" name="Text Box 1029"/>
          <p:cNvSpPr txBox="1">
            <a:spLocks noChangeArrowheads="1"/>
          </p:cNvSpPr>
          <p:nvPr/>
        </p:nvSpPr>
        <p:spPr bwMode="auto">
          <a:xfrm>
            <a:off x="212725" y="330200"/>
            <a:ext cx="1987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Theorem: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7FE7D2-6D2B-4B64-BF60-7D2AC67A2974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76226" name="Text Box 2"/>
          <p:cNvSpPr txBox="1">
            <a:spLocks noChangeArrowheads="1"/>
          </p:cNvSpPr>
          <p:nvPr/>
        </p:nvSpPr>
        <p:spPr bwMode="auto">
          <a:xfrm>
            <a:off x="441325" y="254000"/>
            <a:ext cx="5786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Context-Sensitive Grammars:</a:t>
            </a:r>
          </a:p>
        </p:txBody>
      </p:sp>
      <p:sp>
        <p:nvSpPr>
          <p:cNvPr id="1076233" name="Text Box 9"/>
          <p:cNvSpPr txBox="1">
            <a:spLocks noChangeArrowheads="1"/>
          </p:cNvSpPr>
          <p:nvPr/>
        </p:nvSpPr>
        <p:spPr bwMode="auto">
          <a:xfrm>
            <a:off x="2155825" y="5537200"/>
            <a:ext cx="965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and:</a:t>
            </a:r>
          </a:p>
        </p:txBody>
      </p:sp>
      <p:graphicFrame>
        <p:nvGraphicFramePr>
          <p:cNvPr id="1076234" name="Object 10"/>
          <p:cNvGraphicFramePr>
            <a:graphicFrameLocks noChangeAspect="1"/>
          </p:cNvGraphicFramePr>
          <p:nvPr/>
        </p:nvGraphicFramePr>
        <p:xfrm>
          <a:off x="3429000" y="5562600"/>
          <a:ext cx="19685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37" name="Equation" r:id="rId3" imgW="1968480" imgH="545760" progId="Equation.3">
                  <p:embed/>
                </p:oleObj>
              </mc:Choice>
              <mc:Fallback>
                <p:oleObj name="Equation" r:id="rId3" imgW="1968480" imgH="5457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562600"/>
                        <a:ext cx="1968500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6235" name="Text Box 11"/>
          <p:cNvSpPr txBox="1">
            <a:spLocks noChangeArrowheads="1"/>
          </p:cNvSpPr>
          <p:nvPr/>
        </p:nvSpPr>
        <p:spPr bwMode="auto">
          <a:xfrm>
            <a:off x="3124200" y="1295400"/>
            <a:ext cx="2395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Productions</a:t>
            </a:r>
          </a:p>
        </p:txBody>
      </p:sp>
      <p:graphicFrame>
        <p:nvGraphicFramePr>
          <p:cNvPr id="1076236" name="Object 12"/>
          <p:cNvGraphicFramePr>
            <a:graphicFrameLocks noChangeAspect="1"/>
          </p:cNvGraphicFramePr>
          <p:nvPr/>
        </p:nvGraphicFramePr>
        <p:xfrm>
          <a:off x="3657600" y="2057400"/>
          <a:ext cx="1231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38" name="Equation" r:id="rId5" imgW="1231560" imgH="317160" progId="Equation.3">
                  <p:embed/>
                </p:oleObj>
              </mc:Choice>
              <mc:Fallback>
                <p:oleObj name="Equation" r:id="rId5" imgW="1231560" imgH="3171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1231900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6237" name="Line 13"/>
          <p:cNvSpPr>
            <a:spLocks noChangeShapeType="1"/>
          </p:cNvSpPr>
          <p:nvPr/>
        </p:nvSpPr>
        <p:spPr bwMode="auto">
          <a:xfrm flipV="1">
            <a:off x="1981200" y="2438400"/>
            <a:ext cx="1524000" cy="106680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76238" name="Line 14"/>
          <p:cNvSpPr>
            <a:spLocks noChangeShapeType="1"/>
          </p:cNvSpPr>
          <p:nvPr/>
        </p:nvSpPr>
        <p:spPr bwMode="auto">
          <a:xfrm flipH="1" flipV="1">
            <a:off x="4953000" y="2438400"/>
            <a:ext cx="1676400" cy="114300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76239" name="Text Box 15"/>
          <p:cNvSpPr txBox="1">
            <a:spLocks noChangeArrowheads="1"/>
          </p:cNvSpPr>
          <p:nvPr/>
        </p:nvSpPr>
        <p:spPr bwMode="auto">
          <a:xfrm>
            <a:off x="0" y="3657600"/>
            <a:ext cx="37592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variables</a:t>
            </a:r>
          </a:p>
          <a:p>
            <a:r>
              <a:rPr lang="en-US"/>
              <a:t>and terminals</a:t>
            </a:r>
          </a:p>
        </p:txBody>
      </p:sp>
      <p:sp>
        <p:nvSpPr>
          <p:cNvPr id="1076240" name="Text Box 16"/>
          <p:cNvSpPr txBox="1">
            <a:spLocks noChangeArrowheads="1"/>
          </p:cNvSpPr>
          <p:nvPr/>
        </p:nvSpPr>
        <p:spPr bwMode="auto">
          <a:xfrm>
            <a:off x="5384800" y="3733800"/>
            <a:ext cx="37592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variables</a:t>
            </a:r>
          </a:p>
          <a:p>
            <a:r>
              <a:rPr lang="en-US"/>
              <a:t>and terminals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100385-5CE4-4FFB-95CC-8ACB8A7EBB11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077250" name="Text Box 2"/>
          <p:cNvSpPr txBox="1">
            <a:spLocks noChangeArrowheads="1"/>
          </p:cNvSpPr>
          <p:nvPr/>
        </p:nvSpPr>
        <p:spPr bwMode="auto">
          <a:xfrm>
            <a:off x="517525" y="558800"/>
            <a:ext cx="2767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 </a:t>
            </a:r>
          </a:p>
        </p:txBody>
      </p:sp>
      <p:graphicFrame>
        <p:nvGraphicFramePr>
          <p:cNvPr id="1077251" name="Object 3"/>
          <p:cNvGraphicFramePr>
            <a:graphicFrameLocks noChangeAspect="1"/>
          </p:cNvGraphicFramePr>
          <p:nvPr/>
        </p:nvGraphicFramePr>
        <p:xfrm>
          <a:off x="3327400" y="508000"/>
          <a:ext cx="1917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254" name="Equation" r:id="rId3" imgW="1917360" imgH="711000" progId="Equation.3">
                  <p:embed/>
                </p:oleObj>
              </mc:Choice>
              <mc:Fallback>
                <p:oleObj name="Equation" r:id="rId3" imgW="1917360" imgH="711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508000"/>
                        <a:ext cx="19177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7252" name="Text Box 4"/>
          <p:cNvSpPr txBox="1">
            <a:spLocks noChangeArrowheads="1"/>
          </p:cNvSpPr>
          <p:nvPr/>
        </p:nvSpPr>
        <p:spPr bwMode="auto">
          <a:xfrm>
            <a:off x="609600" y="1371600"/>
            <a:ext cx="4067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context-sensitive:</a:t>
            </a:r>
          </a:p>
        </p:txBody>
      </p:sp>
      <p:graphicFrame>
        <p:nvGraphicFramePr>
          <p:cNvPr id="1077253" name="Object 5"/>
          <p:cNvGraphicFramePr>
            <a:graphicFrameLocks noChangeAspect="1"/>
          </p:cNvGraphicFramePr>
          <p:nvPr/>
        </p:nvGraphicFramePr>
        <p:xfrm>
          <a:off x="3041650" y="2336800"/>
          <a:ext cx="31242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255" name="Equation" r:id="rId5" imgW="3124080" imgH="3581280" progId="Equation.3">
                  <p:embed/>
                </p:oleObj>
              </mc:Choice>
              <mc:Fallback>
                <p:oleObj name="Equation" r:id="rId5" imgW="3124080" imgH="3581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2336800"/>
                        <a:ext cx="3124200" cy="358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44DA81-3882-427B-B679-763E597FD919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078274" name="Text Box 2"/>
          <p:cNvSpPr txBox="1">
            <a:spLocks noChangeArrowheads="1"/>
          </p:cNvSpPr>
          <p:nvPr/>
        </p:nvSpPr>
        <p:spPr bwMode="auto">
          <a:xfrm>
            <a:off x="457200" y="1143000"/>
            <a:ext cx="8278228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 language       is context sensitive if and</a:t>
            </a:r>
          </a:p>
          <a:p>
            <a:r>
              <a:rPr lang="en-US" dirty="0"/>
              <a:t>and only if      is  accepted by a </a:t>
            </a:r>
          </a:p>
          <a:p>
            <a:r>
              <a:rPr lang="en-US" dirty="0"/>
              <a:t>Linear-Bounded automaton</a:t>
            </a:r>
          </a:p>
        </p:txBody>
      </p:sp>
      <p:graphicFrame>
        <p:nvGraphicFramePr>
          <p:cNvPr id="1078275" name="Object 3"/>
          <p:cNvGraphicFramePr>
            <a:graphicFrameLocks noChangeAspect="1"/>
          </p:cNvGraphicFramePr>
          <p:nvPr/>
        </p:nvGraphicFramePr>
        <p:xfrm>
          <a:off x="2743200" y="17526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77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526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76" name="Object 4"/>
          <p:cNvGraphicFramePr>
            <a:graphicFrameLocks noChangeAspect="1"/>
          </p:cNvGraphicFramePr>
          <p:nvPr/>
        </p:nvGraphicFramePr>
        <p:xfrm>
          <a:off x="2895600" y="11430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78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1430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77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1987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Theorem:</a:t>
            </a:r>
          </a:p>
        </p:txBody>
      </p:sp>
      <p:sp>
        <p:nvSpPr>
          <p:cNvPr id="1078278" name="Text Box 6"/>
          <p:cNvSpPr txBox="1">
            <a:spLocks noChangeArrowheads="1"/>
          </p:cNvSpPr>
          <p:nvPr/>
        </p:nvSpPr>
        <p:spPr bwMode="auto">
          <a:xfrm>
            <a:off x="685800" y="5105400"/>
            <a:ext cx="7300396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There is a language which is context-</a:t>
            </a:r>
          </a:p>
          <a:p>
            <a:r>
              <a:rPr lang="en-US" dirty="0"/>
              <a:t>Sensitive but not recursive</a:t>
            </a:r>
          </a:p>
        </p:txBody>
      </p:sp>
      <p:sp>
        <p:nvSpPr>
          <p:cNvPr id="1078279" name="Text Box 7"/>
          <p:cNvSpPr txBox="1">
            <a:spLocks noChangeArrowheads="1"/>
          </p:cNvSpPr>
          <p:nvPr/>
        </p:nvSpPr>
        <p:spPr bwMode="auto">
          <a:xfrm>
            <a:off x="457200" y="43434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Observation: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77FDC1-2FFA-4BFA-8375-A9E7449CD6D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080322" name="Oval 2"/>
          <p:cNvSpPr>
            <a:spLocks noChangeArrowheads="1"/>
          </p:cNvSpPr>
          <p:nvPr/>
        </p:nvSpPr>
        <p:spPr bwMode="auto">
          <a:xfrm>
            <a:off x="304800" y="1752600"/>
            <a:ext cx="8458200" cy="472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0323" name="Oval 3"/>
          <p:cNvSpPr>
            <a:spLocks noChangeArrowheads="1"/>
          </p:cNvSpPr>
          <p:nvPr/>
        </p:nvSpPr>
        <p:spPr bwMode="auto">
          <a:xfrm>
            <a:off x="990600" y="2667000"/>
            <a:ext cx="7086600" cy="3733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0324" name="Oval 4"/>
          <p:cNvSpPr>
            <a:spLocks noChangeArrowheads="1"/>
          </p:cNvSpPr>
          <p:nvPr/>
        </p:nvSpPr>
        <p:spPr bwMode="auto">
          <a:xfrm>
            <a:off x="1905000" y="3429000"/>
            <a:ext cx="5257800" cy="2895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0325" name="Text Box 5"/>
          <p:cNvSpPr txBox="1">
            <a:spLocks noChangeArrowheads="1"/>
          </p:cNvSpPr>
          <p:nvPr/>
        </p:nvSpPr>
        <p:spPr bwMode="auto">
          <a:xfrm>
            <a:off x="1981200" y="1066800"/>
            <a:ext cx="5478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Non-recursively enumerable</a:t>
            </a:r>
          </a:p>
        </p:txBody>
      </p:sp>
      <p:sp>
        <p:nvSpPr>
          <p:cNvPr id="1080326" name="Text Box 6"/>
          <p:cNvSpPr txBox="1">
            <a:spLocks noChangeArrowheads="1"/>
          </p:cNvSpPr>
          <p:nvPr/>
        </p:nvSpPr>
        <p:spPr bwMode="auto">
          <a:xfrm>
            <a:off x="2209800" y="2057400"/>
            <a:ext cx="4665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Recursively-enumerable</a:t>
            </a:r>
          </a:p>
        </p:txBody>
      </p:sp>
      <p:sp>
        <p:nvSpPr>
          <p:cNvPr id="1080327" name="Text Box 7"/>
          <p:cNvSpPr txBox="1">
            <a:spLocks noChangeArrowheads="1"/>
          </p:cNvSpPr>
          <p:nvPr/>
        </p:nvSpPr>
        <p:spPr bwMode="auto">
          <a:xfrm>
            <a:off x="3581400" y="2819400"/>
            <a:ext cx="2011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Recursive</a:t>
            </a:r>
          </a:p>
        </p:txBody>
      </p:sp>
      <p:sp>
        <p:nvSpPr>
          <p:cNvPr id="1080328" name="Text Box 8"/>
          <p:cNvSpPr txBox="1">
            <a:spLocks noChangeArrowheads="1"/>
          </p:cNvSpPr>
          <p:nvPr/>
        </p:nvSpPr>
        <p:spPr bwMode="auto">
          <a:xfrm>
            <a:off x="2743200" y="3810000"/>
            <a:ext cx="3544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Context-sensitive</a:t>
            </a:r>
          </a:p>
        </p:txBody>
      </p:sp>
      <p:sp>
        <p:nvSpPr>
          <p:cNvPr id="1080329" name="Oval 9"/>
          <p:cNvSpPr>
            <a:spLocks noChangeArrowheads="1"/>
          </p:cNvSpPr>
          <p:nvPr/>
        </p:nvSpPr>
        <p:spPr bwMode="auto">
          <a:xfrm>
            <a:off x="2514600" y="4495800"/>
            <a:ext cx="41148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0330" name="Text Box 10"/>
          <p:cNvSpPr txBox="1">
            <a:spLocks noChangeArrowheads="1"/>
          </p:cNvSpPr>
          <p:nvPr/>
        </p:nvSpPr>
        <p:spPr bwMode="auto">
          <a:xfrm>
            <a:off x="3200400" y="4724400"/>
            <a:ext cx="2717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Context-free</a:t>
            </a:r>
          </a:p>
        </p:txBody>
      </p:sp>
      <p:sp>
        <p:nvSpPr>
          <p:cNvPr id="1080331" name="Text Box 11"/>
          <p:cNvSpPr txBox="1">
            <a:spLocks noChangeArrowheads="1"/>
          </p:cNvSpPr>
          <p:nvPr/>
        </p:nvSpPr>
        <p:spPr bwMode="auto">
          <a:xfrm>
            <a:off x="3810000" y="5562600"/>
            <a:ext cx="1603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</p:txBody>
      </p:sp>
      <p:sp>
        <p:nvSpPr>
          <p:cNvPr id="1080332" name="Oval 12"/>
          <p:cNvSpPr>
            <a:spLocks noChangeArrowheads="1"/>
          </p:cNvSpPr>
          <p:nvPr/>
        </p:nvSpPr>
        <p:spPr bwMode="auto">
          <a:xfrm>
            <a:off x="3124200" y="5334000"/>
            <a:ext cx="28956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0333" name="Text Box 13"/>
          <p:cNvSpPr txBox="1">
            <a:spLocks noChangeArrowheads="1"/>
          </p:cNvSpPr>
          <p:nvPr/>
        </p:nvSpPr>
        <p:spPr bwMode="auto">
          <a:xfrm>
            <a:off x="2286000" y="228600"/>
            <a:ext cx="4713288" cy="5889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Chomsky Hierarchy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514600"/>
          </a:xfrm>
        </p:spPr>
        <p:txBody>
          <a:bodyPr/>
          <a:lstStyle/>
          <a:p>
            <a:r>
              <a:rPr lang="en-US" sz="4400" dirty="0"/>
              <a:t>Limits of Algorithmic</a:t>
            </a:r>
            <a:br>
              <a:rPr lang="en-US" sz="4400" dirty="0"/>
            </a:br>
            <a:r>
              <a:rPr lang="en-US" sz="4400" dirty="0"/>
              <a:t>Computation</a:t>
            </a:r>
            <a:br>
              <a:rPr lang="en-US" sz="4400" dirty="0"/>
            </a:br>
            <a:r>
              <a:rPr lang="en-US" sz="4400" dirty="0"/>
              <a:t>-----</a:t>
            </a:r>
            <a:br>
              <a:rPr lang="en-US" sz="4400" dirty="0"/>
            </a:br>
            <a:r>
              <a:rPr lang="en-US" sz="4400" dirty="0"/>
              <a:t>Decidability</a:t>
            </a:r>
          </a:p>
        </p:txBody>
      </p:sp>
      <p:sp>
        <p:nvSpPr>
          <p:cNvPr id="10137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6EFBD7-A962-4657-984A-D31E60DB96C5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067010" name="Text Box 2"/>
          <p:cNvSpPr txBox="1">
            <a:spLocks noChangeArrowheads="1"/>
          </p:cNvSpPr>
          <p:nvPr/>
        </p:nvSpPr>
        <p:spPr bwMode="auto">
          <a:xfrm>
            <a:off x="365125" y="482600"/>
            <a:ext cx="8382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Consider problems with answer YES or NO </a:t>
            </a:r>
          </a:p>
        </p:txBody>
      </p:sp>
      <p:sp>
        <p:nvSpPr>
          <p:cNvPr id="1067013" name="Text Box 5"/>
          <p:cNvSpPr txBox="1">
            <a:spLocks noChangeArrowheads="1"/>
          </p:cNvSpPr>
          <p:nvPr/>
        </p:nvSpPr>
        <p:spPr bwMode="auto">
          <a:xfrm>
            <a:off x="0" y="2286000"/>
            <a:ext cx="2073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Examples:</a:t>
            </a:r>
          </a:p>
        </p:txBody>
      </p:sp>
      <p:sp>
        <p:nvSpPr>
          <p:cNvPr id="1067014" name="Text Box 6"/>
          <p:cNvSpPr txBox="1">
            <a:spLocks noChangeArrowheads="1"/>
          </p:cNvSpPr>
          <p:nvPr/>
        </p:nvSpPr>
        <p:spPr bwMode="auto">
          <a:xfrm>
            <a:off x="990600" y="2971800"/>
            <a:ext cx="7773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Does Machine        have three states ?</a:t>
            </a:r>
          </a:p>
        </p:txBody>
      </p:sp>
      <p:graphicFrame>
        <p:nvGraphicFramePr>
          <p:cNvPr id="1067015" name="Object 7"/>
          <p:cNvGraphicFramePr>
            <a:graphicFrameLocks noChangeAspect="1"/>
          </p:cNvGraphicFramePr>
          <p:nvPr/>
        </p:nvGraphicFramePr>
        <p:xfrm>
          <a:off x="4165600" y="30353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22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30353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7016" name="Text Box 8"/>
          <p:cNvSpPr txBox="1">
            <a:spLocks noChangeArrowheads="1"/>
          </p:cNvSpPr>
          <p:nvPr/>
        </p:nvSpPr>
        <p:spPr bwMode="auto">
          <a:xfrm>
            <a:off x="990600" y="4114800"/>
            <a:ext cx="6481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Is string        a binary number? </a:t>
            </a:r>
          </a:p>
        </p:txBody>
      </p:sp>
      <p:graphicFrame>
        <p:nvGraphicFramePr>
          <p:cNvPr id="1067017" name="Object 9"/>
          <p:cNvGraphicFramePr>
            <a:graphicFrameLocks noChangeAspect="1"/>
          </p:cNvGraphicFramePr>
          <p:nvPr/>
        </p:nvGraphicFramePr>
        <p:xfrm>
          <a:off x="3273425" y="43053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23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43053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8" name="Object 10"/>
          <p:cNvGraphicFramePr>
            <a:graphicFrameLocks noChangeAspect="1"/>
          </p:cNvGraphicFramePr>
          <p:nvPr/>
        </p:nvGraphicFramePr>
        <p:xfrm>
          <a:off x="4000500" y="3702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24" name="Equation" r:id="rId7" imgW="228600" imgH="520560" progId="Equation.3">
                  <p:embed/>
                </p:oleObj>
              </mc:Choice>
              <mc:Fallback>
                <p:oleObj name="Equation" r:id="rId7" imgW="22860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3702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7020" name="Text Box 12"/>
          <p:cNvSpPr txBox="1">
            <a:spLocks noChangeArrowheads="1"/>
          </p:cNvSpPr>
          <p:nvPr/>
        </p:nvSpPr>
        <p:spPr bwMode="auto">
          <a:xfrm>
            <a:off x="990600" y="5181600"/>
            <a:ext cx="6991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Does DFA         accept any input?  </a:t>
            </a:r>
          </a:p>
        </p:txBody>
      </p:sp>
      <p:graphicFrame>
        <p:nvGraphicFramePr>
          <p:cNvPr id="1067021" name="Object 13"/>
          <p:cNvGraphicFramePr>
            <a:graphicFrameLocks noChangeAspect="1"/>
          </p:cNvGraphicFramePr>
          <p:nvPr/>
        </p:nvGraphicFramePr>
        <p:xfrm>
          <a:off x="3556000" y="52451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25" name="Equation" r:id="rId9" imgW="545760" imgH="393480" progId="Equation.3">
                  <p:embed/>
                </p:oleObj>
              </mc:Choice>
              <mc:Fallback>
                <p:oleObj name="Equation" r:id="rId9" imgW="545760" imgH="3934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52451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089C9D-8E1A-468D-8E19-4AB6255B807E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065986" name="Text Box 2"/>
          <p:cNvSpPr txBox="1">
            <a:spLocks noChangeArrowheads="1"/>
          </p:cNvSpPr>
          <p:nvPr/>
        </p:nvSpPr>
        <p:spPr bwMode="auto">
          <a:xfrm>
            <a:off x="0" y="152400"/>
            <a:ext cx="89868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A problem is decidable if some Turing machine</a:t>
            </a:r>
          </a:p>
          <a:p>
            <a:r>
              <a:rPr lang="en-US">
                <a:solidFill>
                  <a:srgbClr val="CC0099"/>
                </a:solidFill>
              </a:rPr>
              <a:t>decides (solves) the problem</a:t>
            </a:r>
          </a:p>
        </p:txBody>
      </p:sp>
      <p:sp>
        <p:nvSpPr>
          <p:cNvPr id="1066011" name="Text Box 27"/>
          <p:cNvSpPr txBox="1">
            <a:spLocks noChangeArrowheads="1"/>
          </p:cNvSpPr>
          <p:nvPr/>
        </p:nvSpPr>
        <p:spPr bwMode="auto">
          <a:xfrm>
            <a:off x="0" y="2286000"/>
            <a:ext cx="4005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Decidable problems:</a:t>
            </a:r>
          </a:p>
        </p:txBody>
      </p:sp>
      <p:sp>
        <p:nvSpPr>
          <p:cNvPr id="1066012" name="Text Box 28"/>
          <p:cNvSpPr txBox="1">
            <a:spLocks noChangeArrowheads="1"/>
          </p:cNvSpPr>
          <p:nvPr/>
        </p:nvSpPr>
        <p:spPr bwMode="auto">
          <a:xfrm>
            <a:off x="990600" y="2971800"/>
            <a:ext cx="7773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Does Machine        have three states ?</a:t>
            </a:r>
          </a:p>
        </p:txBody>
      </p:sp>
      <p:graphicFrame>
        <p:nvGraphicFramePr>
          <p:cNvPr id="1066013" name="Object 29"/>
          <p:cNvGraphicFramePr>
            <a:graphicFrameLocks noChangeAspect="1"/>
          </p:cNvGraphicFramePr>
          <p:nvPr/>
        </p:nvGraphicFramePr>
        <p:xfrm>
          <a:off x="4165600" y="30353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19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30353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6014" name="Text Box 30"/>
          <p:cNvSpPr txBox="1">
            <a:spLocks noChangeArrowheads="1"/>
          </p:cNvSpPr>
          <p:nvPr/>
        </p:nvSpPr>
        <p:spPr bwMode="auto">
          <a:xfrm>
            <a:off x="990600" y="4114800"/>
            <a:ext cx="6481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Is string        a binary number? </a:t>
            </a:r>
          </a:p>
        </p:txBody>
      </p:sp>
      <p:graphicFrame>
        <p:nvGraphicFramePr>
          <p:cNvPr id="1066015" name="Object 31"/>
          <p:cNvGraphicFramePr>
            <a:graphicFrameLocks noChangeAspect="1"/>
          </p:cNvGraphicFramePr>
          <p:nvPr/>
        </p:nvGraphicFramePr>
        <p:xfrm>
          <a:off x="3273425" y="43053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20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43053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6016" name="Object 32"/>
          <p:cNvGraphicFramePr>
            <a:graphicFrameLocks noChangeAspect="1"/>
          </p:cNvGraphicFramePr>
          <p:nvPr/>
        </p:nvGraphicFramePr>
        <p:xfrm>
          <a:off x="4000500" y="3702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21" name="Equation" r:id="rId7" imgW="228600" imgH="520560" progId="Equation.3">
                  <p:embed/>
                </p:oleObj>
              </mc:Choice>
              <mc:Fallback>
                <p:oleObj name="Equation" r:id="rId7" imgW="228600" imgH="52056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3702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6017" name="Text Box 33"/>
          <p:cNvSpPr txBox="1">
            <a:spLocks noChangeArrowheads="1"/>
          </p:cNvSpPr>
          <p:nvPr/>
        </p:nvSpPr>
        <p:spPr bwMode="auto">
          <a:xfrm>
            <a:off x="990600" y="5181600"/>
            <a:ext cx="6991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Does DFA         accept any input?  </a:t>
            </a:r>
          </a:p>
        </p:txBody>
      </p:sp>
      <p:graphicFrame>
        <p:nvGraphicFramePr>
          <p:cNvPr id="1066018" name="Object 34"/>
          <p:cNvGraphicFramePr>
            <a:graphicFrameLocks noChangeAspect="1"/>
          </p:cNvGraphicFramePr>
          <p:nvPr/>
        </p:nvGraphicFramePr>
        <p:xfrm>
          <a:off x="3556000" y="52451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22" name="Equation" r:id="rId9" imgW="545760" imgH="393480" progId="Equation.3">
                  <p:embed/>
                </p:oleObj>
              </mc:Choice>
              <mc:Fallback>
                <p:oleObj name="Equation" r:id="rId9" imgW="545760" imgH="39348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52451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926C3A-EB71-4C92-BD1D-CFF73AB7983A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081348" name="Rectangle 1028"/>
          <p:cNvSpPr>
            <a:spLocks noChangeArrowheads="1"/>
          </p:cNvSpPr>
          <p:nvPr/>
        </p:nvSpPr>
        <p:spPr bwMode="auto">
          <a:xfrm>
            <a:off x="2743200" y="3124200"/>
            <a:ext cx="35814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1349" name="Text Box 1029"/>
          <p:cNvSpPr txBox="1">
            <a:spLocks noChangeArrowheads="1"/>
          </p:cNvSpPr>
          <p:nvPr/>
        </p:nvSpPr>
        <p:spPr bwMode="auto">
          <a:xfrm>
            <a:off x="2971800" y="3733800"/>
            <a:ext cx="30924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</a:t>
            </a:r>
          </a:p>
        </p:txBody>
      </p:sp>
      <p:sp>
        <p:nvSpPr>
          <p:cNvPr id="1081350" name="Line 1030"/>
          <p:cNvSpPr>
            <a:spLocks noChangeShapeType="1"/>
          </p:cNvSpPr>
          <p:nvPr/>
        </p:nvSpPr>
        <p:spPr bwMode="auto">
          <a:xfrm>
            <a:off x="6324600" y="3505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1351" name="Line 1031"/>
          <p:cNvSpPr>
            <a:spLocks noChangeShapeType="1"/>
          </p:cNvSpPr>
          <p:nvPr/>
        </p:nvSpPr>
        <p:spPr bwMode="auto">
          <a:xfrm>
            <a:off x="6324600" y="464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1352" name="Line 1032"/>
          <p:cNvSpPr>
            <a:spLocks noChangeShapeType="1"/>
          </p:cNvSpPr>
          <p:nvPr/>
        </p:nvSpPr>
        <p:spPr bwMode="auto">
          <a:xfrm>
            <a:off x="2057400" y="4038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1353" name="Text Box 1033"/>
          <p:cNvSpPr txBox="1">
            <a:spLocks noChangeArrowheads="1"/>
          </p:cNvSpPr>
          <p:nvPr/>
        </p:nvSpPr>
        <p:spPr bwMode="auto">
          <a:xfrm>
            <a:off x="136525" y="3225800"/>
            <a:ext cx="17541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</a:t>
            </a:r>
          </a:p>
          <a:p>
            <a:r>
              <a:rPr lang="en-US">
                <a:solidFill>
                  <a:srgbClr val="FF0000"/>
                </a:solidFill>
              </a:rPr>
              <a:t>problem</a:t>
            </a:r>
          </a:p>
          <a:p>
            <a:r>
              <a:rPr lang="en-US">
                <a:solidFill>
                  <a:srgbClr val="FF0000"/>
                </a:solidFill>
              </a:rPr>
              <a:t>instance</a:t>
            </a:r>
          </a:p>
        </p:txBody>
      </p:sp>
      <p:sp>
        <p:nvSpPr>
          <p:cNvPr id="1081354" name="Text Box 1034"/>
          <p:cNvSpPr txBox="1">
            <a:spLocks noChangeArrowheads="1"/>
          </p:cNvSpPr>
          <p:nvPr/>
        </p:nvSpPr>
        <p:spPr bwMode="auto">
          <a:xfrm>
            <a:off x="7239000" y="32004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081355" name="Text Box 1035"/>
          <p:cNvSpPr txBox="1">
            <a:spLocks noChangeArrowheads="1"/>
          </p:cNvSpPr>
          <p:nvPr/>
        </p:nvSpPr>
        <p:spPr bwMode="auto">
          <a:xfrm>
            <a:off x="7315200" y="44196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81356" name="Text Box 1036"/>
          <p:cNvSpPr txBox="1">
            <a:spLocks noChangeArrowheads="1"/>
          </p:cNvSpPr>
          <p:nvPr/>
        </p:nvSpPr>
        <p:spPr bwMode="auto">
          <a:xfrm>
            <a:off x="457200" y="609600"/>
            <a:ext cx="810577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 Turing machine that decides (solves) </a:t>
            </a:r>
          </a:p>
          <a:p>
            <a:r>
              <a:rPr lang="en-US" dirty="0"/>
              <a:t>a problem answers </a:t>
            </a:r>
            <a:r>
              <a:rPr lang="en-US" dirty="0">
                <a:solidFill>
                  <a:srgbClr val="FF0000"/>
                </a:solidFill>
              </a:rPr>
              <a:t>YES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NO</a:t>
            </a:r>
            <a:r>
              <a:rPr lang="en-US" dirty="0"/>
              <a:t> </a:t>
            </a:r>
          </a:p>
          <a:p>
            <a:r>
              <a:rPr lang="en-US" dirty="0"/>
              <a:t>for each instance of the problem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E43603-6FC1-4730-9F81-AFCF16CA2EC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069058" name="Text Box 2"/>
          <p:cNvSpPr txBox="1">
            <a:spLocks noChangeArrowheads="1"/>
          </p:cNvSpPr>
          <p:nvPr/>
        </p:nvSpPr>
        <p:spPr bwMode="auto">
          <a:xfrm>
            <a:off x="228600" y="381000"/>
            <a:ext cx="872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The machine that decides (solves) a problem:</a:t>
            </a:r>
          </a:p>
        </p:txBody>
      </p:sp>
      <p:sp>
        <p:nvSpPr>
          <p:cNvPr id="1069059" name="Text Box 3"/>
          <p:cNvSpPr txBox="1">
            <a:spLocks noChangeArrowheads="1"/>
          </p:cNvSpPr>
          <p:nvPr/>
        </p:nvSpPr>
        <p:spPr bwMode="auto">
          <a:xfrm>
            <a:off x="1355725" y="1244600"/>
            <a:ext cx="52705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If the answer is </a:t>
            </a:r>
            <a:r>
              <a:rPr lang="en-US">
                <a:solidFill>
                  <a:srgbClr val="FF0000"/>
                </a:solidFill>
              </a:rPr>
              <a:t>YES</a:t>
            </a:r>
            <a:r>
              <a:rPr lang="en-US"/>
              <a:t> </a:t>
            </a:r>
          </a:p>
          <a:p>
            <a:r>
              <a:rPr lang="en-US"/>
              <a:t>   then halts in a </a:t>
            </a:r>
            <a:r>
              <a:rPr lang="en-US" u="sng">
                <a:solidFill>
                  <a:srgbClr val="FF0000"/>
                </a:solidFill>
              </a:rPr>
              <a:t>yes state</a:t>
            </a:r>
            <a:r>
              <a:rPr lang="en-US"/>
              <a:t> </a:t>
            </a:r>
          </a:p>
        </p:txBody>
      </p:sp>
      <p:sp>
        <p:nvSpPr>
          <p:cNvPr id="1069060" name="Text Box 4"/>
          <p:cNvSpPr txBox="1">
            <a:spLocks noChangeArrowheads="1"/>
          </p:cNvSpPr>
          <p:nvPr/>
        </p:nvSpPr>
        <p:spPr bwMode="auto">
          <a:xfrm>
            <a:off x="1371600" y="3657600"/>
            <a:ext cx="50657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If the answer is </a:t>
            </a:r>
            <a:r>
              <a:rPr lang="en-US">
                <a:solidFill>
                  <a:srgbClr val="FF0000"/>
                </a:solidFill>
              </a:rPr>
              <a:t>NO</a:t>
            </a:r>
            <a:r>
              <a:rPr lang="en-US"/>
              <a:t> </a:t>
            </a:r>
          </a:p>
          <a:p>
            <a:r>
              <a:rPr lang="en-US"/>
              <a:t>   then halts in a </a:t>
            </a:r>
            <a:r>
              <a:rPr lang="en-US" u="sng">
                <a:solidFill>
                  <a:srgbClr val="FF0000"/>
                </a:solidFill>
              </a:rPr>
              <a:t>no state</a:t>
            </a:r>
            <a:r>
              <a:rPr lang="en-US"/>
              <a:t> </a:t>
            </a:r>
          </a:p>
        </p:txBody>
      </p:sp>
      <p:sp>
        <p:nvSpPr>
          <p:cNvPr id="1069061" name="Text Box 5"/>
          <p:cNvSpPr txBox="1">
            <a:spLocks noChangeArrowheads="1"/>
          </p:cNvSpPr>
          <p:nvPr/>
        </p:nvSpPr>
        <p:spPr bwMode="auto">
          <a:xfrm>
            <a:off x="533400" y="5791200"/>
            <a:ext cx="7164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These states may not be final states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681453-07C2-4451-B9BA-E5EAE37A8F7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082370" name="Rectangle 1026"/>
          <p:cNvSpPr>
            <a:spLocks noChangeArrowheads="1"/>
          </p:cNvSpPr>
          <p:nvPr/>
        </p:nvSpPr>
        <p:spPr bwMode="auto">
          <a:xfrm>
            <a:off x="1295400" y="609600"/>
            <a:ext cx="6629400" cy="510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2371" name="Oval 1027"/>
          <p:cNvSpPr>
            <a:spLocks noChangeArrowheads="1"/>
          </p:cNvSpPr>
          <p:nvPr/>
        </p:nvSpPr>
        <p:spPr bwMode="auto">
          <a:xfrm>
            <a:off x="4419600" y="1371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72" name="Oval 1028"/>
          <p:cNvSpPr>
            <a:spLocks noChangeArrowheads="1"/>
          </p:cNvSpPr>
          <p:nvPr/>
        </p:nvSpPr>
        <p:spPr bwMode="auto">
          <a:xfrm>
            <a:off x="5334000" y="1371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73" name="Oval 1029"/>
          <p:cNvSpPr>
            <a:spLocks noChangeArrowheads="1"/>
          </p:cNvSpPr>
          <p:nvPr/>
        </p:nvSpPr>
        <p:spPr bwMode="auto">
          <a:xfrm>
            <a:off x="4876800" y="2057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74" name="Oval 1030"/>
          <p:cNvSpPr>
            <a:spLocks noChangeArrowheads="1"/>
          </p:cNvSpPr>
          <p:nvPr/>
        </p:nvSpPr>
        <p:spPr bwMode="auto">
          <a:xfrm>
            <a:off x="6019800" y="1905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75" name="Oval 1031"/>
          <p:cNvSpPr>
            <a:spLocks noChangeArrowheads="1"/>
          </p:cNvSpPr>
          <p:nvPr/>
        </p:nvSpPr>
        <p:spPr bwMode="auto">
          <a:xfrm>
            <a:off x="4419600" y="3657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76" name="Oval 1032"/>
          <p:cNvSpPr>
            <a:spLocks noChangeArrowheads="1"/>
          </p:cNvSpPr>
          <p:nvPr/>
        </p:nvSpPr>
        <p:spPr bwMode="auto">
          <a:xfrm>
            <a:off x="4876800" y="4419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77" name="Oval 1033"/>
          <p:cNvSpPr>
            <a:spLocks noChangeArrowheads="1"/>
          </p:cNvSpPr>
          <p:nvPr/>
        </p:nvSpPr>
        <p:spPr bwMode="auto">
          <a:xfrm>
            <a:off x="5410200" y="3657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78" name="Oval 1034"/>
          <p:cNvSpPr>
            <a:spLocks noChangeArrowheads="1"/>
          </p:cNvSpPr>
          <p:nvPr/>
        </p:nvSpPr>
        <p:spPr bwMode="auto">
          <a:xfrm>
            <a:off x="5943600" y="4495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81" name="Oval 1037"/>
          <p:cNvSpPr>
            <a:spLocks noChangeArrowheads="1"/>
          </p:cNvSpPr>
          <p:nvPr/>
        </p:nvSpPr>
        <p:spPr bwMode="auto">
          <a:xfrm>
            <a:off x="3962400" y="4267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82" name="Oval 1038"/>
          <p:cNvSpPr>
            <a:spLocks noChangeArrowheads="1"/>
          </p:cNvSpPr>
          <p:nvPr/>
        </p:nvSpPr>
        <p:spPr bwMode="auto">
          <a:xfrm>
            <a:off x="1752600" y="2895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386" name="Line 1042"/>
          <p:cNvSpPr>
            <a:spLocks noChangeShapeType="1"/>
          </p:cNvSpPr>
          <p:nvPr/>
        </p:nvSpPr>
        <p:spPr bwMode="auto">
          <a:xfrm>
            <a:off x="1447800" y="3048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2387" name="Line 1043"/>
          <p:cNvSpPr>
            <a:spLocks noChangeShapeType="1"/>
          </p:cNvSpPr>
          <p:nvPr/>
        </p:nvSpPr>
        <p:spPr bwMode="auto">
          <a:xfrm>
            <a:off x="3962400" y="152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82388" name="Line 1044"/>
          <p:cNvSpPr>
            <a:spLocks noChangeShapeType="1"/>
          </p:cNvSpPr>
          <p:nvPr/>
        </p:nvSpPr>
        <p:spPr bwMode="auto">
          <a:xfrm flipV="1">
            <a:off x="4572000" y="22860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2389" name="Line 1045"/>
          <p:cNvSpPr>
            <a:spLocks noChangeShapeType="1"/>
          </p:cNvSpPr>
          <p:nvPr/>
        </p:nvSpPr>
        <p:spPr bwMode="auto">
          <a:xfrm>
            <a:off x="5105400" y="12954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82390" name="Line 1046"/>
          <p:cNvSpPr>
            <a:spLocks noChangeShapeType="1"/>
          </p:cNvSpPr>
          <p:nvPr/>
        </p:nvSpPr>
        <p:spPr bwMode="auto">
          <a:xfrm flipV="1">
            <a:off x="5791200" y="2286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2391" name="Line 1047"/>
          <p:cNvSpPr>
            <a:spLocks noChangeShapeType="1"/>
          </p:cNvSpPr>
          <p:nvPr/>
        </p:nvSpPr>
        <p:spPr bwMode="auto">
          <a:xfrm>
            <a:off x="4343400" y="3352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2392" name="Line 1048"/>
          <p:cNvSpPr>
            <a:spLocks noChangeShapeType="1"/>
          </p:cNvSpPr>
          <p:nvPr/>
        </p:nvSpPr>
        <p:spPr bwMode="auto">
          <a:xfrm>
            <a:off x="5257800" y="3505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82393" name="Line 1049"/>
          <p:cNvSpPr>
            <a:spLocks noChangeShapeType="1"/>
          </p:cNvSpPr>
          <p:nvPr/>
        </p:nvSpPr>
        <p:spPr bwMode="auto">
          <a:xfrm flipV="1">
            <a:off x="3733800" y="45720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82394" name="Line 1050"/>
          <p:cNvSpPr>
            <a:spLocks noChangeShapeType="1"/>
          </p:cNvSpPr>
          <p:nvPr/>
        </p:nvSpPr>
        <p:spPr bwMode="auto">
          <a:xfrm flipV="1">
            <a:off x="4648200" y="4800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2395" name="Line 1051"/>
          <p:cNvSpPr>
            <a:spLocks noChangeShapeType="1"/>
          </p:cNvSpPr>
          <p:nvPr/>
        </p:nvSpPr>
        <p:spPr bwMode="auto">
          <a:xfrm>
            <a:off x="5715000" y="4419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82396" name="Oval 1052"/>
          <p:cNvSpPr>
            <a:spLocks noChangeArrowheads="1"/>
          </p:cNvSpPr>
          <p:nvPr/>
        </p:nvSpPr>
        <p:spPr bwMode="auto">
          <a:xfrm>
            <a:off x="3581400" y="838200"/>
            <a:ext cx="3886200" cy="1905000"/>
          </a:xfrm>
          <a:prstGeom prst="ellips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2397" name="Oval 1053"/>
          <p:cNvSpPr>
            <a:spLocks noChangeArrowheads="1"/>
          </p:cNvSpPr>
          <p:nvPr/>
        </p:nvSpPr>
        <p:spPr bwMode="auto">
          <a:xfrm>
            <a:off x="3276600" y="3124200"/>
            <a:ext cx="4114800" cy="2438400"/>
          </a:xfrm>
          <a:prstGeom prst="ellips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2398" name="Text Box 1054"/>
          <p:cNvSpPr txBox="1">
            <a:spLocks noChangeArrowheads="1"/>
          </p:cNvSpPr>
          <p:nvPr/>
        </p:nvSpPr>
        <p:spPr bwMode="auto">
          <a:xfrm>
            <a:off x="5943600" y="1066800"/>
            <a:ext cx="2312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 states</a:t>
            </a:r>
          </a:p>
        </p:txBody>
      </p:sp>
      <p:sp>
        <p:nvSpPr>
          <p:cNvPr id="1082399" name="Text Box 1055"/>
          <p:cNvSpPr txBox="1">
            <a:spLocks noChangeArrowheads="1"/>
          </p:cNvSpPr>
          <p:nvPr/>
        </p:nvSpPr>
        <p:spPr bwMode="auto">
          <a:xfrm>
            <a:off x="6096000" y="3581400"/>
            <a:ext cx="2165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 states</a:t>
            </a:r>
          </a:p>
        </p:txBody>
      </p:sp>
      <p:sp>
        <p:nvSpPr>
          <p:cNvPr id="1082400" name="Text Box 1056"/>
          <p:cNvSpPr txBox="1">
            <a:spLocks noChangeArrowheads="1"/>
          </p:cNvSpPr>
          <p:nvPr/>
        </p:nvSpPr>
        <p:spPr bwMode="auto">
          <a:xfrm>
            <a:off x="838200" y="0"/>
            <a:ext cx="7577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Turing Machine that decides a problem</a:t>
            </a:r>
          </a:p>
        </p:txBody>
      </p:sp>
      <p:sp>
        <p:nvSpPr>
          <p:cNvPr id="1082401" name="Text Box 1057"/>
          <p:cNvSpPr txBox="1">
            <a:spLocks noChangeArrowheads="1"/>
          </p:cNvSpPr>
          <p:nvPr/>
        </p:nvSpPr>
        <p:spPr bwMode="auto">
          <a:xfrm>
            <a:off x="838200" y="5943600"/>
            <a:ext cx="7356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YES and NO states are halting states</a:t>
            </a:r>
          </a:p>
        </p:txBody>
      </p:sp>
      <p:sp>
        <p:nvSpPr>
          <p:cNvPr id="1082402" name="Oval 1058"/>
          <p:cNvSpPr>
            <a:spLocks noChangeArrowheads="1"/>
          </p:cNvSpPr>
          <p:nvPr/>
        </p:nvSpPr>
        <p:spPr bwMode="auto">
          <a:xfrm>
            <a:off x="4800600" y="434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403" name="Oval 1059"/>
          <p:cNvSpPr>
            <a:spLocks noChangeArrowheads="1"/>
          </p:cNvSpPr>
          <p:nvPr/>
        </p:nvSpPr>
        <p:spPr bwMode="auto">
          <a:xfrm>
            <a:off x="5943600" y="1828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2405" name="Freeform 1061"/>
          <p:cNvSpPr>
            <a:spLocks/>
          </p:cNvSpPr>
          <p:nvPr/>
        </p:nvSpPr>
        <p:spPr bwMode="auto">
          <a:xfrm>
            <a:off x="2032000" y="1752600"/>
            <a:ext cx="1549400" cy="1143000"/>
          </a:xfrm>
          <a:custGeom>
            <a:avLst/>
            <a:gdLst/>
            <a:ahLst/>
            <a:cxnLst>
              <a:cxn ang="0">
                <a:pos x="16" y="720"/>
              </a:cxn>
              <a:cxn ang="0">
                <a:pos x="64" y="384"/>
              </a:cxn>
              <a:cxn ang="0">
                <a:pos x="400" y="480"/>
              </a:cxn>
              <a:cxn ang="0">
                <a:pos x="544" y="48"/>
              </a:cxn>
              <a:cxn ang="0">
                <a:pos x="832" y="192"/>
              </a:cxn>
              <a:cxn ang="0">
                <a:pos x="976" y="48"/>
              </a:cxn>
            </a:cxnLst>
            <a:rect l="0" t="0" r="r" b="b"/>
            <a:pathLst>
              <a:path w="976" h="720">
                <a:moveTo>
                  <a:pt x="16" y="720"/>
                </a:moveTo>
                <a:cubicBezTo>
                  <a:pt x="8" y="572"/>
                  <a:pt x="0" y="424"/>
                  <a:pt x="64" y="384"/>
                </a:cubicBezTo>
                <a:cubicBezTo>
                  <a:pt x="128" y="344"/>
                  <a:pt x="320" y="536"/>
                  <a:pt x="400" y="480"/>
                </a:cubicBezTo>
                <a:cubicBezTo>
                  <a:pt x="480" y="424"/>
                  <a:pt x="472" y="96"/>
                  <a:pt x="544" y="48"/>
                </a:cubicBezTo>
                <a:cubicBezTo>
                  <a:pt x="616" y="0"/>
                  <a:pt x="760" y="192"/>
                  <a:pt x="832" y="192"/>
                </a:cubicBezTo>
                <a:cubicBezTo>
                  <a:pt x="904" y="192"/>
                  <a:pt x="940" y="120"/>
                  <a:pt x="976" y="4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82406" name="Freeform 1062"/>
          <p:cNvSpPr>
            <a:spLocks/>
          </p:cNvSpPr>
          <p:nvPr/>
        </p:nvSpPr>
        <p:spPr bwMode="auto">
          <a:xfrm>
            <a:off x="1790700" y="3276600"/>
            <a:ext cx="1485900" cy="1358900"/>
          </a:xfrm>
          <a:custGeom>
            <a:avLst/>
            <a:gdLst/>
            <a:ahLst/>
            <a:cxnLst>
              <a:cxn ang="0">
                <a:pos x="120" y="0"/>
              </a:cxn>
              <a:cxn ang="0">
                <a:pos x="72" y="336"/>
              </a:cxn>
              <a:cxn ang="0">
                <a:pos x="552" y="144"/>
              </a:cxn>
              <a:cxn ang="0">
                <a:pos x="456" y="528"/>
              </a:cxn>
              <a:cxn ang="0">
                <a:pos x="744" y="480"/>
              </a:cxn>
              <a:cxn ang="0">
                <a:pos x="792" y="816"/>
              </a:cxn>
              <a:cxn ang="0">
                <a:pos x="936" y="720"/>
              </a:cxn>
            </a:cxnLst>
            <a:rect l="0" t="0" r="r" b="b"/>
            <a:pathLst>
              <a:path w="936" h="856">
                <a:moveTo>
                  <a:pt x="120" y="0"/>
                </a:moveTo>
                <a:cubicBezTo>
                  <a:pt x="60" y="156"/>
                  <a:pt x="0" y="312"/>
                  <a:pt x="72" y="336"/>
                </a:cubicBezTo>
                <a:cubicBezTo>
                  <a:pt x="144" y="360"/>
                  <a:pt x="488" y="112"/>
                  <a:pt x="552" y="144"/>
                </a:cubicBezTo>
                <a:cubicBezTo>
                  <a:pt x="616" y="176"/>
                  <a:pt x="424" y="472"/>
                  <a:pt x="456" y="528"/>
                </a:cubicBezTo>
                <a:cubicBezTo>
                  <a:pt x="488" y="584"/>
                  <a:pt x="688" y="432"/>
                  <a:pt x="744" y="480"/>
                </a:cubicBezTo>
                <a:cubicBezTo>
                  <a:pt x="800" y="528"/>
                  <a:pt x="760" y="776"/>
                  <a:pt x="792" y="816"/>
                </a:cubicBezTo>
                <a:cubicBezTo>
                  <a:pt x="824" y="856"/>
                  <a:pt x="880" y="788"/>
                  <a:pt x="936" y="72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0AFC33-0F93-4978-B944-E83C561354E7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070082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4124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Difference between </a:t>
            </a:r>
          </a:p>
        </p:txBody>
      </p:sp>
      <p:sp>
        <p:nvSpPr>
          <p:cNvPr id="1070083" name="Text Box 3"/>
          <p:cNvSpPr txBox="1">
            <a:spLocks noChangeArrowheads="1"/>
          </p:cNvSpPr>
          <p:nvPr/>
        </p:nvSpPr>
        <p:spPr bwMode="auto">
          <a:xfrm>
            <a:off x="152400" y="838200"/>
            <a:ext cx="8651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Recursive Languages and Decidable problems</a:t>
            </a:r>
          </a:p>
        </p:txBody>
      </p:sp>
      <p:sp>
        <p:nvSpPr>
          <p:cNvPr id="1070084" name="Text Box 4"/>
          <p:cNvSpPr txBox="1">
            <a:spLocks noChangeArrowheads="1"/>
          </p:cNvSpPr>
          <p:nvPr/>
        </p:nvSpPr>
        <p:spPr bwMode="auto">
          <a:xfrm>
            <a:off x="609600" y="4876800"/>
            <a:ext cx="7661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YES states may not be final states</a:t>
            </a:r>
          </a:p>
        </p:txBody>
      </p:sp>
      <p:sp>
        <p:nvSpPr>
          <p:cNvPr id="1070085" name="Text Box 5"/>
          <p:cNvSpPr txBox="1">
            <a:spLocks noChangeArrowheads="1"/>
          </p:cNvSpPr>
          <p:nvPr/>
        </p:nvSpPr>
        <p:spPr bwMode="auto">
          <a:xfrm>
            <a:off x="0" y="4114800"/>
            <a:ext cx="4727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9900"/>
                </a:solidFill>
              </a:rPr>
              <a:t>For decidable problems: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29B3C-A4E6-4B02-A263-5A4921AE8EF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071106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6278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Some problems are undecidable:</a:t>
            </a:r>
          </a:p>
        </p:txBody>
      </p:sp>
      <p:sp>
        <p:nvSpPr>
          <p:cNvPr id="1071107" name="Text Box 3"/>
          <p:cNvSpPr txBox="1">
            <a:spLocks noChangeArrowheads="1"/>
          </p:cNvSpPr>
          <p:nvPr/>
        </p:nvSpPr>
        <p:spPr bwMode="auto">
          <a:xfrm>
            <a:off x="1295400" y="1447800"/>
            <a:ext cx="672465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which means:</a:t>
            </a:r>
          </a:p>
          <a:p>
            <a:r>
              <a:rPr lang="en-US"/>
              <a:t>there is no Turing Machine that</a:t>
            </a:r>
          </a:p>
          <a:p>
            <a:r>
              <a:rPr lang="en-US"/>
              <a:t>solves all instances of the problem</a:t>
            </a:r>
          </a:p>
        </p:txBody>
      </p:sp>
      <p:sp>
        <p:nvSpPr>
          <p:cNvPr id="1071108" name="Text Box 4"/>
          <p:cNvSpPr txBox="1">
            <a:spLocks noChangeArrowheads="1"/>
          </p:cNvSpPr>
          <p:nvPr/>
        </p:nvSpPr>
        <p:spPr bwMode="auto">
          <a:xfrm>
            <a:off x="228600" y="4495800"/>
            <a:ext cx="5895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 simple undecidable problem:</a:t>
            </a:r>
          </a:p>
        </p:txBody>
      </p:sp>
      <p:sp>
        <p:nvSpPr>
          <p:cNvPr id="1071109" name="Text Box 5"/>
          <p:cNvSpPr txBox="1">
            <a:spLocks noChangeArrowheads="1"/>
          </p:cNvSpPr>
          <p:nvPr/>
        </p:nvSpPr>
        <p:spPr bwMode="auto">
          <a:xfrm>
            <a:off x="1143000" y="5486400"/>
            <a:ext cx="4957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membership problem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FD52BD-C090-4C3F-9658-C908A9323E2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088514" name="Text Box 2"/>
          <p:cNvSpPr txBox="1">
            <a:spLocks noChangeArrowheads="1"/>
          </p:cNvSpPr>
          <p:nvPr/>
        </p:nvSpPr>
        <p:spPr bwMode="auto">
          <a:xfrm>
            <a:off x="2133600" y="304800"/>
            <a:ext cx="5003800" cy="5889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Membership Problem</a:t>
            </a:r>
          </a:p>
        </p:txBody>
      </p:sp>
      <p:sp>
        <p:nvSpPr>
          <p:cNvPr id="1088515" name="Text Box 3"/>
          <p:cNvSpPr txBox="1">
            <a:spLocks noChangeArrowheads="1"/>
          </p:cNvSpPr>
          <p:nvPr/>
        </p:nvSpPr>
        <p:spPr bwMode="auto">
          <a:xfrm>
            <a:off x="1371600" y="1447800"/>
            <a:ext cx="136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Input:</a:t>
            </a:r>
          </a:p>
        </p:txBody>
      </p:sp>
      <p:sp>
        <p:nvSpPr>
          <p:cNvPr id="1088516" name="Text Box 4"/>
          <p:cNvSpPr txBox="1">
            <a:spLocks noChangeArrowheads="1"/>
          </p:cNvSpPr>
          <p:nvPr/>
        </p:nvSpPr>
        <p:spPr bwMode="auto">
          <a:xfrm>
            <a:off x="3048000" y="1447800"/>
            <a:ext cx="3249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Turing Machine</a:t>
            </a:r>
          </a:p>
        </p:txBody>
      </p:sp>
      <p:graphicFrame>
        <p:nvGraphicFramePr>
          <p:cNvPr id="1104896" name="Object 0"/>
          <p:cNvGraphicFramePr>
            <a:graphicFrameLocks noChangeAspect="1"/>
          </p:cNvGraphicFramePr>
          <p:nvPr/>
        </p:nvGraphicFramePr>
        <p:xfrm>
          <a:off x="6376988" y="1511300"/>
          <a:ext cx="5429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01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988" y="1511300"/>
                        <a:ext cx="5429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8518" name="Text Box 6"/>
          <p:cNvSpPr txBox="1">
            <a:spLocks noChangeArrowheads="1"/>
          </p:cNvSpPr>
          <p:nvPr/>
        </p:nvSpPr>
        <p:spPr bwMode="auto">
          <a:xfrm>
            <a:off x="3048000" y="22860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String </a:t>
            </a:r>
          </a:p>
        </p:txBody>
      </p:sp>
      <p:graphicFrame>
        <p:nvGraphicFramePr>
          <p:cNvPr id="1104897" name="Object 1"/>
          <p:cNvGraphicFramePr>
            <a:graphicFrameLocks noChangeAspect="1"/>
          </p:cNvGraphicFramePr>
          <p:nvPr/>
        </p:nvGraphicFramePr>
        <p:xfrm>
          <a:off x="4797425" y="24765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02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4765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8520" name="Text Box 8"/>
          <p:cNvSpPr txBox="1">
            <a:spLocks noChangeArrowheads="1"/>
          </p:cNvSpPr>
          <p:nvPr/>
        </p:nvSpPr>
        <p:spPr bwMode="auto">
          <a:xfrm>
            <a:off x="701675" y="4165600"/>
            <a:ext cx="2027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Question:</a:t>
            </a:r>
          </a:p>
        </p:txBody>
      </p:sp>
      <p:sp>
        <p:nvSpPr>
          <p:cNvPr id="1088521" name="Text Box 9"/>
          <p:cNvSpPr txBox="1">
            <a:spLocks noChangeArrowheads="1"/>
          </p:cNvSpPr>
          <p:nvPr/>
        </p:nvSpPr>
        <p:spPr bwMode="auto">
          <a:xfrm>
            <a:off x="3276600" y="4191000"/>
            <a:ext cx="4662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Does          accept      ? </a:t>
            </a:r>
          </a:p>
        </p:txBody>
      </p:sp>
      <p:graphicFrame>
        <p:nvGraphicFramePr>
          <p:cNvPr id="1104898" name="Object 2"/>
          <p:cNvGraphicFramePr>
            <a:graphicFrameLocks noChangeAspect="1"/>
          </p:cNvGraphicFramePr>
          <p:nvPr/>
        </p:nvGraphicFramePr>
        <p:xfrm>
          <a:off x="4664075" y="4241800"/>
          <a:ext cx="493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03" name="Equation" r:id="rId7" imgW="495000" imgH="368280" progId="Equation.3">
                  <p:embed/>
                </p:oleObj>
              </mc:Choice>
              <mc:Fallback>
                <p:oleObj name="Equation" r:id="rId7" imgW="49500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4241800"/>
                        <a:ext cx="4937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899" name="Object 3"/>
          <p:cNvGraphicFramePr>
            <a:graphicFrameLocks noChangeAspect="1"/>
          </p:cNvGraphicFramePr>
          <p:nvPr/>
        </p:nvGraphicFramePr>
        <p:xfrm>
          <a:off x="7026275" y="43942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04" name="Equation" r:id="rId9" imgW="330120" imgH="279360" progId="Equation.3">
                  <p:embed/>
                </p:oleObj>
              </mc:Choice>
              <mc:Fallback>
                <p:oleObj name="Equation" r:id="rId9" imgW="330120" imgH="2793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275" y="4394200"/>
                        <a:ext cx="330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900" name="Object 4"/>
          <p:cNvGraphicFramePr>
            <a:graphicFrameLocks noChangeAspect="1"/>
          </p:cNvGraphicFramePr>
          <p:nvPr/>
        </p:nvGraphicFramePr>
        <p:xfrm>
          <a:off x="3981450" y="5257800"/>
          <a:ext cx="2298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05" name="Equation" r:id="rId11" imgW="2298600" imgH="533160" progId="Equation.3">
                  <p:embed/>
                </p:oleObj>
              </mc:Choice>
              <mc:Fallback>
                <p:oleObj name="Equation" r:id="rId11" imgW="229860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5257800"/>
                        <a:ext cx="22987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EF184C-85BD-4AFA-9EA2-0142DAA57C65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089538" name="Text Box 2"/>
          <p:cNvSpPr txBox="1">
            <a:spLocks noChangeArrowheads="1"/>
          </p:cNvSpPr>
          <p:nvPr/>
        </p:nvSpPr>
        <p:spPr bwMode="auto">
          <a:xfrm>
            <a:off x="0" y="381000"/>
            <a:ext cx="1987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1089539" name="Text Box 3"/>
          <p:cNvSpPr txBox="1">
            <a:spLocks noChangeArrowheads="1"/>
          </p:cNvSpPr>
          <p:nvPr/>
        </p:nvSpPr>
        <p:spPr bwMode="auto">
          <a:xfrm>
            <a:off x="549275" y="1117600"/>
            <a:ext cx="7743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membership problem is undecidable</a:t>
            </a:r>
          </a:p>
        </p:txBody>
      </p:sp>
      <p:sp>
        <p:nvSpPr>
          <p:cNvPr id="1089540" name="Text Box 4"/>
          <p:cNvSpPr txBox="1">
            <a:spLocks noChangeArrowheads="1"/>
          </p:cNvSpPr>
          <p:nvPr/>
        </p:nvSpPr>
        <p:spPr bwMode="auto">
          <a:xfrm>
            <a:off x="0" y="4724400"/>
            <a:ext cx="134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89541" name="Text Box 5"/>
          <p:cNvSpPr txBox="1">
            <a:spLocks noChangeArrowheads="1"/>
          </p:cNvSpPr>
          <p:nvPr/>
        </p:nvSpPr>
        <p:spPr bwMode="auto">
          <a:xfrm>
            <a:off x="1600200" y="4724400"/>
            <a:ext cx="72358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Assume for contradiction that</a:t>
            </a:r>
          </a:p>
          <a:p>
            <a:r>
              <a:rPr lang="en-US"/>
              <a:t>the membership problem is decidable</a:t>
            </a:r>
          </a:p>
        </p:txBody>
      </p:sp>
      <p:sp>
        <p:nvSpPr>
          <p:cNvPr id="1089542" name="Text Box 6"/>
          <p:cNvSpPr txBox="1">
            <a:spLocks noChangeArrowheads="1"/>
          </p:cNvSpPr>
          <p:nvPr/>
        </p:nvSpPr>
        <p:spPr bwMode="auto">
          <a:xfrm>
            <a:off x="593725" y="2006600"/>
            <a:ext cx="84439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(there are         and      for which we cannot</a:t>
            </a:r>
          </a:p>
          <a:p>
            <a:r>
              <a:rPr lang="en-US"/>
              <a:t>decide whether                      )</a:t>
            </a:r>
          </a:p>
        </p:txBody>
      </p:sp>
      <p:graphicFrame>
        <p:nvGraphicFramePr>
          <p:cNvPr id="1089543" name="Object 7"/>
          <p:cNvGraphicFramePr>
            <a:graphicFrameLocks noChangeAspect="1"/>
          </p:cNvGraphicFramePr>
          <p:nvPr/>
        </p:nvGraphicFramePr>
        <p:xfrm>
          <a:off x="2971800" y="2057400"/>
          <a:ext cx="5429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46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057400"/>
                        <a:ext cx="5429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4" name="Object 8"/>
          <p:cNvGraphicFramePr>
            <a:graphicFrameLocks noChangeAspect="1"/>
          </p:cNvGraphicFramePr>
          <p:nvPr/>
        </p:nvGraphicFramePr>
        <p:xfrm>
          <a:off x="4572000" y="21336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47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1336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5" name="Object 9"/>
          <p:cNvGraphicFramePr>
            <a:graphicFrameLocks noChangeAspect="1"/>
          </p:cNvGraphicFramePr>
          <p:nvPr/>
        </p:nvGraphicFramePr>
        <p:xfrm>
          <a:off x="3962400" y="2667000"/>
          <a:ext cx="2032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48" name="Equation" r:id="rId7" imgW="2031840" imgH="533160" progId="Equation.3">
                  <p:embed/>
                </p:oleObj>
              </mc:Choice>
              <mc:Fallback>
                <p:oleObj name="Equation" r:id="rId7" imgW="2031840" imgH="5331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667000"/>
                        <a:ext cx="2032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25A3D6-8A32-411F-9038-AB44C309B28B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090562" name="Text Box 2"/>
          <p:cNvSpPr txBox="1">
            <a:spLocks noChangeArrowheads="1"/>
          </p:cNvSpPr>
          <p:nvPr/>
        </p:nvSpPr>
        <p:spPr bwMode="auto">
          <a:xfrm>
            <a:off x="441325" y="406400"/>
            <a:ext cx="70881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Thus, there exists a Turing Machine</a:t>
            </a:r>
          </a:p>
          <a:p>
            <a:r>
              <a:rPr lang="en-US"/>
              <a:t>that solves the membership problem</a:t>
            </a:r>
          </a:p>
        </p:txBody>
      </p:sp>
      <p:graphicFrame>
        <p:nvGraphicFramePr>
          <p:cNvPr id="1090563" name="Object 3"/>
          <p:cNvGraphicFramePr>
            <a:graphicFrameLocks noChangeAspect="1"/>
          </p:cNvGraphicFramePr>
          <p:nvPr/>
        </p:nvGraphicFramePr>
        <p:xfrm>
          <a:off x="7543800" y="4572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85" name="Equation" r:id="rId3" imgW="482400" imgH="393480" progId="Equation.3">
                  <p:embed/>
                </p:oleObj>
              </mc:Choice>
              <mc:Fallback>
                <p:oleObj name="Equation" r:id="rId3" imgW="48240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572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4" name="Rectangle 4"/>
          <p:cNvSpPr>
            <a:spLocks noChangeArrowheads="1"/>
          </p:cNvSpPr>
          <p:nvPr/>
        </p:nvSpPr>
        <p:spPr bwMode="auto">
          <a:xfrm>
            <a:off x="1390650" y="2362200"/>
            <a:ext cx="2362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28650" y="2819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628650" y="3962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90567" name="Object 7"/>
          <p:cNvGraphicFramePr>
            <a:graphicFrameLocks noChangeAspect="1"/>
          </p:cNvGraphicFramePr>
          <p:nvPr/>
        </p:nvGraphicFramePr>
        <p:xfrm>
          <a:off x="2305050" y="32004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86" name="Equation" r:id="rId5" imgW="482400" imgH="393480" progId="Equation.3">
                  <p:embed/>
                </p:oleObj>
              </mc:Choice>
              <mc:Fallback>
                <p:oleObj name="Equation" r:id="rId5" imgW="48240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32004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68" name="Object 8"/>
          <p:cNvGraphicFramePr>
            <a:graphicFrameLocks noChangeAspect="1"/>
          </p:cNvGraphicFramePr>
          <p:nvPr/>
        </p:nvGraphicFramePr>
        <p:xfrm>
          <a:off x="152400" y="2590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87" name="Equation" r:id="rId6" imgW="545760" imgH="393480" progId="Equation.3">
                  <p:embed/>
                </p:oleObj>
              </mc:Choice>
              <mc:Fallback>
                <p:oleObj name="Equation" r:id="rId6" imgW="54576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90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69" name="Object 9"/>
          <p:cNvGraphicFramePr>
            <a:graphicFrameLocks noChangeAspect="1"/>
          </p:cNvGraphicFramePr>
          <p:nvPr/>
        </p:nvGraphicFramePr>
        <p:xfrm>
          <a:off x="228600" y="3810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88" name="Equation" r:id="rId8" imgW="368280" imgH="304560" progId="Equation.3">
                  <p:embed/>
                </p:oleObj>
              </mc:Choice>
              <mc:Fallback>
                <p:oleObj name="Equation" r:id="rId8" imgW="368280" imgH="304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70" name="Line 10"/>
          <p:cNvSpPr>
            <a:spLocks noChangeShapeType="1"/>
          </p:cNvSpPr>
          <p:nvPr/>
        </p:nvSpPr>
        <p:spPr bwMode="auto">
          <a:xfrm>
            <a:off x="375285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90571" name="Text Box 11"/>
          <p:cNvSpPr txBox="1">
            <a:spLocks noChangeArrowheads="1"/>
          </p:cNvSpPr>
          <p:nvPr/>
        </p:nvSpPr>
        <p:spPr bwMode="auto">
          <a:xfrm>
            <a:off x="4343400" y="25146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  <p:graphicFrame>
        <p:nvGraphicFramePr>
          <p:cNvPr id="1090572" name="Object 12"/>
          <p:cNvGraphicFramePr>
            <a:graphicFrameLocks noChangeAspect="1"/>
          </p:cNvGraphicFramePr>
          <p:nvPr/>
        </p:nvGraphicFramePr>
        <p:xfrm>
          <a:off x="5791200" y="25146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89" name="Equation" r:id="rId10" imgW="545760" imgH="393480" progId="Equation.3">
                  <p:embed/>
                </p:oleObj>
              </mc:Choice>
              <mc:Fallback>
                <p:oleObj name="Equation" r:id="rId10" imgW="545760" imgH="393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5146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73" name="Text Box 13"/>
          <p:cNvSpPr txBox="1">
            <a:spLocks noChangeArrowheads="1"/>
          </p:cNvSpPr>
          <p:nvPr/>
        </p:nvSpPr>
        <p:spPr bwMode="auto">
          <a:xfrm>
            <a:off x="6324600" y="2438400"/>
            <a:ext cx="1641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accepts</a:t>
            </a:r>
          </a:p>
        </p:txBody>
      </p:sp>
      <p:graphicFrame>
        <p:nvGraphicFramePr>
          <p:cNvPr id="1090574" name="Object 14"/>
          <p:cNvGraphicFramePr>
            <a:graphicFrameLocks noChangeAspect="1"/>
          </p:cNvGraphicFramePr>
          <p:nvPr/>
        </p:nvGraphicFramePr>
        <p:xfrm>
          <a:off x="8077200" y="25908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90" name="Equation" r:id="rId12" imgW="368280" imgH="304560" progId="Equation.3">
                  <p:embed/>
                </p:oleObj>
              </mc:Choice>
              <mc:Fallback>
                <p:oleObj name="Equation" r:id="rId12" imgW="368280" imgH="304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5908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78" name="Line 18"/>
          <p:cNvSpPr>
            <a:spLocks noChangeShapeType="1"/>
          </p:cNvSpPr>
          <p:nvPr/>
        </p:nvSpPr>
        <p:spPr bwMode="auto">
          <a:xfrm>
            <a:off x="3752850" y="4038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90579" name="Text Box 19"/>
          <p:cNvSpPr txBox="1">
            <a:spLocks noChangeArrowheads="1"/>
          </p:cNvSpPr>
          <p:nvPr/>
        </p:nvSpPr>
        <p:spPr bwMode="auto">
          <a:xfrm>
            <a:off x="4419600" y="38100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90580" name="Rectangle 20"/>
          <p:cNvSpPr>
            <a:spLocks noChangeArrowheads="1"/>
          </p:cNvSpPr>
          <p:nvPr/>
        </p:nvSpPr>
        <p:spPr bwMode="auto">
          <a:xfrm>
            <a:off x="5638800" y="2286000"/>
            <a:ext cx="2971800" cy="762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90582" name="Object 22"/>
          <p:cNvGraphicFramePr>
            <a:graphicFrameLocks noChangeAspect="1"/>
          </p:cNvGraphicFramePr>
          <p:nvPr/>
        </p:nvGraphicFramePr>
        <p:xfrm>
          <a:off x="5791200" y="39624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91" name="Equation" r:id="rId14" imgW="545760" imgH="393480" progId="Equation.3">
                  <p:embed/>
                </p:oleObj>
              </mc:Choice>
              <mc:Fallback>
                <p:oleObj name="Equation" r:id="rId14" imgW="545760" imgH="393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9624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83" name="Text Box 23"/>
          <p:cNvSpPr txBox="1">
            <a:spLocks noChangeArrowheads="1"/>
          </p:cNvSpPr>
          <p:nvPr/>
        </p:nvSpPr>
        <p:spPr bwMode="auto">
          <a:xfrm>
            <a:off x="6324600" y="3886200"/>
            <a:ext cx="1587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rejects</a:t>
            </a:r>
          </a:p>
        </p:txBody>
      </p:sp>
      <p:graphicFrame>
        <p:nvGraphicFramePr>
          <p:cNvPr id="1090584" name="Object 24"/>
          <p:cNvGraphicFramePr>
            <a:graphicFrameLocks noChangeAspect="1"/>
          </p:cNvGraphicFramePr>
          <p:nvPr/>
        </p:nvGraphicFramePr>
        <p:xfrm>
          <a:off x="8077200" y="40386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92" name="Equation" r:id="rId15" imgW="368280" imgH="304560" progId="Equation.3">
                  <p:embed/>
                </p:oleObj>
              </mc:Choice>
              <mc:Fallback>
                <p:oleObj name="Equation" r:id="rId15" imgW="368280" imgH="3045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40386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85" name="Rectangle 25"/>
          <p:cNvSpPr>
            <a:spLocks noChangeArrowheads="1"/>
          </p:cNvSpPr>
          <p:nvPr/>
        </p:nvSpPr>
        <p:spPr bwMode="auto">
          <a:xfrm>
            <a:off x="5638800" y="3733800"/>
            <a:ext cx="2971800" cy="762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F48E9E-22F5-4FAE-9E0D-DB1AE7FA1F48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094658" name="Text Box 2"/>
          <p:cNvSpPr txBox="1">
            <a:spLocks noChangeArrowheads="1"/>
          </p:cNvSpPr>
          <p:nvPr/>
        </p:nvSpPr>
        <p:spPr bwMode="auto">
          <a:xfrm>
            <a:off x="0" y="381000"/>
            <a:ext cx="8939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 be a recursively enumerable language </a:t>
            </a:r>
          </a:p>
        </p:txBody>
      </p:sp>
      <p:graphicFrame>
        <p:nvGraphicFramePr>
          <p:cNvPr id="1094659" name="Object 3"/>
          <p:cNvGraphicFramePr>
            <a:graphicFrameLocks noChangeAspect="1"/>
          </p:cNvGraphicFramePr>
          <p:nvPr/>
        </p:nvGraphicFramePr>
        <p:xfrm>
          <a:off x="1066800" y="3810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67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10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4660" name="Text Box 4"/>
          <p:cNvSpPr txBox="1">
            <a:spLocks noChangeArrowheads="1"/>
          </p:cNvSpPr>
          <p:nvPr/>
        </p:nvSpPr>
        <p:spPr bwMode="auto">
          <a:xfrm>
            <a:off x="0" y="1371600"/>
            <a:ext cx="8594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 be the Turing Machine that accepts</a:t>
            </a:r>
          </a:p>
        </p:txBody>
      </p:sp>
      <p:graphicFrame>
        <p:nvGraphicFramePr>
          <p:cNvPr id="1094661" name="Object 5"/>
          <p:cNvGraphicFramePr>
            <a:graphicFrameLocks noChangeAspect="1"/>
          </p:cNvGraphicFramePr>
          <p:nvPr/>
        </p:nvGraphicFramePr>
        <p:xfrm>
          <a:off x="990600" y="1447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68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447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4662" name="Object 6"/>
          <p:cNvGraphicFramePr>
            <a:graphicFrameLocks noChangeAspect="1"/>
          </p:cNvGraphicFramePr>
          <p:nvPr/>
        </p:nvGraphicFramePr>
        <p:xfrm>
          <a:off x="8610600" y="14478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69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14478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4663" name="Text Box 7"/>
          <p:cNvSpPr txBox="1">
            <a:spLocks noChangeArrowheads="1"/>
          </p:cNvSpPr>
          <p:nvPr/>
        </p:nvSpPr>
        <p:spPr bwMode="auto">
          <a:xfrm>
            <a:off x="228600" y="4267200"/>
            <a:ext cx="7962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We will prove that        is also recursive:</a:t>
            </a:r>
            <a:r>
              <a:rPr lang="en-US"/>
              <a:t> </a:t>
            </a:r>
          </a:p>
        </p:txBody>
      </p:sp>
      <p:graphicFrame>
        <p:nvGraphicFramePr>
          <p:cNvPr id="1094664" name="Object 8"/>
          <p:cNvGraphicFramePr>
            <a:graphicFrameLocks noChangeAspect="1"/>
          </p:cNvGraphicFramePr>
          <p:nvPr/>
        </p:nvGraphicFramePr>
        <p:xfrm>
          <a:off x="4178300" y="43307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70" name="Equation" r:id="rId9" imgW="330120" imgH="393480" progId="Equation.3">
                  <p:embed/>
                </p:oleObj>
              </mc:Choice>
              <mc:Fallback>
                <p:oleObj name="Equation" r:id="rId9" imgW="33012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43307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4665" name="Text Box 9"/>
          <p:cNvSpPr txBox="1">
            <a:spLocks noChangeArrowheads="1"/>
          </p:cNvSpPr>
          <p:nvPr/>
        </p:nvSpPr>
        <p:spPr bwMode="auto">
          <a:xfrm>
            <a:off x="914400" y="5181600"/>
            <a:ext cx="74517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we will describe a Turing machine that</a:t>
            </a:r>
          </a:p>
          <a:p>
            <a:r>
              <a:rPr lang="en-US">
                <a:solidFill>
                  <a:srgbClr val="CC0099"/>
                </a:solidFill>
              </a:rPr>
              <a:t>accepts      and halts on any input</a:t>
            </a:r>
          </a:p>
        </p:txBody>
      </p:sp>
      <p:graphicFrame>
        <p:nvGraphicFramePr>
          <p:cNvPr id="1094666" name="Object 10"/>
          <p:cNvGraphicFramePr>
            <a:graphicFrameLocks noChangeAspect="1"/>
          </p:cNvGraphicFramePr>
          <p:nvPr/>
        </p:nvGraphicFramePr>
        <p:xfrm>
          <a:off x="2667000" y="58674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71" name="Equation" r:id="rId11" imgW="330120" imgH="393480" progId="Equation.3">
                  <p:embed/>
                </p:oleObj>
              </mc:Choice>
              <mc:Fallback>
                <p:oleObj name="Equation" r:id="rId11" imgW="330120" imgH="393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8674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F4A422-1A1C-46C1-858A-6CAD517BCD8B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095682" name="Rectangle 2"/>
          <p:cNvSpPr>
            <a:spLocks noChangeArrowheads="1"/>
          </p:cNvSpPr>
          <p:nvPr/>
        </p:nvSpPr>
        <p:spPr bwMode="auto">
          <a:xfrm>
            <a:off x="1676400" y="2743200"/>
            <a:ext cx="30480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95684" name="Object 4"/>
          <p:cNvGraphicFramePr>
            <a:graphicFrameLocks noChangeAspect="1"/>
          </p:cNvGraphicFramePr>
          <p:nvPr/>
        </p:nvGraphicFramePr>
        <p:xfrm>
          <a:off x="1752600" y="34290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15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4290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685" name="Text Box 5"/>
          <p:cNvSpPr txBox="1">
            <a:spLocks noChangeArrowheads="1"/>
          </p:cNvSpPr>
          <p:nvPr/>
        </p:nvSpPr>
        <p:spPr bwMode="auto">
          <a:xfrm>
            <a:off x="2286000" y="3352800"/>
            <a:ext cx="2465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accepts     ?</a:t>
            </a:r>
          </a:p>
        </p:txBody>
      </p:sp>
      <p:graphicFrame>
        <p:nvGraphicFramePr>
          <p:cNvPr id="1095686" name="Object 6"/>
          <p:cNvGraphicFramePr>
            <a:graphicFrameLocks noChangeAspect="1"/>
          </p:cNvGraphicFramePr>
          <p:nvPr/>
        </p:nvGraphicFramePr>
        <p:xfrm>
          <a:off x="3962400" y="35052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16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5052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687" name="Line 7"/>
          <p:cNvSpPr>
            <a:spLocks noChangeShapeType="1"/>
          </p:cNvSpPr>
          <p:nvPr/>
        </p:nvSpPr>
        <p:spPr bwMode="auto">
          <a:xfrm>
            <a:off x="1219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95688" name="Line 8"/>
          <p:cNvSpPr>
            <a:spLocks noChangeShapeType="1"/>
          </p:cNvSpPr>
          <p:nvPr/>
        </p:nvSpPr>
        <p:spPr bwMode="auto">
          <a:xfrm>
            <a:off x="457200" y="42672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95689" name="Line 9"/>
          <p:cNvSpPr>
            <a:spLocks noChangeShapeType="1"/>
          </p:cNvSpPr>
          <p:nvPr/>
        </p:nvSpPr>
        <p:spPr bwMode="auto">
          <a:xfrm>
            <a:off x="4724400" y="2971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95690" name="Text Box 10"/>
          <p:cNvSpPr txBox="1">
            <a:spLocks noChangeArrowheads="1"/>
          </p:cNvSpPr>
          <p:nvPr/>
        </p:nvSpPr>
        <p:spPr bwMode="auto">
          <a:xfrm>
            <a:off x="4876800" y="38100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95691" name="Text Box 11"/>
          <p:cNvSpPr txBox="1">
            <a:spLocks noChangeArrowheads="1"/>
          </p:cNvSpPr>
          <p:nvPr/>
        </p:nvSpPr>
        <p:spPr bwMode="auto">
          <a:xfrm>
            <a:off x="4876800" y="25146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  <p:graphicFrame>
        <p:nvGraphicFramePr>
          <p:cNvPr id="1095692" name="Object 12"/>
          <p:cNvGraphicFramePr>
            <a:graphicFrameLocks noChangeAspect="1"/>
          </p:cNvGraphicFramePr>
          <p:nvPr/>
        </p:nvGraphicFramePr>
        <p:xfrm>
          <a:off x="1066800" y="25146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17" name="Equation" r:id="rId7" imgW="545760" imgH="393480" progId="Equation.3">
                  <p:embed/>
                </p:oleObj>
              </mc:Choice>
              <mc:Fallback>
                <p:oleObj name="Equation" r:id="rId7" imgW="545760" imgH="393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14600"/>
                        <a:ext cx="546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93" name="Object 13"/>
          <p:cNvGraphicFramePr>
            <a:graphicFrameLocks noChangeAspect="1"/>
          </p:cNvGraphicFramePr>
          <p:nvPr/>
        </p:nvGraphicFramePr>
        <p:xfrm>
          <a:off x="0" y="41148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18" name="Equation" r:id="rId9" imgW="368280" imgH="304560" progId="Equation.3">
                  <p:embed/>
                </p:oleObj>
              </mc:Choice>
              <mc:Fallback>
                <p:oleObj name="Equation" r:id="rId9" imgW="368280" imgH="3045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148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98" name="Object 18"/>
          <p:cNvGraphicFramePr>
            <a:graphicFrameLocks noChangeAspect="1"/>
          </p:cNvGraphicFramePr>
          <p:nvPr/>
        </p:nvGraphicFramePr>
        <p:xfrm>
          <a:off x="3124200" y="2286000"/>
          <a:ext cx="48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19" name="Equation" r:id="rId11" imgW="482400" imgH="393480" progId="Equation.3">
                  <p:embed/>
                </p:oleObj>
              </mc:Choice>
              <mc:Fallback>
                <p:oleObj name="Equation" r:id="rId11" imgW="482400" imgH="3934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86000"/>
                        <a:ext cx="482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699" name="Text Box 19"/>
          <p:cNvSpPr txBox="1">
            <a:spLocks noChangeArrowheads="1"/>
          </p:cNvSpPr>
          <p:nvPr/>
        </p:nvSpPr>
        <p:spPr bwMode="auto">
          <a:xfrm>
            <a:off x="6172200" y="2667000"/>
            <a:ext cx="1465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9900"/>
                </a:solidFill>
              </a:rPr>
              <a:t>accept</a:t>
            </a:r>
          </a:p>
        </p:txBody>
      </p:sp>
      <p:graphicFrame>
        <p:nvGraphicFramePr>
          <p:cNvPr id="1095700" name="Object 20"/>
          <p:cNvGraphicFramePr>
            <a:graphicFrameLocks noChangeAspect="1"/>
          </p:cNvGraphicFramePr>
          <p:nvPr/>
        </p:nvGraphicFramePr>
        <p:xfrm>
          <a:off x="7620000" y="28194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20" name="Equation" r:id="rId13" imgW="368280" imgH="304560" progId="Equation.3">
                  <p:embed/>
                </p:oleObj>
              </mc:Choice>
              <mc:Fallback>
                <p:oleObj name="Equation" r:id="rId13" imgW="368280" imgH="30456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8194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07" name="Text Box 27"/>
          <p:cNvSpPr txBox="1">
            <a:spLocks noChangeArrowheads="1"/>
          </p:cNvSpPr>
          <p:nvPr/>
        </p:nvSpPr>
        <p:spPr bwMode="auto">
          <a:xfrm>
            <a:off x="1752600" y="381000"/>
            <a:ext cx="56213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 that accepts</a:t>
            </a:r>
          </a:p>
          <a:p>
            <a:r>
              <a:rPr lang="en-US">
                <a:solidFill>
                  <a:srgbClr val="CC0099"/>
                </a:solidFill>
              </a:rPr>
              <a:t>and halts on any input</a:t>
            </a:r>
          </a:p>
        </p:txBody>
      </p:sp>
      <p:graphicFrame>
        <p:nvGraphicFramePr>
          <p:cNvPr id="1095708" name="Object 28"/>
          <p:cNvGraphicFramePr>
            <a:graphicFrameLocks noChangeAspect="1"/>
          </p:cNvGraphicFramePr>
          <p:nvPr/>
        </p:nvGraphicFramePr>
        <p:xfrm>
          <a:off x="7483475" y="508000"/>
          <a:ext cx="33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21" name="Equation" r:id="rId14" imgW="330120" imgH="393480" progId="Equation.3">
                  <p:embed/>
                </p:oleObj>
              </mc:Choice>
              <mc:Fallback>
                <p:oleObj name="Equation" r:id="rId14" imgW="330120" imgH="3934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3475" y="508000"/>
                        <a:ext cx="330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11" name="Rectangle 31"/>
          <p:cNvSpPr>
            <a:spLocks noChangeArrowheads="1"/>
          </p:cNvSpPr>
          <p:nvPr/>
        </p:nvSpPr>
        <p:spPr bwMode="auto">
          <a:xfrm>
            <a:off x="914400" y="2057400"/>
            <a:ext cx="7391400" cy="3200400"/>
          </a:xfrm>
          <a:prstGeom prst="rect">
            <a:avLst/>
          </a:prstGeom>
          <a:noFill/>
          <a:ln w="38100">
            <a:solidFill>
              <a:srgbClr val="CC0099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95712" name="Line 32"/>
          <p:cNvSpPr>
            <a:spLocks noChangeShapeType="1"/>
          </p:cNvSpPr>
          <p:nvPr/>
        </p:nvSpPr>
        <p:spPr bwMode="auto">
          <a:xfrm>
            <a:off x="4724400" y="4343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95713" name="Text Box 33"/>
          <p:cNvSpPr txBox="1">
            <a:spLocks noChangeArrowheads="1"/>
          </p:cNvSpPr>
          <p:nvPr/>
        </p:nvSpPr>
        <p:spPr bwMode="auto">
          <a:xfrm>
            <a:off x="6172200" y="4011613"/>
            <a:ext cx="139858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9900"/>
                </a:solidFill>
              </a:rPr>
              <a:t>reject</a:t>
            </a:r>
          </a:p>
        </p:txBody>
      </p:sp>
      <p:graphicFrame>
        <p:nvGraphicFramePr>
          <p:cNvPr id="1095714" name="Object 34"/>
          <p:cNvGraphicFramePr>
            <a:graphicFrameLocks noChangeAspect="1"/>
          </p:cNvGraphicFramePr>
          <p:nvPr/>
        </p:nvGraphicFramePr>
        <p:xfrm>
          <a:off x="7620000" y="4191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22" name="Equation" r:id="rId16" imgW="368280" imgH="304560" progId="Equation.3">
                  <p:embed/>
                </p:oleObj>
              </mc:Choice>
              <mc:Fallback>
                <p:oleObj name="Equation" r:id="rId16" imgW="368280" imgH="30456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91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F4B79-D05A-46F7-B6A2-D3BB96B990C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096706" name="Text Box 2050"/>
          <p:cNvSpPr txBox="1">
            <a:spLocks noChangeArrowheads="1"/>
          </p:cNvSpPr>
          <p:nvPr/>
        </p:nvSpPr>
        <p:spPr bwMode="auto">
          <a:xfrm>
            <a:off x="304800" y="304800"/>
            <a:ext cx="2286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/>
              <a:t>Therefore,</a:t>
            </a:r>
          </a:p>
        </p:txBody>
      </p:sp>
      <p:graphicFrame>
        <p:nvGraphicFramePr>
          <p:cNvPr id="1096707" name="Object 2051"/>
          <p:cNvGraphicFramePr>
            <a:graphicFrameLocks noChangeAspect="1"/>
          </p:cNvGraphicFramePr>
          <p:nvPr/>
        </p:nvGraphicFramePr>
        <p:xfrm>
          <a:off x="2819400" y="3810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13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10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708" name="Text Box 2052"/>
          <p:cNvSpPr txBox="1">
            <a:spLocks noChangeArrowheads="1"/>
          </p:cNvSpPr>
          <p:nvPr/>
        </p:nvSpPr>
        <p:spPr bwMode="auto">
          <a:xfrm>
            <a:off x="3429000" y="3048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recursive</a:t>
            </a:r>
          </a:p>
        </p:txBody>
      </p:sp>
      <p:sp>
        <p:nvSpPr>
          <p:cNvPr id="1096709" name="Text Box 2053"/>
          <p:cNvSpPr txBox="1">
            <a:spLocks noChangeArrowheads="1"/>
          </p:cNvSpPr>
          <p:nvPr/>
        </p:nvSpPr>
        <p:spPr bwMode="auto">
          <a:xfrm>
            <a:off x="381000" y="4038600"/>
            <a:ext cx="72755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But there are recursively enumerable</a:t>
            </a:r>
          </a:p>
          <a:p>
            <a:r>
              <a:rPr lang="en-US"/>
              <a:t>languages which are not recursive</a:t>
            </a:r>
          </a:p>
        </p:txBody>
      </p:sp>
      <p:sp>
        <p:nvSpPr>
          <p:cNvPr id="1096710" name="Text Box 2054"/>
          <p:cNvSpPr txBox="1">
            <a:spLocks noChangeArrowheads="1"/>
          </p:cNvSpPr>
          <p:nvPr/>
        </p:nvSpPr>
        <p:spPr bwMode="auto">
          <a:xfrm>
            <a:off x="457200" y="5943600"/>
            <a:ext cx="3157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Contradiction!!!!</a:t>
            </a:r>
          </a:p>
        </p:txBody>
      </p:sp>
      <p:sp>
        <p:nvSpPr>
          <p:cNvPr id="1096711" name="Text Box 2055"/>
          <p:cNvSpPr txBox="1">
            <a:spLocks noChangeArrowheads="1"/>
          </p:cNvSpPr>
          <p:nvPr/>
        </p:nvSpPr>
        <p:spPr bwMode="auto">
          <a:xfrm>
            <a:off x="381000" y="1600200"/>
            <a:ext cx="8001000" cy="15541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/>
              <a:t>Since       is chosen arbitrarily, every recursively enumerable language is also recursive </a:t>
            </a:r>
          </a:p>
        </p:txBody>
      </p:sp>
      <p:graphicFrame>
        <p:nvGraphicFramePr>
          <p:cNvPr id="1096712" name="Object 2056"/>
          <p:cNvGraphicFramePr>
            <a:graphicFrameLocks noChangeAspect="1"/>
          </p:cNvGraphicFramePr>
          <p:nvPr/>
        </p:nvGraphicFramePr>
        <p:xfrm>
          <a:off x="1768475" y="16510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14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16510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3A8A18-04C4-456E-A534-554330DF3CD4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097730" name="Text Box 2"/>
          <p:cNvSpPr txBox="1">
            <a:spLocks noChangeArrowheads="1"/>
          </p:cNvSpPr>
          <p:nvPr/>
        </p:nvSpPr>
        <p:spPr bwMode="auto">
          <a:xfrm>
            <a:off x="1066800" y="2133600"/>
            <a:ext cx="70977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Therefore, the membership problem</a:t>
            </a:r>
          </a:p>
          <a:p>
            <a:r>
              <a:rPr lang="en-US">
                <a:solidFill>
                  <a:srgbClr val="FF0000"/>
                </a:solidFill>
              </a:rPr>
              <a:t> is undecidable</a:t>
            </a:r>
          </a:p>
        </p:txBody>
      </p:sp>
      <p:sp>
        <p:nvSpPr>
          <p:cNvPr id="1097731" name="Text Box 3"/>
          <p:cNvSpPr txBox="1">
            <a:spLocks noChangeArrowheads="1"/>
          </p:cNvSpPr>
          <p:nvPr/>
        </p:nvSpPr>
        <p:spPr bwMode="auto">
          <a:xfrm>
            <a:off x="3200400" y="6019800"/>
            <a:ext cx="24701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9933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9DEFB2-17A7-4C35-9D00-0D8BA45E4264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072130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7342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Another famous undecidable problem:</a:t>
            </a:r>
          </a:p>
        </p:txBody>
      </p:sp>
      <p:sp>
        <p:nvSpPr>
          <p:cNvPr id="1072131" name="Text Box 3"/>
          <p:cNvSpPr txBox="1">
            <a:spLocks noChangeArrowheads="1"/>
          </p:cNvSpPr>
          <p:nvPr/>
        </p:nvSpPr>
        <p:spPr bwMode="auto">
          <a:xfrm>
            <a:off x="2286000" y="1752600"/>
            <a:ext cx="3968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halting problem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D9BFD3-4712-4757-885E-BEA7756F2F87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014786" name="Text Box 2"/>
          <p:cNvSpPr txBox="1">
            <a:spLocks noChangeArrowheads="1"/>
          </p:cNvSpPr>
          <p:nvPr/>
        </p:nvSpPr>
        <p:spPr bwMode="auto">
          <a:xfrm>
            <a:off x="2438400" y="304800"/>
            <a:ext cx="4049713" cy="5889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Halting Problem</a:t>
            </a:r>
          </a:p>
        </p:txBody>
      </p:sp>
      <p:sp>
        <p:nvSpPr>
          <p:cNvPr id="1014787" name="Text Box 3"/>
          <p:cNvSpPr txBox="1">
            <a:spLocks noChangeArrowheads="1"/>
          </p:cNvSpPr>
          <p:nvPr/>
        </p:nvSpPr>
        <p:spPr bwMode="auto">
          <a:xfrm>
            <a:off x="1371600" y="1447800"/>
            <a:ext cx="136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Input:</a:t>
            </a:r>
          </a:p>
        </p:txBody>
      </p:sp>
      <p:sp>
        <p:nvSpPr>
          <p:cNvPr id="1014788" name="Text Box 4"/>
          <p:cNvSpPr txBox="1">
            <a:spLocks noChangeArrowheads="1"/>
          </p:cNvSpPr>
          <p:nvPr/>
        </p:nvSpPr>
        <p:spPr bwMode="auto">
          <a:xfrm>
            <a:off x="3048000" y="1447800"/>
            <a:ext cx="3249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Turing Machine</a:t>
            </a:r>
          </a:p>
        </p:txBody>
      </p:sp>
      <p:graphicFrame>
        <p:nvGraphicFramePr>
          <p:cNvPr id="1014789" name="Object 5"/>
          <p:cNvGraphicFramePr>
            <a:graphicFrameLocks noChangeAspect="1"/>
          </p:cNvGraphicFramePr>
          <p:nvPr/>
        </p:nvGraphicFramePr>
        <p:xfrm>
          <a:off x="6376988" y="1511300"/>
          <a:ext cx="5429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96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988" y="1511300"/>
                        <a:ext cx="5429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790" name="Text Box 6"/>
          <p:cNvSpPr txBox="1">
            <a:spLocks noChangeArrowheads="1"/>
          </p:cNvSpPr>
          <p:nvPr/>
        </p:nvSpPr>
        <p:spPr bwMode="auto">
          <a:xfrm>
            <a:off x="3048000" y="22860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String </a:t>
            </a:r>
          </a:p>
        </p:txBody>
      </p:sp>
      <p:graphicFrame>
        <p:nvGraphicFramePr>
          <p:cNvPr id="1014791" name="Object 7"/>
          <p:cNvGraphicFramePr>
            <a:graphicFrameLocks noChangeAspect="1"/>
          </p:cNvGraphicFramePr>
          <p:nvPr/>
        </p:nvGraphicFramePr>
        <p:xfrm>
          <a:off x="4797425" y="24765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97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4765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792" name="Text Box 8"/>
          <p:cNvSpPr txBox="1">
            <a:spLocks noChangeArrowheads="1"/>
          </p:cNvSpPr>
          <p:nvPr/>
        </p:nvSpPr>
        <p:spPr bwMode="auto">
          <a:xfrm>
            <a:off x="701675" y="4165600"/>
            <a:ext cx="2027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Question:</a:t>
            </a:r>
          </a:p>
        </p:txBody>
      </p:sp>
      <p:sp>
        <p:nvSpPr>
          <p:cNvPr id="1014793" name="Text Box 9"/>
          <p:cNvSpPr txBox="1">
            <a:spLocks noChangeArrowheads="1"/>
          </p:cNvSpPr>
          <p:nvPr/>
        </p:nvSpPr>
        <p:spPr bwMode="auto">
          <a:xfrm>
            <a:off x="3276600" y="4191000"/>
            <a:ext cx="5768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Does          halt on input      ? </a:t>
            </a:r>
          </a:p>
        </p:txBody>
      </p:sp>
      <p:graphicFrame>
        <p:nvGraphicFramePr>
          <p:cNvPr id="1014794" name="Object 10"/>
          <p:cNvGraphicFramePr>
            <a:graphicFrameLocks noChangeAspect="1"/>
          </p:cNvGraphicFramePr>
          <p:nvPr/>
        </p:nvGraphicFramePr>
        <p:xfrm>
          <a:off x="4648200" y="4267200"/>
          <a:ext cx="493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98" name="Equation" r:id="rId7" imgW="495000" imgH="368280" progId="Equation.3">
                  <p:embed/>
                </p:oleObj>
              </mc:Choice>
              <mc:Fallback>
                <p:oleObj name="Equation" r:id="rId7" imgW="49500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267200"/>
                        <a:ext cx="4937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795" name="Object 11"/>
          <p:cNvGraphicFramePr>
            <a:graphicFrameLocks noChangeAspect="1"/>
          </p:cNvGraphicFramePr>
          <p:nvPr/>
        </p:nvGraphicFramePr>
        <p:xfrm>
          <a:off x="8153400" y="43434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799" name="Equation" r:id="rId9" imgW="330120" imgH="279360" progId="Equation.3">
                  <p:embed/>
                </p:oleObj>
              </mc:Choice>
              <mc:Fallback>
                <p:oleObj name="Equation" r:id="rId9" imgW="330120" imgH="2793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4343400"/>
                        <a:ext cx="330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A7717-FC50-4777-B90D-5ECC335D5C87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016834" name="Text Box 2"/>
          <p:cNvSpPr txBox="1">
            <a:spLocks noChangeArrowheads="1"/>
          </p:cNvSpPr>
          <p:nvPr/>
        </p:nvSpPr>
        <p:spPr bwMode="auto">
          <a:xfrm>
            <a:off x="441325" y="406400"/>
            <a:ext cx="1987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1016835" name="Text Box 3"/>
          <p:cNvSpPr txBox="1">
            <a:spLocks noChangeArrowheads="1"/>
          </p:cNvSpPr>
          <p:nvPr/>
        </p:nvSpPr>
        <p:spPr bwMode="auto">
          <a:xfrm>
            <a:off x="1447800" y="1143000"/>
            <a:ext cx="6754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halting problem is undecidable</a:t>
            </a:r>
          </a:p>
        </p:txBody>
      </p:sp>
      <p:sp>
        <p:nvSpPr>
          <p:cNvPr id="1016836" name="Text Box 4"/>
          <p:cNvSpPr txBox="1">
            <a:spLocks noChangeArrowheads="1"/>
          </p:cNvSpPr>
          <p:nvPr/>
        </p:nvSpPr>
        <p:spPr bwMode="auto">
          <a:xfrm>
            <a:off x="533400" y="4724400"/>
            <a:ext cx="134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16837" name="Text Box 5"/>
          <p:cNvSpPr txBox="1">
            <a:spLocks noChangeArrowheads="1"/>
          </p:cNvSpPr>
          <p:nvPr/>
        </p:nvSpPr>
        <p:spPr bwMode="auto">
          <a:xfrm>
            <a:off x="2133600" y="4724400"/>
            <a:ext cx="62468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Assume for contradiction that</a:t>
            </a:r>
          </a:p>
          <a:p>
            <a:r>
              <a:rPr lang="en-US"/>
              <a:t>the halting problem is decidable</a:t>
            </a:r>
          </a:p>
        </p:txBody>
      </p:sp>
      <p:sp>
        <p:nvSpPr>
          <p:cNvPr id="1016838" name="Text Box 6"/>
          <p:cNvSpPr txBox="1">
            <a:spLocks noChangeArrowheads="1"/>
          </p:cNvSpPr>
          <p:nvPr/>
        </p:nvSpPr>
        <p:spPr bwMode="auto">
          <a:xfrm>
            <a:off x="593725" y="2006600"/>
            <a:ext cx="84439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(there are         and      for which we cannot</a:t>
            </a:r>
          </a:p>
          <a:p>
            <a:r>
              <a:rPr lang="en-US"/>
              <a:t>decide whether        halts on input        )</a:t>
            </a:r>
          </a:p>
        </p:txBody>
      </p:sp>
      <p:graphicFrame>
        <p:nvGraphicFramePr>
          <p:cNvPr id="1016839" name="Object 7"/>
          <p:cNvGraphicFramePr>
            <a:graphicFrameLocks noChangeAspect="1"/>
          </p:cNvGraphicFramePr>
          <p:nvPr/>
        </p:nvGraphicFramePr>
        <p:xfrm>
          <a:off x="2971800" y="2057400"/>
          <a:ext cx="5429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44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057400"/>
                        <a:ext cx="5429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6840" name="Object 8"/>
          <p:cNvGraphicFramePr>
            <a:graphicFrameLocks noChangeAspect="1"/>
          </p:cNvGraphicFramePr>
          <p:nvPr/>
        </p:nvGraphicFramePr>
        <p:xfrm>
          <a:off x="4572000" y="21336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45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1336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6842" name="Object 10"/>
          <p:cNvGraphicFramePr>
            <a:graphicFrameLocks noChangeAspect="1"/>
          </p:cNvGraphicFramePr>
          <p:nvPr/>
        </p:nvGraphicFramePr>
        <p:xfrm>
          <a:off x="3886200" y="2667000"/>
          <a:ext cx="5429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46" name="Equation" r:id="rId7" imgW="545760" imgH="393480" progId="Equation.3">
                  <p:embed/>
                </p:oleObj>
              </mc:Choice>
              <mc:Fallback>
                <p:oleObj name="Equation" r:id="rId7" imgW="545760" imgH="393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667000"/>
                        <a:ext cx="5429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6843" name="Object 11"/>
          <p:cNvGraphicFramePr>
            <a:graphicFrameLocks noChangeAspect="1"/>
          </p:cNvGraphicFramePr>
          <p:nvPr/>
        </p:nvGraphicFramePr>
        <p:xfrm>
          <a:off x="7543800" y="27432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47" name="Equation" r:id="rId8" imgW="368280" imgH="304560" progId="Equation.3">
                  <p:embed/>
                </p:oleObj>
              </mc:Choice>
              <mc:Fallback>
                <p:oleObj name="Equation" r:id="rId8" imgW="368280" imgH="3045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7432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4F76B6-3FC2-4E7A-91B5-3D8681E7443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017858" name="Text Box 2"/>
          <p:cNvSpPr txBox="1">
            <a:spLocks noChangeArrowheads="1"/>
          </p:cNvSpPr>
          <p:nvPr/>
        </p:nvSpPr>
        <p:spPr bwMode="auto">
          <a:xfrm>
            <a:off x="441325" y="406400"/>
            <a:ext cx="67246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Thus, there exists Turing Machine</a:t>
            </a:r>
          </a:p>
          <a:p>
            <a:r>
              <a:rPr lang="en-US"/>
              <a:t>that solves the halting problem</a:t>
            </a:r>
          </a:p>
        </p:txBody>
      </p:sp>
      <p:graphicFrame>
        <p:nvGraphicFramePr>
          <p:cNvPr id="1017859" name="Object 3"/>
          <p:cNvGraphicFramePr>
            <a:graphicFrameLocks noChangeAspect="1"/>
          </p:cNvGraphicFramePr>
          <p:nvPr/>
        </p:nvGraphicFramePr>
        <p:xfrm>
          <a:off x="7239000" y="4572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79" name="Equation" r:id="rId3" imgW="482400" imgH="393480" progId="Equation.3">
                  <p:embed/>
                </p:oleObj>
              </mc:Choice>
              <mc:Fallback>
                <p:oleObj name="Equation" r:id="rId3" imgW="48240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572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7861" name="Rectangle 5"/>
          <p:cNvSpPr>
            <a:spLocks noChangeArrowheads="1"/>
          </p:cNvSpPr>
          <p:nvPr/>
        </p:nvSpPr>
        <p:spPr bwMode="auto">
          <a:xfrm>
            <a:off x="1390650" y="2362200"/>
            <a:ext cx="2362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7862" name="Line 6"/>
          <p:cNvSpPr>
            <a:spLocks noChangeShapeType="1"/>
          </p:cNvSpPr>
          <p:nvPr/>
        </p:nvSpPr>
        <p:spPr bwMode="auto">
          <a:xfrm>
            <a:off x="628650" y="2819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7863" name="Line 7"/>
          <p:cNvSpPr>
            <a:spLocks noChangeShapeType="1"/>
          </p:cNvSpPr>
          <p:nvPr/>
        </p:nvSpPr>
        <p:spPr bwMode="auto">
          <a:xfrm>
            <a:off x="628650" y="3962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17864" name="Object 8"/>
          <p:cNvGraphicFramePr>
            <a:graphicFrameLocks noChangeAspect="1"/>
          </p:cNvGraphicFramePr>
          <p:nvPr/>
        </p:nvGraphicFramePr>
        <p:xfrm>
          <a:off x="2305050" y="32004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0" name="Equation" r:id="rId5" imgW="482400" imgH="393480" progId="Equation.3">
                  <p:embed/>
                </p:oleObj>
              </mc:Choice>
              <mc:Fallback>
                <p:oleObj name="Equation" r:id="rId5" imgW="48240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32004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5" name="Object 9"/>
          <p:cNvGraphicFramePr>
            <a:graphicFrameLocks noChangeAspect="1"/>
          </p:cNvGraphicFramePr>
          <p:nvPr/>
        </p:nvGraphicFramePr>
        <p:xfrm>
          <a:off x="152400" y="2590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1" name="Equation" r:id="rId6" imgW="545760" imgH="393480" progId="Equation.3">
                  <p:embed/>
                </p:oleObj>
              </mc:Choice>
              <mc:Fallback>
                <p:oleObj name="Equation" r:id="rId6" imgW="54576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90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6" name="Object 10"/>
          <p:cNvGraphicFramePr>
            <a:graphicFrameLocks noChangeAspect="1"/>
          </p:cNvGraphicFramePr>
          <p:nvPr/>
        </p:nvGraphicFramePr>
        <p:xfrm>
          <a:off x="228600" y="3810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2" name="Equation" r:id="rId8" imgW="368280" imgH="304560" progId="Equation.3">
                  <p:embed/>
                </p:oleObj>
              </mc:Choice>
              <mc:Fallback>
                <p:oleObj name="Equation" r:id="rId8" imgW="368280" imgH="304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7867" name="Line 11"/>
          <p:cNvSpPr>
            <a:spLocks noChangeShapeType="1"/>
          </p:cNvSpPr>
          <p:nvPr/>
        </p:nvSpPr>
        <p:spPr bwMode="auto">
          <a:xfrm>
            <a:off x="375285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17868" name="Text Box 12"/>
          <p:cNvSpPr txBox="1">
            <a:spLocks noChangeArrowheads="1"/>
          </p:cNvSpPr>
          <p:nvPr/>
        </p:nvSpPr>
        <p:spPr bwMode="auto">
          <a:xfrm>
            <a:off x="4343400" y="25146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  <p:graphicFrame>
        <p:nvGraphicFramePr>
          <p:cNvPr id="1017872" name="Object 16"/>
          <p:cNvGraphicFramePr>
            <a:graphicFrameLocks noChangeAspect="1"/>
          </p:cNvGraphicFramePr>
          <p:nvPr/>
        </p:nvGraphicFramePr>
        <p:xfrm>
          <a:off x="5791200" y="2590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3" name="Equation" r:id="rId10" imgW="545760" imgH="393480" progId="Equation.3">
                  <p:embed/>
                </p:oleObj>
              </mc:Choice>
              <mc:Fallback>
                <p:oleObj name="Equation" r:id="rId10" imgW="545760" imgH="3934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590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7873" name="Text Box 17"/>
          <p:cNvSpPr txBox="1">
            <a:spLocks noChangeArrowheads="1"/>
          </p:cNvSpPr>
          <p:nvPr/>
        </p:nvSpPr>
        <p:spPr bwMode="auto">
          <a:xfrm>
            <a:off x="6324600" y="2514600"/>
            <a:ext cx="1677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halts on</a:t>
            </a:r>
          </a:p>
        </p:txBody>
      </p:sp>
      <p:graphicFrame>
        <p:nvGraphicFramePr>
          <p:cNvPr id="1017874" name="Object 18"/>
          <p:cNvGraphicFramePr>
            <a:graphicFrameLocks noChangeAspect="1"/>
          </p:cNvGraphicFramePr>
          <p:nvPr/>
        </p:nvGraphicFramePr>
        <p:xfrm>
          <a:off x="8077200" y="2667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4" name="Equation" r:id="rId12" imgW="368280" imgH="304560" progId="Equation.3">
                  <p:embed/>
                </p:oleObj>
              </mc:Choice>
              <mc:Fallback>
                <p:oleObj name="Equation" r:id="rId12" imgW="368280" imgH="30456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667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76" name="Object 20"/>
          <p:cNvGraphicFramePr>
            <a:graphicFrameLocks noChangeAspect="1"/>
          </p:cNvGraphicFramePr>
          <p:nvPr/>
        </p:nvGraphicFramePr>
        <p:xfrm>
          <a:off x="5715000" y="41910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5" name="Equation" r:id="rId14" imgW="545760" imgH="393480" progId="Equation.3">
                  <p:embed/>
                </p:oleObj>
              </mc:Choice>
              <mc:Fallback>
                <p:oleObj name="Equation" r:id="rId14" imgW="545760" imgH="3934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1910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7877" name="Text Box 21"/>
          <p:cNvSpPr txBox="1">
            <a:spLocks noChangeArrowheads="1"/>
          </p:cNvSpPr>
          <p:nvPr/>
        </p:nvSpPr>
        <p:spPr bwMode="auto">
          <a:xfrm>
            <a:off x="6324600" y="3810000"/>
            <a:ext cx="16573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doesn’t </a:t>
            </a:r>
          </a:p>
          <a:p>
            <a:r>
              <a:rPr lang="en-US"/>
              <a:t>halt on</a:t>
            </a:r>
          </a:p>
        </p:txBody>
      </p:sp>
      <p:graphicFrame>
        <p:nvGraphicFramePr>
          <p:cNvPr id="1017878" name="Object 22"/>
          <p:cNvGraphicFramePr>
            <a:graphicFrameLocks noChangeAspect="1"/>
          </p:cNvGraphicFramePr>
          <p:nvPr/>
        </p:nvGraphicFramePr>
        <p:xfrm>
          <a:off x="8001000" y="4191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6" name="Equation" r:id="rId15" imgW="368280" imgH="304560" progId="Equation.3">
                  <p:embed/>
                </p:oleObj>
              </mc:Choice>
              <mc:Fallback>
                <p:oleObj name="Equation" r:id="rId15" imgW="368280" imgH="304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4191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7879" name="Line 23"/>
          <p:cNvSpPr>
            <a:spLocks noChangeShapeType="1"/>
          </p:cNvSpPr>
          <p:nvPr/>
        </p:nvSpPr>
        <p:spPr bwMode="auto">
          <a:xfrm>
            <a:off x="3752850" y="4038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17880" name="Text Box 24"/>
          <p:cNvSpPr txBox="1">
            <a:spLocks noChangeArrowheads="1"/>
          </p:cNvSpPr>
          <p:nvPr/>
        </p:nvSpPr>
        <p:spPr bwMode="auto">
          <a:xfrm>
            <a:off x="4419600" y="38100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17881" name="Rectangle 25"/>
          <p:cNvSpPr>
            <a:spLocks noChangeArrowheads="1"/>
          </p:cNvSpPr>
          <p:nvPr/>
        </p:nvSpPr>
        <p:spPr bwMode="auto">
          <a:xfrm>
            <a:off x="5638800" y="2362200"/>
            <a:ext cx="2971800" cy="762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7882" name="Rectangle 26"/>
          <p:cNvSpPr>
            <a:spLocks noChangeArrowheads="1"/>
          </p:cNvSpPr>
          <p:nvPr/>
        </p:nvSpPr>
        <p:spPr bwMode="auto">
          <a:xfrm>
            <a:off x="5638800" y="3733800"/>
            <a:ext cx="2819400" cy="1295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E95B0C-58D8-4790-998D-C81093F43BD6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018886" name="Rectangle 6"/>
          <p:cNvSpPr>
            <a:spLocks noChangeArrowheads="1"/>
          </p:cNvSpPr>
          <p:nvPr/>
        </p:nvSpPr>
        <p:spPr bwMode="auto">
          <a:xfrm>
            <a:off x="4130675" y="2209800"/>
            <a:ext cx="4556125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8887" name="Line 7"/>
          <p:cNvSpPr>
            <a:spLocks noChangeShapeType="1"/>
          </p:cNvSpPr>
          <p:nvPr/>
        </p:nvSpPr>
        <p:spPr bwMode="auto">
          <a:xfrm>
            <a:off x="2987675" y="3733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18889" name="Object 9"/>
          <p:cNvGraphicFramePr>
            <a:graphicFrameLocks noChangeAspect="1"/>
          </p:cNvGraphicFramePr>
          <p:nvPr/>
        </p:nvGraphicFramePr>
        <p:xfrm>
          <a:off x="5857875" y="16637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8" name="Equation" r:id="rId3" imgW="482400" imgH="393480" progId="Equation.3">
                  <p:embed/>
                </p:oleObj>
              </mc:Choice>
              <mc:Fallback>
                <p:oleObj name="Equation" r:id="rId3" imgW="48240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16637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90" name="Object 10"/>
          <p:cNvGraphicFramePr>
            <a:graphicFrameLocks noChangeAspect="1"/>
          </p:cNvGraphicFramePr>
          <p:nvPr/>
        </p:nvGraphicFramePr>
        <p:xfrm>
          <a:off x="1558925" y="3403600"/>
          <a:ext cx="1270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9" name="Equation" r:id="rId5" imgW="1269720" imgH="571320" progId="Equation.3">
                  <p:embed/>
                </p:oleObj>
              </mc:Choice>
              <mc:Fallback>
                <p:oleObj name="Equation" r:id="rId5" imgW="1269720" imgH="5713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3403600"/>
                        <a:ext cx="1270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894" name="Oval 14"/>
          <p:cNvSpPr>
            <a:spLocks noChangeArrowheads="1"/>
          </p:cNvSpPr>
          <p:nvPr/>
        </p:nvSpPr>
        <p:spPr bwMode="auto">
          <a:xfrm>
            <a:off x="4435475" y="34290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18895" name="Oval 15"/>
          <p:cNvSpPr>
            <a:spLocks noChangeArrowheads="1"/>
          </p:cNvSpPr>
          <p:nvPr/>
        </p:nvSpPr>
        <p:spPr bwMode="auto">
          <a:xfrm>
            <a:off x="6645275" y="25908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18896" name="Oval 16"/>
          <p:cNvSpPr>
            <a:spLocks noChangeArrowheads="1"/>
          </p:cNvSpPr>
          <p:nvPr/>
        </p:nvSpPr>
        <p:spPr bwMode="auto">
          <a:xfrm>
            <a:off x="6645275" y="41910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18899" name="Object 19"/>
          <p:cNvGraphicFramePr>
            <a:graphicFrameLocks noChangeAspect="1"/>
          </p:cNvGraphicFramePr>
          <p:nvPr/>
        </p:nvGraphicFramePr>
        <p:xfrm>
          <a:off x="4587875" y="3429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0" name="Equation" r:id="rId7" imgW="444240" imgH="533160" progId="Equation.3">
                  <p:embed/>
                </p:oleObj>
              </mc:Choice>
              <mc:Fallback>
                <p:oleObj name="Equation" r:id="rId7" imgW="444240" imgH="53316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34290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900" name="Freeform 20"/>
          <p:cNvSpPr>
            <a:spLocks/>
          </p:cNvSpPr>
          <p:nvPr/>
        </p:nvSpPr>
        <p:spPr bwMode="auto">
          <a:xfrm>
            <a:off x="5045075" y="2730500"/>
            <a:ext cx="1584325" cy="8128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96" y="200"/>
              </a:cxn>
              <a:cxn ang="0">
                <a:pos x="384" y="488"/>
              </a:cxn>
              <a:cxn ang="0">
                <a:pos x="576" y="56"/>
              </a:cxn>
              <a:cxn ang="0">
                <a:pos x="912" y="152"/>
              </a:cxn>
            </a:cxnLst>
            <a:rect l="0" t="0" r="r" b="b"/>
            <a:pathLst>
              <a:path w="912" h="512">
                <a:moveTo>
                  <a:pt x="0" y="488"/>
                </a:moveTo>
                <a:cubicBezTo>
                  <a:pt x="16" y="344"/>
                  <a:pt x="32" y="200"/>
                  <a:pt x="96" y="200"/>
                </a:cubicBezTo>
                <a:cubicBezTo>
                  <a:pt x="160" y="200"/>
                  <a:pt x="304" y="512"/>
                  <a:pt x="384" y="488"/>
                </a:cubicBezTo>
                <a:cubicBezTo>
                  <a:pt x="464" y="464"/>
                  <a:pt x="488" y="112"/>
                  <a:pt x="576" y="56"/>
                </a:cubicBezTo>
                <a:cubicBezTo>
                  <a:pt x="664" y="0"/>
                  <a:pt x="788" y="76"/>
                  <a:pt x="912" y="1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8901" name="Freeform 21"/>
          <p:cNvSpPr>
            <a:spLocks/>
          </p:cNvSpPr>
          <p:nvPr/>
        </p:nvSpPr>
        <p:spPr bwMode="auto">
          <a:xfrm>
            <a:off x="4968875" y="3962400"/>
            <a:ext cx="1660525" cy="1041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384"/>
              </a:cxn>
              <a:cxn ang="0">
                <a:pos x="576" y="192"/>
              </a:cxn>
              <a:cxn ang="0">
                <a:pos x="624" y="624"/>
              </a:cxn>
              <a:cxn ang="0">
                <a:pos x="960" y="384"/>
              </a:cxn>
            </a:cxnLst>
            <a:rect l="0" t="0" r="r" b="b"/>
            <a:pathLst>
              <a:path w="960" h="656">
                <a:moveTo>
                  <a:pt x="0" y="0"/>
                </a:moveTo>
                <a:cubicBezTo>
                  <a:pt x="48" y="176"/>
                  <a:pt x="96" y="352"/>
                  <a:pt x="192" y="384"/>
                </a:cubicBezTo>
                <a:cubicBezTo>
                  <a:pt x="288" y="416"/>
                  <a:pt x="504" y="152"/>
                  <a:pt x="576" y="192"/>
                </a:cubicBezTo>
                <a:cubicBezTo>
                  <a:pt x="648" y="232"/>
                  <a:pt x="560" y="592"/>
                  <a:pt x="624" y="624"/>
                </a:cubicBezTo>
                <a:cubicBezTo>
                  <a:pt x="688" y="656"/>
                  <a:pt x="824" y="520"/>
                  <a:pt x="960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18902" name="Object 22"/>
          <p:cNvGraphicFramePr>
            <a:graphicFrameLocks noChangeAspect="1"/>
          </p:cNvGraphicFramePr>
          <p:nvPr/>
        </p:nvGraphicFramePr>
        <p:xfrm>
          <a:off x="6721475" y="2590800"/>
          <a:ext cx="481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1" name="Equation" r:id="rId9" imgW="482400" imgH="609480" progId="Equation.3">
                  <p:embed/>
                </p:oleObj>
              </mc:Choice>
              <mc:Fallback>
                <p:oleObj name="Equation" r:id="rId9" imgW="482400" imgH="609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2590800"/>
                        <a:ext cx="4810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903" name="Object 23"/>
          <p:cNvGraphicFramePr>
            <a:graphicFrameLocks noChangeAspect="1"/>
          </p:cNvGraphicFramePr>
          <p:nvPr/>
        </p:nvGraphicFramePr>
        <p:xfrm>
          <a:off x="6721475" y="4191000"/>
          <a:ext cx="45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2" name="Equation" r:id="rId11" imgW="457200" imgH="533160" progId="Equation.3">
                  <p:embed/>
                </p:oleObj>
              </mc:Choice>
              <mc:Fallback>
                <p:oleObj name="Equation" r:id="rId11" imgW="457200" imgH="53316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4191000"/>
                        <a:ext cx="457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906" name="Text Box 26"/>
          <p:cNvSpPr txBox="1">
            <a:spLocks noChangeArrowheads="1"/>
          </p:cNvSpPr>
          <p:nvPr/>
        </p:nvSpPr>
        <p:spPr bwMode="auto">
          <a:xfrm>
            <a:off x="0" y="2209800"/>
            <a:ext cx="39893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Input:</a:t>
            </a:r>
          </a:p>
          <a:p>
            <a:r>
              <a:rPr lang="en-US"/>
              <a:t>initial tape contents</a:t>
            </a:r>
          </a:p>
        </p:txBody>
      </p:sp>
      <p:sp>
        <p:nvSpPr>
          <p:cNvPr id="1018907" name="Line 27"/>
          <p:cNvSpPr>
            <a:spLocks noChangeShapeType="1"/>
          </p:cNvSpPr>
          <p:nvPr/>
        </p:nvSpPr>
        <p:spPr bwMode="auto">
          <a:xfrm flipV="1">
            <a:off x="1066800" y="3962400"/>
            <a:ext cx="777875" cy="914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8908" name="Line 28"/>
          <p:cNvSpPr>
            <a:spLocks noChangeShapeType="1"/>
          </p:cNvSpPr>
          <p:nvPr/>
        </p:nvSpPr>
        <p:spPr bwMode="auto">
          <a:xfrm flipH="1" flipV="1">
            <a:off x="2606675" y="3886200"/>
            <a:ext cx="517525" cy="1066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18909" name="Text Box 29"/>
          <p:cNvSpPr txBox="1">
            <a:spLocks noChangeArrowheads="1"/>
          </p:cNvSpPr>
          <p:nvPr/>
        </p:nvSpPr>
        <p:spPr bwMode="auto">
          <a:xfrm>
            <a:off x="0" y="4902200"/>
            <a:ext cx="18557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Encoding</a:t>
            </a:r>
          </a:p>
          <a:p>
            <a:r>
              <a:rPr lang="en-US"/>
              <a:t>of</a:t>
            </a:r>
          </a:p>
        </p:txBody>
      </p:sp>
      <p:graphicFrame>
        <p:nvGraphicFramePr>
          <p:cNvPr id="1018910" name="Object 30"/>
          <p:cNvGraphicFramePr>
            <a:graphicFrameLocks noChangeAspect="1"/>
          </p:cNvGraphicFramePr>
          <p:nvPr/>
        </p:nvGraphicFramePr>
        <p:xfrm>
          <a:off x="752475" y="55499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3" name="Equation" r:id="rId13" imgW="545760" imgH="393480" progId="Equation.3">
                  <p:embed/>
                </p:oleObj>
              </mc:Choice>
              <mc:Fallback>
                <p:oleObj name="Equation" r:id="rId13" imgW="545760" imgH="3934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55499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911" name="Object 31"/>
          <p:cNvGraphicFramePr>
            <a:graphicFrameLocks noChangeAspect="1"/>
          </p:cNvGraphicFramePr>
          <p:nvPr/>
        </p:nvGraphicFramePr>
        <p:xfrm>
          <a:off x="2892425" y="57023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4" name="Equation" r:id="rId15" imgW="368280" imgH="304560" progId="Equation.3">
                  <p:embed/>
                </p:oleObj>
              </mc:Choice>
              <mc:Fallback>
                <p:oleObj name="Equation" r:id="rId15" imgW="368280" imgH="3045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57023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912" name="Text Box 32"/>
          <p:cNvSpPr txBox="1">
            <a:spLocks noChangeArrowheads="1"/>
          </p:cNvSpPr>
          <p:nvPr/>
        </p:nvSpPr>
        <p:spPr bwMode="auto">
          <a:xfrm>
            <a:off x="2454275" y="4953000"/>
            <a:ext cx="1397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</a:t>
            </a:r>
          </a:p>
        </p:txBody>
      </p:sp>
      <p:sp>
        <p:nvSpPr>
          <p:cNvPr id="1018913" name="Text Box 33"/>
          <p:cNvSpPr txBox="1">
            <a:spLocks noChangeArrowheads="1"/>
          </p:cNvSpPr>
          <p:nvPr/>
        </p:nvSpPr>
        <p:spPr bwMode="auto">
          <a:xfrm>
            <a:off x="7391400" y="25146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018914" name="Text Box 34"/>
          <p:cNvSpPr txBox="1">
            <a:spLocks noChangeArrowheads="1"/>
          </p:cNvSpPr>
          <p:nvPr/>
        </p:nvSpPr>
        <p:spPr bwMode="auto">
          <a:xfrm>
            <a:off x="7467600" y="41910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18916" name="Text Box 36"/>
          <p:cNvSpPr txBox="1">
            <a:spLocks noChangeArrowheads="1"/>
          </p:cNvSpPr>
          <p:nvPr/>
        </p:nvSpPr>
        <p:spPr bwMode="auto">
          <a:xfrm>
            <a:off x="2438400" y="228600"/>
            <a:ext cx="3138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Construction of</a:t>
            </a:r>
          </a:p>
        </p:txBody>
      </p:sp>
      <p:graphicFrame>
        <p:nvGraphicFramePr>
          <p:cNvPr id="1018917" name="Object 37"/>
          <p:cNvGraphicFramePr>
            <a:graphicFrameLocks noChangeAspect="1"/>
          </p:cNvGraphicFramePr>
          <p:nvPr/>
        </p:nvGraphicFramePr>
        <p:xfrm>
          <a:off x="5715000" y="3048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5" name="Equation" r:id="rId17" imgW="482400" imgH="393480" progId="Equation.3">
                  <p:embed/>
                </p:oleObj>
              </mc:Choice>
              <mc:Fallback>
                <p:oleObj name="Equation" r:id="rId17" imgW="482400" imgH="39348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048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988B21-E373-476D-9184-DD2D14715B75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019911" name="Text Box 7"/>
          <p:cNvSpPr txBox="1">
            <a:spLocks noChangeArrowheads="1"/>
          </p:cNvSpPr>
          <p:nvPr/>
        </p:nvSpPr>
        <p:spPr bwMode="auto">
          <a:xfrm>
            <a:off x="152400" y="685800"/>
            <a:ext cx="4916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Construct machine         :</a:t>
            </a:r>
          </a:p>
        </p:txBody>
      </p:sp>
      <p:graphicFrame>
        <p:nvGraphicFramePr>
          <p:cNvPr id="1019909" name="Object 5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17" name="Equation" r:id="rId3" imgW="228600" imgH="520560" progId="Equation.3">
                  <p:embed/>
                </p:oleObj>
              </mc:Choice>
              <mc:Fallback>
                <p:oleObj name="Equation" r:id="rId3" imgW="228600" imgH="520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0" name="Object 6"/>
          <p:cNvGraphicFramePr>
            <a:graphicFrameLocks noChangeAspect="1"/>
          </p:cNvGraphicFramePr>
          <p:nvPr/>
        </p:nvGraphicFramePr>
        <p:xfrm>
          <a:off x="4089400" y="742950"/>
          <a:ext cx="5826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18" name="Equation" r:id="rId5" imgW="583920" imgH="431640" progId="Equation.3">
                  <p:embed/>
                </p:oleObj>
              </mc:Choice>
              <mc:Fallback>
                <p:oleObj name="Equation" r:id="rId5" imgW="58392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742950"/>
                        <a:ext cx="582613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9912" name="Text Box 8"/>
          <p:cNvSpPr txBox="1">
            <a:spLocks noChangeArrowheads="1"/>
          </p:cNvSpPr>
          <p:nvPr/>
        </p:nvSpPr>
        <p:spPr bwMode="auto">
          <a:xfrm>
            <a:off x="1279525" y="1625600"/>
            <a:ext cx="7620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       returns </a:t>
            </a:r>
            <a:r>
              <a:rPr lang="en-US">
                <a:solidFill>
                  <a:srgbClr val="FF0000"/>
                </a:solidFill>
              </a:rPr>
              <a:t>YES</a:t>
            </a:r>
            <a:r>
              <a:rPr lang="en-US"/>
              <a:t> then </a:t>
            </a:r>
            <a:r>
              <a:rPr lang="en-US">
                <a:solidFill>
                  <a:srgbClr val="FF0000"/>
                </a:solidFill>
              </a:rPr>
              <a:t>loop forever</a:t>
            </a:r>
            <a:r>
              <a:rPr lang="en-US"/>
              <a:t> </a:t>
            </a:r>
          </a:p>
        </p:txBody>
      </p:sp>
      <p:graphicFrame>
        <p:nvGraphicFramePr>
          <p:cNvPr id="1019913" name="Object 9"/>
          <p:cNvGraphicFramePr>
            <a:graphicFrameLocks noChangeAspect="1"/>
          </p:cNvGraphicFramePr>
          <p:nvPr/>
        </p:nvGraphicFramePr>
        <p:xfrm>
          <a:off x="2209800" y="1752600"/>
          <a:ext cx="430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19" name="Equation" r:id="rId7" imgW="431640" imgH="368280" progId="Equation.3">
                  <p:embed/>
                </p:oleObj>
              </mc:Choice>
              <mc:Fallback>
                <p:oleObj name="Equation" r:id="rId7" imgW="43164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52600"/>
                        <a:ext cx="4302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9915" name="Text Box 11"/>
          <p:cNvSpPr txBox="1">
            <a:spLocks noChangeArrowheads="1"/>
          </p:cNvSpPr>
          <p:nvPr/>
        </p:nvSpPr>
        <p:spPr bwMode="auto">
          <a:xfrm>
            <a:off x="1219200" y="2971800"/>
            <a:ext cx="5762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       returns </a:t>
            </a:r>
            <a:r>
              <a:rPr lang="en-US">
                <a:solidFill>
                  <a:srgbClr val="FF0000"/>
                </a:solidFill>
              </a:rPr>
              <a:t>NO</a:t>
            </a:r>
            <a:r>
              <a:rPr lang="en-US"/>
              <a:t> then </a:t>
            </a:r>
            <a:r>
              <a:rPr lang="en-US">
                <a:solidFill>
                  <a:srgbClr val="FF0000"/>
                </a:solidFill>
              </a:rPr>
              <a:t>halt</a:t>
            </a:r>
          </a:p>
        </p:txBody>
      </p:sp>
      <p:graphicFrame>
        <p:nvGraphicFramePr>
          <p:cNvPr id="1019916" name="Object 12"/>
          <p:cNvGraphicFramePr>
            <a:graphicFrameLocks noChangeAspect="1"/>
          </p:cNvGraphicFramePr>
          <p:nvPr/>
        </p:nvGraphicFramePr>
        <p:xfrm>
          <a:off x="2149475" y="3098800"/>
          <a:ext cx="430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20" name="Equation" r:id="rId9" imgW="431640" imgH="368280" progId="Equation.3">
                  <p:embed/>
                </p:oleObj>
              </mc:Choice>
              <mc:Fallback>
                <p:oleObj name="Equation" r:id="rId9" imgW="43164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3098800"/>
                        <a:ext cx="4302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6E1949-F0F0-47D8-A618-5AFBD0F290C1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020930" name="Rectangle 2"/>
          <p:cNvSpPr>
            <a:spLocks noChangeArrowheads="1"/>
          </p:cNvSpPr>
          <p:nvPr/>
        </p:nvSpPr>
        <p:spPr bwMode="auto">
          <a:xfrm>
            <a:off x="1981200" y="2667000"/>
            <a:ext cx="42672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0931" name="Line 3"/>
          <p:cNvSpPr>
            <a:spLocks noChangeShapeType="1"/>
          </p:cNvSpPr>
          <p:nvPr/>
        </p:nvSpPr>
        <p:spPr bwMode="auto">
          <a:xfrm>
            <a:off x="1371600" y="4191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20932" name="Object 4"/>
          <p:cNvGraphicFramePr>
            <a:graphicFrameLocks noChangeAspect="1"/>
          </p:cNvGraphicFramePr>
          <p:nvPr/>
        </p:nvGraphicFramePr>
        <p:xfrm>
          <a:off x="3708400" y="21209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64" name="Equation" r:id="rId3" imgW="482400" imgH="393480" progId="Equation.3">
                  <p:embed/>
                </p:oleObj>
              </mc:Choice>
              <mc:Fallback>
                <p:oleObj name="Equation" r:id="rId3" imgW="48240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1209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3" name="Object 5"/>
          <p:cNvGraphicFramePr>
            <a:graphicFrameLocks noChangeAspect="1"/>
          </p:cNvGraphicFramePr>
          <p:nvPr/>
        </p:nvGraphicFramePr>
        <p:xfrm>
          <a:off x="0" y="3886200"/>
          <a:ext cx="1270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65" name="Equation" r:id="rId5" imgW="1269720" imgH="571320" progId="Equation.3">
                  <p:embed/>
                </p:oleObj>
              </mc:Choice>
              <mc:Fallback>
                <p:oleObj name="Equation" r:id="rId5" imgW="1269720" imgH="571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86200"/>
                        <a:ext cx="1270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34" name="Oval 6"/>
          <p:cNvSpPr>
            <a:spLocks noChangeArrowheads="1"/>
          </p:cNvSpPr>
          <p:nvPr/>
        </p:nvSpPr>
        <p:spPr bwMode="auto">
          <a:xfrm>
            <a:off x="2286000" y="3886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35" name="Oval 7"/>
          <p:cNvSpPr>
            <a:spLocks noChangeArrowheads="1"/>
          </p:cNvSpPr>
          <p:nvPr/>
        </p:nvSpPr>
        <p:spPr bwMode="auto">
          <a:xfrm>
            <a:off x="4495800" y="30480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36" name="Oval 8"/>
          <p:cNvSpPr>
            <a:spLocks noChangeArrowheads="1"/>
          </p:cNvSpPr>
          <p:nvPr/>
        </p:nvSpPr>
        <p:spPr bwMode="auto">
          <a:xfrm>
            <a:off x="4495800" y="4648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0939" name="Object 11"/>
          <p:cNvGraphicFramePr>
            <a:graphicFrameLocks noChangeAspect="1"/>
          </p:cNvGraphicFramePr>
          <p:nvPr/>
        </p:nvGraphicFramePr>
        <p:xfrm>
          <a:off x="2438400" y="3886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66" name="Equation" r:id="rId7" imgW="444240" imgH="533160" progId="Equation.3">
                  <p:embed/>
                </p:oleObj>
              </mc:Choice>
              <mc:Fallback>
                <p:oleObj name="Equation" r:id="rId7" imgW="444240" imgH="5331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40" name="Freeform 12"/>
          <p:cNvSpPr>
            <a:spLocks/>
          </p:cNvSpPr>
          <p:nvPr/>
        </p:nvSpPr>
        <p:spPr bwMode="auto">
          <a:xfrm>
            <a:off x="2895600" y="3187700"/>
            <a:ext cx="1600200" cy="812800"/>
          </a:xfrm>
          <a:custGeom>
            <a:avLst/>
            <a:gdLst/>
            <a:ahLst/>
            <a:cxnLst>
              <a:cxn ang="0">
                <a:pos x="0" y="488"/>
              </a:cxn>
              <a:cxn ang="0">
                <a:pos x="96" y="200"/>
              </a:cxn>
              <a:cxn ang="0">
                <a:pos x="384" y="488"/>
              </a:cxn>
              <a:cxn ang="0">
                <a:pos x="576" y="56"/>
              </a:cxn>
              <a:cxn ang="0">
                <a:pos x="912" y="152"/>
              </a:cxn>
            </a:cxnLst>
            <a:rect l="0" t="0" r="r" b="b"/>
            <a:pathLst>
              <a:path w="912" h="512">
                <a:moveTo>
                  <a:pt x="0" y="488"/>
                </a:moveTo>
                <a:cubicBezTo>
                  <a:pt x="16" y="344"/>
                  <a:pt x="32" y="200"/>
                  <a:pt x="96" y="200"/>
                </a:cubicBezTo>
                <a:cubicBezTo>
                  <a:pt x="160" y="200"/>
                  <a:pt x="304" y="512"/>
                  <a:pt x="384" y="488"/>
                </a:cubicBezTo>
                <a:cubicBezTo>
                  <a:pt x="464" y="464"/>
                  <a:pt x="488" y="112"/>
                  <a:pt x="576" y="56"/>
                </a:cubicBezTo>
                <a:cubicBezTo>
                  <a:pt x="664" y="0"/>
                  <a:pt x="788" y="76"/>
                  <a:pt x="912" y="1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0941" name="Freeform 13"/>
          <p:cNvSpPr>
            <a:spLocks/>
          </p:cNvSpPr>
          <p:nvPr/>
        </p:nvSpPr>
        <p:spPr bwMode="auto">
          <a:xfrm>
            <a:off x="2819400" y="4419600"/>
            <a:ext cx="1676400" cy="1041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384"/>
              </a:cxn>
              <a:cxn ang="0">
                <a:pos x="576" y="192"/>
              </a:cxn>
              <a:cxn ang="0">
                <a:pos x="624" y="624"/>
              </a:cxn>
              <a:cxn ang="0">
                <a:pos x="960" y="384"/>
              </a:cxn>
            </a:cxnLst>
            <a:rect l="0" t="0" r="r" b="b"/>
            <a:pathLst>
              <a:path w="960" h="656">
                <a:moveTo>
                  <a:pt x="0" y="0"/>
                </a:moveTo>
                <a:cubicBezTo>
                  <a:pt x="48" y="176"/>
                  <a:pt x="96" y="352"/>
                  <a:pt x="192" y="384"/>
                </a:cubicBezTo>
                <a:cubicBezTo>
                  <a:pt x="288" y="416"/>
                  <a:pt x="504" y="152"/>
                  <a:pt x="576" y="192"/>
                </a:cubicBezTo>
                <a:cubicBezTo>
                  <a:pt x="648" y="232"/>
                  <a:pt x="560" y="592"/>
                  <a:pt x="624" y="624"/>
                </a:cubicBezTo>
                <a:cubicBezTo>
                  <a:pt x="688" y="656"/>
                  <a:pt x="824" y="520"/>
                  <a:pt x="960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20942" name="Object 14"/>
          <p:cNvGraphicFramePr>
            <a:graphicFrameLocks noChangeAspect="1"/>
          </p:cNvGraphicFramePr>
          <p:nvPr/>
        </p:nvGraphicFramePr>
        <p:xfrm>
          <a:off x="4572000" y="3048000"/>
          <a:ext cx="481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67" name="Equation" r:id="rId9" imgW="482400" imgH="609480" progId="Equation.3">
                  <p:embed/>
                </p:oleObj>
              </mc:Choice>
              <mc:Fallback>
                <p:oleObj name="Equation" r:id="rId9" imgW="482400" imgH="609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048000"/>
                        <a:ext cx="4810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3" name="Object 15"/>
          <p:cNvGraphicFramePr>
            <a:graphicFrameLocks noChangeAspect="1"/>
          </p:cNvGraphicFramePr>
          <p:nvPr/>
        </p:nvGraphicFramePr>
        <p:xfrm>
          <a:off x="4572000" y="4648200"/>
          <a:ext cx="45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68" name="Equation" r:id="rId11" imgW="457200" imgH="533160" progId="Equation.3">
                  <p:embed/>
                </p:oleObj>
              </mc:Choice>
              <mc:Fallback>
                <p:oleObj name="Equation" r:id="rId11" imgW="45720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648200"/>
                        <a:ext cx="457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52" name="Text Box 24"/>
          <p:cNvSpPr txBox="1">
            <a:spLocks noChangeArrowheads="1"/>
          </p:cNvSpPr>
          <p:nvPr/>
        </p:nvSpPr>
        <p:spPr bwMode="auto">
          <a:xfrm>
            <a:off x="5257800" y="45720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20953" name="Rectangle 25"/>
          <p:cNvSpPr>
            <a:spLocks noChangeArrowheads="1"/>
          </p:cNvSpPr>
          <p:nvPr/>
        </p:nvSpPr>
        <p:spPr bwMode="auto">
          <a:xfrm>
            <a:off x="1676400" y="1524000"/>
            <a:ext cx="7315200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0954" name="Oval 26"/>
          <p:cNvSpPr>
            <a:spLocks noChangeArrowheads="1"/>
          </p:cNvSpPr>
          <p:nvPr/>
        </p:nvSpPr>
        <p:spPr bwMode="auto">
          <a:xfrm>
            <a:off x="6781800" y="30480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55" name="Oval 27"/>
          <p:cNvSpPr>
            <a:spLocks noChangeArrowheads="1"/>
          </p:cNvSpPr>
          <p:nvPr/>
        </p:nvSpPr>
        <p:spPr bwMode="auto">
          <a:xfrm>
            <a:off x="8229600" y="30480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56" name="Line 28"/>
          <p:cNvSpPr>
            <a:spLocks noChangeShapeType="1"/>
          </p:cNvSpPr>
          <p:nvPr/>
        </p:nvSpPr>
        <p:spPr bwMode="auto">
          <a:xfrm flipV="1">
            <a:off x="5181600" y="33528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0958" name="Freeform 30"/>
          <p:cNvSpPr>
            <a:spLocks/>
          </p:cNvSpPr>
          <p:nvPr/>
        </p:nvSpPr>
        <p:spPr bwMode="auto">
          <a:xfrm>
            <a:off x="7315200" y="3581400"/>
            <a:ext cx="1066800" cy="393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6" y="240"/>
              </a:cxn>
              <a:cxn ang="0">
                <a:pos x="672" y="48"/>
              </a:cxn>
            </a:cxnLst>
            <a:rect l="0" t="0" r="r" b="b"/>
            <a:pathLst>
              <a:path w="672" h="248">
                <a:moveTo>
                  <a:pt x="0" y="0"/>
                </a:moveTo>
                <a:cubicBezTo>
                  <a:pt x="112" y="116"/>
                  <a:pt x="224" y="232"/>
                  <a:pt x="336" y="240"/>
                </a:cubicBezTo>
                <a:cubicBezTo>
                  <a:pt x="448" y="248"/>
                  <a:pt x="560" y="148"/>
                  <a:pt x="672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0959" name="Freeform 31"/>
          <p:cNvSpPr>
            <a:spLocks/>
          </p:cNvSpPr>
          <p:nvPr/>
        </p:nvSpPr>
        <p:spPr bwMode="auto">
          <a:xfrm>
            <a:off x="7315200" y="2730500"/>
            <a:ext cx="1066800" cy="393700"/>
          </a:xfrm>
          <a:custGeom>
            <a:avLst/>
            <a:gdLst/>
            <a:ahLst/>
            <a:cxnLst>
              <a:cxn ang="0">
                <a:pos x="672" y="248"/>
              </a:cxn>
              <a:cxn ang="0">
                <a:pos x="384" y="8"/>
              </a:cxn>
              <a:cxn ang="0">
                <a:pos x="0" y="200"/>
              </a:cxn>
            </a:cxnLst>
            <a:rect l="0" t="0" r="r" b="b"/>
            <a:pathLst>
              <a:path w="672" h="248">
                <a:moveTo>
                  <a:pt x="672" y="248"/>
                </a:moveTo>
                <a:cubicBezTo>
                  <a:pt x="584" y="132"/>
                  <a:pt x="496" y="16"/>
                  <a:pt x="384" y="8"/>
                </a:cubicBezTo>
                <a:cubicBezTo>
                  <a:pt x="272" y="0"/>
                  <a:pt x="136" y="100"/>
                  <a:pt x="0" y="2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0960" name="Object 32"/>
          <p:cNvGraphicFramePr>
            <a:graphicFrameLocks noChangeAspect="1"/>
          </p:cNvGraphicFramePr>
          <p:nvPr/>
        </p:nvGraphicFramePr>
        <p:xfrm>
          <a:off x="6927850" y="3048000"/>
          <a:ext cx="45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69" name="Equation" r:id="rId13" imgW="457200" imgH="533160" progId="Equation.3">
                  <p:embed/>
                </p:oleObj>
              </mc:Choice>
              <mc:Fallback>
                <p:oleObj name="Equation" r:id="rId13" imgW="457200" imgH="53316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7850" y="3048000"/>
                        <a:ext cx="457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61" name="Object 33"/>
          <p:cNvGraphicFramePr>
            <a:graphicFrameLocks noChangeAspect="1"/>
          </p:cNvGraphicFramePr>
          <p:nvPr/>
        </p:nvGraphicFramePr>
        <p:xfrm>
          <a:off x="8382000" y="3048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70" name="Equation" r:id="rId15" imgW="444240" imgH="533160" progId="Equation.3">
                  <p:embed/>
                </p:oleObj>
              </mc:Choice>
              <mc:Fallback>
                <p:oleObj name="Equation" r:id="rId15" imgW="444240" imgH="53316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30480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63" name="Object 35"/>
          <p:cNvGraphicFramePr>
            <a:graphicFrameLocks noChangeAspect="1"/>
          </p:cNvGraphicFramePr>
          <p:nvPr/>
        </p:nvGraphicFramePr>
        <p:xfrm>
          <a:off x="4724400" y="960438"/>
          <a:ext cx="5826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71" name="Equation" r:id="rId17" imgW="583920" imgH="431640" progId="Equation.3">
                  <p:embed/>
                </p:oleObj>
              </mc:Choice>
              <mc:Fallback>
                <p:oleObj name="Equation" r:id="rId17" imgW="583920" imgH="43164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960438"/>
                        <a:ext cx="582613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64" name="Text Box 36"/>
          <p:cNvSpPr txBox="1">
            <a:spLocks noChangeArrowheads="1"/>
          </p:cNvSpPr>
          <p:nvPr/>
        </p:nvSpPr>
        <p:spPr bwMode="auto">
          <a:xfrm>
            <a:off x="6324600" y="2133600"/>
            <a:ext cx="2630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Loop forever</a:t>
            </a:r>
          </a:p>
        </p:txBody>
      </p:sp>
      <p:sp>
        <p:nvSpPr>
          <p:cNvPr id="1020965" name="Text Box 37"/>
          <p:cNvSpPr txBox="1">
            <a:spLocks noChangeArrowheads="1"/>
          </p:cNvSpPr>
          <p:nvPr/>
        </p:nvSpPr>
        <p:spPr bwMode="auto">
          <a:xfrm>
            <a:off x="5181600" y="28194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74322-2EBC-4E9C-AB15-03CD9E90445F}" type="slidenum">
              <a:rPr lang="en-US" altLang="en-US"/>
              <a:pPr/>
              <a:t>36</a:t>
            </a:fld>
            <a:endParaRPr lang="en-US" altLang="en-US"/>
          </a:p>
        </p:txBody>
      </p:sp>
      <p:graphicFrame>
        <p:nvGraphicFramePr>
          <p:cNvPr id="1021955" name="Object 3"/>
          <p:cNvGraphicFramePr>
            <a:graphicFrameLocks noChangeAspect="1"/>
          </p:cNvGraphicFramePr>
          <p:nvPr/>
        </p:nvGraphicFramePr>
        <p:xfrm>
          <a:off x="4013200" y="4318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82" name="Equation" r:id="rId3" imgW="482400" imgH="507960" progId="Equation.3">
                  <p:embed/>
                </p:oleObj>
              </mc:Choice>
              <mc:Fallback>
                <p:oleObj name="Equation" r:id="rId3" imgW="482400" imgH="5079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4318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56" name="Text Box 4"/>
          <p:cNvSpPr txBox="1">
            <a:spLocks noChangeArrowheads="1"/>
          </p:cNvSpPr>
          <p:nvPr/>
        </p:nvSpPr>
        <p:spPr bwMode="auto">
          <a:xfrm>
            <a:off x="152400" y="457200"/>
            <a:ext cx="467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Construct machine       :</a:t>
            </a:r>
          </a:p>
        </p:txBody>
      </p:sp>
      <p:sp>
        <p:nvSpPr>
          <p:cNvPr id="1021962" name="Text Box 10"/>
          <p:cNvSpPr txBox="1">
            <a:spLocks noChangeArrowheads="1"/>
          </p:cNvSpPr>
          <p:nvPr/>
        </p:nvSpPr>
        <p:spPr bwMode="auto">
          <a:xfrm>
            <a:off x="914400" y="1524000"/>
            <a:ext cx="1728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Input:</a:t>
            </a:r>
            <a:r>
              <a:rPr lang="en-US"/>
              <a:t>   </a:t>
            </a:r>
          </a:p>
        </p:txBody>
      </p:sp>
      <p:sp>
        <p:nvSpPr>
          <p:cNvPr id="1021965" name="Text Box 13"/>
          <p:cNvSpPr txBox="1">
            <a:spLocks noChangeArrowheads="1"/>
          </p:cNvSpPr>
          <p:nvPr/>
        </p:nvSpPr>
        <p:spPr bwMode="auto">
          <a:xfrm>
            <a:off x="1050925" y="3378200"/>
            <a:ext cx="857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</a:t>
            </a:r>
          </a:p>
        </p:txBody>
      </p:sp>
      <p:graphicFrame>
        <p:nvGraphicFramePr>
          <p:cNvPr id="1021966" name="Object 14"/>
          <p:cNvGraphicFramePr>
            <a:graphicFrameLocks noChangeAspect="1"/>
          </p:cNvGraphicFramePr>
          <p:nvPr/>
        </p:nvGraphicFramePr>
        <p:xfrm>
          <a:off x="1803400" y="34163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83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34163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67" name="Text Box 15"/>
          <p:cNvSpPr txBox="1">
            <a:spLocks noChangeArrowheads="1"/>
          </p:cNvSpPr>
          <p:nvPr/>
        </p:nvSpPr>
        <p:spPr bwMode="auto">
          <a:xfrm>
            <a:off x="2590800" y="3352800"/>
            <a:ext cx="2870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halts on input </a:t>
            </a:r>
          </a:p>
        </p:txBody>
      </p:sp>
      <p:graphicFrame>
        <p:nvGraphicFramePr>
          <p:cNvPr id="1021968" name="Object 16"/>
          <p:cNvGraphicFramePr>
            <a:graphicFrameLocks noChangeAspect="1"/>
          </p:cNvGraphicFramePr>
          <p:nvPr/>
        </p:nvGraphicFramePr>
        <p:xfrm>
          <a:off x="5562600" y="3352800"/>
          <a:ext cx="774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84" name="Equation" r:id="rId7" imgW="774360" imgH="571320" progId="Equation.3">
                  <p:embed/>
                </p:oleObj>
              </mc:Choice>
              <mc:Fallback>
                <p:oleObj name="Equation" r:id="rId7" imgW="774360" imgH="57132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352800"/>
                        <a:ext cx="7747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69" name="Text Box 17"/>
          <p:cNvSpPr txBox="1">
            <a:spLocks noChangeArrowheads="1"/>
          </p:cNvSpPr>
          <p:nvPr/>
        </p:nvSpPr>
        <p:spPr bwMode="auto">
          <a:xfrm>
            <a:off x="2511425" y="4343400"/>
            <a:ext cx="3597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u="sng"/>
              <a:t>Then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loop forever</a:t>
            </a:r>
          </a:p>
        </p:txBody>
      </p:sp>
      <p:sp>
        <p:nvSpPr>
          <p:cNvPr id="1021970" name="Text Box 18"/>
          <p:cNvSpPr txBox="1">
            <a:spLocks noChangeArrowheads="1"/>
          </p:cNvSpPr>
          <p:nvPr/>
        </p:nvSpPr>
        <p:spPr bwMode="auto">
          <a:xfrm>
            <a:off x="2590800" y="5410200"/>
            <a:ext cx="1843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u="sng"/>
              <a:t>Else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halt</a:t>
            </a:r>
          </a:p>
        </p:txBody>
      </p:sp>
      <p:graphicFrame>
        <p:nvGraphicFramePr>
          <p:cNvPr id="1021978" name="Object 26"/>
          <p:cNvGraphicFramePr>
            <a:graphicFrameLocks noChangeAspect="1"/>
          </p:cNvGraphicFramePr>
          <p:nvPr/>
        </p:nvGraphicFramePr>
        <p:xfrm>
          <a:off x="2819400" y="1524000"/>
          <a:ext cx="774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85" name="Equation" r:id="rId9" imgW="774360" imgH="571320" progId="Equation.3">
                  <p:embed/>
                </p:oleObj>
              </mc:Choice>
              <mc:Fallback>
                <p:oleObj name="Equation" r:id="rId9" imgW="774360" imgH="5713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24000"/>
                        <a:ext cx="7747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80" name="Text Box 28"/>
          <p:cNvSpPr txBox="1">
            <a:spLocks noChangeArrowheads="1"/>
          </p:cNvSpPr>
          <p:nvPr/>
        </p:nvSpPr>
        <p:spPr bwMode="auto">
          <a:xfrm>
            <a:off x="4114800" y="1524000"/>
            <a:ext cx="2855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(machine       )</a:t>
            </a:r>
          </a:p>
        </p:txBody>
      </p:sp>
      <p:graphicFrame>
        <p:nvGraphicFramePr>
          <p:cNvPr id="1021981" name="Object 29"/>
          <p:cNvGraphicFramePr>
            <a:graphicFrameLocks noChangeAspect="1"/>
          </p:cNvGraphicFramePr>
          <p:nvPr/>
        </p:nvGraphicFramePr>
        <p:xfrm>
          <a:off x="6070600" y="15875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86" name="Equation" r:id="rId10" imgW="545760" imgH="393480" progId="Equation.3">
                  <p:embed/>
                </p:oleObj>
              </mc:Choice>
              <mc:Fallback>
                <p:oleObj name="Equation" r:id="rId10" imgW="545760" imgH="3934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15875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091181-4896-485E-A2C6-2860901C8B6F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022978" name="Rectangle 2"/>
          <p:cNvSpPr>
            <a:spLocks noChangeArrowheads="1"/>
          </p:cNvSpPr>
          <p:nvPr/>
        </p:nvSpPr>
        <p:spPr bwMode="auto">
          <a:xfrm>
            <a:off x="1752600" y="2286000"/>
            <a:ext cx="64770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2979" name="Line 3"/>
          <p:cNvSpPr>
            <a:spLocks noChangeShapeType="1"/>
          </p:cNvSpPr>
          <p:nvPr/>
        </p:nvSpPr>
        <p:spPr bwMode="auto">
          <a:xfrm>
            <a:off x="1295400" y="3429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2980" name="Rectangle 4"/>
          <p:cNvSpPr>
            <a:spLocks noChangeArrowheads="1"/>
          </p:cNvSpPr>
          <p:nvPr/>
        </p:nvSpPr>
        <p:spPr bwMode="auto">
          <a:xfrm>
            <a:off x="2286000" y="2743200"/>
            <a:ext cx="18288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2981" name="Rectangle 5"/>
          <p:cNvSpPr>
            <a:spLocks noChangeArrowheads="1"/>
          </p:cNvSpPr>
          <p:nvPr/>
        </p:nvSpPr>
        <p:spPr bwMode="auto">
          <a:xfrm>
            <a:off x="6019800" y="2743200"/>
            <a:ext cx="18288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2982" name="Object 6"/>
          <p:cNvGraphicFramePr>
            <a:graphicFrameLocks noChangeAspect="1"/>
          </p:cNvGraphicFramePr>
          <p:nvPr/>
        </p:nvGraphicFramePr>
        <p:xfrm>
          <a:off x="425450" y="3098800"/>
          <a:ext cx="774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89" name="Equation" r:id="rId3" imgW="774360" imgH="571320" progId="Equation.3">
                  <p:embed/>
                </p:oleObj>
              </mc:Choice>
              <mc:Fallback>
                <p:oleObj name="Equation" r:id="rId3" imgW="774360" imgH="5713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3098800"/>
                        <a:ext cx="7747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3" name="Line 7"/>
          <p:cNvSpPr>
            <a:spLocks noChangeShapeType="1"/>
          </p:cNvSpPr>
          <p:nvPr/>
        </p:nvSpPr>
        <p:spPr bwMode="auto">
          <a:xfrm>
            <a:off x="4114800" y="3429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22984" name="Object 8"/>
          <p:cNvGraphicFramePr>
            <a:graphicFrameLocks noChangeAspect="1"/>
          </p:cNvGraphicFramePr>
          <p:nvPr/>
        </p:nvGraphicFramePr>
        <p:xfrm>
          <a:off x="4267200" y="2794000"/>
          <a:ext cx="167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0" name="Equation" r:id="rId5" imgW="1676160" imgH="571320" progId="Equation.3">
                  <p:embed/>
                </p:oleObj>
              </mc:Choice>
              <mc:Fallback>
                <p:oleObj name="Equation" r:id="rId5" imgW="1676160" imgH="5713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794000"/>
                        <a:ext cx="16764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5" name="Text Box 9"/>
          <p:cNvSpPr txBox="1">
            <a:spLocks noChangeArrowheads="1"/>
          </p:cNvSpPr>
          <p:nvPr/>
        </p:nvSpPr>
        <p:spPr bwMode="auto">
          <a:xfrm>
            <a:off x="2667000" y="2819400"/>
            <a:ext cx="1036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copy</a:t>
            </a:r>
          </a:p>
        </p:txBody>
      </p:sp>
      <p:graphicFrame>
        <p:nvGraphicFramePr>
          <p:cNvPr id="1022986" name="Object 10"/>
          <p:cNvGraphicFramePr>
            <a:graphicFrameLocks noChangeAspect="1"/>
          </p:cNvGraphicFramePr>
          <p:nvPr/>
        </p:nvGraphicFramePr>
        <p:xfrm>
          <a:off x="2787650" y="3403600"/>
          <a:ext cx="774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1" name="Equation" r:id="rId7" imgW="774360" imgH="571320" progId="Equation.3">
                  <p:embed/>
                </p:oleObj>
              </mc:Choice>
              <mc:Fallback>
                <p:oleObj name="Equation" r:id="rId7" imgW="774360" imgH="5713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3403600"/>
                        <a:ext cx="7747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7" name="Object 11"/>
          <p:cNvGraphicFramePr>
            <a:graphicFrameLocks noChangeAspect="1"/>
          </p:cNvGraphicFramePr>
          <p:nvPr/>
        </p:nvGraphicFramePr>
        <p:xfrm>
          <a:off x="6707188" y="3168650"/>
          <a:ext cx="581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2" name="Equation" r:id="rId8" imgW="583920" imgH="431640" progId="Equation.3">
                  <p:embed/>
                </p:oleObj>
              </mc:Choice>
              <mc:Fallback>
                <p:oleObj name="Equation" r:id="rId8" imgW="583920" imgH="4316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3168650"/>
                        <a:ext cx="5810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8" name="Object 12"/>
          <p:cNvGraphicFramePr>
            <a:graphicFrameLocks noChangeAspect="1"/>
          </p:cNvGraphicFramePr>
          <p:nvPr/>
        </p:nvGraphicFramePr>
        <p:xfrm>
          <a:off x="4927600" y="16510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3" name="Equation" r:id="rId10" imgW="482400" imgH="507960" progId="Equation.3">
                  <p:embed/>
                </p:oleObj>
              </mc:Choice>
              <mc:Fallback>
                <p:oleObj name="Equation" r:id="rId10" imgW="482400" imgH="5079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16510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E501E9-1459-419A-B539-1CB1492F4B84}" type="slidenum">
              <a:rPr lang="en-US" altLang="en-US"/>
              <a:pPr/>
              <a:t>38</a:t>
            </a:fld>
            <a:endParaRPr lang="en-US" altLang="en-US"/>
          </a:p>
        </p:txBody>
      </p:sp>
      <p:graphicFrame>
        <p:nvGraphicFramePr>
          <p:cNvPr id="1026050" name="Object 2"/>
          <p:cNvGraphicFramePr>
            <a:graphicFrameLocks noChangeAspect="1"/>
          </p:cNvGraphicFramePr>
          <p:nvPr/>
        </p:nvGraphicFramePr>
        <p:xfrm>
          <a:off x="3022600" y="3556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6" name="Equation" r:id="rId3" imgW="482400" imgH="507960" progId="Equation.3">
                  <p:embed/>
                </p:oleObj>
              </mc:Choice>
              <mc:Fallback>
                <p:oleObj name="Equation" r:id="rId3" imgW="482400" imgH="5079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3556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1" name="Text Box 3"/>
          <p:cNvSpPr txBox="1">
            <a:spLocks noChangeArrowheads="1"/>
          </p:cNvSpPr>
          <p:nvPr/>
        </p:nvSpPr>
        <p:spPr bwMode="auto">
          <a:xfrm>
            <a:off x="304800" y="381000"/>
            <a:ext cx="6659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Run machine        with input itself:</a:t>
            </a:r>
          </a:p>
        </p:txBody>
      </p:sp>
      <p:sp>
        <p:nvSpPr>
          <p:cNvPr id="1026052" name="Text Box 4"/>
          <p:cNvSpPr txBox="1">
            <a:spLocks noChangeArrowheads="1"/>
          </p:cNvSpPr>
          <p:nvPr/>
        </p:nvSpPr>
        <p:spPr bwMode="auto">
          <a:xfrm>
            <a:off x="914400" y="1524000"/>
            <a:ext cx="1728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00"/>
                </a:solidFill>
              </a:rPr>
              <a:t>Input:</a:t>
            </a:r>
            <a:r>
              <a:rPr lang="en-US"/>
              <a:t>   </a:t>
            </a:r>
          </a:p>
        </p:txBody>
      </p:sp>
      <p:sp>
        <p:nvSpPr>
          <p:cNvPr id="1026053" name="Text Box 5"/>
          <p:cNvSpPr txBox="1">
            <a:spLocks noChangeArrowheads="1"/>
          </p:cNvSpPr>
          <p:nvPr/>
        </p:nvSpPr>
        <p:spPr bwMode="auto">
          <a:xfrm>
            <a:off x="974725" y="3378200"/>
            <a:ext cx="857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</a:t>
            </a:r>
          </a:p>
        </p:txBody>
      </p:sp>
      <p:sp>
        <p:nvSpPr>
          <p:cNvPr id="1026055" name="Text Box 7"/>
          <p:cNvSpPr txBox="1">
            <a:spLocks noChangeArrowheads="1"/>
          </p:cNvSpPr>
          <p:nvPr/>
        </p:nvSpPr>
        <p:spPr bwMode="auto">
          <a:xfrm>
            <a:off x="2514600" y="3352800"/>
            <a:ext cx="2870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halts on input </a:t>
            </a:r>
          </a:p>
        </p:txBody>
      </p:sp>
      <p:sp>
        <p:nvSpPr>
          <p:cNvPr id="1026057" name="Text Box 9"/>
          <p:cNvSpPr txBox="1">
            <a:spLocks noChangeArrowheads="1"/>
          </p:cNvSpPr>
          <p:nvPr/>
        </p:nvSpPr>
        <p:spPr bwMode="auto">
          <a:xfrm>
            <a:off x="2435225" y="4343400"/>
            <a:ext cx="3597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u="sng"/>
              <a:t>Then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loop forever</a:t>
            </a:r>
          </a:p>
        </p:txBody>
      </p:sp>
      <p:sp>
        <p:nvSpPr>
          <p:cNvPr id="1026058" name="Text Box 10"/>
          <p:cNvSpPr txBox="1">
            <a:spLocks noChangeArrowheads="1"/>
          </p:cNvSpPr>
          <p:nvPr/>
        </p:nvSpPr>
        <p:spPr bwMode="auto">
          <a:xfrm>
            <a:off x="2514600" y="5334000"/>
            <a:ext cx="1843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u="sng"/>
              <a:t>Else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halt</a:t>
            </a:r>
          </a:p>
        </p:txBody>
      </p:sp>
      <p:graphicFrame>
        <p:nvGraphicFramePr>
          <p:cNvPr id="1026060" name="Object 12"/>
          <p:cNvGraphicFramePr>
            <a:graphicFrameLocks noChangeAspect="1"/>
          </p:cNvGraphicFramePr>
          <p:nvPr/>
        </p:nvGraphicFramePr>
        <p:xfrm>
          <a:off x="2584450" y="1473200"/>
          <a:ext cx="723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7" name="Equation" r:id="rId5" imgW="723600" imgH="622080" progId="Equation.3">
                  <p:embed/>
                </p:oleObj>
              </mc:Choice>
              <mc:Fallback>
                <p:oleObj name="Equation" r:id="rId5" imgW="723600" imgH="6220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1473200"/>
                        <a:ext cx="7239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61" name="Text Box 13"/>
          <p:cNvSpPr txBox="1">
            <a:spLocks noChangeArrowheads="1"/>
          </p:cNvSpPr>
          <p:nvPr/>
        </p:nvSpPr>
        <p:spPr bwMode="auto">
          <a:xfrm>
            <a:off x="4114800" y="1524000"/>
            <a:ext cx="2855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(machine       )</a:t>
            </a:r>
          </a:p>
        </p:txBody>
      </p:sp>
      <p:graphicFrame>
        <p:nvGraphicFramePr>
          <p:cNvPr id="1026063" name="Object 15"/>
          <p:cNvGraphicFramePr>
            <a:graphicFrameLocks noChangeAspect="1"/>
          </p:cNvGraphicFramePr>
          <p:nvPr/>
        </p:nvGraphicFramePr>
        <p:xfrm>
          <a:off x="6070600" y="14986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8" name="Equation" r:id="rId7" imgW="482400" imgH="507960" progId="Equation.3">
                  <p:embed/>
                </p:oleObj>
              </mc:Choice>
              <mc:Fallback>
                <p:oleObj name="Equation" r:id="rId7" imgW="482400" imgH="5079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14986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64" name="Object 16"/>
          <p:cNvGraphicFramePr>
            <a:graphicFrameLocks noChangeAspect="1"/>
          </p:cNvGraphicFramePr>
          <p:nvPr/>
        </p:nvGraphicFramePr>
        <p:xfrm>
          <a:off x="1803400" y="33274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9" name="Equation" r:id="rId9" imgW="482400" imgH="507960" progId="Equation.3">
                  <p:embed/>
                </p:oleObj>
              </mc:Choice>
              <mc:Fallback>
                <p:oleObj name="Equation" r:id="rId9" imgW="482400" imgH="5079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33274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65" name="Object 17"/>
          <p:cNvGraphicFramePr>
            <a:graphicFrameLocks noChangeAspect="1"/>
          </p:cNvGraphicFramePr>
          <p:nvPr/>
        </p:nvGraphicFramePr>
        <p:xfrm>
          <a:off x="5378450" y="3327400"/>
          <a:ext cx="723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70" name="Equation" r:id="rId11" imgW="723600" imgH="622080" progId="Equation.3">
                  <p:embed/>
                </p:oleObj>
              </mc:Choice>
              <mc:Fallback>
                <p:oleObj name="Equation" r:id="rId11" imgW="723600" imgH="6220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3327400"/>
                        <a:ext cx="7239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006B27-A095-4F5A-A1B7-3A451217BE95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027075" name="Text Box 3"/>
          <p:cNvSpPr txBox="1">
            <a:spLocks noChangeArrowheads="1"/>
          </p:cNvSpPr>
          <p:nvPr/>
        </p:nvSpPr>
        <p:spPr bwMode="auto">
          <a:xfrm>
            <a:off x="1387475" y="1117600"/>
            <a:ext cx="1803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on input </a:t>
            </a:r>
          </a:p>
        </p:txBody>
      </p:sp>
      <p:graphicFrame>
        <p:nvGraphicFramePr>
          <p:cNvPr id="1027076" name="Object 4"/>
          <p:cNvGraphicFramePr>
            <a:graphicFrameLocks noChangeAspect="1"/>
          </p:cNvGraphicFramePr>
          <p:nvPr/>
        </p:nvGraphicFramePr>
        <p:xfrm>
          <a:off x="676275" y="10922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83" name="Equation" r:id="rId3" imgW="482400" imgH="507960" progId="Equation.3">
                  <p:embed/>
                </p:oleObj>
              </mc:Choice>
              <mc:Fallback>
                <p:oleObj name="Equation" r:id="rId3" imgW="482400" imgH="5079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" y="10922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7" name="Object 5"/>
          <p:cNvGraphicFramePr>
            <a:graphicFrameLocks noChangeAspect="1"/>
          </p:cNvGraphicFramePr>
          <p:nvPr/>
        </p:nvGraphicFramePr>
        <p:xfrm>
          <a:off x="3336925" y="1092200"/>
          <a:ext cx="723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84" name="Equation" r:id="rId5" imgW="723600" imgH="622080" progId="Equation.3">
                  <p:embed/>
                </p:oleObj>
              </mc:Choice>
              <mc:Fallback>
                <p:oleObj name="Equation" r:id="rId5" imgW="723600" imgH="6220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925" y="1092200"/>
                        <a:ext cx="7239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8" name="Text Box 6"/>
          <p:cNvSpPr txBox="1">
            <a:spLocks noChangeArrowheads="1"/>
          </p:cNvSpPr>
          <p:nvPr/>
        </p:nvSpPr>
        <p:spPr bwMode="auto">
          <a:xfrm>
            <a:off x="1828800" y="2438400"/>
            <a:ext cx="6173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      halts then loops forever</a:t>
            </a:r>
          </a:p>
        </p:txBody>
      </p:sp>
      <p:sp>
        <p:nvSpPr>
          <p:cNvPr id="1027079" name="Text Box 7"/>
          <p:cNvSpPr txBox="1">
            <a:spLocks noChangeArrowheads="1"/>
          </p:cNvSpPr>
          <p:nvPr/>
        </p:nvSpPr>
        <p:spPr bwMode="auto">
          <a:xfrm>
            <a:off x="1828800" y="3505200"/>
            <a:ext cx="6167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      doesn’t halt then it halts</a:t>
            </a:r>
          </a:p>
        </p:txBody>
      </p:sp>
      <p:sp>
        <p:nvSpPr>
          <p:cNvPr id="1027080" name="Text Box 8"/>
          <p:cNvSpPr txBox="1">
            <a:spLocks noChangeArrowheads="1"/>
          </p:cNvSpPr>
          <p:nvPr/>
        </p:nvSpPr>
        <p:spPr bwMode="auto">
          <a:xfrm>
            <a:off x="4267200" y="1066800"/>
            <a:ext cx="306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:</a:t>
            </a:r>
          </a:p>
        </p:txBody>
      </p:sp>
      <p:graphicFrame>
        <p:nvGraphicFramePr>
          <p:cNvPr id="1027081" name="Object 9"/>
          <p:cNvGraphicFramePr>
            <a:graphicFrameLocks noChangeAspect="1"/>
          </p:cNvGraphicFramePr>
          <p:nvPr/>
        </p:nvGraphicFramePr>
        <p:xfrm>
          <a:off x="2641600" y="24130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85" name="Equation" r:id="rId7" imgW="482400" imgH="507960" progId="Equation.3">
                  <p:embed/>
                </p:oleObj>
              </mc:Choice>
              <mc:Fallback>
                <p:oleObj name="Equation" r:id="rId7" imgW="482400" imgH="5079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24130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82" name="Object 10"/>
          <p:cNvGraphicFramePr>
            <a:graphicFrameLocks noChangeAspect="1"/>
          </p:cNvGraphicFramePr>
          <p:nvPr/>
        </p:nvGraphicFramePr>
        <p:xfrm>
          <a:off x="2565400" y="3479800"/>
          <a:ext cx="481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86" name="Equation" r:id="rId8" imgW="482400" imgH="507960" progId="Equation.3">
                  <p:embed/>
                </p:oleObj>
              </mc:Choice>
              <mc:Fallback>
                <p:oleObj name="Equation" r:id="rId8" imgW="482400" imgH="5079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479800"/>
                        <a:ext cx="481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83" name="Text Box 11"/>
          <p:cNvSpPr txBox="1">
            <a:spLocks noChangeArrowheads="1"/>
          </p:cNvSpPr>
          <p:nvPr/>
        </p:nvSpPr>
        <p:spPr bwMode="auto">
          <a:xfrm>
            <a:off x="3200400" y="5181600"/>
            <a:ext cx="3159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NONSENSE !!!!!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AFAED7-45BA-4EDC-B79A-EA3916FD0343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028098" name="Text Box 2"/>
          <p:cNvSpPr txBox="1">
            <a:spLocks noChangeArrowheads="1"/>
          </p:cNvSpPr>
          <p:nvPr/>
        </p:nvSpPr>
        <p:spPr bwMode="auto">
          <a:xfrm>
            <a:off x="746125" y="482600"/>
            <a:ext cx="6543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Therefore, we have contradiction</a:t>
            </a:r>
          </a:p>
        </p:txBody>
      </p:sp>
      <p:sp>
        <p:nvSpPr>
          <p:cNvPr id="1028099" name="Text Box 3"/>
          <p:cNvSpPr txBox="1">
            <a:spLocks noChangeArrowheads="1"/>
          </p:cNvSpPr>
          <p:nvPr/>
        </p:nvSpPr>
        <p:spPr bwMode="auto">
          <a:xfrm>
            <a:off x="838200" y="2514600"/>
            <a:ext cx="6754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halting problem is undecidable</a:t>
            </a:r>
          </a:p>
        </p:txBody>
      </p:sp>
      <p:sp>
        <p:nvSpPr>
          <p:cNvPr id="1028100" name="Text Box 4"/>
          <p:cNvSpPr txBox="1">
            <a:spLocks noChangeArrowheads="1"/>
          </p:cNvSpPr>
          <p:nvPr/>
        </p:nvSpPr>
        <p:spPr bwMode="auto">
          <a:xfrm>
            <a:off x="3200400" y="5791200"/>
            <a:ext cx="24701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9933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336FE-2654-4B1C-ADF0-BCE4AF9834B3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029122" name="Text Box 2"/>
          <p:cNvSpPr txBox="1">
            <a:spLocks noChangeArrowheads="1"/>
          </p:cNvSpPr>
          <p:nvPr/>
        </p:nvSpPr>
        <p:spPr bwMode="auto">
          <a:xfrm>
            <a:off x="457200" y="685800"/>
            <a:ext cx="7145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Another proof of the same theorem:</a:t>
            </a:r>
          </a:p>
        </p:txBody>
      </p:sp>
      <p:sp>
        <p:nvSpPr>
          <p:cNvPr id="1029123" name="Text Box 3"/>
          <p:cNvSpPr txBox="1">
            <a:spLocks noChangeArrowheads="1"/>
          </p:cNvSpPr>
          <p:nvPr/>
        </p:nvSpPr>
        <p:spPr bwMode="auto">
          <a:xfrm>
            <a:off x="517525" y="2921000"/>
            <a:ext cx="81534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the halting problem was decidable then</a:t>
            </a:r>
          </a:p>
          <a:p>
            <a:r>
              <a:rPr lang="en-US"/>
              <a:t>every recursively enumerable language</a:t>
            </a:r>
          </a:p>
          <a:p>
            <a:r>
              <a:rPr lang="en-US"/>
              <a:t>would be recursive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7403D7-A677-459A-BB9C-E7ED46292FA5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083394" name="Text Box 2"/>
          <p:cNvSpPr txBox="1">
            <a:spLocks noChangeArrowheads="1"/>
          </p:cNvSpPr>
          <p:nvPr/>
        </p:nvSpPr>
        <p:spPr bwMode="auto">
          <a:xfrm>
            <a:off x="441325" y="406400"/>
            <a:ext cx="1987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1083395" name="Text Box 3"/>
          <p:cNvSpPr txBox="1">
            <a:spLocks noChangeArrowheads="1"/>
          </p:cNvSpPr>
          <p:nvPr/>
        </p:nvSpPr>
        <p:spPr bwMode="auto">
          <a:xfrm>
            <a:off x="1447800" y="1143000"/>
            <a:ext cx="6754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 halting problem is </a:t>
            </a:r>
            <a:r>
              <a:rPr lang="en-US" dirty="0" err="1"/>
              <a:t>undecidable</a:t>
            </a:r>
            <a:endParaRPr lang="en-US" dirty="0"/>
          </a:p>
        </p:txBody>
      </p:sp>
      <p:sp>
        <p:nvSpPr>
          <p:cNvPr id="1083396" name="Text Box 4"/>
          <p:cNvSpPr txBox="1">
            <a:spLocks noChangeArrowheads="1"/>
          </p:cNvSpPr>
          <p:nvPr/>
        </p:nvSpPr>
        <p:spPr bwMode="auto">
          <a:xfrm>
            <a:off x="533400" y="3581400"/>
            <a:ext cx="134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083397" name="Text Box 5"/>
          <p:cNvSpPr txBox="1">
            <a:spLocks noChangeArrowheads="1"/>
          </p:cNvSpPr>
          <p:nvPr/>
        </p:nvSpPr>
        <p:spPr bwMode="auto">
          <a:xfrm>
            <a:off x="2133600" y="3581400"/>
            <a:ext cx="62468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Assume for contradiction that</a:t>
            </a:r>
          </a:p>
          <a:p>
            <a:r>
              <a:rPr lang="en-US" dirty="0"/>
              <a:t>the halting problem is decidable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26A78A-C218-4813-A000-19A0DA05BE22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085442" name="Text Box 2"/>
          <p:cNvSpPr txBox="1">
            <a:spLocks noChangeArrowheads="1"/>
          </p:cNvSpPr>
          <p:nvPr/>
        </p:nvSpPr>
        <p:spPr bwMode="auto">
          <a:xfrm>
            <a:off x="441325" y="406400"/>
            <a:ext cx="60991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exists Turing Machine</a:t>
            </a:r>
          </a:p>
          <a:p>
            <a:r>
              <a:rPr lang="en-US"/>
              <a:t>that solves the halting problem</a:t>
            </a:r>
          </a:p>
        </p:txBody>
      </p:sp>
      <p:graphicFrame>
        <p:nvGraphicFramePr>
          <p:cNvPr id="1085443" name="Object 3"/>
          <p:cNvGraphicFramePr>
            <a:graphicFrameLocks noChangeAspect="1"/>
          </p:cNvGraphicFramePr>
          <p:nvPr/>
        </p:nvGraphicFramePr>
        <p:xfrm>
          <a:off x="6324600" y="4572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58" name="Equation" r:id="rId3" imgW="482400" imgH="393480" progId="Equation.3">
                  <p:embed/>
                </p:oleObj>
              </mc:Choice>
              <mc:Fallback>
                <p:oleObj name="Equation" r:id="rId3" imgW="48240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572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44" name="Rectangle 4"/>
          <p:cNvSpPr>
            <a:spLocks noChangeArrowheads="1"/>
          </p:cNvSpPr>
          <p:nvPr/>
        </p:nvSpPr>
        <p:spPr bwMode="auto">
          <a:xfrm>
            <a:off x="1390650" y="2362200"/>
            <a:ext cx="2362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5445" name="Line 5"/>
          <p:cNvSpPr>
            <a:spLocks noChangeShapeType="1"/>
          </p:cNvSpPr>
          <p:nvPr/>
        </p:nvSpPr>
        <p:spPr bwMode="auto">
          <a:xfrm>
            <a:off x="628650" y="2819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5446" name="Line 6"/>
          <p:cNvSpPr>
            <a:spLocks noChangeShapeType="1"/>
          </p:cNvSpPr>
          <p:nvPr/>
        </p:nvSpPr>
        <p:spPr bwMode="auto">
          <a:xfrm>
            <a:off x="628650" y="3962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85447" name="Object 7"/>
          <p:cNvGraphicFramePr>
            <a:graphicFrameLocks noChangeAspect="1"/>
          </p:cNvGraphicFramePr>
          <p:nvPr/>
        </p:nvGraphicFramePr>
        <p:xfrm>
          <a:off x="2305050" y="3200400"/>
          <a:ext cx="481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59" name="Equation" r:id="rId5" imgW="482400" imgH="393480" progId="Equation.3">
                  <p:embed/>
                </p:oleObj>
              </mc:Choice>
              <mc:Fallback>
                <p:oleObj name="Equation" r:id="rId5" imgW="48240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3200400"/>
                        <a:ext cx="4810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48" name="Object 8"/>
          <p:cNvGraphicFramePr>
            <a:graphicFrameLocks noChangeAspect="1"/>
          </p:cNvGraphicFramePr>
          <p:nvPr/>
        </p:nvGraphicFramePr>
        <p:xfrm>
          <a:off x="152400" y="2590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0" name="Equation" r:id="rId6" imgW="545760" imgH="393480" progId="Equation.3">
                  <p:embed/>
                </p:oleObj>
              </mc:Choice>
              <mc:Fallback>
                <p:oleObj name="Equation" r:id="rId6" imgW="54576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90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49" name="Object 9"/>
          <p:cNvGraphicFramePr>
            <a:graphicFrameLocks noChangeAspect="1"/>
          </p:cNvGraphicFramePr>
          <p:nvPr/>
        </p:nvGraphicFramePr>
        <p:xfrm>
          <a:off x="228600" y="3810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1" name="Equation" r:id="rId8" imgW="368280" imgH="304560" progId="Equation.3">
                  <p:embed/>
                </p:oleObj>
              </mc:Choice>
              <mc:Fallback>
                <p:oleObj name="Equation" r:id="rId8" imgW="368280" imgH="304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50" name="Line 10"/>
          <p:cNvSpPr>
            <a:spLocks noChangeShapeType="1"/>
          </p:cNvSpPr>
          <p:nvPr/>
        </p:nvSpPr>
        <p:spPr bwMode="auto">
          <a:xfrm>
            <a:off x="375285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5451" name="Text Box 11"/>
          <p:cNvSpPr txBox="1">
            <a:spLocks noChangeArrowheads="1"/>
          </p:cNvSpPr>
          <p:nvPr/>
        </p:nvSpPr>
        <p:spPr bwMode="auto">
          <a:xfrm>
            <a:off x="4343400" y="25146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  <p:graphicFrame>
        <p:nvGraphicFramePr>
          <p:cNvPr id="1085452" name="Object 12"/>
          <p:cNvGraphicFramePr>
            <a:graphicFrameLocks noChangeAspect="1"/>
          </p:cNvGraphicFramePr>
          <p:nvPr/>
        </p:nvGraphicFramePr>
        <p:xfrm>
          <a:off x="5791200" y="2590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2" name="Equation" r:id="rId10" imgW="545760" imgH="393480" progId="Equation.3">
                  <p:embed/>
                </p:oleObj>
              </mc:Choice>
              <mc:Fallback>
                <p:oleObj name="Equation" r:id="rId10" imgW="545760" imgH="393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590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53" name="Text Box 13"/>
          <p:cNvSpPr txBox="1">
            <a:spLocks noChangeArrowheads="1"/>
          </p:cNvSpPr>
          <p:nvPr/>
        </p:nvSpPr>
        <p:spPr bwMode="auto">
          <a:xfrm>
            <a:off x="6324600" y="2514600"/>
            <a:ext cx="1677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halts on</a:t>
            </a:r>
          </a:p>
        </p:txBody>
      </p:sp>
      <p:graphicFrame>
        <p:nvGraphicFramePr>
          <p:cNvPr id="1085454" name="Object 14"/>
          <p:cNvGraphicFramePr>
            <a:graphicFrameLocks noChangeAspect="1"/>
          </p:cNvGraphicFramePr>
          <p:nvPr/>
        </p:nvGraphicFramePr>
        <p:xfrm>
          <a:off x="8077200" y="2667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3" name="Equation" r:id="rId12" imgW="368280" imgH="304560" progId="Equation.3">
                  <p:embed/>
                </p:oleObj>
              </mc:Choice>
              <mc:Fallback>
                <p:oleObj name="Equation" r:id="rId12" imgW="368280" imgH="304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667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55" name="Object 15"/>
          <p:cNvGraphicFramePr>
            <a:graphicFrameLocks noChangeAspect="1"/>
          </p:cNvGraphicFramePr>
          <p:nvPr/>
        </p:nvGraphicFramePr>
        <p:xfrm>
          <a:off x="5715000" y="41910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4" name="Equation" r:id="rId14" imgW="545760" imgH="393480" progId="Equation.3">
                  <p:embed/>
                </p:oleObj>
              </mc:Choice>
              <mc:Fallback>
                <p:oleObj name="Equation" r:id="rId14" imgW="545760" imgH="393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1910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56" name="Text Box 16"/>
          <p:cNvSpPr txBox="1">
            <a:spLocks noChangeArrowheads="1"/>
          </p:cNvSpPr>
          <p:nvPr/>
        </p:nvSpPr>
        <p:spPr bwMode="auto">
          <a:xfrm>
            <a:off x="6324600" y="3810000"/>
            <a:ext cx="16573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doesn’t </a:t>
            </a:r>
          </a:p>
          <a:p>
            <a:r>
              <a:rPr lang="en-US"/>
              <a:t>halt on</a:t>
            </a:r>
          </a:p>
        </p:txBody>
      </p:sp>
      <p:graphicFrame>
        <p:nvGraphicFramePr>
          <p:cNvPr id="1085457" name="Object 17"/>
          <p:cNvGraphicFramePr>
            <a:graphicFrameLocks noChangeAspect="1"/>
          </p:cNvGraphicFramePr>
          <p:nvPr/>
        </p:nvGraphicFramePr>
        <p:xfrm>
          <a:off x="8001000" y="4191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5" name="Equation" r:id="rId15" imgW="368280" imgH="304560" progId="Equation.3">
                  <p:embed/>
                </p:oleObj>
              </mc:Choice>
              <mc:Fallback>
                <p:oleObj name="Equation" r:id="rId15" imgW="368280" imgH="30456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4191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58" name="Line 18"/>
          <p:cNvSpPr>
            <a:spLocks noChangeShapeType="1"/>
          </p:cNvSpPr>
          <p:nvPr/>
        </p:nvSpPr>
        <p:spPr bwMode="auto">
          <a:xfrm>
            <a:off x="3752850" y="4038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85459" name="Text Box 19"/>
          <p:cNvSpPr txBox="1">
            <a:spLocks noChangeArrowheads="1"/>
          </p:cNvSpPr>
          <p:nvPr/>
        </p:nvSpPr>
        <p:spPr bwMode="auto">
          <a:xfrm>
            <a:off x="4419600" y="38100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85460" name="Rectangle 20"/>
          <p:cNvSpPr>
            <a:spLocks noChangeArrowheads="1"/>
          </p:cNvSpPr>
          <p:nvPr/>
        </p:nvSpPr>
        <p:spPr bwMode="auto">
          <a:xfrm>
            <a:off x="5638800" y="2362200"/>
            <a:ext cx="2971800" cy="762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5461" name="Rectangle 21"/>
          <p:cNvSpPr>
            <a:spLocks noChangeArrowheads="1"/>
          </p:cNvSpPr>
          <p:nvPr/>
        </p:nvSpPr>
        <p:spPr bwMode="auto">
          <a:xfrm>
            <a:off x="5638800" y="3733800"/>
            <a:ext cx="2819400" cy="1295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311095-8595-49D8-B2E7-21D52950A057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033218" name="Text Box 2"/>
          <p:cNvSpPr txBox="1">
            <a:spLocks noChangeArrowheads="1"/>
          </p:cNvSpPr>
          <p:nvPr/>
        </p:nvSpPr>
        <p:spPr bwMode="auto">
          <a:xfrm>
            <a:off x="0" y="381000"/>
            <a:ext cx="8939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 be a recursively enumerable language </a:t>
            </a:r>
          </a:p>
        </p:txBody>
      </p:sp>
      <p:graphicFrame>
        <p:nvGraphicFramePr>
          <p:cNvPr id="1105920" name="Object 0"/>
          <p:cNvGraphicFramePr>
            <a:graphicFrameLocks noChangeAspect="1"/>
          </p:cNvGraphicFramePr>
          <p:nvPr/>
        </p:nvGraphicFramePr>
        <p:xfrm>
          <a:off x="1066800" y="3810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25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10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220" name="Text Box 4"/>
          <p:cNvSpPr txBox="1">
            <a:spLocks noChangeArrowheads="1"/>
          </p:cNvSpPr>
          <p:nvPr/>
        </p:nvSpPr>
        <p:spPr bwMode="auto">
          <a:xfrm>
            <a:off x="0" y="1371600"/>
            <a:ext cx="8594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 be the Turing Machine that accepts</a:t>
            </a:r>
          </a:p>
        </p:txBody>
      </p:sp>
      <p:graphicFrame>
        <p:nvGraphicFramePr>
          <p:cNvPr id="1105921" name="Object 1"/>
          <p:cNvGraphicFramePr>
            <a:graphicFrameLocks noChangeAspect="1"/>
          </p:cNvGraphicFramePr>
          <p:nvPr/>
        </p:nvGraphicFramePr>
        <p:xfrm>
          <a:off x="990600" y="1447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26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447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22" name="Object 2"/>
          <p:cNvGraphicFramePr>
            <a:graphicFrameLocks noChangeAspect="1"/>
          </p:cNvGraphicFramePr>
          <p:nvPr/>
        </p:nvGraphicFramePr>
        <p:xfrm>
          <a:off x="8610600" y="14478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27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14478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223" name="Text Box 7"/>
          <p:cNvSpPr txBox="1">
            <a:spLocks noChangeArrowheads="1"/>
          </p:cNvSpPr>
          <p:nvPr/>
        </p:nvSpPr>
        <p:spPr bwMode="auto">
          <a:xfrm>
            <a:off x="228600" y="4267200"/>
            <a:ext cx="7962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We will prove that        is also recursive:</a:t>
            </a:r>
            <a:r>
              <a:rPr lang="en-US"/>
              <a:t> </a:t>
            </a:r>
          </a:p>
        </p:txBody>
      </p:sp>
      <p:graphicFrame>
        <p:nvGraphicFramePr>
          <p:cNvPr id="1105923" name="Object 3"/>
          <p:cNvGraphicFramePr>
            <a:graphicFrameLocks noChangeAspect="1"/>
          </p:cNvGraphicFramePr>
          <p:nvPr/>
        </p:nvGraphicFramePr>
        <p:xfrm>
          <a:off x="4178300" y="43307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28" name="Equation" r:id="rId9" imgW="330120" imgH="393480" progId="Equation.3">
                  <p:embed/>
                </p:oleObj>
              </mc:Choice>
              <mc:Fallback>
                <p:oleObj name="Equation" r:id="rId9" imgW="3301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43307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225" name="Text Box 9"/>
          <p:cNvSpPr txBox="1">
            <a:spLocks noChangeArrowheads="1"/>
          </p:cNvSpPr>
          <p:nvPr/>
        </p:nvSpPr>
        <p:spPr bwMode="auto">
          <a:xfrm>
            <a:off x="914400" y="5181600"/>
            <a:ext cx="74517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we will describe a Turing machine that</a:t>
            </a:r>
          </a:p>
          <a:p>
            <a:r>
              <a:rPr lang="en-US">
                <a:solidFill>
                  <a:srgbClr val="CC0099"/>
                </a:solidFill>
              </a:rPr>
              <a:t>accepts      and halts on any input</a:t>
            </a:r>
          </a:p>
        </p:txBody>
      </p:sp>
      <p:graphicFrame>
        <p:nvGraphicFramePr>
          <p:cNvPr id="1105924" name="Object 4"/>
          <p:cNvGraphicFramePr>
            <a:graphicFrameLocks noChangeAspect="1"/>
          </p:cNvGraphicFramePr>
          <p:nvPr/>
        </p:nvGraphicFramePr>
        <p:xfrm>
          <a:off x="2667000" y="58674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29" name="Equation" r:id="rId11" imgW="330120" imgH="393480" progId="Equation.3">
                  <p:embed/>
                </p:oleObj>
              </mc:Choice>
              <mc:Fallback>
                <p:oleObj name="Equation" r:id="rId11" imgW="33012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8674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3AD5AB-7268-4C79-A978-5058B7702F76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086469" name="Rectangle 5"/>
          <p:cNvSpPr>
            <a:spLocks noChangeArrowheads="1"/>
          </p:cNvSpPr>
          <p:nvPr/>
        </p:nvSpPr>
        <p:spPr bwMode="auto">
          <a:xfrm>
            <a:off x="1371600" y="1828800"/>
            <a:ext cx="30480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86470" name="Rectangle 6"/>
          <p:cNvSpPr>
            <a:spLocks noChangeArrowheads="1"/>
          </p:cNvSpPr>
          <p:nvPr/>
        </p:nvSpPr>
        <p:spPr bwMode="auto">
          <a:xfrm>
            <a:off x="3352800" y="3962400"/>
            <a:ext cx="26670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106944" name="Object 0"/>
          <p:cNvGraphicFramePr>
            <a:graphicFrameLocks noChangeAspect="1"/>
          </p:cNvGraphicFramePr>
          <p:nvPr/>
        </p:nvGraphicFramePr>
        <p:xfrm>
          <a:off x="1447800" y="25146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5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146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72" name="Text Box 8"/>
          <p:cNvSpPr txBox="1">
            <a:spLocks noChangeArrowheads="1"/>
          </p:cNvSpPr>
          <p:nvPr/>
        </p:nvSpPr>
        <p:spPr bwMode="auto">
          <a:xfrm>
            <a:off x="1905000" y="2438400"/>
            <a:ext cx="2624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 halts on     ?</a:t>
            </a:r>
          </a:p>
        </p:txBody>
      </p:sp>
      <p:graphicFrame>
        <p:nvGraphicFramePr>
          <p:cNvPr id="1106945" name="Object 1"/>
          <p:cNvGraphicFramePr>
            <a:graphicFrameLocks noChangeAspect="1"/>
          </p:cNvGraphicFramePr>
          <p:nvPr/>
        </p:nvGraphicFramePr>
        <p:xfrm>
          <a:off x="3733800" y="25908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6" name="Equation" r:id="rId5" imgW="368280" imgH="304560" progId="Equation.3">
                  <p:embed/>
                </p:oleObj>
              </mc:Choice>
              <mc:Fallback>
                <p:oleObj name="Equation" r:id="rId5" imgW="368280" imgH="304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908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75" name="Line 11"/>
          <p:cNvSpPr>
            <a:spLocks noChangeShapeType="1"/>
          </p:cNvSpPr>
          <p:nvPr/>
        </p:nvSpPr>
        <p:spPr bwMode="auto">
          <a:xfrm>
            <a:off x="91440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6476" name="Line 12"/>
          <p:cNvSpPr>
            <a:spLocks noChangeShapeType="1"/>
          </p:cNvSpPr>
          <p:nvPr/>
        </p:nvSpPr>
        <p:spPr bwMode="auto">
          <a:xfrm>
            <a:off x="381000" y="33528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6477" name="Line 13"/>
          <p:cNvSpPr>
            <a:spLocks noChangeShapeType="1"/>
          </p:cNvSpPr>
          <p:nvPr/>
        </p:nvSpPr>
        <p:spPr bwMode="auto">
          <a:xfrm>
            <a:off x="4419600" y="2057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6479" name="Text Box 15"/>
          <p:cNvSpPr txBox="1">
            <a:spLocks noChangeArrowheads="1"/>
          </p:cNvSpPr>
          <p:nvPr/>
        </p:nvSpPr>
        <p:spPr bwMode="auto">
          <a:xfrm>
            <a:off x="4572000" y="2895600"/>
            <a:ext cx="979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086480" name="Text Box 16"/>
          <p:cNvSpPr txBox="1">
            <a:spLocks noChangeArrowheads="1"/>
          </p:cNvSpPr>
          <p:nvPr/>
        </p:nvSpPr>
        <p:spPr bwMode="auto">
          <a:xfrm>
            <a:off x="4572000" y="1600200"/>
            <a:ext cx="831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  <p:graphicFrame>
        <p:nvGraphicFramePr>
          <p:cNvPr id="1106946" name="Object 2"/>
          <p:cNvGraphicFramePr>
            <a:graphicFrameLocks noChangeAspect="1"/>
          </p:cNvGraphicFramePr>
          <p:nvPr/>
        </p:nvGraphicFramePr>
        <p:xfrm>
          <a:off x="762000" y="15240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7" name="Equation" r:id="rId7" imgW="545760" imgH="393480" progId="Equation.3">
                  <p:embed/>
                </p:oleObj>
              </mc:Choice>
              <mc:Fallback>
                <p:oleObj name="Equation" r:id="rId7" imgW="5457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0"/>
                        <a:ext cx="546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47" name="Object 3"/>
          <p:cNvGraphicFramePr>
            <a:graphicFrameLocks noChangeAspect="1"/>
          </p:cNvGraphicFramePr>
          <p:nvPr/>
        </p:nvGraphicFramePr>
        <p:xfrm>
          <a:off x="0" y="32004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8" name="Equation" r:id="rId9" imgW="368280" imgH="304560" progId="Equation.3">
                  <p:embed/>
                </p:oleObj>
              </mc:Choice>
              <mc:Fallback>
                <p:oleObj name="Equation" r:id="rId9" imgW="368280" imgH="3045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004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83" name="Freeform 19"/>
          <p:cNvSpPr>
            <a:spLocks/>
          </p:cNvSpPr>
          <p:nvPr/>
        </p:nvSpPr>
        <p:spPr bwMode="auto">
          <a:xfrm>
            <a:off x="4419600" y="3352800"/>
            <a:ext cx="1143000" cy="609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04" y="0"/>
              </a:cxn>
              <a:cxn ang="0">
                <a:pos x="1104" y="480"/>
              </a:cxn>
            </a:cxnLst>
            <a:rect l="0" t="0" r="r" b="b"/>
            <a:pathLst>
              <a:path w="1104" h="480">
                <a:moveTo>
                  <a:pt x="0" y="0"/>
                </a:moveTo>
                <a:lnTo>
                  <a:pt x="1104" y="0"/>
                </a:lnTo>
                <a:lnTo>
                  <a:pt x="1104" y="48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6484" name="Text Box 20"/>
          <p:cNvSpPr txBox="1">
            <a:spLocks noChangeArrowheads="1"/>
          </p:cNvSpPr>
          <p:nvPr/>
        </p:nvSpPr>
        <p:spPr bwMode="auto">
          <a:xfrm>
            <a:off x="3429000" y="4419600"/>
            <a:ext cx="20732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Run      </a:t>
            </a:r>
          </a:p>
          <a:p>
            <a:r>
              <a:rPr lang="en-US"/>
              <a:t>with input</a:t>
            </a:r>
          </a:p>
        </p:txBody>
      </p:sp>
      <p:graphicFrame>
        <p:nvGraphicFramePr>
          <p:cNvPr id="1106948" name="Object 4"/>
          <p:cNvGraphicFramePr>
            <a:graphicFrameLocks noChangeAspect="1"/>
          </p:cNvGraphicFramePr>
          <p:nvPr/>
        </p:nvGraphicFramePr>
        <p:xfrm>
          <a:off x="4435475" y="44704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9" name="Equation" r:id="rId11" imgW="545760" imgH="393480" progId="Equation.3">
                  <p:embed/>
                </p:oleObj>
              </mc:Choice>
              <mc:Fallback>
                <p:oleObj name="Equation" r:id="rId11" imgW="5457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4470400"/>
                        <a:ext cx="546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49" name="Object 5"/>
          <p:cNvGraphicFramePr>
            <a:graphicFrameLocks noChangeAspect="1"/>
          </p:cNvGraphicFramePr>
          <p:nvPr/>
        </p:nvGraphicFramePr>
        <p:xfrm>
          <a:off x="5502275" y="51562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60" name="Equation" r:id="rId13" imgW="368280" imgH="304560" progId="Equation.3">
                  <p:embed/>
                </p:oleObj>
              </mc:Choice>
              <mc:Fallback>
                <p:oleObj name="Equation" r:id="rId13" imgW="368280" imgH="304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51562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50" name="Object 6"/>
          <p:cNvGraphicFramePr>
            <a:graphicFrameLocks noChangeAspect="1"/>
          </p:cNvGraphicFramePr>
          <p:nvPr/>
        </p:nvGraphicFramePr>
        <p:xfrm>
          <a:off x="2819400" y="1371600"/>
          <a:ext cx="48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61" name="Equation" r:id="rId14" imgW="482400" imgH="393480" progId="Equation.3">
                  <p:embed/>
                </p:oleObj>
              </mc:Choice>
              <mc:Fallback>
                <p:oleObj name="Equation" r:id="rId14" imgW="48240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371600"/>
                        <a:ext cx="482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89" name="Text Box 25"/>
          <p:cNvSpPr txBox="1">
            <a:spLocks noChangeArrowheads="1"/>
          </p:cNvSpPr>
          <p:nvPr/>
        </p:nvSpPr>
        <p:spPr bwMode="auto">
          <a:xfrm>
            <a:off x="5867400" y="1752600"/>
            <a:ext cx="1398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9900"/>
                </a:solidFill>
              </a:rPr>
              <a:t>reject</a:t>
            </a:r>
          </a:p>
        </p:txBody>
      </p:sp>
      <p:graphicFrame>
        <p:nvGraphicFramePr>
          <p:cNvPr id="1106951" name="Object 7"/>
          <p:cNvGraphicFramePr>
            <a:graphicFrameLocks noChangeAspect="1"/>
          </p:cNvGraphicFramePr>
          <p:nvPr/>
        </p:nvGraphicFramePr>
        <p:xfrm>
          <a:off x="7315200" y="1905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62" name="Equation" r:id="rId16" imgW="368280" imgH="304560" progId="Equation.3">
                  <p:embed/>
                </p:oleObj>
              </mc:Choice>
              <mc:Fallback>
                <p:oleObj name="Equation" r:id="rId16" imgW="368280" imgH="304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905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92" name="Line 28"/>
          <p:cNvSpPr>
            <a:spLocks noChangeShapeType="1"/>
          </p:cNvSpPr>
          <p:nvPr/>
        </p:nvSpPr>
        <p:spPr bwMode="auto">
          <a:xfrm>
            <a:off x="6019800" y="4267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86493" name="Line 29"/>
          <p:cNvSpPr>
            <a:spLocks noChangeShapeType="1"/>
          </p:cNvSpPr>
          <p:nvPr/>
        </p:nvSpPr>
        <p:spPr bwMode="auto">
          <a:xfrm>
            <a:off x="6019800" y="5638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86496" name="Text Box 32"/>
          <p:cNvSpPr txBox="1">
            <a:spLocks noChangeArrowheads="1"/>
          </p:cNvSpPr>
          <p:nvPr/>
        </p:nvSpPr>
        <p:spPr bwMode="auto">
          <a:xfrm>
            <a:off x="6400800" y="3657600"/>
            <a:ext cx="1465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9900"/>
                </a:solidFill>
              </a:rPr>
              <a:t>accept</a:t>
            </a:r>
          </a:p>
        </p:txBody>
      </p:sp>
      <p:graphicFrame>
        <p:nvGraphicFramePr>
          <p:cNvPr id="1106952" name="Object 8"/>
          <p:cNvGraphicFramePr>
            <a:graphicFrameLocks noChangeAspect="1"/>
          </p:cNvGraphicFramePr>
          <p:nvPr/>
        </p:nvGraphicFramePr>
        <p:xfrm>
          <a:off x="7912100" y="38100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63" name="Equation" r:id="rId17" imgW="368280" imgH="304560" progId="Equation.3">
                  <p:embed/>
                </p:oleObj>
              </mc:Choice>
              <mc:Fallback>
                <p:oleObj name="Equation" r:id="rId17" imgW="36828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0" y="38100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500" name="Text Box 36"/>
          <p:cNvSpPr txBox="1">
            <a:spLocks noChangeArrowheads="1"/>
          </p:cNvSpPr>
          <p:nvPr/>
        </p:nvSpPr>
        <p:spPr bwMode="auto">
          <a:xfrm>
            <a:off x="6400800" y="5029200"/>
            <a:ext cx="1398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9900"/>
                </a:solidFill>
              </a:rPr>
              <a:t>reject</a:t>
            </a:r>
          </a:p>
        </p:txBody>
      </p:sp>
      <p:graphicFrame>
        <p:nvGraphicFramePr>
          <p:cNvPr id="1106953" name="Object 9"/>
          <p:cNvGraphicFramePr>
            <a:graphicFrameLocks noChangeAspect="1"/>
          </p:cNvGraphicFramePr>
          <p:nvPr/>
        </p:nvGraphicFramePr>
        <p:xfrm>
          <a:off x="7835900" y="51816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64" name="Equation" r:id="rId18" imgW="368280" imgH="304560" progId="Equation.3">
                  <p:embed/>
                </p:oleObj>
              </mc:Choice>
              <mc:Fallback>
                <p:oleObj name="Equation" r:id="rId18" imgW="368280" imgH="304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900" y="51816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502" name="Text Box 38"/>
          <p:cNvSpPr txBox="1">
            <a:spLocks noChangeArrowheads="1"/>
          </p:cNvSpPr>
          <p:nvPr/>
        </p:nvSpPr>
        <p:spPr bwMode="auto">
          <a:xfrm>
            <a:off x="1660525" y="25400"/>
            <a:ext cx="56213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 that accepts</a:t>
            </a:r>
          </a:p>
          <a:p>
            <a:r>
              <a:rPr lang="en-US">
                <a:solidFill>
                  <a:srgbClr val="CC0099"/>
                </a:solidFill>
              </a:rPr>
              <a:t>and halts on any input</a:t>
            </a:r>
          </a:p>
        </p:txBody>
      </p:sp>
      <p:graphicFrame>
        <p:nvGraphicFramePr>
          <p:cNvPr id="1106954" name="Object 10"/>
          <p:cNvGraphicFramePr>
            <a:graphicFrameLocks noChangeAspect="1"/>
          </p:cNvGraphicFramePr>
          <p:nvPr/>
        </p:nvGraphicFramePr>
        <p:xfrm>
          <a:off x="7391400" y="152400"/>
          <a:ext cx="33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65" name="Equation" r:id="rId19" imgW="330120" imgH="393480" progId="Equation.3">
                  <p:embed/>
                </p:oleObj>
              </mc:Choice>
              <mc:Fallback>
                <p:oleObj name="Equation" r:id="rId19" imgW="330120" imgH="393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52400"/>
                        <a:ext cx="330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504" name="Text Box 40"/>
          <p:cNvSpPr txBox="1">
            <a:spLocks noChangeArrowheads="1"/>
          </p:cNvSpPr>
          <p:nvPr/>
        </p:nvSpPr>
        <p:spPr bwMode="auto">
          <a:xfrm>
            <a:off x="6019800" y="4267200"/>
            <a:ext cx="2936875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2"/>
                </a:solidFill>
              </a:rPr>
              <a:t>Halts on final state</a:t>
            </a:r>
          </a:p>
        </p:txBody>
      </p:sp>
      <p:sp>
        <p:nvSpPr>
          <p:cNvPr id="1086505" name="Rectangle 41"/>
          <p:cNvSpPr>
            <a:spLocks noChangeArrowheads="1"/>
          </p:cNvSpPr>
          <p:nvPr/>
        </p:nvSpPr>
        <p:spPr bwMode="auto">
          <a:xfrm>
            <a:off x="6096000" y="5638800"/>
            <a:ext cx="2789238" cy="895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2"/>
                </a:solidFill>
              </a:rPr>
              <a:t>Halts on non-final </a:t>
            </a:r>
          </a:p>
          <a:p>
            <a:r>
              <a:rPr lang="en-US" sz="2400">
                <a:solidFill>
                  <a:schemeClr val="bg2"/>
                </a:solidFill>
              </a:rPr>
              <a:t>state</a:t>
            </a:r>
          </a:p>
        </p:txBody>
      </p:sp>
      <p:sp>
        <p:nvSpPr>
          <p:cNvPr id="1086506" name="Rectangle 42"/>
          <p:cNvSpPr>
            <a:spLocks noChangeArrowheads="1"/>
          </p:cNvSpPr>
          <p:nvPr/>
        </p:nvSpPr>
        <p:spPr bwMode="auto">
          <a:xfrm>
            <a:off x="609600" y="1219200"/>
            <a:ext cx="8305800" cy="5257800"/>
          </a:xfrm>
          <a:prstGeom prst="rect">
            <a:avLst/>
          </a:prstGeom>
          <a:noFill/>
          <a:ln w="38100">
            <a:solidFill>
              <a:srgbClr val="CC0099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3FEB18-B80E-4D76-AAC7-74615714B56D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035266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2173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/>
              <a:t>Therefore</a:t>
            </a:r>
          </a:p>
        </p:txBody>
      </p:sp>
      <p:graphicFrame>
        <p:nvGraphicFramePr>
          <p:cNvPr id="1107968" name="Object 0"/>
          <p:cNvGraphicFramePr>
            <a:graphicFrameLocks noChangeAspect="1"/>
          </p:cNvGraphicFramePr>
          <p:nvPr/>
        </p:nvGraphicFramePr>
        <p:xfrm>
          <a:off x="2819400" y="3810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970" name="Equation" r:id="rId3" imgW="330120" imgH="393480" progId="Equation.3">
                  <p:embed/>
                </p:oleObj>
              </mc:Choice>
              <mc:Fallback>
                <p:oleObj name="Equation" r:id="rId3" imgW="33012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10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270" name="Text Box 6"/>
          <p:cNvSpPr txBox="1">
            <a:spLocks noChangeArrowheads="1"/>
          </p:cNvSpPr>
          <p:nvPr/>
        </p:nvSpPr>
        <p:spPr bwMode="auto">
          <a:xfrm>
            <a:off x="3429000" y="3048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recursive</a:t>
            </a:r>
          </a:p>
        </p:txBody>
      </p:sp>
      <p:sp>
        <p:nvSpPr>
          <p:cNvPr id="1035271" name="Text Box 7"/>
          <p:cNvSpPr txBox="1">
            <a:spLocks noChangeArrowheads="1"/>
          </p:cNvSpPr>
          <p:nvPr/>
        </p:nvSpPr>
        <p:spPr bwMode="auto">
          <a:xfrm>
            <a:off x="381000" y="4038600"/>
            <a:ext cx="72755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But there are recursively enumerable</a:t>
            </a:r>
          </a:p>
          <a:p>
            <a:r>
              <a:rPr lang="en-US"/>
              <a:t>languages which are not recursive</a:t>
            </a:r>
          </a:p>
        </p:txBody>
      </p:sp>
      <p:sp>
        <p:nvSpPr>
          <p:cNvPr id="1035272" name="Text Box 8"/>
          <p:cNvSpPr txBox="1">
            <a:spLocks noChangeArrowheads="1"/>
          </p:cNvSpPr>
          <p:nvPr/>
        </p:nvSpPr>
        <p:spPr bwMode="auto">
          <a:xfrm>
            <a:off x="457200" y="5715000"/>
            <a:ext cx="3157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Contradiction!!!!</a:t>
            </a:r>
          </a:p>
        </p:txBody>
      </p:sp>
      <p:sp>
        <p:nvSpPr>
          <p:cNvPr id="1035275" name="Text Box 11"/>
          <p:cNvSpPr txBox="1">
            <a:spLocks noChangeArrowheads="1"/>
          </p:cNvSpPr>
          <p:nvPr/>
        </p:nvSpPr>
        <p:spPr bwMode="auto">
          <a:xfrm>
            <a:off x="381000" y="1600200"/>
            <a:ext cx="73231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Since       is chosen arbitrarily, every </a:t>
            </a:r>
          </a:p>
          <a:p>
            <a:r>
              <a:rPr lang="en-US"/>
              <a:t>recursively enumerable language </a:t>
            </a:r>
          </a:p>
          <a:p>
            <a:r>
              <a:rPr lang="en-US"/>
              <a:t>is also recursive </a:t>
            </a:r>
          </a:p>
        </p:txBody>
      </p:sp>
      <p:graphicFrame>
        <p:nvGraphicFramePr>
          <p:cNvPr id="1107969" name="Object 1"/>
          <p:cNvGraphicFramePr>
            <a:graphicFrameLocks noChangeAspect="1"/>
          </p:cNvGraphicFramePr>
          <p:nvPr/>
        </p:nvGraphicFramePr>
        <p:xfrm>
          <a:off x="1768475" y="1651000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971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1651000"/>
                        <a:ext cx="3286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F12B61-0247-49B0-99BC-36F00D7F36D4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093639" name="Text Box 7"/>
          <p:cNvSpPr txBox="1">
            <a:spLocks noChangeArrowheads="1"/>
          </p:cNvSpPr>
          <p:nvPr/>
        </p:nvSpPr>
        <p:spPr bwMode="auto">
          <a:xfrm>
            <a:off x="0" y="2133600"/>
            <a:ext cx="8894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Therefore, the halting problem is undecidable</a:t>
            </a:r>
          </a:p>
        </p:txBody>
      </p:sp>
      <p:sp>
        <p:nvSpPr>
          <p:cNvPr id="1093640" name="Text Box 8"/>
          <p:cNvSpPr txBox="1">
            <a:spLocks noChangeArrowheads="1"/>
          </p:cNvSpPr>
          <p:nvPr/>
        </p:nvSpPr>
        <p:spPr bwMode="auto">
          <a:xfrm>
            <a:off x="3200400" y="6019800"/>
            <a:ext cx="24701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9933"/>
                </a:solidFill>
              </a:rPr>
              <a:t>END OF PROOF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8348</TotalTime>
  <Words>916</Words>
  <Application>Microsoft Office PowerPoint</Application>
  <PresentationFormat>On-screen Show (4:3)</PresentationFormat>
  <Paragraphs>289</Paragraphs>
  <Slides>47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Comic Sans MS</vt:lpstr>
      <vt:lpstr>Times New Roman</vt:lpstr>
      <vt:lpstr>class</vt:lpstr>
      <vt:lpstr>Equation</vt:lpstr>
      <vt:lpstr>Linear Bounded Automata LBAs Chomsky Hierarchy</vt:lpstr>
      <vt:lpstr>PowerPoint Presentation</vt:lpstr>
      <vt:lpstr>PowerPoint Presentation</vt:lpstr>
      <vt:lpstr>PowerPoint Presentation</vt:lpstr>
      <vt:lpstr>PowerPoint Presentation</vt:lpstr>
      <vt:lpstr>The Chomsky Hierarchy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Limits of Algorithmic Computation ----- Decidability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Naidjate, Madani</cp:lastModifiedBy>
  <cp:revision>1874</cp:revision>
  <cp:lastPrinted>2000-11-02T16:11:14Z</cp:lastPrinted>
  <dcterms:created xsi:type="dcterms:W3CDTF">2000-08-31T01:12:33Z</dcterms:created>
  <dcterms:modified xsi:type="dcterms:W3CDTF">2016-12-05T03:47:07Z</dcterms:modified>
</cp:coreProperties>
</file>