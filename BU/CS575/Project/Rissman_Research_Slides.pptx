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8" r:id="rId1"/>
  </p:sldMasterIdLst>
  <p:sldIdLst>
    <p:sldId id="256" r:id="rId2"/>
    <p:sldId id="257" r:id="rId3"/>
    <p:sldId id="264" r:id="rId4"/>
    <p:sldId id="259" r:id="rId5"/>
    <p:sldId id="271" r:id="rId6"/>
    <p:sldId id="258" r:id="rId7"/>
    <p:sldId id="265" r:id="rId8"/>
    <p:sldId id="266" r:id="rId9"/>
    <p:sldId id="267" r:id="rId10"/>
    <p:sldId id="268" r:id="rId11"/>
    <p:sldId id="269" r:id="rId12"/>
    <p:sldId id="270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25"/>
  </p:normalViewPr>
  <p:slideViewPr>
    <p:cSldViewPr snapToGrid="0">
      <p:cViewPr>
        <p:scale>
          <a:sx n="95" d="100"/>
          <a:sy n="95" d="100"/>
        </p:scale>
        <p:origin x="124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1F5B-A3E8-904B-8D2B-A7AD96B97DE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B7DA-AE4C-7345-A0B6-0723D5E3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9831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1F5B-A3E8-904B-8D2B-A7AD96B97DE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B7DA-AE4C-7345-A0B6-0723D5E3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412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1F5B-A3E8-904B-8D2B-A7AD96B97DE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B7DA-AE4C-7345-A0B6-0723D5E3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4465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1F5B-A3E8-904B-8D2B-A7AD96B97DE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B7DA-AE4C-7345-A0B6-0723D5E3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0201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1F5B-A3E8-904B-8D2B-A7AD96B97DE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B7DA-AE4C-7345-A0B6-0723D5E3A1BB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87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1F5B-A3E8-904B-8D2B-A7AD96B97DE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B7DA-AE4C-7345-A0B6-0723D5E3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3123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1F5B-A3E8-904B-8D2B-A7AD96B97DE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B7DA-AE4C-7345-A0B6-0723D5E3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453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1F5B-A3E8-904B-8D2B-A7AD96B97DE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B7DA-AE4C-7345-A0B6-0723D5E3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496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F4E31F5B-A3E8-904B-8D2B-A7AD96B97DE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B7DA-AE4C-7345-A0B6-0723D5E3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2071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1F5B-A3E8-904B-8D2B-A7AD96B97DE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B7DA-AE4C-7345-A0B6-0723D5E3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476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E31F5B-A3E8-904B-8D2B-A7AD96B97DE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2EB7DA-AE4C-7345-A0B6-0723D5E3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74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F4E31F5B-A3E8-904B-8D2B-A7AD96B97DE2}" type="datetimeFigureOut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1A2EB7DA-AE4C-7345-A0B6-0723D5E3A1B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3963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JGlVL1sQQoE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D35299-EC0A-1B87-60C4-E9EECA397E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spcAft>
                <a:spcPts val="1800"/>
              </a:spcAft>
            </a:pPr>
            <a:r>
              <a:rPr lang="en-US" sz="4000" dirty="0"/>
              <a:t>Priority Inversion in Real-Time Operating Systems</a:t>
            </a:r>
            <a:br>
              <a:rPr lang="en-US" dirty="0"/>
            </a:br>
            <a:r>
              <a:rPr lang="en-US" sz="1800" dirty="0"/>
              <a:t>Advances in Secure Scheduling for Real-Time Environments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49B071-5DA1-AD96-1E81-B8E0FBA446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4" y="4352543"/>
            <a:ext cx="6801612" cy="1645919"/>
          </a:xfrm>
        </p:spPr>
        <p:txBody>
          <a:bodyPr>
            <a:normAutofit lnSpcReduction="10000"/>
          </a:bodyPr>
          <a:lstStyle/>
          <a:p>
            <a:r>
              <a:rPr lang="en-US" dirty="0"/>
              <a:t>Joseph Rissman</a:t>
            </a:r>
          </a:p>
          <a:p>
            <a:r>
              <a:rPr lang="en-US" dirty="0"/>
              <a:t>CS575 Operating Systems</a:t>
            </a:r>
          </a:p>
          <a:p>
            <a:r>
              <a:rPr lang="en-US" dirty="0"/>
              <a:t>April 29</a:t>
            </a:r>
            <a:r>
              <a:rPr lang="en-US" baseline="30000" dirty="0"/>
              <a:t>th</a:t>
            </a:r>
            <a:r>
              <a:rPr lang="en-US" dirty="0"/>
              <a:t>, 2025</a:t>
            </a:r>
          </a:p>
          <a:p>
            <a:r>
              <a:rPr lang="en-US" dirty="0"/>
              <a:t>Video Presentation: </a:t>
            </a: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US" dirty="0" err="1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youtu.be</a:t>
            </a:r>
            <a:r>
              <a:rPr lang="en-US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/JGlVL1sQQoE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66407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E8D8E-8C9F-0C0E-1A1F-9E51C4700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/>
              <a:t>Understanding Real Time Systems and Priority Inversion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533653-C94A-2B4B-CFCE-67770E964B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Real time systems require tasks to complete by strict deadlines for correct operation.</a:t>
            </a:r>
          </a:p>
          <a:p>
            <a:r>
              <a:rPr lang="en-US" dirty="0"/>
              <a:t>Common scheduling methods like RMS and DDS use task priorities to manage execution.</a:t>
            </a:r>
          </a:p>
          <a:p>
            <a:r>
              <a:rPr lang="en-US" dirty="0"/>
              <a:t>Priority inversion is a problem where a high priority task is delayed by a lower priority task.</a:t>
            </a:r>
          </a:p>
          <a:p>
            <a:r>
              <a:rPr lang="en-US" dirty="0"/>
              <a:t>Often occurs when tasks compete for shared resources managed using synchronization tools like semaphores or locks.</a:t>
            </a:r>
          </a:p>
          <a:p>
            <a:r>
              <a:rPr lang="en-US" dirty="0"/>
              <a:t>These tools can cause blocking where a high priority task must wait for a lower priority task to release a resource.</a:t>
            </a:r>
          </a:p>
        </p:txBody>
      </p:sp>
    </p:spTree>
    <p:extLst>
      <p:ext uri="{BB962C8B-B14F-4D97-AF65-F5344CB8AC3E}">
        <p14:creationId xmlns:p14="http://schemas.microsoft.com/office/powerpoint/2010/main" val="16148770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A035F-EB95-028B-EAD2-FCED960FA2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/>
              <a:t>The Risks and Impacts of Unbounded Priority Inversion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8E15C-E4D2-F54F-B81C-0F76EB6BB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Unbounded priority inversion occurs when blocking duration is unpredictable.</a:t>
            </a:r>
          </a:p>
          <a:p>
            <a:r>
              <a:rPr lang="en-US" dirty="0"/>
              <a:t>A high priority task can be blocked by intermediate priority tasks that do not share resource resources, which extends the high priority task's waiting time unexpectedly.</a:t>
            </a:r>
          </a:p>
          <a:p>
            <a:r>
              <a:rPr lang="en-US" dirty="0"/>
              <a:t>This uncontrolled blocking seriously harms system performance and predictability.</a:t>
            </a:r>
          </a:p>
          <a:p>
            <a:r>
              <a:rPr lang="en-US" dirty="0"/>
              <a:t>High priority tasks might miss critical deadlines even if the system is not busy.</a:t>
            </a:r>
          </a:p>
        </p:txBody>
      </p:sp>
    </p:spTree>
    <p:extLst>
      <p:ext uri="{BB962C8B-B14F-4D97-AF65-F5344CB8AC3E}">
        <p14:creationId xmlns:p14="http://schemas.microsoft.com/office/powerpoint/2010/main" val="2721730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9557C7-E992-DAFF-1A90-533353AABB90}"/>
              </a:ext>
            </a:extLst>
          </p:cNvPr>
          <p:cNvSpPr txBox="1">
            <a:spLocks/>
          </p:cNvSpPr>
          <p:nvPr/>
        </p:nvSpPr>
        <p:spPr bwMode="black">
          <a:xfrm>
            <a:off x="2231136" y="2559771"/>
            <a:ext cx="7729728" cy="3810547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8A9BE8-7798-CE23-A9CC-9D769E188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Unbounded Priority Inversion</a:t>
            </a:r>
          </a:p>
        </p:txBody>
      </p:sp>
      <p:pic>
        <p:nvPicPr>
          <p:cNvPr id="5" name="Content Placeholder 4" descr="A diagram of a task&#10;&#10;AI-generated content may be incorrect.">
            <a:extLst>
              <a:ext uri="{FF2B5EF4-FFF2-40B4-BE49-F238E27FC236}">
                <a16:creationId xmlns:a16="http://schemas.microsoft.com/office/drawing/2014/main" id="{48752EF3-2A06-FCC6-282E-B54BAA7737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1395" t="7555" r="1183" b="12808"/>
          <a:stretch/>
        </p:blipFill>
        <p:spPr>
          <a:xfrm>
            <a:off x="2356701" y="2745739"/>
            <a:ext cx="7478598" cy="3438609"/>
          </a:xfrm>
          <a:ln w="31750">
            <a:noFill/>
          </a:ln>
        </p:spPr>
      </p:pic>
    </p:spTree>
    <p:extLst>
      <p:ext uri="{BB962C8B-B14F-4D97-AF65-F5344CB8AC3E}">
        <p14:creationId xmlns:p14="http://schemas.microsoft.com/office/powerpoint/2010/main" val="40563532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07792-A826-EDE6-46BB-9A895D902F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/>
              <a:t>Foundational Techniques to Address Priority Inversion in Real-time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F17CA-04CA-183D-BA53-1E81D3CAF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protocols aim to minimize and bound priority inversion blocking times.   </a:t>
            </a:r>
          </a:p>
          <a:p>
            <a:r>
              <a:rPr lang="en-US" dirty="0"/>
              <a:t>The Priority Inheritance Protocol or PIP is one common approach.   </a:t>
            </a:r>
          </a:p>
          <a:p>
            <a:r>
              <a:rPr lang="en-US" dirty="0"/>
              <a:t>With PIP, a lower priority task holding a needed resource temporarily inherits the higher priority of the task it is blocking.   </a:t>
            </a:r>
          </a:p>
          <a:p>
            <a:r>
              <a:rPr lang="en-US" dirty="0"/>
              <a:t>This inheritance prevents medium priority tasks from delaying the release of the resource.   </a:t>
            </a:r>
          </a:p>
          <a:p>
            <a:r>
              <a:rPr lang="en-US" dirty="0"/>
              <a:t>Other related methods like the Priority Ceiling Protocol also help manage resource contention but are not explored further here.</a:t>
            </a:r>
          </a:p>
        </p:txBody>
      </p:sp>
    </p:spTree>
    <p:extLst>
      <p:ext uri="{BB962C8B-B14F-4D97-AF65-F5344CB8AC3E}">
        <p14:creationId xmlns:p14="http://schemas.microsoft.com/office/powerpoint/2010/main" val="3301307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20CD606E-172D-3D80-9327-60A90D61CA6A}"/>
              </a:ext>
            </a:extLst>
          </p:cNvPr>
          <p:cNvSpPr txBox="1">
            <a:spLocks/>
          </p:cNvSpPr>
          <p:nvPr/>
        </p:nvSpPr>
        <p:spPr bwMode="black">
          <a:xfrm>
            <a:off x="2231136" y="2559771"/>
            <a:ext cx="7729728" cy="3810547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 cap="all" spc="200" baseline="0">
                <a:solidFill>
                  <a:srgbClr val="262626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582EC8-9059-B0F5-7131-D05BBAD1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Priority Inheritance Protocol (PIP)</a:t>
            </a:r>
          </a:p>
        </p:txBody>
      </p:sp>
      <p:pic>
        <p:nvPicPr>
          <p:cNvPr id="15" name="Content Placeholder 14" descr="A diagram of a task&#10;&#10;AI-generated content may be incorrect.">
            <a:extLst>
              <a:ext uri="{FF2B5EF4-FFF2-40B4-BE49-F238E27FC236}">
                <a16:creationId xmlns:a16="http://schemas.microsoft.com/office/drawing/2014/main" id="{A20B74A1-06CE-788D-71C0-AB2B229C48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t="8515" b="15619"/>
          <a:stretch/>
        </p:blipFill>
        <p:spPr>
          <a:xfrm>
            <a:off x="2294909" y="2842935"/>
            <a:ext cx="7602181" cy="3244217"/>
          </a:xfrm>
        </p:spPr>
      </p:pic>
    </p:spTree>
    <p:extLst>
      <p:ext uri="{BB962C8B-B14F-4D97-AF65-F5344CB8AC3E}">
        <p14:creationId xmlns:p14="http://schemas.microsoft.com/office/powerpoint/2010/main" val="25577478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C0E03-C5DF-96F0-4FBB-EC78C2D876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/>
              <a:t>Timing Channels and Side Channel Attack Vulnerabilities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9A2F0B-287B-9854-032D-6E6E905FB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Predictable scheduling in real time systems creates security risks.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Attackers exploit timing patterns to infer sensitive system information or disrupt tasks.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Timing side channels allow attackers to learn about task schedules by observing execution intervals or preemptions.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/>
              <a:t>Priority inversion events and resource contention contribute to the timing variations that these attacks exploit.</a:t>
            </a:r>
            <a:endParaRPr lang="en-US" dirty="0">
              <a:effectLst/>
            </a:endParaRPr>
          </a:p>
          <a:p>
            <a:pPr rtl="0">
              <a:buFont typeface="Arial" panose="020B0604020202020204" pitchFamily="34" charset="0"/>
              <a:buChar char="•"/>
            </a:pPr>
            <a:r>
              <a:rPr lang="en-US" dirty="0">
                <a:effectLst/>
              </a:rPr>
              <a:t>Covert timing channels represent another way hidden information can be communicated between system components.</a:t>
            </a:r>
          </a:p>
          <a:p>
            <a:pPr rtl="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8486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148A8-1138-FC39-EEE1-6573946B75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/>
              <a:t>Mitigation via Randomization for Covert Channels Using TimeDice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8282E-320E-6558-CCBD-EE7DE89782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TimeDice targets covert timing channels between system partitions.   </a:t>
            </a:r>
          </a:p>
          <a:p>
            <a:r>
              <a:rPr lang="en-US" dirty="0"/>
              <a:t>It introduces randomness into the partition scheduling process.   </a:t>
            </a:r>
          </a:p>
          <a:p>
            <a:r>
              <a:rPr lang="en-US" dirty="0"/>
              <a:t>At runtime it dynamically and randomly inverts the priorities of partitions.</a:t>
            </a:r>
          </a:p>
          <a:p>
            <a:r>
              <a:rPr lang="en-US" dirty="0"/>
              <a:t>This randomization includes checks to ensure real time deadlines are still met.   </a:t>
            </a:r>
          </a:p>
          <a:p>
            <a:r>
              <a:rPr lang="en-US" dirty="0"/>
              <a:t>The goal is to disrupt timing patterns making covert channels less effective.</a:t>
            </a:r>
          </a:p>
        </p:txBody>
      </p:sp>
    </p:spTree>
    <p:extLst>
      <p:ext uri="{BB962C8B-B14F-4D97-AF65-F5344CB8AC3E}">
        <p14:creationId xmlns:p14="http://schemas.microsoft.com/office/powerpoint/2010/main" val="2325958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7F8F-609C-21F4-59DA-DB33FC1DB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/>
              <a:t>Mitigation via Enhanced Randomization for Side Channels Using REORDER++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29B6D-1FF6-4958-B2FD-4FB6D7B8B4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REORDER++ combats side channel attacks through enhanced schedule randomization.</a:t>
            </a:r>
          </a:p>
          <a:p>
            <a:r>
              <a:rPr lang="en-US" dirty="0"/>
              <a:t>It uses controlled random priority inversions to disrupt predictable task execution patterns.</a:t>
            </a:r>
          </a:p>
          <a:p>
            <a:r>
              <a:rPr lang="en-US" dirty="0"/>
              <a:t>A key feature is its online test using runtime data to safely maximize randomization opportunities.</a:t>
            </a:r>
          </a:p>
          <a:p>
            <a:r>
              <a:rPr lang="en-US" dirty="0"/>
              <a:t>This improves security against timing inference attacks without harming system schedulability.</a:t>
            </a:r>
          </a:p>
        </p:txBody>
      </p:sp>
    </p:spTree>
    <p:extLst>
      <p:ext uri="{BB962C8B-B14F-4D97-AF65-F5344CB8AC3E}">
        <p14:creationId xmlns:p14="http://schemas.microsoft.com/office/powerpoint/2010/main" val="21046376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B24D6-E0BB-359D-53EB-7D447D49A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/>
              <a:t>Mitigation by Preventing Leakage via Shared Resources Using FT-PIP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6D5649-71F0-74B5-3225-890881D91B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FT-PIP focuses on preventing information leakage through shared resources.</a:t>
            </a:r>
          </a:p>
          <a:p>
            <a:r>
              <a:rPr lang="en-US" dirty="0"/>
              <a:t>The protocol combines Priority Inheritance Protocol PIP with a Flush Task (FT) mechanism.</a:t>
            </a:r>
          </a:p>
          <a:p>
            <a:r>
              <a:rPr lang="en-US" dirty="0"/>
              <a:t>Flush tasks are used conditionally to sanitize resource states like caches.</a:t>
            </a:r>
          </a:p>
          <a:p>
            <a:r>
              <a:rPr lang="en-US" dirty="0"/>
              <a:t>This prevents data remnants from being exploited with side channel attacks while managing priority inversion.</a:t>
            </a:r>
          </a:p>
        </p:txBody>
      </p:sp>
    </p:spTree>
    <p:extLst>
      <p:ext uri="{BB962C8B-B14F-4D97-AF65-F5344CB8AC3E}">
        <p14:creationId xmlns:p14="http://schemas.microsoft.com/office/powerpoint/2010/main" val="21175095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3294-D88B-8D09-54A5-AFAEC81DD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/>
              <a:t>Comparing Security Approaches Randomization and Resource Sanitization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9D074D-F426-B19E-3C24-5588BDA1E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discussed protocols represent two main security strategies – randomization and resource sanitization.</a:t>
            </a:r>
          </a:p>
          <a:p>
            <a:r>
              <a:rPr lang="en-US" dirty="0"/>
              <a:t>Randomization used by TimeDice and REORDER++ fights timing attacks by making schedules unpredictable, while maintaining schedulability and ensuring real-time deadlines are met.</a:t>
            </a:r>
          </a:p>
          <a:p>
            <a:r>
              <a:rPr lang="en-US" dirty="0"/>
              <a:t>Resource sanitization used by FT-PIP prevents data leakage directly via shared components like caches.</a:t>
            </a:r>
          </a:p>
          <a:p>
            <a:r>
              <a:rPr lang="en-US" dirty="0"/>
              <a:t>These methods address different vulnerability types using priority inversion, ultimately improving overall system security.</a:t>
            </a:r>
          </a:p>
        </p:txBody>
      </p:sp>
    </p:spTree>
    <p:extLst>
      <p:ext uri="{BB962C8B-B14F-4D97-AF65-F5344CB8AC3E}">
        <p14:creationId xmlns:p14="http://schemas.microsoft.com/office/powerpoint/2010/main" val="1885245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8635E-9F42-8179-3D78-3BA621C57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cap="none" dirty="0"/>
              <a:t>Balancing Security with Real Time Guarantees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7891AA-68F1-55FC-3FA9-1C0DDF7C17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Recent protocols offer distinct strategies for enhancing real time system security.   </a:t>
            </a:r>
          </a:p>
          <a:p>
            <a:r>
              <a:rPr lang="en-US" dirty="0"/>
              <a:t>Methods like TimeDice REORDER++ and FT-PIP target specific threats including timing channels and resource data leakage.   </a:t>
            </a:r>
          </a:p>
          <a:p>
            <a:r>
              <a:rPr lang="en-US" dirty="0"/>
              <a:t>These advanced scheduling techniques represent ongoing efforts to create more robust and resilient systems.   </a:t>
            </a:r>
          </a:p>
          <a:p>
            <a:r>
              <a:rPr lang="en-US" dirty="0"/>
              <a:t>A key challenge remains successfully balancing strict timing requirements with effective defenses against sophisticated attacks.</a:t>
            </a:r>
          </a:p>
        </p:txBody>
      </p:sp>
    </p:spTree>
    <p:extLst>
      <p:ext uri="{BB962C8B-B14F-4D97-AF65-F5344CB8AC3E}">
        <p14:creationId xmlns:p14="http://schemas.microsoft.com/office/powerpoint/2010/main" val="181061551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159</TotalTime>
  <Words>705</Words>
  <Application>Microsoft Macintosh PowerPoint</Application>
  <PresentationFormat>Widescreen</PresentationFormat>
  <Paragraphs>56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Gill Sans MT</vt:lpstr>
      <vt:lpstr>Parcel</vt:lpstr>
      <vt:lpstr>Priority Inversion in Real-Time Operating Systems Advances in Secure Scheduling for Real-Time Environments</vt:lpstr>
      <vt:lpstr>Understanding Real Time Systems and Priority Inversion</vt:lpstr>
      <vt:lpstr>The Risks and Impacts of Unbounded Priority Inversion</vt:lpstr>
      <vt:lpstr>Unbounded Priority Inversion</vt:lpstr>
      <vt:lpstr>Foundational Techniques to Address Priority Inversion in Real-time Systems</vt:lpstr>
      <vt:lpstr>Priority Inheritance Protocol (PIP)</vt:lpstr>
      <vt:lpstr>Timing Channels and Side Channel Attack Vulnerabilities</vt:lpstr>
      <vt:lpstr>Mitigation via Randomization for Covert Channels Using TimeDice</vt:lpstr>
      <vt:lpstr>Mitigation via Enhanced Randomization for Side Channels Using REORDER++</vt:lpstr>
      <vt:lpstr>Mitigation by Preventing Leakage via Shared Resources Using FT-PIP</vt:lpstr>
      <vt:lpstr>Comparing Security Approaches Randomization and Resource Sanitization</vt:lpstr>
      <vt:lpstr>Balancing Security with Real Time Guarantees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Rissman</dc:creator>
  <cp:lastModifiedBy>Joseph Rissman</cp:lastModifiedBy>
  <cp:revision>7</cp:revision>
  <dcterms:created xsi:type="dcterms:W3CDTF">2025-04-28T18:49:56Z</dcterms:created>
  <dcterms:modified xsi:type="dcterms:W3CDTF">2025-04-28T21:29:39Z</dcterms:modified>
</cp:coreProperties>
</file>